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3"/>
  </p:notesMasterIdLst>
  <p:handoutMasterIdLst>
    <p:handoutMasterId r:id="rId24"/>
  </p:handoutMasterIdLst>
  <p:sldIdLst>
    <p:sldId id="353" r:id="rId2"/>
    <p:sldId id="354" r:id="rId3"/>
    <p:sldId id="370" r:id="rId4"/>
    <p:sldId id="374" r:id="rId5"/>
    <p:sldId id="355" r:id="rId6"/>
    <p:sldId id="372" r:id="rId7"/>
    <p:sldId id="371" r:id="rId8"/>
    <p:sldId id="358" r:id="rId9"/>
    <p:sldId id="373" r:id="rId10"/>
    <p:sldId id="367" r:id="rId11"/>
    <p:sldId id="366" r:id="rId12"/>
    <p:sldId id="356" r:id="rId13"/>
    <p:sldId id="357" r:id="rId14"/>
    <p:sldId id="359" r:id="rId15"/>
    <p:sldId id="362" r:id="rId16"/>
    <p:sldId id="369" r:id="rId17"/>
    <p:sldId id="361" r:id="rId18"/>
    <p:sldId id="364" r:id="rId19"/>
    <p:sldId id="375" r:id="rId20"/>
    <p:sldId id="365" r:id="rId21"/>
    <p:sldId id="363" r:id="rId22"/>
  </p:sldIdLst>
  <p:sldSz cx="9144000" cy="6858000" type="screen4x3"/>
  <p:notesSz cx="6754813" cy="9866313"/>
  <p:defaultTextStyle>
    <a:defPPr>
      <a:defRPr lang="en-US"/>
    </a:defPPr>
    <a:lvl1pPr algn="ctr" rtl="0" fontAlgn="base">
      <a:spcBef>
        <a:spcPct val="0"/>
      </a:spcBef>
      <a:spcAft>
        <a:spcPct val="0"/>
      </a:spcAft>
      <a:defRPr sz="2400" kern="1200">
        <a:solidFill>
          <a:srgbClr val="C0C0C0"/>
        </a:solidFill>
        <a:latin typeface="Times New Roman" pitchFamily="18" charset="0"/>
        <a:ea typeface="+mn-ea"/>
        <a:cs typeface="+mn-cs"/>
      </a:defRPr>
    </a:lvl1pPr>
    <a:lvl2pPr marL="457200" algn="ctr" rtl="0" fontAlgn="base">
      <a:spcBef>
        <a:spcPct val="0"/>
      </a:spcBef>
      <a:spcAft>
        <a:spcPct val="0"/>
      </a:spcAft>
      <a:defRPr sz="2400" kern="1200">
        <a:solidFill>
          <a:srgbClr val="C0C0C0"/>
        </a:solidFill>
        <a:latin typeface="Times New Roman" pitchFamily="18" charset="0"/>
        <a:ea typeface="+mn-ea"/>
        <a:cs typeface="+mn-cs"/>
      </a:defRPr>
    </a:lvl2pPr>
    <a:lvl3pPr marL="914400" algn="ctr" rtl="0" fontAlgn="base">
      <a:spcBef>
        <a:spcPct val="0"/>
      </a:spcBef>
      <a:spcAft>
        <a:spcPct val="0"/>
      </a:spcAft>
      <a:defRPr sz="2400" kern="1200">
        <a:solidFill>
          <a:srgbClr val="C0C0C0"/>
        </a:solidFill>
        <a:latin typeface="Times New Roman" pitchFamily="18" charset="0"/>
        <a:ea typeface="+mn-ea"/>
        <a:cs typeface="+mn-cs"/>
      </a:defRPr>
    </a:lvl3pPr>
    <a:lvl4pPr marL="1371600" algn="ctr" rtl="0" fontAlgn="base">
      <a:spcBef>
        <a:spcPct val="0"/>
      </a:spcBef>
      <a:spcAft>
        <a:spcPct val="0"/>
      </a:spcAft>
      <a:defRPr sz="2400" kern="1200">
        <a:solidFill>
          <a:srgbClr val="C0C0C0"/>
        </a:solidFill>
        <a:latin typeface="Times New Roman" pitchFamily="18" charset="0"/>
        <a:ea typeface="+mn-ea"/>
        <a:cs typeface="+mn-cs"/>
      </a:defRPr>
    </a:lvl4pPr>
    <a:lvl5pPr marL="1828800" algn="ctr" rtl="0" fontAlgn="base">
      <a:spcBef>
        <a:spcPct val="0"/>
      </a:spcBef>
      <a:spcAft>
        <a:spcPct val="0"/>
      </a:spcAft>
      <a:defRPr sz="2400" kern="1200">
        <a:solidFill>
          <a:srgbClr val="C0C0C0"/>
        </a:solidFill>
        <a:latin typeface="Times New Roman" pitchFamily="18" charset="0"/>
        <a:ea typeface="+mn-ea"/>
        <a:cs typeface="+mn-cs"/>
      </a:defRPr>
    </a:lvl5pPr>
    <a:lvl6pPr marL="2286000" algn="l" defTabSz="914400" rtl="0" eaLnBrk="1" latinLnBrk="0" hangingPunct="1">
      <a:defRPr sz="2400" kern="1200">
        <a:solidFill>
          <a:srgbClr val="C0C0C0"/>
        </a:solidFill>
        <a:latin typeface="Times New Roman" pitchFamily="18" charset="0"/>
        <a:ea typeface="+mn-ea"/>
        <a:cs typeface="+mn-cs"/>
      </a:defRPr>
    </a:lvl6pPr>
    <a:lvl7pPr marL="2743200" algn="l" defTabSz="914400" rtl="0" eaLnBrk="1" latinLnBrk="0" hangingPunct="1">
      <a:defRPr sz="2400" kern="1200">
        <a:solidFill>
          <a:srgbClr val="C0C0C0"/>
        </a:solidFill>
        <a:latin typeface="Times New Roman" pitchFamily="18" charset="0"/>
        <a:ea typeface="+mn-ea"/>
        <a:cs typeface="+mn-cs"/>
      </a:defRPr>
    </a:lvl7pPr>
    <a:lvl8pPr marL="3200400" algn="l" defTabSz="914400" rtl="0" eaLnBrk="1" latinLnBrk="0" hangingPunct="1">
      <a:defRPr sz="2400" kern="1200">
        <a:solidFill>
          <a:srgbClr val="C0C0C0"/>
        </a:solidFill>
        <a:latin typeface="Times New Roman" pitchFamily="18" charset="0"/>
        <a:ea typeface="+mn-ea"/>
        <a:cs typeface="+mn-cs"/>
      </a:defRPr>
    </a:lvl8pPr>
    <a:lvl9pPr marL="3657600" algn="l" defTabSz="914400" rtl="0" eaLnBrk="1" latinLnBrk="0" hangingPunct="1">
      <a:defRPr sz="2400" kern="1200">
        <a:solidFill>
          <a:srgbClr val="C0C0C0"/>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CC00CC"/>
    <a:srgbClr val="FF00FF"/>
    <a:srgbClr val="FF66FF"/>
    <a:srgbClr val="FF0000"/>
    <a:srgbClr val="FF0066"/>
    <a:srgbClr val="FF99FF"/>
    <a:srgbClr val="FFFF00"/>
    <a:srgbClr val="FAECB8"/>
    <a:srgbClr val="96969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4" autoAdjust="0"/>
    <p:restoredTop sz="99481" autoAdjust="0"/>
  </p:normalViewPr>
  <p:slideViewPr>
    <p:cSldViewPr snapToGrid="0">
      <p:cViewPr>
        <p:scale>
          <a:sx n="125" d="100"/>
          <a:sy n="125" d="100"/>
        </p:scale>
        <p:origin x="-1176" y="504"/>
      </p:cViewPr>
      <p:guideLst>
        <p:guide orient="horz" pos="48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44"/>
    </p:cViewPr>
  </p:sorterViewPr>
  <p:notesViewPr>
    <p:cSldViewPr snapToGrid="0">
      <p:cViewPr>
        <p:scale>
          <a:sx n="100" d="100"/>
          <a:sy n="100" d="100"/>
        </p:scale>
        <p:origin x="-894" y="678"/>
      </p:cViewPr>
      <p:guideLst>
        <p:guide orient="horz" pos="3108"/>
        <p:guide pos="2128"/>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defRPr>
            </a:lvl1pPr>
          </a:lstStyle>
          <a:p>
            <a:endParaRPr lang="es-ES"/>
          </a:p>
        </p:txBody>
      </p:sp>
      <p:sp>
        <p:nvSpPr>
          <p:cNvPr id="161795" name="Rectangle 3"/>
          <p:cNvSpPr>
            <a:spLocks noGrp="1" noChangeArrowheads="1"/>
          </p:cNvSpPr>
          <p:nvPr>
            <p:ph type="dt" sz="quarter" idx="1"/>
          </p:nvPr>
        </p:nvSpPr>
        <p:spPr bwMode="auto">
          <a:xfrm>
            <a:off x="3825875"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defRPr>
            </a:lvl1pPr>
          </a:lstStyle>
          <a:p>
            <a:endParaRPr lang="es-ES"/>
          </a:p>
        </p:txBody>
      </p:sp>
      <p:sp>
        <p:nvSpPr>
          <p:cNvPr id="161796" name="Rectangle 4"/>
          <p:cNvSpPr>
            <a:spLocks noGrp="1" noChangeArrowheads="1"/>
          </p:cNvSpPr>
          <p:nvPr>
            <p:ph type="ftr" sz="quarter" idx="2"/>
          </p:nvPr>
        </p:nvSpPr>
        <p:spPr bwMode="auto">
          <a:xfrm>
            <a:off x="0"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defRPr>
            </a:lvl1pPr>
          </a:lstStyle>
          <a:p>
            <a:endParaRPr lang="es-ES"/>
          </a:p>
        </p:txBody>
      </p:sp>
      <p:sp>
        <p:nvSpPr>
          <p:cNvPr id="161797" name="Rectangle 5"/>
          <p:cNvSpPr>
            <a:spLocks noGrp="1" noChangeArrowheads="1"/>
          </p:cNvSpPr>
          <p:nvPr>
            <p:ph type="sldNum" sz="quarter" idx="3"/>
          </p:nvPr>
        </p:nvSpPr>
        <p:spPr bwMode="auto">
          <a:xfrm>
            <a:off x="3825875"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defRPr>
            </a:lvl1pPr>
          </a:lstStyle>
          <a:p>
            <a:fld id="{9CE37C41-A159-4594-91F3-888775DD85B5}" type="slidenum">
              <a:rPr lang="es-ES"/>
              <a:pPr/>
              <a:t>‹Nº›</a:t>
            </a:fld>
            <a:endParaRPr lang="es-E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39" name="Rectangle 3"/>
          <p:cNvSpPr>
            <a:spLocks noGrp="1" noChangeArrowheads="1"/>
          </p:cNvSpPr>
          <p:nvPr>
            <p:ph type="dt" idx="1"/>
          </p:nvPr>
        </p:nvSpPr>
        <p:spPr bwMode="auto">
          <a:xfrm>
            <a:off x="3827463"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latin typeface="Helvetica" pitchFamily="2" charset="0"/>
              </a:defRPr>
            </a:lvl1pPr>
          </a:lstStyle>
          <a:p>
            <a:endParaRPr lang="es-AR"/>
          </a:p>
        </p:txBody>
      </p:sp>
      <p:sp>
        <p:nvSpPr>
          <p:cNvPr id="65540" name="Rectangle 4"/>
          <p:cNvSpPr>
            <a:spLocks noGrp="1" noRot="1" noChangeAspect="1" noChangeArrowheads="1" noTextEdit="1"/>
          </p:cNvSpPr>
          <p:nvPr>
            <p:ph type="sldImg" idx="2"/>
          </p:nvPr>
        </p:nvSpPr>
        <p:spPr bwMode="auto">
          <a:xfrm>
            <a:off x="911225" y="739775"/>
            <a:ext cx="4933950" cy="3700463"/>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01700" y="4687888"/>
            <a:ext cx="4951413" cy="4438650"/>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43" name="Rectangle 7"/>
          <p:cNvSpPr>
            <a:spLocks noGrp="1" noChangeArrowheads="1"/>
          </p:cNvSpPr>
          <p:nvPr>
            <p:ph type="sldNum" sz="quarter" idx="5"/>
          </p:nvPr>
        </p:nvSpPr>
        <p:spPr bwMode="auto">
          <a:xfrm>
            <a:off x="3827463"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latin typeface="Helvetica" pitchFamily="2" charset="0"/>
              </a:defRPr>
            </a:lvl1pPr>
          </a:lstStyle>
          <a:p>
            <a:fld id="{98A73CF5-616C-4868-81A9-4AC3700A2DB9}" type="slidenum">
              <a:rPr lang="en-US"/>
              <a:pPr/>
              <a:t>‹Nº›</a:t>
            </a:fld>
            <a:endParaRPr 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4A3DAAAE-BB77-4FBD-80CD-8806CBC61BD7}"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7C01F3A6-EE0E-4D54-B51D-BEF7C6505C79}"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71067C7A-EA67-4BE9-B0DB-B07E46B014F5}"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pPr>
              <a:defRPr/>
            </a:pPr>
            <a:endParaRPr lang="en-US"/>
          </a:p>
        </p:txBody>
      </p:sp>
      <p:sp>
        <p:nvSpPr>
          <p:cNvPr id="8" name="7 Marcador de pie de página"/>
          <p:cNvSpPr>
            <a:spLocks noGrp="1"/>
          </p:cNvSpPr>
          <p:nvPr>
            <p:ph type="ftr" sz="quarter" idx="11"/>
          </p:nvPr>
        </p:nvSpPr>
        <p:spPr/>
        <p:txBody>
          <a:bodyPr/>
          <a:lstStyle/>
          <a:p>
            <a:pPr>
              <a:defRPr/>
            </a:pPr>
            <a:endParaRPr lang="en-US"/>
          </a:p>
        </p:txBody>
      </p:sp>
      <p:sp>
        <p:nvSpPr>
          <p:cNvPr id="9" name="8 Marcador de número de diapositiva"/>
          <p:cNvSpPr>
            <a:spLocks noGrp="1"/>
          </p:cNvSpPr>
          <p:nvPr>
            <p:ph type="sldNum" sz="quarter" idx="12"/>
          </p:nvPr>
        </p:nvSpPr>
        <p:spPr/>
        <p:txBody>
          <a:bodyPr/>
          <a:lstStyle/>
          <a:p>
            <a:fld id="{48CF61DD-4B4E-4120-8426-714380EE5029}"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pPr>
              <a:defRPr/>
            </a:pPr>
            <a:endParaRPr lang="en-US"/>
          </a:p>
        </p:txBody>
      </p:sp>
      <p:sp>
        <p:nvSpPr>
          <p:cNvPr id="4" name="3 Marcador de pie de página"/>
          <p:cNvSpPr>
            <a:spLocks noGrp="1"/>
          </p:cNvSpPr>
          <p:nvPr>
            <p:ph type="ftr" sz="quarter" idx="11"/>
          </p:nvPr>
        </p:nvSpPr>
        <p:spPr/>
        <p:txBody>
          <a:bodyPr/>
          <a:lstStyle/>
          <a:p>
            <a:pPr>
              <a:defRPr/>
            </a:pPr>
            <a:endParaRPr lang="en-US"/>
          </a:p>
        </p:txBody>
      </p:sp>
      <p:sp>
        <p:nvSpPr>
          <p:cNvPr id="5" name="4 Marcador de número de diapositiva"/>
          <p:cNvSpPr>
            <a:spLocks noGrp="1"/>
          </p:cNvSpPr>
          <p:nvPr>
            <p:ph type="sldNum" sz="quarter" idx="12"/>
          </p:nvPr>
        </p:nvSpPr>
        <p:spPr/>
        <p:txBody>
          <a:bodyPr/>
          <a:lstStyle/>
          <a:p>
            <a:fld id="{15DC7E45-CE50-45F6-AFAF-BBEC857663A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pPr>
              <a:defRPr/>
            </a:pPr>
            <a:endParaRPr lang="en-US"/>
          </a:p>
        </p:txBody>
      </p:sp>
      <p:sp>
        <p:nvSpPr>
          <p:cNvPr id="3" name="2 Marcador de pie de página"/>
          <p:cNvSpPr>
            <a:spLocks noGrp="1"/>
          </p:cNvSpPr>
          <p:nvPr>
            <p:ph type="ftr" sz="quarter" idx="11"/>
          </p:nvPr>
        </p:nvSpPr>
        <p:spPr/>
        <p:txBody>
          <a:bodyPr/>
          <a:lstStyle/>
          <a:p>
            <a:pPr>
              <a:defRPr/>
            </a:pPr>
            <a:endParaRPr lang="en-US"/>
          </a:p>
        </p:txBody>
      </p:sp>
      <p:sp>
        <p:nvSpPr>
          <p:cNvPr id="4" name="3 Marcador de número de diapositiva"/>
          <p:cNvSpPr>
            <a:spLocks noGrp="1"/>
          </p:cNvSpPr>
          <p:nvPr>
            <p:ph type="sldNum" sz="quarter" idx="12"/>
          </p:nvPr>
        </p:nvSpPr>
        <p:spPr/>
        <p:txBody>
          <a:bodyPr/>
          <a:lstStyle/>
          <a:p>
            <a:fld id="{B759D250-4BD8-4A02-9BB7-6F58C7E277CE}"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C34C138-3AA1-47A5-94C5-74E44E949D75}"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2F53A78-FB7A-473A-B37B-537E71F8FD32}"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24E17C3E-6F24-490F-B5A6-302494F4F6F6}"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C90A54AD-D593-41AF-9419-80BAB15846A4}"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773113" y="0"/>
            <a:ext cx="7772400" cy="952500"/>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6858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981200"/>
            <a:ext cx="3810000" cy="41148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2CDFD1E-D31C-4027-98FC-BCB6935708C6}" type="slidenum">
              <a:rPr lang="en-US"/>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30000"/>
            <a:lum/>
          </a:blip>
          <a:srcRect/>
          <a:stretch>
            <a:fillRect l="-26000" r="-26000"/>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C601D-D1AA-400D-878E-9B5C6DECE3A0}" type="slidenum">
              <a:rPr lang="en-US" smtClean="0"/>
              <a:pPr/>
              <a:t>‹Nº›</a:t>
            </a:fld>
            <a:endParaRPr lang="en-US"/>
          </a:p>
        </p:txBody>
      </p:sp>
      <p:sp>
        <p:nvSpPr>
          <p:cNvPr id="7" name="Line 8"/>
          <p:cNvSpPr>
            <a:spLocks noChangeShapeType="1"/>
          </p:cNvSpPr>
          <p:nvPr/>
        </p:nvSpPr>
        <p:spPr bwMode="auto">
          <a:xfrm>
            <a:off x="0" y="952500"/>
            <a:ext cx="9144000" cy="0"/>
          </a:xfrm>
          <a:prstGeom prst="line">
            <a:avLst/>
          </a:prstGeom>
          <a:noFill/>
          <a:ln w="9525">
            <a:solidFill>
              <a:srgbClr val="FF3300"/>
            </a:solidFill>
            <a:round/>
            <a:headEnd/>
            <a:tailEnd/>
          </a:ln>
          <a:effectLst/>
        </p:spPr>
        <p:txBody>
          <a:bodyPr anchor="ctr"/>
          <a:lstStyle/>
          <a:p>
            <a:pPr>
              <a:defRPr/>
            </a:pPr>
            <a:endParaRPr lang="es-E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smtClean="0">
                <a:solidFill>
                  <a:schemeClr val="tx1"/>
                </a:solidFill>
                <a:latin typeface="+mj-lt"/>
                <a:ea typeface="+mj-ea"/>
                <a:cs typeface="+mj-cs"/>
              </a:rPr>
              <a:t>Memoria</a:t>
            </a:r>
            <a:r>
              <a:rPr lang="es-AR" sz="3400" b="1" dirty="0" smtClean="0">
                <a:solidFill>
                  <a:schemeClr val="tx1"/>
                </a:solidFill>
                <a:latin typeface="+mj-lt"/>
                <a:ea typeface="+mj-ea"/>
                <a:cs typeface="+mj-cs"/>
              </a:rPr>
              <a:t> </a:t>
            </a:r>
            <a:r>
              <a:rPr lang="es-AR" sz="1050" b="1" dirty="0" smtClean="0">
                <a:solidFill>
                  <a:schemeClr val="tx1"/>
                </a:solidFill>
                <a:latin typeface="+mj-lt"/>
                <a:ea typeface="+mj-ea"/>
                <a:cs typeface="+mj-cs"/>
              </a:rPr>
              <a:t>(</a:t>
            </a:r>
            <a:r>
              <a:rPr lang="es-AR" sz="1050" b="1" dirty="0" err="1" smtClean="0">
                <a:solidFill>
                  <a:schemeClr val="tx1"/>
                </a:solidFill>
                <a:latin typeface="+mj-lt"/>
                <a:ea typeface="+mj-ea"/>
                <a:cs typeface="+mj-cs"/>
              </a:rPr>
              <a:t>Tanenbaum</a:t>
            </a:r>
            <a:r>
              <a:rPr lang="es-AR" sz="1050" b="1" dirty="0" smtClean="0">
                <a:solidFill>
                  <a:schemeClr val="tx1"/>
                </a:solidFill>
                <a:latin typeface="+mj-lt"/>
                <a:ea typeface="+mj-ea"/>
                <a:cs typeface="+mj-cs"/>
              </a:rPr>
              <a:t> Sección 3)</a:t>
            </a:r>
            <a:endParaRPr kumimoji="0" lang="es-AR" sz="1050" b="1"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2800767"/>
          </a:xfrm>
          <a:prstGeom prst="rect">
            <a:avLst/>
          </a:prstGeom>
          <a:noFill/>
        </p:spPr>
        <p:txBody>
          <a:bodyPr wrap="square" rtlCol="0">
            <a:spAutoFit/>
          </a:bodyPr>
          <a:lstStyle/>
          <a:p>
            <a:pPr algn="just"/>
            <a:r>
              <a:rPr lang="es-AR" sz="1600" b="1" dirty="0" smtClean="0">
                <a:solidFill>
                  <a:srgbClr val="7030A0"/>
                </a:solidFill>
                <a:latin typeface="Arial" pitchFamily="34" charset="0"/>
                <a:cs typeface="Arial" pitchFamily="34" charset="0"/>
              </a:rPr>
              <a:t>Introducción:</a:t>
            </a:r>
          </a:p>
          <a:p>
            <a:pPr algn="just"/>
            <a:r>
              <a:rPr lang="es-AR" sz="1600" dirty="0" smtClean="0">
                <a:solidFill>
                  <a:schemeClr val="tx1"/>
                </a:solidFill>
                <a:latin typeface="Arial" pitchFamily="34" charset="0"/>
                <a:cs typeface="Arial" pitchFamily="34" charset="0"/>
              </a:rPr>
              <a:t>Los programas deben ser llevados a la memoria principal y convertirse en procesos para ser ejecutados. Así como el SO gestiona la CPU, dispositivos </a:t>
            </a:r>
            <a:r>
              <a:rPr lang="es-AR" sz="1600" dirty="0" err="1" smtClean="0">
                <a:solidFill>
                  <a:schemeClr val="tx1"/>
                </a:solidFill>
                <a:latin typeface="Arial" pitchFamily="34" charset="0"/>
                <a:cs typeface="Arial" pitchFamily="34" charset="0"/>
              </a:rPr>
              <a:t>etc</a:t>
            </a:r>
            <a:r>
              <a:rPr lang="es-AR" sz="1600" dirty="0" smtClean="0">
                <a:solidFill>
                  <a:schemeClr val="tx1"/>
                </a:solidFill>
                <a:latin typeface="Arial" pitchFamily="34" charset="0"/>
                <a:cs typeface="Arial" pitchFamily="34" charset="0"/>
              </a:rPr>
              <a:t>, también se ocupa de administrar la memoria con un módulo denominado Gestor de Memoria o Administrador de Memoria..</a:t>
            </a:r>
          </a:p>
          <a:p>
            <a:pPr algn="just"/>
            <a:r>
              <a:rPr lang="es-AR" sz="1600" dirty="0" smtClean="0">
                <a:solidFill>
                  <a:schemeClr val="tx1"/>
                </a:solidFill>
                <a:latin typeface="Arial" pitchFamily="34" charset="0"/>
                <a:cs typeface="Arial" pitchFamily="34" charset="0"/>
              </a:rPr>
              <a:t>Los trabajos del Gestor de Memoria son:</a:t>
            </a:r>
          </a:p>
          <a:p>
            <a:pPr marL="355600" indent="-355600" algn="just">
              <a:buFont typeface="Arial" pitchFamily="34" charset="0"/>
              <a:buChar char="•"/>
            </a:pPr>
            <a:r>
              <a:rPr lang="es-AR" sz="1600" dirty="0" smtClean="0">
                <a:solidFill>
                  <a:schemeClr val="tx1"/>
                </a:solidFill>
                <a:latin typeface="Arial" pitchFamily="34" charset="0"/>
                <a:cs typeface="Arial" pitchFamily="34" charset="0"/>
              </a:rPr>
              <a:t>Qué memoria está libre/ocupada</a:t>
            </a:r>
          </a:p>
          <a:p>
            <a:pPr marL="355600" indent="-355600" algn="just">
              <a:buFont typeface="Arial" pitchFamily="34" charset="0"/>
              <a:buChar char="•"/>
            </a:pPr>
            <a:r>
              <a:rPr lang="es-AR" sz="1600" dirty="0" smtClean="0">
                <a:solidFill>
                  <a:schemeClr val="tx1"/>
                </a:solidFill>
                <a:latin typeface="Arial" pitchFamily="34" charset="0"/>
                <a:cs typeface="Arial" pitchFamily="34" charset="0"/>
              </a:rPr>
              <a:t>Asignación/liberación de memoria a procesos</a:t>
            </a:r>
          </a:p>
          <a:p>
            <a:pPr marL="355600" indent="-355600" algn="just">
              <a:buFont typeface="Arial" pitchFamily="34" charset="0"/>
              <a:buChar char="•"/>
            </a:pPr>
            <a:r>
              <a:rPr lang="es-AR" sz="1600" dirty="0" smtClean="0">
                <a:solidFill>
                  <a:schemeClr val="tx1"/>
                </a:solidFill>
                <a:latin typeface="Arial" pitchFamily="34" charset="0"/>
                <a:cs typeface="Arial" pitchFamily="34" charset="0"/>
              </a:rPr>
              <a:t>Intercambio RAM-disco</a:t>
            </a:r>
          </a:p>
          <a:p>
            <a:pPr algn="just"/>
            <a:endParaRPr lang="es-AR" sz="1600" dirty="0" smtClean="0">
              <a:solidFill>
                <a:schemeClr val="tx1"/>
              </a:solidFill>
              <a:latin typeface="Arial" pitchFamily="34" charset="0"/>
              <a:cs typeface="Arial" pitchFamily="34" charset="0"/>
            </a:endParaRPr>
          </a:p>
          <a:p>
            <a:pPr algn="just"/>
            <a:r>
              <a:rPr lang="es-AR" sz="1600" b="1" dirty="0" smtClean="0">
                <a:solidFill>
                  <a:srgbClr val="7030A0"/>
                </a:solidFill>
                <a:latin typeface="Arial" pitchFamily="34" charset="0"/>
                <a:cs typeface="Arial" pitchFamily="34" charset="0"/>
              </a:rPr>
              <a:t>Jerarquía de Memoria:</a:t>
            </a:r>
            <a:endParaRPr lang="es-AR" sz="1600" dirty="0" smtClean="0">
              <a:solidFill>
                <a:srgbClr val="7030A0"/>
              </a:solidFill>
              <a:latin typeface="Arial" pitchFamily="34" charset="0"/>
              <a:cs typeface="Arial" pitchFamily="34" charset="0"/>
            </a:endParaRPr>
          </a:p>
        </p:txBody>
      </p:sp>
      <p:pic>
        <p:nvPicPr>
          <p:cNvPr id="1026"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20824" y="3330996"/>
            <a:ext cx="5870575" cy="3450804"/>
          </a:xfrm>
          <a:prstGeom prst="rect">
            <a:avLst/>
          </a:prstGeom>
          <a:noFill/>
          <a:ln w="9525">
            <a:noFill/>
            <a:miter lim="800000"/>
            <a:headEnd/>
            <a:tailEnd/>
          </a:ln>
        </p:spPr>
      </p:pic>
      <p:cxnSp>
        <p:nvCxnSpPr>
          <p:cNvPr id="14" name="13 Conector recto de flecha"/>
          <p:cNvCxnSpPr/>
          <p:nvPr/>
        </p:nvCxnSpPr>
        <p:spPr>
          <a:xfrm>
            <a:off x="7620000" y="3530600"/>
            <a:ext cx="0" cy="2590800"/>
          </a:xfrm>
          <a:prstGeom prst="straightConnector1">
            <a:avLst/>
          </a:prstGeom>
          <a:ln w="12700">
            <a:headEnd type="arrow"/>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7696200" y="3429000"/>
            <a:ext cx="778013" cy="2862322"/>
          </a:xfrm>
          <a:prstGeom prst="rect">
            <a:avLst/>
          </a:prstGeom>
          <a:noFill/>
        </p:spPr>
        <p:txBody>
          <a:bodyPr wrap="square" rtlCol="0">
            <a:spAutoFit/>
          </a:bodyPr>
          <a:lstStyle/>
          <a:p>
            <a:pPr algn="just"/>
            <a:r>
              <a:rPr lang="es-AR" sz="1000" dirty="0" smtClean="0">
                <a:solidFill>
                  <a:schemeClr val="tx1"/>
                </a:solidFill>
                <a:latin typeface="Arial" pitchFamily="34" charset="0"/>
                <a:cs typeface="Arial" pitchFamily="34" charset="0"/>
              </a:rPr>
              <a:t>menor</a:t>
            </a:r>
          </a:p>
          <a:p>
            <a:pPr algn="just"/>
            <a:r>
              <a:rPr lang="es-AR" sz="1000" dirty="0" smtClean="0">
                <a:solidFill>
                  <a:schemeClr val="tx1"/>
                </a:solidFill>
                <a:latin typeface="Arial" pitchFamily="34" charset="0"/>
                <a:cs typeface="Arial" pitchFamily="34" charset="0"/>
              </a:rPr>
              <a:t>capacidad</a:t>
            </a: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endParaRPr lang="es-AR" sz="1000" dirty="0" smtClean="0">
              <a:solidFill>
                <a:schemeClr val="tx1"/>
              </a:solidFill>
              <a:latin typeface="Arial" pitchFamily="34" charset="0"/>
              <a:cs typeface="Arial" pitchFamily="34" charset="0"/>
            </a:endParaRPr>
          </a:p>
          <a:p>
            <a:pPr algn="just"/>
            <a:r>
              <a:rPr lang="es-AR" sz="1000" dirty="0" smtClean="0">
                <a:solidFill>
                  <a:schemeClr val="tx1"/>
                </a:solidFill>
                <a:latin typeface="Arial" pitchFamily="34" charset="0"/>
                <a:cs typeface="Arial" pitchFamily="34" charset="0"/>
              </a:rPr>
              <a:t>mayor</a:t>
            </a:r>
          </a:p>
          <a:p>
            <a:pPr algn="just"/>
            <a:r>
              <a:rPr lang="es-AR" sz="1000" dirty="0" smtClean="0">
                <a:solidFill>
                  <a:schemeClr val="tx1"/>
                </a:solidFill>
                <a:latin typeface="Arial" pitchFamily="34" charset="0"/>
                <a:cs typeface="Arial" pitchFamily="34" charset="0"/>
              </a:rPr>
              <a:t>capacidad</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r>
              <a:rPr lang="es-AR" sz="3600" b="1" dirty="0" smtClean="0">
                <a:solidFill>
                  <a:schemeClr val="tx1"/>
                </a:solidFill>
                <a:latin typeface="Arial" pitchFamily="34" charset="0"/>
                <a:cs typeface="Arial" pitchFamily="34" charset="0"/>
              </a:rPr>
              <a:t> </a:t>
            </a:r>
            <a:r>
              <a:rPr lang="es-AR" sz="1050" b="1" dirty="0" smtClean="0">
                <a:solidFill>
                  <a:schemeClr val="tx1"/>
                </a:solidFill>
                <a:latin typeface="Arial" pitchFamily="34" charset="0"/>
                <a:cs typeface="Arial" pitchFamily="34" charset="0"/>
              </a:rPr>
              <a:t>(Carretero </a:t>
            </a:r>
            <a:r>
              <a:rPr lang="es-AR" sz="1050" b="1" dirty="0" err="1" smtClean="0">
                <a:solidFill>
                  <a:schemeClr val="tx1"/>
                </a:solidFill>
                <a:latin typeface="Arial" pitchFamily="34" charset="0"/>
                <a:cs typeface="Arial" pitchFamily="34" charset="0"/>
              </a:rPr>
              <a:t>cap</a:t>
            </a:r>
            <a:r>
              <a:rPr lang="es-AR" sz="1050" b="1" dirty="0" smtClean="0">
                <a:solidFill>
                  <a:schemeClr val="tx1"/>
                </a:solidFill>
                <a:latin typeface="Arial" pitchFamily="34" charset="0"/>
                <a:cs typeface="Arial" pitchFamily="34" charset="0"/>
              </a:rPr>
              <a:t> 4.1)</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3785652"/>
          </a:xfrm>
          <a:prstGeom prst="rect">
            <a:avLst/>
          </a:prstGeom>
          <a:noFill/>
        </p:spPr>
        <p:txBody>
          <a:bodyPr wrap="square" rtlCol="0">
            <a:spAutoFit/>
          </a:bodyPr>
          <a:lstStyle/>
          <a:p>
            <a:pPr algn="just"/>
            <a:r>
              <a:rPr lang="es-AR" sz="1600" b="1" dirty="0" smtClean="0">
                <a:solidFill>
                  <a:srgbClr val="7030A0"/>
                </a:solidFill>
                <a:latin typeface="Arial" pitchFamily="34" charset="0"/>
                <a:cs typeface="Arial" pitchFamily="34" charset="0"/>
              </a:rPr>
              <a:t>Objetivos:</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Ofrecer a cada proceso un espacio lógico propio (</a:t>
            </a:r>
            <a:r>
              <a:rPr lang="es-AR" sz="1600" dirty="0" smtClean="0">
                <a:solidFill>
                  <a:srgbClr val="FF0000"/>
                </a:solidFill>
                <a:latin typeface="Arial" pitchFamily="34" charset="0"/>
                <a:cs typeface="Arial" pitchFamily="34" charset="0"/>
              </a:rPr>
              <a:t>aislamiento</a:t>
            </a:r>
            <a:r>
              <a:rPr lang="es-AR" sz="1600" dirty="0" smtClean="0">
                <a:solidFill>
                  <a:schemeClr val="tx1"/>
                </a:solidFill>
                <a:latin typeface="Arial" pitchFamily="34" charset="0"/>
                <a:cs typeface="Arial" pitchFamily="34" charset="0"/>
              </a:rPr>
              <a:t>).</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Proporcionar </a:t>
            </a:r>
            <a:r>
              <a:rPr lang="es-AR" sz="1600" dirty="0" smtClean="0">
                <a:solidFill>
                  <a:srgbClr val="FF0000"/>
                </a:solidFill>
                <a:latin typeface="Arial" pitchFamily="34" charset="0"/>
                <a:cs typeface="Arial" pitchFamily="34" charset="0"/>
              </a:rPr>
              <a:t>protección</a:t>
            </a:r>
            <a:r>
              <a:rPr lang="es-AR" sz="1600" dirty="0" smtClean="0">
                <a:solidFill>
                  <a:schemeClr val="tx1"/>
                </a:solidFill>
                <a:latin typeface="Arial" pitchFamily="34" charset="0"/>
                <a:cs typeface="Arial" pitchFamily="34" charset="0"/>
              </a:rPr>
              <a:t> entre los procesos.</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Permitir que los procesos compartan memoria.</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Dar soporte a las distintas regiones del proceso.</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Maximizar el </a:t>
            </a:r>
            <a:r>
              <a:rPr lang="es-AR" sz="1600" dirty="0" smtClean="0">
                <a:solidFill>
                  <a:srgbClr val="FF0000"/>
                </a:solidFill>
                <a:latin typeface="Arial" pitchFamily="34" charset="0"/>
                <a:cs typeface="Arial" pitchFamily="34" charset="0"/>
              </a:rPr>
              <a:t>rendimiento</a:t>
            </a:r>
            <a:r>
              <a:rPr lang="es-AR" sz="1600" dirty="0" smtClean="0">
                <a:solidFill>
                  <a:schemeClr val="tx1"/>
                </a:solidFill>
                <a:latin typeface="Arial" pitchFamily="34" charset="0"/>
                <a:cs typeface="Arial" pitchFamily="34" charset="0"/>
              </a:rPr>
              <a:t> del sistema (intentar que quepan el mayor numero de procesos).</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Proporcionar a los procesos mapas de memoria muy grandes (</a:t>
            </a:r>
            <a:r>
              <a:rPr lang="es-AR" sz="1600" dirty="0" err="1" smtClean="0">
                <a:solidFill>
                  <a:schemeClr val="tx1"/>
                </a:solidFill>
                <a:latin typeface="Arial" pitchFamily="34" charset="0"/>
                <a:cs typeface="Arial" pitchFamily="34" charset="0"/>
              </a:rPr>
              <a:t>m.virtual</a:t>
            </a:r>
            <a:r>
              <a:rPr lang="es-AR" sz="1600" dirty="0" smtClean="0">
                <a:solidFill>
                  <a:schemeClr val="tx1"/>
                </a:solidFill>
                <a:latin typeface="Arial" pitchFamily="34" charset="0"/>
                <a:cs typeface="Arial" pitchFamily="34" charset="0"/>
              </a:rPr>
              <a:t>)</a:t>
            </a:r>
          </a:p>
          <a:p>
            <a:pPr marL="177800"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r>
              <a:rPr lang="es-AR" sz="1600" b="1" dirty="0" smtClean="0">
                <a:solidFill>
                  <a:srgbClr val="7030A0"/>
                </a:solidFill>
                <a:latin typeface="Arial" pitchFamily="34" charset="0"/>
                <a:cs typeface="Arial" pitchFamily="34" charset="0"/>
              </a:rPr>
              <a:t>Compartición</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Se ha de </a:t>
            </a:r>
            <a:r>
              <a:rPr lang="es-AR" sz="1600" u="sng" dirty="0" smtClean="0">
                <a:solidFill>
                  <a:schemeClr val="tx1"/>
                </a:solidFill>
                <a:latin typeface="Arial" pitchFamily="34" charset="0"/>
                <a:cs typeface="Arial" pitchFamily="34" charset="0"/>
              </a:rPr>
              <a:t>permitir el acceso controlado </a:t>
            </a:r>
            <a:r>
              <a:rPr lang="es-AR" sz="1600" dirty="0" smtClean="0">
                <a:solidFill>
                  <a:schemeClr val="tx1"/>
                </a:solidFill>
                <a:latin typeface="Arial" pitchFamily="34" charset="0"/>
                <a:cs typeface="Arial" pitchFamily="34" charset="0"/>
              </a:rPr>
              <a:t>de varios procesos a una misma zona de memoria. </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Una serie de procesos ejecutando una misma zona de programa. </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Acceso compartido a la misma estructura de datos permita la comunicación entre procesos.</a:t>
            </a:r>
          </a:p>
          <a:p>
            <a:pPr marL="177800" indent="-177800" algn="just">
              <a:buFont typeface="Arial" pitchFamily="34" charset="0"/>
              <a:buChar char="•"/>
            </a:pPr>
            <a:r>
              <a:rPr lang="es-AR" sz="1600" dirty="0" smtClean="0">
                <a:solidFill>
                  <a:schemeClr val="tx1"/>
                </a:solidFill>
                <a:latin typeface="Arial" pitchFamily="34" charset="0"/>
                <a:cs typeface="Arial" pitchFamily="34" charset="0"/>
              </a:rPr>
              <a:t>El sistema de gestión de memoria ha de permitir accesos controlados a las áreas compartidas de la memoria, sin comprometer la protección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4570482"/>
          </a:xfrm>
          <a:prstGeom prst="rect">
            <a:avLst/>
          </a:prstGeom>
          <a:noFill/>
        </p:spPr>
        <p:txBody>
          <a:bodyPr wrap="square" rtlCol="0">
            <a:spAutoFit/>
          </a:bodyPr>
          <a:lstStyle/>
          <a:p>
            <a:pPr algn="just">
              <a:spcBef>
                <a:spcPts val="0"/>
              </a:spcBef>
              <a:spcAft>
                <a:spcPts val="600"/>
              </a:spcAft>
            </a:pPr>
            <a:r>
              <a:rPr lang="es-AR" sz="1600" b="1" dirty="0" smtClean="0">
                <a:solidFill>
                  <a:srgbClr val="7030A0"/>
                </a:solidFill>
                <a:latin typeface="Arial" pitchFamily="34" charset="0"/>
                <a:cs typeface="Arial" pitchFamily="34" charset="0"/>
              </a:rPr>
              <a:t>Protección</a:t>
            </a:r>
            <a:r>
              <a:rPr lang="es-AR" sz="1600" b="1" dirty="0" smtClean="0">
                <a:solidFill>
                  <a:schemeClr val="tx1"/>
                </a:solidFill>
                <a:latin typeface="Arial" pitchFamily="34" charset="0"/>
                <a:cs typeface="Arial" pitchFamily="34" charset="0"/>
              </a:rPr>
              <a:t>:</a:t>
            </a:r>
          </a:p>
          <a:p>
            <a:pPr marL="177800" indent="-177800" algn="just">
              <a:spcBef>
                <a:spcPts val="0"/>
              </a:spcBef>
              <a:spcAft>
                <a:spcPts val="600"/>
              </a:spcAft>
              <a:buFont typeface="Arial" pitchFamily="34" charset="0"/>
              <a:buChar char="•"/>
            </a:pPr>
            <a:r>
              <a:rPr lang="es-AR" sz="1600" dirty="0" smtClean="0">
                <a:solidFill>
                  <a:schemeClr val="tx1"/>
                </a:solidFill>
                <a:latin typeface="Arial" pitchFamily="34" charset="0"/>
                <a:cs typeface="Arial" pitchFamily="34" charset="0"/>
              </a:rPr>
              <a:t>El espacio de cada proceso ha de ser protegido de las acciones de otros procesos.</a:t>
            </a:r>
          </a:p>
          <a:p>
            <a:pPr marL="177800" indent="-177800" algn="just">
              <a:spcBef>
                <a:spcPts val="0"/>
              </a:spcBef>
              <a:spcAft>
                <a:spcPts val="600"/>
              </a:spcAft>
              <a:buFont typeface="Arial" pitchFamily="34" charset="0"/>
              <a:buChar char="•"/>
            </a:pPr>
            <a:r>
              <a:rPr lang="es-AR" sz="1600" dirty="0" smtClean="0">
                <a:solidFill>
                  <a:schemeClr val="tx1"/>
                </a:solidFill>
                <a:latin typeface="Arial" pitchFamily="34" charset="0"/>
                <a:cs typeface="Arial" pitchFamily="34" charset="0"/>
              </a:rPr>
              <a:t>Un proceso no puede hacer referencia a posiciones de memoria de otros procesos sin permiso.</a:t>
            </a:r>
          </a:p>
          <a:p>
            <a:pPr marL="177800" indent="-177800" algn="just">
              <a:spcBef>
                <a:spcPts val="0"/>
              </a:spcBef>
              <a:spcAft>
                <a:spcPts val="600"/>
              </a:spcAft>
              <a:buFont typeface="Arial" pitchFamily="34" charset="0"/>
              <a:buChar char="•"/>
            </a:pPr>
            <a:r>
              <a:rPr lang="es-AR" sz="1600" dirty="0" smtClean="0">
                <a:solidFill>
                  <a:schemeClr val="tx1"/>
                </a:solidFill>
                <a:latin typeface="Arial" pitchFamily="34" charset="0"/>
                <a:cs typeface="Arial" pitchFamily="34" charset="0"/>
              </a:rPr>
              <a:t>La reubicación dificulta la protección: Es imposible comprobar las direcciones absolutas de los programas, puesto que se desconoce con antelación la ubicación en donde un programa se cargará en la memoria principal.</a:t>
            </a:r>
          </a:p>
          <a:p>
            <a:pPr marL="177800" indent="-177800" algn="just">
              <a:spcBef>
                <a:spcPts val="0"/>
              </a:spcBef>
              <a:spcAft>
                <a:spcPts val="600"/>
              </a:spcAft>
              <a:buFont typeface="Arial" pitchFamily="34" charset="0"/>
              <a:buChar char="•"/>
            </a:pPr>
            <a:r>
              <a:rPr lang="es-AR" sz="1600" dirty="0" smtClean="0">
                <a:solidFill>
                  <a:schemeClr val="tx1"/>
                </a:solidFill>
                <a:latin typeface="Arial" pitchFamily="34" charset="0"/>
                <a:cs typeface="Arial" pitchFamily="34" charset="0"/>
              </a:rPr>
              <a:t>Se garantiza verificando las referencias a memoria durante la ejecución del programa, ya que el sistema operativo no puede predecir todas las instrucciones que harán referencia a la memoria. </a:t>
            </a:r>
            <a:r>
              <a:rPr lang="es-ES" sz="1600" dirty="0" smtClean="0">
                <a:solidFill>
                  <a:schemeClr val="tx1"/>
                </a:solidFill>
                <a:latin typeface="Arial" pitchFamily="34" charset="0"/>
                <a:cs typeface="Arial" pitchFamily="34" charset="0"/>
              </a:rPr>
              <a:t>Por eso, se necesita que el hardware del procesador tenga mecanismos para impedir accesos no autorizados.</a:t>
            </a:r>
          </a:p>
          <a:p>
            <a:pPr marL="177800" indent="-177800" algn="just">
              <a:spcBef>
                <a:spcPts val="0"/>
              </a:spcBef>
              <a:spcAft>
                <a:spcPts val="600"/>
              </a:spcAft>
              <a:buFont typeface="Arial" pitchFamily="34" charset="0"/>
              <a:buChar char="•"/>
            </a:pPr>
            <a:r>
              <a:rPr lang="es-ES" sz="1600" dirty="0" smtClean="0">
                <a:solidFill>
                  <a:schemeClr val="tx1"/>
                </a:solidFill>
                <a:latin typeface="Arial" pitchFamily="34" charset="0"/>
                <a:cs typeface="Arial" pitchFamily="34" charset="0"/>
              </a:rPr>
              <a:t>Aunque la reubicación presenta desafíos, los mecanismos que la permiten (como registros base y límite, por ejemplo) también se usan para asegurarse de que un proceso no acceda a más memoria de la que le corresponda</a:t>
            </a:r>
            <a:r>
              <a:rPr lang="es-AR" sz="1600" dirty="0" smtClean="0">
                <a:solidFill>
                  <a:schemeClr val="tx1"/>
                </a:solidFill>
                <a:latin typeface="Arial" pitchFamily="34" charset="0"/>
                <a:cs typeface="Arial" pitchFamily="34" charset="0"/>
              </a:rPr>
              <a:t>.</a:t>
            </a:r>
          </a:p>
          <a:p>
            <a:pPr marL="177800" indent="-177800" algn="just">
              <a:spcBef>
                <a:spcPts val="0"/>
              </a:spcBef>
              <a:spcAft>
                <a:spcPts val="600"/>
              </a:spcAft>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0"/>
              </a:spcBef>
              <a:spcAft>
                <a:spcPts val="600"/>
              </a:spcAft>
            </a:pPr>
            <a:r>
              <a:rPr lang="es-AR" sz="1600" dirty="0" smtClean="0">
                <a:solidFill>
                  <a:schemeClr val="tx1"/>
                </a:solidFill>
                <a:latin typeface="Arial" pitchFamily="34" charset="0"/>
                <a:cs typeface="Arial" pitchFamily="34" charset="0"/>
              </a:rPr>
              <a:t>Por ejemplo </a:t>
            </a:r>
            <a:r>
              <a:rPr lang="es-AR" sz="1200" dirty="0" smtClean="0">
                <a:solidFill>
                  <a:schemeClr val="tx1"/>
                </a:solidFill>
                <a:latin typeface="Arial" pitchFamily="34" charset="0"/>
                <a:cs typeface="Arial" pitchFamily="34" charset="0"/>
              </a:rPr>
              <a:t>(se verá mas adelante):</a:t>
            </a:r>
          </a:p>
        </p:txBody>
      </p:sp>
      <p:pic>
        <p:nvPicPr>
          <p:cNvPr id="2051" name="Picture 3"/>
          <p:cNvPicPr>
            <a:picLocks noChangeAspect="1" noChangeArrowheads="1"/>
          </p:cNvPicPr>
          <p:nvPr/>
        </p:nvPicPr>
        <p:blipFill>
          <a:blip r:embed="rId3" cstate="print"/>
          <a:srcRect/>
          <a:stretch>
            <a:fillRect/>
          </a:stretch>
        </p:blipFill>
        <p:spPr bwMode="auto">
          <a:xfrm>
            <a:off x="3112770" y="4982528"/>
            <a:ext cx="4381500" cy="1647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5339923"/>
          </a:xfrm>
          <a:prstGeom prst="rect">
            <a:avLst/>
          </a:prstGeom>
          <a:noFill/>
        </p:spPr>
        <p:txBody>
          <a:bodyPr wrap="square" rtlCol="0">
            <a:spAutoFit/>
          </a:bodyPr>
          <a:lstStyle/>
          <a:p>
            <a:pPr algn="just">
              <a:spcBef>
                <a:spcPts val="0"/>
              </a:spcBef>
              <a:spcAft>
                <a:spcPts val="600"/>
              </a:spcAft>
            </a:pPr>
            <a:r>
              <a:rPr lang="es-AR" sz="1600" dirty="0" smtClean="0">
                <a:solidFill>
                  <a:srgbClr val="7030A0"/>
                </a:solidFill>
                <a:latin typeface="Arial" pitchFamily="34" charset="0"/>
                <a:cs typeface="Arial" pitchFamily="34" charset="0"/>
              </a:rPr>
              <a:t>Métodos o mecanismos de protección</a:t>
            </a:r>
            <a:r>
              <a:rPr lang="es-AR" sz="1600" dirty="0" smtClean="0">
                <a:solidFill>
                  <a:schemeClr val="tx1"/>
                </a:solidFill>
                <a:latin typeface="Arial" pitchFamily="34" charset="0"/>
                <a:cs typeface="Arial" pitchFamily="34" charset="0"/>
              </a:rPr>
              <a:t>:</a:t>
            </a:r>
          </a:p>
          <a:p>
            <a:pPr marL="177800" indent="-177800" algn="just">
              <a:spcBef>
                <a:spcPts val="0"/>
              </a:spcBef>
              <a:spcAft>
                <a:spcPts val="600"/>
              </a:spcAft>
              <a:buFont typeface="Arial" pitchFamily="34" charset="0"/>
              <a:buChar char="•"/>
            </a:pPr>
            <a:r>
              <a:rPr lang="es-AR" sz="1600" dirty="0" smtClean="0">
                <a:solidFill>
                  <a:srgbClr val="FF00FF"/>
                </a:solidFill>
                <a:latin typeface="Arial" pitchFamily="34" charset="0"/>
                <a:cs typeface="Arial" pitchFamily="34" charset="0"/>
              </a:rPr>
              <a:t>Registros límite y base: </a:t>
            </a:r>
            <a:r>
              <a:rPr lang="es-ES" sz="1400" dirty="0" smtClean="0">
                <a:solidFill>
                  <a:schemeClr val="tx1"/>
                </a:solidFill>
                <a:latin typeface="Arial" pitchFamily="34" charset="0"/>
                <a:cs typeface="Arial" pitchFamily="34" charset="0"/>
              </a:rPr>
              <a:t>Se utilizan para definir el espacio válido de memoria que puede usar un </a:t>
            </a:r>
            <a:r>
              <a:rPr lang="es-ES" sz="1400" dirty="0" err="1" smtClean="0">
                <a:solidFill>
                  <a:schemeClr val="tx1"/>
                </a:solidFill>
                <a:latin typeface="Arial" pitchFamily="34" charset="0"/>
                <a:cs typeface="Arial" pitchFamily="34" charset="0"/>
              </a:rPr>
              <a:t>proceso.El</a:t>
            </a:r>
            <a:r>
              <a:rPr lang="es-ES" sz="1400" dirty="0" smtClean="0">
                <a:solidFill>
                  <a:schemeClr val="tx1"/>
                </a:solidFill>
                <a:latin typeface="Arial" pitchFamily="34" charset="0"/>
                <a:cs typeface="Arial" pitchFamily="34" charset="0"/>
              </a:rPr>
              <a:t> </a:t>
            </a:r>
            <a:r>
              <a:rPr lang="es-ES" sz="1400" b="1" dirty="0" smtClean="0">
                <a:solidFill>
                  <a:schemeClr val="tx1"/>
                </a:solidFill>
                <a:latin typeface="Arial" pitchFamily="34" charset="0"/>
                <a:cs typeface="Arial" pitchFamily="34" charset="0"/>
              </a:rPr>
              <a:t>registro base</a:t>
            </a:r>
            <a:r>
              <a:rPr lang="es-ES" sz="1400" dirty="0" smtClean="0">
                <a:solidFill>
                  <a:schemeClr val="tx1"/>
                </a:solidFill>
                <a:latin typeface="Arial" pitchFamily="34" charset="0"/>
                <a:cs typeface="Arial" pitchFamily="34" charset="0"/>
              </a:rPr>
              <a:t> indica la dirección inicial del espacio del proceso. El </a:t>
            </a:r>
            <a:r>
              <a:rPr lang="es-ES" sz="1400" b="1" dirty="0" smtClean="0">
                <a:solidFill>
                  <a:schemeClr val="tx1"/>
                </a:solidFill>
                <a:latin typeface="Arial" pitchFamily="34" charset="0"/>
                <a:cs typeface="Arial" pitchFamily="34" charset="0"/>
              </a:rPr>
              <a:t>registro límite </a:t>
            </a:r>
            <a:r>
              <a:rPr lang="es-ES" sz="1400" dirty="0" smtClean="0">
                <a:solidFill>
                  <a:schemeClr val="tx1"/>
                </a:solidFill>
                <a:latin typeface="Arial" pitchFamily="34" charset="0"/>
                <a:cs typeface="Arial" pitchFamily="34" charset="0"/>
              </a:rPr>
              <a:t>indica cuánta memoria puede usar a partir de esa base. Si el proceso intenta acceder fuera de este rango, el hardware genera una excepción o error de protección. Esta información se guarda en el PCB (Bloque de Control de Proceso).</a:t>
            </a:r>
            <a:endParaRPr lang="es-AR" sz="1400" dirty="0" smtClean="0">
              <a:solidFill>
                <a:schemeClr val="tx1"/>
              </a:solidFill>
              <a:latin typeface="Arial" pitchFamily="34" charset="0"/>
              <a:cs typeface="Arial" pitchFamily="34" charset="0"/>
            </a:endParaRPr>
          </a:p>
          <a:p>
            <a:pPr marL="177800" indent="-177800" algn="just">
              <a:spcBef>
                <a:spcPts val="0"/>
              </a:spcBef>
              <a:spcAft>
                <a:spcPts val="600"/>
              </a:spcAft>
              <a:buFont typeface="Arial" pitchFamily="34" charset="0"/>
              <a:buChar char="•"/>
            </a:pPr>
            <a:r>
              <a:rPr lang="es-AR" sz="1600" dirty="0" smtClean="0">
                <a:solidFill>
                  <a:srgbClr val="FF00FF"/>
                </a:solidFill>
                <a:latin typeface="Arial" pitchFamily="34" charset="0"/>
                <a:cs typeface="Arial" pitchFamily="34" charset="0"/>
              </a:rPr>
              <a:t>Bits de protección</a:t>
            </a:r>
            <a:r>
              <a:rPr lang="es-AR" sz="1400" dirty="0" smtClean="0">
                <a:solidFill>
                  <a:srgbClr val="FF00FF"/>
                </a:solidFill>
                <a:latin typeface="Arial" pitchFamily="34" charset="0"/>
                <a:cs typeface="Arial" pitchFamily="34" charset="0"/>
              </a:rPr>
              <a:t>: </a:t>
            </a:r>
            <a:r>
              <a:rPr lang="es-ES" sz="1400" dirty="0" smtClean="0">
                <a:solidFill>
                  <a:schemeClr val="tx1"/>
                </a:solidFill>
                <a:latin typeface="Arial" pitchFamily="34" charset="0"/>
                <a:cs typeface="Arial" pitchFamily="34" charset="0"/>
              </a:rPr>
              <a:t>Cada bloque o página de memoria tiene bits especiales que definen los tipos de acceso permitidos: </a:t>
            </a:r>
            <a:r>
              <a:rPr lang="es-ES" sz="1400" b="1" dirty="0" smtClean="0">
                <a:solidFill>
                  <a:schemeClr val="tx1"/>
                </a:solidFill>
                <a:latin typeface="Arial" pitchFamily="34" charset="0"/>
                <a:cs typeface="Arial" pitchFamily="34" charset="0"/>
              </a:rPr>
              <a:t>Solo lectura</a:t>
            </a:r>
            <a:r>
              <a:rPr lang="es-ES" sz="1400" dirty="0" smtClean="0">
                <a:solidFill>
                  <a:schemeClr val="tx1"/>
                </a:solidFill>
                <a:latin typeface="Arial" pitchFamily="34" charset="0"/>
                <a:cs typeface="Arial" pitchFamily="34" charset="0"/>
              </a:rPr>
              <a:t>, </a:t>
            </a:r>
            <a:r>
              <a:rPr lang="es-ES" sz="1400" b="1" dirty="0" smtClean="0">
                <a:solidFill>
                  <a:schemeClr val="tx1"/>
                </a:solidFill>
                <a:latin typeface="Arial" pitchFamily="34" charset="0"/>
                <a:cs typeface="Arial" pitchFamily="34" charset="0"/>
              </a:rPr>
              <a:t>Lectura y escritura</a:t>
            </a:r>
            <a:r>
              <a:rPr lang="es-ES" sz="1400" dirty="0" smtClean="0">
                <a:solidFill>
                  <a:schemeClr val="tx1"/>
                </a:solidFill>
                <a:latin typeface="Arial" pitchFamily="34" charset="0"/>
                <a:cs typeface="Arial" pitchFamily="34" charset="0"/>
              </a:rPr>
              <a:t> y </a:t>
            </a:r>
            <a:r>
              <a:rPr lang="es-ES" sz="1400" b="1" dirty="0" smtClean="0">
                <a:solidFill>
                  <a:schemeClr val="tx1"/>
                </a:solidFill>
                <a:latin typeface="Arial" pitchFamily="34" charset="0"/>
                <a:cs typeface="Arial" pitchFamily="34" charset="0"/>
              </a:rPr>
              <a:t>Solo ejecución</a:t>
            </a:r>
            <a:r>
              <a:rPr lang="es-ES" sz="1400" dirty="0" smtClean="0">
                <a:solidFill>
                  <a:schemeClr val="tx1"/>
                </a:solidFill>
                <a:latin typeface="Arial" pitchFamily="34" charset="0"/>
                <a:cs typeface="Arial" pitchFamily="34" charset="0"/>
              </a:rPr>
              <a:t>. También pueden definir qué procesos o niveles de privilegio pueden acceder a esa memoria. El hardware revisa estos bits cada vez que se intenta acceder a esa zona.</a:t>
            </a:r>
            <a:endParaRPr lang="es-AR" sz="1400" dirty="0" smtClean="0">
              <a:solidFill>
                <a:schemeClr val="tx1"/>
              </a:solidFill>
              <a:latin typeface="Arial" pitchFamily="34" charset="0"/>
              <a:cs typeface="Arial" pitchFamily="34" charset="0"/>
            </a:endParaRPr>
          </a:p>
          <a:p>
            <a:pPr marL="177800" indent="-177800" algn="just">
              <a:spcBef>
                <a:spcPts val="0"/>
              </a:spcBef>
              <a:spcAft>
                <a:spcPts val="600"/>
              </a:spcAft>
              <a:buFont typeface="Arial" pitchFamily="34" charset="0"/>
              <a:buChar char="•"/>
            </a:pPr>
            <a:r>
              <a:rPr lang="es-AR" sz="1600" dirty="0" smtClean="0">
                <a:solidFill>
                  <a:srgbClr val="FF00FF"/>
                </a:solidFill>
                <a:latin typeface="Arial" pitchFamily="34" charset="0"/>
                <a:cs typeface="Arial" pitchFamily="34" charset="0"/>
              </a:rPr>
              <a:t>Segmentación: </a:t>
            </a:r>
            <a:r>
              <a:rPr lang="es-ES" sz="1400" dirty="0" smtClean="0">
                <a:solidFill>
                  <a:schemeClr val="tx1"/>
                </a:solidFill>
                <a:latin typeface="Arial" pitchFamily="34" charset="0"/>
                <a:cs typeface="Arial" pitchFamily="34" charset="0"/>
              </a:rPr>
              <a:t>Divide la memoria lógica de un proceso en segmentos: código, datos, pila, etc. </a:t>
            </a:r>
            <a:endParaRPr lang="es-AR" sz="1400" dirty="0" smtClean="0">
              <a:solidFill>
                <a:schemeClr val="tx1"/>
              </a:solidFill>
              <a:latin typeface="Arial" pitchFamily="34" charset="0"/>
              <a:cs typeface="Arial" pitchFamily="34" charset="0"/>
            </a:endParaRPr>
          </a:p>
          <a:p>
            <a:pPr algn="just">
              <a:spcBef>
                <a:spcPts val="0"/>
              </a:spcBef>
              <a:spcAft>
                <a:spcPts val="600"/>
              </a:spcAft>
            </a:pPr>
            <a:r>
              <a:rPr lang="es-AR" sz="1600" dirty="0" smtClean="0">
                <a:solidFill>
                  <a:srgbClr val="7030A0"/>
                </a:solidFill>
                <a:latin typeface="Arial" pitchFamily="34" charset="0"/>
                <a:cs typeface="Arial" pitchFamily="34" charset="0"/>
              </a:rPr>
              <a:t>Segmentos</a:t>
            </a:r>
            <a:r>
              <a:rPr lang="es-AR" sz="1600" dirty="0" smtClean="0">
                <a:solidFill>
                  <a:schemeClr val="tx1"/>
                </a:solidFill>
                <a:latin typeface="Arial" pitchFamily="34" charset="0"/>
                <a:cs typeface="Arial" pitchFamily="34" charset="0"/>
              </a:rPr>
              <a:t>: </a:t>
            </a:r>
          </a:p>
          <a:p>
            <a:pPr marL="182563" algn="just">
              <a:spcBef>
                <a:spcPts val="0"/>
              </a:spcBef>
              <a:spcAft>
                <a:spcPts val="600"/>
              </a:spcAft>
            </a:pPr>
            <a:r>
              <a:rPr lang="es-ES" sz="1600" dirty="0" smtClean="0">
                <a:solidFill>
                  <a:schemeClr val="tx1"/>
                </a:solidFill>
                <a:latin typeface="Arial" pitchFamily="34" charset="0"/>
                <a:cs typeface="Arial" pitchFamily="34" charset="0"/>
              </a:rPr>
              <a:t>Cada segmento tiene un descriptor, que contiene:   </a:t>
            </a:r>
            <a:r>
              <a:rPr lang="es-ES" sz="1600" b="1" dirty="0" smtClean="0">
                <a:solidFill>
                  <a:schemeClr val="tx1"/>
                </a:solidFill>
                <a:latin typeface="Arial" pitchFamily="34" charset="0"/>
                <a:cs typeface="Arial" pitchFamily="34" charset="0"/>
              </a:rPr>
              <a:t>a)</a:t>
            </a:r>
            <a:r>
              <a:rPr lang="es-ES" sz="1600" dirty="0" smtClean="0">
                <a:solidFill>
                  <a:schemeClr val="tx1"/>
                </a:solidFill>
                <a:latin typeface="Arial" pitchFamily="34" charset="0"/>
                <a:cs typeface="Arial" pitchFamily="34" charset="0"/>
              </a:rPr>
              <a:t> Dirección base </a:t>
            </a:r>
            <a:r>
              <a:rPr lang="es-ES" sz="1600" b="1" dirty="0" smtClean="0">
                <a:solidFill>
                  <a:schemeClr val="tx1"/>
                </a:solidFill>
                <a:latin typeface="Arial" pitchFamily="34" charset="0"/>
                <a:cs typeface="Arial" pitchFamily="34" charset="0"/>
              </a:rPr>
              <a:t> b) </a:t>
            </a:r>
            <a:r>
              <a:rPr lang="es-ES" sz="1600" dirty="0" smtClean="0">
                <a:solidFill>
                  <a:schemeClr val="tx1"/>
                </a:solidFill>
                <a:latin typeface="Arial" pitchFamily="34" charset="0"/>
                <a:cs typeface="Arial" pitchFamily="34" charset="0"/>
              </a:rPr>
              <a:t>Tamaño </a:t>
            </a:r>
            <a:r>
              <a:rPr lang="es-ES" sz="1600" b="1" dirty="0" smtClean="0">
                <a:solidFill>
                  <a:schemeClr val="tx1"/>
                </a:solidFill>
                <a:latin typeface="Arial" pitchFamily="34" charset="0"/>
                <a:cs typeface="Arial" pitchFamily="34" charset="0"/>
              </a:rPr>
              <a:t>c) </a:t>
            </a:r>
            <a:r>
              <a:rPr lang="es-ES" sz="1600" dirty="0" smtClean="0">
                <a:solidFill>
                  <a:schemeClr val="tx1"/>
                </a:solidFill>
                <a:latin typeface="Arial" pitchFamily="34" charset="0"/>
                <a:cs typeface="Arial" pitchFamily="34" charset="0"/>
              </a:rPr>
              <a:t>Permisos de acceso.  Se puede compartir un segmento entre procesos, por ejemplo, para usar bibliotecas comunes.</a:t>
            </a:r>
            <a:r>
              <a:rPr lang="es-AR" sz="1600" dirty="0" smtClean="0">
                <a:solidFill>
                  <a:schemeClr val="tx1"/>
                </a:solidFill>
                <a:latin typeface="Arial" pitchFamily="34" charset="0"/>
                <a:cs typeface="Arial" pitchFamily="34" charset="0"/>
              </a:rPr>
              <a:t>.</a:t>
            </a:r>
          </a:p>
          <a:p>
            <a:pPr marL="177800" indent="-177800" algn="just">
              <a:spcBef>
                <a:spcPts val="0"/>
              </a:spcBef>
              <a:spcAft>
                <a:spcPts val="600"/>
              </a:spcAft>
            </a:pPr>
            <a:r>
              <a:rPr lang="es-AR" sz="1600" dirty="0" smtClean="0">
                <a:solidFill>
                  <a:schemeClr val="tx1"/>
                </a:solidFill>
                <a:latin typeface="Arial" pitchFamily="34" charset="0"/>
                <a:cs typeface="Arial" pitchFamily="34" charset="0"/>
              </a:rPr>
              <a:t> </a:t>
            </a:r>
            <a:r>
              <a:rPr lang="es-AR" sz="1600" dirty="0" smtClean="0">
                <a:solidFill>
                  <a:srgbClr val="7030A0"/>
                </a:solidFill>
                <a:latin typeface="Arial" pitchFamily="34" charset="0"/>
                <a:cs typeface="Arial" pitchFamily="34" charset="0"/>
              </a:rPr>
              <a:t>Páginas</a:t>
            </a:r>
            <a:r>
              <a:rPr lang="es-AR" sz="1600" dirty="0" smtClean="0">
                <a:solidFill>
                  <a:schemeClr val="tx1"/>
                </a:solidFill>
                <a:latin typeface="Arial" pitchFamily="34" charset="0"/>
                <a:cs typeface="Arial" pitchFamily="34" charset="0"/>
              </a:rPr>
              <a:t>: </a:t>
            </a:r>
          </a:p>
          <a:p>
            <a:pPr marL="177800" indent="4763" algn="just">
              <a:spcBef>
                <a:spcPts val="0"/>
              </a:spcBef>
              <a:spcAft>
                <a:spcPts val="600"/>
              </a:spcAft>
            </a:pPr>
            <a:r>
              <a:rPr lang="es-ES" sz="1600" dirty="0" smtClean="0">
                <a:solidFill>
                  <a:schemeClr val="tx1"/>
                </a:solidFill>
                <a:latin typeface="Arial" pitchFamily="34" charset="0"/>
                <a:cs typeface="Arial" pitchFamily="34" charset="0"/>
              </a:rPr>
              <a:t>En un sistema con paginación, la memoria se divide en páginas fijas. Cada página tiene bits de acceso, similares a los de los segmentos: </a:t>
            </a:r>
            <a:r>
              <a:rPr lang="es-ES" sz="1600" b="1" dirty="0" smtClean="0">
                <a:solidFill>
                  <a:schemeClr val="tx1"/>
                </a:solidFill>
                <a:latin typeface="Arial" pitchFamily="34" charset="0"/>
                <a:cs typeface="Arial" pitchFamily="34" charset="0"/>
              </a:rPr>
              <a:t>Permisos</a:t>
            </a:r>
            <a:r>
              <a:rPr lang="es-ES" sz="1600" dirty="0" smtClean="0">
                <a:solidFill>
                  <a:schemeClr val="tx1"/>
                </a:solidFill>
                <a:latin typeface="Arial" pitchFamily="34" charset="0"/>
                <a:cs typeface="Arial" pitchFamily="34" charset="0"/>
              </a:rPr>
              <a:t> de lectura, escritura o ejecución,  </a:t>
            </a:r>
            <a:r>
              <a:rPr lang="es-ES" sz="1600" b="1" dirty="0" smtClean="0">
                <a:solidFill>
                  <a:schemeClr val="tx1"/>
                </a:solidFill>
                <a:latin typeface="Arial" pitchFamily="34" charset="0"/>
                <a:cs typeface="Arial" pitchFamily="34" charset="0"/>
              </a:rPr>
              <a:t>bit de presencia </a:t>
            </a:r>
            <a:r>
              <a:rPr lang="es-ES" sz="1600" dirty="0" smtClean="0">
                <a:solidFill>
                  <a:schemeClr val="tx1"/>
                </a:solidFill>
                <a:latin typeface="Arial" pitchFamily="34" charset="0"/>
                <a:cs typeface="Arial" pitchFamily="34" charset="0"/>
              </a:rPr>
              <a:t>(si la página está cargada en memoria)Esto permite al sistema verificar el acceso correcto página por página.</a:t>
            </a:r>
            <a:endParaRPr lang="es-AR" sz="16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39800"/>
            <a:ext cx="8699499" cy="369332"/>
          </a:xfrm>
          <a:prstGeom prst="rect">
            <a:avLst/>
          </a:prstGeom>
          <a:noFill/>
        </p:spPr>
        <p:txBody>
          <a:bodyPr wrap="square" rtlCol="0">
            <a:spAutoFit/>
          </a:bodyPr>
          <a:lstStyle/>
          <a:p>
            <a:pPr marL="0" lvl="1" algn="l"/>
            <a:r>
              <a:rPr lang="es-AR" sz="1800" dirty="0" smtClean="0">
                <a:solidFill>
                  <a:srgbClr val="CC00CC"/>
                </a:solidFill>
                <a:latin typeface="Arial" pitchFamily="34" charset="0"/>
                <a:cs typeface="Arial" pitchFamily="34" charset="0"/>
              </a:rPr>
              <a:t>Vinculación de las instrucciones y los datos a la memoria </a:t>
            </a:r>
            <a:r>
              <a:rPr lang="es-AR" sz="1400" dirty="0" smtClean="0">
                <a:solidFill>
                  <a:srgbClr val="CC00CC"/>
                </a:solidFill>
                <a:latin typeface="Arial" pitchFamily="34" charset="0"/>
                <a:cs typeface="Arial" pitchFamily="34" charset="0"/>
              </a:rPr>
              <a:t>(ciclo de vida de un programa)</a:t>
            </a:r>
            <a:endParaRPr lang="es-AR" sz="1400" dirty="0" smtClean="0">
              <a:solidFill>
                <a:schemeClr val="tx1"/>
              </a:solidFill>
              <a:latin typeface="Arial" pitchFamily="34" charset="0"/>
              <a:cs typeface="Arial" pitchFamily="34" charset="0"/>
            </a:endParaRPr>
          </a:p>
        </p:txBody>
      </p:sp>
      <p:sp>
        <p:nvSpPr>
          <p:cNvPr id="8" name="7 CuadroTexto"/>
          <p:cNvSpPr txBox="1"/>
          <p:nvPr/>
        </p:nvSpPr>
        <p:spPr>
          <a:xfrm>
            <a:off x="190500" y="1333500"/>
            <a:ext cx="5353049" cy="5016758"/>
          </a:xfrm>
          <a:prstGeom prst="rect">
            <a:avLst/>
          </a:prstGeom>
          <a:noFill/>
        </p:spPr>
        <p:txBody>
          <a:bodyPr wrap="square" rtlCol="0">
            <a:spAutoFit/>
          </a:bodyPr>
          <a:lstStyle/>
          <a:p>
            <a:pPr marL="0" lvl="1" algn="just"/>
            <a:r>
              <a:rPr lang="es-AR" sz="1600" dirty="0" smtClean="0">
                <a:solidFill>
                  <a:schemeClr val="tx1"/>
                </a:solidFill>
                <a:latin typeface="Arial" pitchFamily="34" charset="0"/>
                <a:cs typeface="Arial" pitchFamily="34" charset="0"/>
              </a:rPr>
              <a:t>Los procesos que se encuentran en el disco a la espera de ser transferidos a la memoria forman la cola de entrada. Cuando se selecciona y carga uno de estos procesos en memoria, accede a datos e instrucciones de la misma y cuando termina el espacio ocupado se marca como disponible.</a:t>
            </a:r>
          </a:p>
          <a:p>
            <a:pPr marL="0" lvl="1" algn="just"/>
            <a:r>
              <a:rPr lang="es-AR" sz="1600" dirty="0" smtClean="0">
                <a:solidFill>
                  <a:schemeClr val="tx1"/>
                </a:solidFill>
                <a:latin typeface="Arial" pitchFamily="34" charset="0"/>
                <a:cs typeface="Arial" pitchFamily="34" charset="0"/>
              </a:rPr>
              <a:t>La vinculación de instrucciones y datos con direcciones de memoria puede realizarse en distintas etapas:</a:t>
            </a:r>
          </a:p>
          <a:p>
            <a:pPr marL="0" lvl="1" algn="just"/>
            <a:r>
              <a:rPr lang="es-AR" sz="1600" dirty="0" smtClean="0">
                <a:solidFill>
                  <a:srgbClr val="FF66FF"/>
                </a:solidFill>
                <a:latin typeface="Arial" pitchFamily="34" charset="0"/>
                <a:cs typeface="Arial" pitchFamily="34" charset="0"/>
              </a:rPr>
              <a:t>Compilación</a:t>
            </a:r>
            <a:r>
              <a:rPr lang="es-AR" sz="1600" dirty="0" smtClean="0">
                <a:solidFill>
                  <a:schemeClr val="tx1"/>
                </a:solidFill>
                <a:latin typeface="Arial" pitchFamily="34" charset="0"/>
                <a:cs typeface="Arial" pitchFamily="34" charset="0"/>
              </a:rPr>
              <a:t>: Si se conoce previamente la ubicación de memoria, puede generarse </a:t>
            </a:r>
            <a:r>
              <a:rPr lang="es-AR" sz="1600" u="sng" dirty="0" smtClean="0">
                <a:solidFill>
                  <a:schemeClr val="tx1"/>
                </a:solidFill>
                <a:latin typeface="Arial" pitchFamily="34" charset="0"/>
                <a:cs typeface="Arial" pitchFamily="34" charset="0"/>
              </a:rPr>
              <a:t>código absoluto</a:t>
            </a:r>
            <a:r>
              <a:rPr lang="es-AR" sz="1600" dirty="0" smtClean="0">
                <a:solidFill>
                  <a:schemeClr val="tx1"/>
                </a:solidFill>
                <a:latin typeface="Arial" pitchFamily="34" charset="0"/>
                <a:cs typeface="Arial" pitchFamily="34" charset="0"/>
              </a:rPr>
              <a:t>, el código debe ser recompilado si la dirección de inicio cambia (por ejemplo, programas .</a:t>
            </a:r>
            <a:r>
              <a:rPr lang="es-AR" sz="1600" dirty="0" err="1" smtClean="0">
                <a:solidFill>
                  <a:schemeClr val="tx1"/>
                </a:solidFill>
                <a:latin typeface="Arial" pitchFamily="34" charset="0"/>
                <a:cs typeface="Arial" pitchFamily="34" charset="0"/>
              </a:rPr>
              <a:t>com</a:t>
            </a:r>
            <a:r>
              <a:rPr lang="es-AR" sz="1600" dirty="0" smtClean="0">
                <a:solidFill>
                  <a:schemeClr val="tx1"/>
                </a:solidFill>
                <a:latin typeface="Arial" pitchFamily="34" charset="0"/>
                <a:cs typeface="Arial" pitchFamily="34" charset="0"/>
              </a:rPr>
              <a:t>).</a:t>
            </a:r>
          </a:p>
          <a:p>
            <a:pPr marL="0" lvl="1" algn="just"/>
            <a:r>
              <a:rPr lang="es-AR" sz="1600" dirty="0" smtClean="0">
                <a:solidFill>
                  <a:srgbClr val="FF66FF"/>
                </a:solidFill>
                <a:latin typeface="Arial" pitchFamily="34" charset="0"/>
                <a:cs typeface="Arial" pitchFamily="34" charset="0"/>
              </a:rPr>
              <a:t>Carga: </a:t>
            </a:r>
            <a:r>
              <a:rPr lang="es-AR" sz="1600" dirty="0" smtClean="0">
                <a:solidFill>
                  <a:schemeClr val="tx1"/>
                </a:solidFill>
                <a:latin typeface="Arial" pitchFamily="34" charset="0"/>
                <a:cs typeface="Arial" pitchFamily="34" charset="0"/>
              </a:rPr>
              <a:t>Si no se conocen las direcciones en tiempo de compilación, debe generarse </a:t>
            </a:r>
            <a:r>
              <a:rPr lang="es-AR" sz="1600" u="sng" dirty="0" smtClean="0">
                <a:solidFill>
                  <a:schemeClr val="tx1"/>
                </a:solidFill>
                <a:latin typeface="Arial" pitchFamily="34" charset="0"/>
                <a:cs typeface="Arial" pitchFamily="34" charset="0"/>
              </a:rPr>
              <a:t>código reubicable</a:t>
            </a:r>
            <a:r>
              <a:rPr lang="es-AR" sz="1600" dirty="0" smtClean="0">
                <a:solidFill>
                  <a:schemeClr val="tx1"/>
                </a:solidFill>
                <a:latin typeface="Arial" pitchFamily="34" charset="0"/>
                <a:cs typeface="Arial" pitchFamily="34" charset="0"/>
              </a:rPr>
              <a:t>. Si la dirección de inicio cambia, bastará volver a cargar el proceso para que se actualice el valor modificado. </a:t>
            </a:r>
          </a:p>
          <a:p>
            <a:pPr marL="0" lvl="1" algn="just"/>
            <a:r>
              <a:rPr lang="es-AR" sz="1600" dirty="0" smtClean="0">
                <a:solidFill>
                  <a:srgbClr val="FF66FF"/>
                </a:solidFill>
                <a:latin typeface="Arial" pitchFamily="34" charset="0"/>
                <a:cs typeface="Arial" pitchFamily="34" charset="0"/>
              </a:rPr>
              <a:t>Ejecución: </a:t>
            </a:r>
            <a:r>
              <a:rPr lang="es-AR" sz="1600" dirty="0" smtClean="0">
                <a:solidFill>
                  <a:schemeClr val="tx1"/>
                </a:solidFill>
                <a:latin typeface="Arial" pitchFamily="34" charset="0"/>
                <a:cs typeface="Arial" pitchFamily="34" charset="0"/>
              </a:rPr>
              <a:t>La vinculación se retarda hasta el tiempo de corrida si los procesos pueden ser movidos durante su ejecución de una posición de memoria a otra. Es necesario un hardware especial (MMU).</a:t>
            </a:r>
          </a:p>
        </p:txBody>
      </p:sp>
      <p:pic>
        <p:nvPicPr>
          <p:cNvPr id="7171" name="Picture 3"/>
          <p:cNvPicPr>
            <a:picLocks noChangeAspect="1" noChangeArrowheads="1"/>
          </p:cNvPicPr>
          <p:nvPr/>
        </p:nvPicPr>
        <p:blipFill>
          <a:blip r:embed="rId3" cstate="print">
            <a:clrChange>
              <a:clrFrom>
                <a:srgbClr val="FFFFFF"/>
              </a:clrFrom>
              <a:clrTo>
                <a:srgbClr val="FFFFFF">
                  <a:alpha val="0"/>
                </a:srgbClr>
              </a:clrTo>
            </a:clrChange>
            <a:lum contrast="10000"/>
          </a:blip>
          <a:srcRect/>
          <a:stretch>
            <a:fillRect/>
          </a:stretch>
        </p:blipFill>
        <p:spPr bwMode="auto">
          <a:xfrm>
            <a:off x="5609846" y="1876425"/>
            <a:ext cx="3505579" cy="4086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4708981"/>
          </a:xfrm>
          <a:prstGeom prst="rect">
            <a:avLst/>
          </a:prstGeom>
          <a:noFill/>
        </p:spPr>
        <p:txBody>
          <a:bodyPr wrap="square" rtlCol="0">
            <a:spAutoFit/>
          </a:bodyPr>
          <a:lstStyle/>
          <a:p>
            <a:pPr algn="just">
              <a:spcAft>
                <a:spcPts val="1200"/>
              </a:spcAft>
            </a:pPr>
            <a:r>
              <a:rPr lang="es-AR" sz="1600" b="1" dirty="0" smtClean="0">
                <a:solidFill>
                  <a:srgbClr val="7030A0"/>
                </a:solidFill>
                <a:latin typeface="Arial" pitchFamily="34" charset="0"/>
                <a:cs typeface="Arial" pitchFamily="34" charset="0"/>
              </a:rPr>
              <a:t>Reubicación</a:t>
            </a:r>
            <a:r>
              <a:rPr lang="es-AR" sz="1600" b="1" dirty="0" smtClean="0">
                <a:solidFill>
                  <a:schemeClr val="tx1"/>
                </a:solidFill>
                <a:latin typeface="Arial" pitchFamily="34" charset="0"/>
                <a:cs typeface="Arial" pitchFamily="34" charset="0"/>
              </a:rPr>
              <a:t>:</a:t>
            </a:r>
          </a:p>
          <a:p>
            <a:pPr marL="177800" indent="-177800" algn="just">
              <a:spcAft>
                <a:spcPts val="1200"/>
              </a:spcAft>
              <a:buFont typeface="Arial" pitchFamily="34" charset="0"/>
              <a:buChar char="•"/>
            </a:pPr>
            <a:r>
              <a:rPr lang="es-AR" sz="1600" dirty="0" smtClean="0">
                <a:solidFill>
                  <a:schemeClr val="tx1"/>
                </a:solidFill>
                <a:latin typeface="Arial" pitchFamily="34" charset="0"/>
                <a:cs typeface="Arial" pitchFamily="34" charset="0"/>
              </a:rPr>
              <a:t>Es la capacidad de cargar y ejecutar un programa determinado en la posición arbitraria de memoria (en contraposición a un conjunto fijo de posiciones especificadas durante la compilación de dicho programa). </a:t>
            </a:r>
          </a:p>
          <a:p>
            <a:pPr marL="177800" indent="-177800" algn="just">
              <a:spcAft>
                <a:spcPts val="1200"/>
              </a:spcAft>
              <a:buFont typeface="Arial" pitchFamily="34" charset="0"/>
              <a:buChar char="•"/>
            </a:pPr>
            <a:r>
              <a:rPr lang="es-AR" sz="1600" dirty="0" smtClean="0">
                <a:solidFill>
                  <a:schemeClr val="tx1"/>
                </a:solidFill>
                <a:latin typeface="Arial" pitchFamily="34" charset="0"/>
                <a:cs typeface="Arial" pitchFamily="34" charset="0"/>
              </a:rPr>
              <a:t>El programador no conoce qué otros programas residirán en la memoria en el momento de la ejecución de su programa. Generalmente, tampoco conoce en que zona de memoria se colocará su programa</a:t>
            </a:r>
          </a:p>
          <a:p>
            <a:pPr marL="177800" indent="-177800" algn="just">
              <a:spcAft>
                <a:spcPts val="1200"/>
              </a:spcAft>
              <a:buFont typeface="Arial" pitchFamily="34" charset="0"/>
              <a:buChar char="•"/>
            </a:pPr>
            <a:r>
              <a:rPr lang="es-AR" sz="1600" dirty="0" smtClean="0">
                <a:solidFill>
                  <a:schemeClr val="tx1"/>
                </a:solidFill>
                <a:latin typeface="Arial" pitchFamily="34" charset="0"/>
                <a:cs typeface="Arial" pitchFamily="34" charset="0"/>
              </a:rPr>
              <a:t>Mientras que se está ejecutando el programa, puede que se descargue en el disco y que vuelva a la memoria principal pero en una ubicación distinta a la anterior (reubicación) =&gt; un programa debe poder moverse por la memoria a consecuencia de intercambios.  </a:t>
            </a:r>
          </a:p>
          <a:p>
            <a:pPr marL="177800" indent="-177800" algn="just">
              <a:spcAft>
                <a:spcPts val="1200"/>
              </a:spcAft>
              <a:buFont typeface="Arial" pitchFamily="34" charset="0"/>
              <a:buChar char="•"/>
            </a:pPr>
            <a:r>
              <a:rPr lang="es-AR" sz="1600" dirty="0" smtClean="0">
                <a:solidFill>
                  <a:schemeClr val="tx1"/>
                </a:solidFill>
                <a:latin typeface="Arial" pitchFamily="34" charset="0"/>
                <a:cs typeface="Arial" pitchFamily="34" charset="0"/>
              </a:rPr>
              <a:t>Se deben traducir las referencias a la memoria encontradas en el código del programador a las direcciones físicas reales</a:t>
            </a:r>
          </a:p>
          <a:p>
            <a:pPr marL="177800" indent="-177800" algn="just">
              <a:spcAft>
                <a:spcPts val="1200"/>
              </a:spcAft>
              <a:buFont typeface="Arial" pitchFamily="34" charset="0"/>
              <a:buChar char="•"/>
            </a:pPr>
            <a:r>
              <a:rPr lang="es-AR" sz="1600" dirty="0" smtClean="0">
                <a:solidFill>
                  <a:schemeClr val="tx1"/>
                </a:solidFill>
                <a:latin typeface="Arial" pitchFamily="34" charset="0"/>
                <a:cs typeface="Arial" pitchFamily="34" charset="0"/>
              </a:rPr>
              <a:t>Es el compilador  quien traduce las direcciones de memoria simbólicas a direcciones binarias.</a:t>
            </a:r>
          </a:p>
          <a:p>
            <a:pPr marL="177800" indent="-177800" algn="just"/>
            <a:endParaRPr lang="es-AR" sz="16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4770537"/>
          </a:xfrm>
          <a:prstGeom prst="rect">
            <a:avLst/>
          </a:prstGeom>
          <a:noFill/>
        </p:spPr>
        <p:txBody>
          <a:bodyPr wrap="square" rtlCol="0">
            <a:spAutoFit/>
          </a:bodyPr>
          <a:lstStyle/>
          <a:p>
            <a:pPr marL="177800" indent="-177800" algn="just"/>
            <a:r>
              <a:rPr lang="es-AR" sz="1600" dirty="0" smtClean="0">
                <a:solidFill>
                  <a:schemeClr val="tx1"/>
                </a:solidFill>
                <a:latin typeface="Arial" pitchFamily="34" charset="0"/>
                <a:cs typeface="Arial" pitchFamily="34" charset="0"/>
              </a:rPr>
              <a:t>Dependiendo de cómo y cuándo tenga lugar la traducción del espacio de direcciones virtuales al espacio de direcciones físicas en un esquema de reubicación determinado, pueden considerarse dos tipos básicos de estrategias:</a:t>
            </a:r>
          </a:p>
          <a:p>
            <a:pPr marL="533400" indent="190500" algn="just">
              <a:buFont typeface="Arial" pitchFamily="34" charset="0"/>
              <a:buChar char="•"/>
            </a:pPr>
            <a:r>
              <a:rPr lang="es-AR" sz="1600" dirty="0" smtClean="0">
                <a:solidFill>
                  <a:srgbClr val="7030A0"/>
                </a:solidFill>
                <a:latin typeface="Arial" pitchFamily="34" charset="0"/>
                <a:cs typeface="Arial" pitchFamily="34" charset="0"/>
              </a:rPr>
              <a:t>Reubicación Estática</a:t>
            </a:r>
          </a:p>
          <a:p>
            <a:pPr marL="898525" indent="-174625" algn="just">
              <a:buFont typeface="Arial" pitchFamily="34" charset="0"/>
              <a:buChar char="•"/>
            </a:pPr>
            <a:r>
              <a:rPr lang="es-AR" sz="1600" dirty="0" smtClean="0">
                <a:solidFill>
                  <a:schemeClr val="tx1"/>
                </a:solidFill>
                <a:latin typeface="Arial" pitchFamily="34" charset="0"/>
                <a:cs typeface="Arial" pitchFamily="34" charset="0"/>
              </a:rPr>
              <a:t>Implica generalmente que la reubicación es realizada antes o durante la </a:t>
            </a:r>
            <a:r>
              <a:rPr lang="es-AR" sz="1600" u="sng" dirty="0" smtClean="0">
                <a:solidFill>
                  <a:schemeClr val="tx1"/>
                </a:solidFill>
                <a:latin typeface="Arial" pitchFamily="34" charset="0"/>
                <a:cs typeface="Arial" pitchFamily="34" charset="0"/>
              </a:rPr>
              <a:t>carga</a:t>
            </a:r>
            <a:r>
              <a:rPr lang="es-AR" sz="1600" dirty="0" smtClean="0">
                <a:solidFill>
                  <a:schemeClr val="tx1"/>
                </a:solidFill>
                <a:latin typeface="Arial" pitchFamily="34" charset="0"/>
                <a:cs typeface="Arial" pitchFamily="34" charset="0"/>
              </a:rPr>
              <a:t> del proceso en memoria.</a:t>
            </a:r>
          </a:p>
          <a:p>
            <a:pPr marL="898525" indent="-174625" algn="just">
              <a:buFont typeface="Arial" pitchFamily="34" charset="0"/>
              <a:buChar char="•"/>
            </a:pPr>
            <a:r>
              <a:rPr lang="es-AR" sz="1600" dirty="0" smtClean="0">
                <a:solidFill>
                  <a:schemeClr val="tx1"/>
                </a:solidFill>
                <a:latin typeface="Arial" pitchFamily="34" charset="0"/>
                <a:cs typeface="Arial" pitchFamily="34" charset="0"/>
              </a:rPr>
              <a:t>No necesitan ser ajustados durante la reubicación. Por ejemplo no dependen de esta condición  las constantes (valores literales), los desplazamientos relativos al PC, etc. </a:t>
            </a:r>
          </a:p>
          <a:p>
            <a:pPr marL="898525" indent="-174625" algn="just">
              <a:buFont typeface="Arial" pitchFamily="34" charset="0"/>
              <a:buChar char="•"/>
            </a:pPr>
            <a:endParaRPr lang="es-AR" sz="1600" dirty="0" smtClean="0">
              <a:solidFill>
                <a:schemeClr val="tx1"/>
              </a:solidFill>
              <a:latin typeface="Arial" pitchFamily="34" charset="0"/>
              <a:cs typeface="Arial" pitchFamily="34" charset="0"/>
            </a:endParaRPr>
          </a:p>
          <a:p>
            <a:pPr marL="533400" indent="190500" algn="just">
              <a:buFont typeface="Arial" pitchFamily="34" charset="0"/>
              <a:buChar char="•"/>
            </a:pPr>
            <a:r>
              <a:rPr lang="es-AR" sz="1600" dirty="0" smtClean="0">
                <a:solidFill>
                  <a:srgbClr val="7030A0"/>
                </a:solidFill>
                <a:latin typeface="Arial" pitchFamily="34" charset="0"/>
                <a:cs typeface="Arial" pitchFamily="34" charset="0"/>
              </a:rPr>
              <a:t>Reubicación Dinámica</a:t>
            </a:r>
          </a:p>
          <a:p>
            <a:pPr marL="898525" lvl="2" indent="-182563" algn="just">
              <a:buFont typeface="Arial" pitchFamily="34" charset="0"/>
              <a:buChar char="•"/>
              <a:tabLst>
                <a:tab pos="715963" algn="l"/>
              </a:tabLst>
            </a:pPr>
            <a:r>
              <a:rPr lang="es-AR" sz="1600" dirty="0" smtClean="0">
                <a:solidFill>
                  <a:schemeClr val="tx1"/>
                </a:solidFill>
                <a:latin typeface="Arial" pitchFamily="34" charset="0"/>
                <a:cs typeface="Arial" pitchFamily="34" charset="0"/>
              </a:rPr>
              <a:t>Implica que la correspondencia entre el espacio de direcciones virtuales y el espacio de direcciones físicas se efectúa en tiempo de ejecución. Usualmente con asistencia del hardware. Cuando el proceso en cuestión está siendo </a:t>
            </a:r>
            <a:r>
              <a:rPr lang="es-AR" sz="1600" u="sng" dirty="0" smtClean="0">
                <a:solidFill>
                  <a:schemeClr val="tx1"/>
                </a:solidFill>
                <a:latin typeface="Arial" pitchFamily="34" charset="0"/>
                <a:cs typeface="Arial" pitchFamily="34" charset="0"/>
              </a:rPr>
              <a:t>ejecutado</a:t>
            </a:r>
            <a:r>
              <a:rPr lang="es-AR" sz="1600" dirty="0" smtClean="0">
                <a:solidFill>
                  <a:schemeClr val="tx1"/>
                </a:solidFill>
                <a:latin typeface="Arial" pitchFamily="34" charset="0"/>
                <a:cs typeface="Arial" pitchFamily="34" charset="0"/>
              </a:rPr>
              <a:t>, todas sus referencias a memoria son reubicadas durante la ejecución antes de acceder realmente a la memoria física.</a:t>
            </a:r>
          </a:p>
          <a:p>
            <a:pPr marL="898525" lvl="2" indent="-182563" algn="just">
              <a:buFont typeface="Arial" pitchFamily="34" charset="0"/>
              <a:buChar char="•"/>
              <a:tabLst>
                <a:tab pos="715963" algn="l"/>
              </a:tabLst>
            </a:pPr>
            <a:r>
              <a:rPr lang="es-AR" sz="1600" dirty="0" smtClean="0">
                <a:solidFill>
                  <a:schemeClr val="tx1"/>
                </a:solidFill>
                <a:latin typeface="Arial" pitchFamily="34" charset="0"/>
                <a:cs typeface="Arial" pitchFamily="34" charset="0"/>
              </a:rPr>
              <a:t>El direccionamiento se realiza dinámicamente a medida que se van produciendo las referencias a memoria</a:t>
            </a:r>
          </a:p>
          <a:p>
            <a:pPr marL="898525" lvl="2" indent="-182563" algn="just">
              <a:buFont typeface="Arial" pitchFamily="34" charset="0"/>
              <a:buChar char="•"/>
              <a:tabLst>
                <a:tab pos="715963" algn="l"/>
              </a:tabLst>
            </a:pPr>
            <a:r>
              <a:rPr lang="es-AR" sz="1600" dirty="0" smtClean="0">
                <a:solidFill>
                  <a:schemeClr val="tx1"/>
                </a:solidFill>
                <a:latin typeface="Arial" pitchFamily="34" charset="0"/>
                <a:cs typeface="Arial" pitchFamily="34" charset="0"/>
              </a:rPr>
              <a:t>El programa se puede desplazar en cualquier instante</a:t>
            </a:r>
          </a:p>
        </p:txBody>
      </p:sp>
      <p:pic>
        <p:nvPicPr>
          <p:cNvPr id="10242" name="Picture 2"/>
          <p:cNvPicPr>
            <a:picLocks noChangeAspect="1" noChangeArrowheads="1"/>
          </p:cNvPicPr>
          <p:nvPr/>
        </p:nvPicPr>
        <p:blipFill>
          <a:blip r:embed="rId3" cstate="print"/>
          <a:srcRect/>
          <a:stretch>
            <a:fillRect/>
          </a:stretch>
        </p:blipFill>
        <p:spPr bwMode="auto">
          <a:xfrm>
            <a:off x="9144000" y="2027516"/>
            <a:ext cx="5816600" cy="29537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r>
              <a:rPr lang="es-AR" sz="3600" b="1" dirty="0" smtClean="0">
                <a:solidFill>
                  <a:schemeClr val="tx1"/>
                </a:solidFill>
                <a:latin typeface="Arial" pitchFamily="34" charset="0"/>
                <a:cs typeface="Arial" pitchFamily="34" charset="0"/>
              </a:rPr>
              <a:t> </a:t>
            </a:r>
            <a:r>
              <a:rPr lang="es-AR" sz="1050" b="1" dirty="0" smtClean="0">
                <a:solidFill>
                  <a:schemeClr val="tx1"/>
                </a:solidFill>
                <a:latin typeface="Arial" pitchFamily="34" charset="0"/>
                <a:cs typeface="Arial" pitchFamily="34" charset="0"/>
              </a:rPr>
              <a:t>(</a:t>
            </a:r>
            <a:r>
              <a:rPr lang="es-AR" sz="1050" b="1" dirty="0" err="1" smtClean="0">
                <a:solidFill>
                  <a:schemeClr val="tx1"/>
                </a:solidFill>
                <a:latin typeface="Arial" pitchFamily="34" charset="0"/>
                <a:cs typeface="Arial" pitchFamily="34" charset="0"/>
              </a:rPr>
              <a:t>Silberchatz</a:t>
            </a:r>
            <a:r>
              <a:rPr lang="es-AR" sz="1050" b="1" dirty="0" smtClean="0">
                <a:solidFill>
                  <a:schemeClr val="tx1"/>
                </a:solidFill>
                <a:latin typeface="Arial" pitchFamily="34" charset="0"/>
                <a:cs typeface="Arial" pitchFamily="34" charset="0"/>
              </a:rPr>
              <a:t> 8.1.3…)</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6694140"/>
          </a:xfrm>
          <a:prstGeom prst="rect">
            <a:avLst/>
          </a:prstGeom>
          <a:noFill/>
        </p:spPr>
        <p:txBody>
          <a:bodyPr wrap="square" rtlCol="0">
            <a:spAutoFit/>
          </a:bodyPr>
          <a:lstStyle/>
          <a:p>
            <a:pPr algn="just"/>
            <a:r>
              <a:rPr lang="es-AR" sz="1600" b="1" dirty="0" smtClean="0">
                <a:solidFill>
                  <a:srgbClr val="7030A0"/>
                </a:solidFill>
                <a:latin typeface="Arial" pitchFamily="34" charset="0"/>
                <a:cs typeface="Arial" pitchFamily="34" charset="0"/>
              </a:rPr>
              <a:t>Espacio de direcciones físicas y lógicas, algunas definiciones….</a:t>
            </a:r>
          </a:p>
          <a:p>
            <a:pPr algn="just">
              <a:spcBef>
                <a:spcPts val="1200"/>
              </a:spcBef>
            </a:pPr>
            <a:r>
              <a:rPr lang="es-AR" sz="1600" dirty="0" smtClean="0">
                <a:solidFill>
                  <a:schemeClr val="tx1"/>
                </a:solidFill>
                <a:latin typeface="Arial" pitchFamily="34" charset="0"/>
                <a:cs typeface="Arial" pitchFamily="34" charset="0"/>
              </a:rPr>
              <a:t>Una </a:t>
            </a:r>
            <a:r>
              <a:rPr lang="es-AR" sz="1600" dirty="0" smtClean="0">
                <a:solidFill>
                  <a:srgbClr val="CC00CC"/>
                </a:solidFill>
                <a:latin typeface="Arial" pitchFamily="34" charset="0"/>
                <a:cs typeface="Arial" pitchFamily="34" charset="0"/>
              </a:rPr>
              <a:t>dirección lógica </a:t>
            </a:r>
            <a:r>
              <a:rPr lang="es-AR" sz="1600" dirty="0" smtClean="0">
                <a:solidFill>
                  <a:schemeClr val="tx1"/>
                </a:solidFill>
                <a:latin typeface="Arial" pitchFamily="34" charset="0"/>
                <a:cs typeface="Arial" pitchFamily="34" charset="0"/>
              </a:rPr>
              <a:t>ó </a:t>
            </a:r>
            <a:r>
              <a:rPr lang="es-AR" sz="1600" dirty="0" smtClean="0">
                <a:solidFill>
                  <a:srgbClr val="CC00CC"/>
                </a:solidFill>
                <a:latin typeface="Arial" pitchFamily="34" charset="0"/>
                <a:cs typeface="Arial" pitchFamily="34" charset="0"/>
              </a:rPr>
              <a:t>dirección virtual</a:t>
            </a:r>
            <a:r>
              <a:rPr lang="es-AR" sz="1600" dirty="0" smtClean="0">
                <a:solidFill>
                  <a:schemeClr val="tx1"/>
                </a:solidFill>
                <a:latin typeface="Arial" pitchFamily="34" charset="0"/>
                <a:cs typeface="Arial" pitchFamily="34" charset="0"/>
              </a:rPr>
              <a:t>, es una dirección generada por la CPU.</a:t>
            </a:r>
          </a:p>
          <a:p>
            <a:pPr algn="just"/>
            <a:r>
              <a:rPr lang="es-AR" sz="1600" dirty="0" smtClean="0">
                <a:solidFill>
                  <a:schemeClr val="tx1"/>
                </a:solidFill>
                <a:latin typeface="Arial" pitchFamily="34" charset="0"/>
                <a:cs typeface="Arial" pitchFamily="34" charset="0"/>
              </a:rPr>
              <a:t>Una </a:t>
            </a:r>
            <a:r>
              <a:rPr lang="es-AR" sz="1600" dirty="0" smtClean="0">
                <a:solidFill>
                  <a:srgbClr val="CC00CC"/>
                </a:solidFill>
                <a:latin typeface="Arial" pitchFamily="34" charset="0"/>
                <a:cs typeface="Arial" pitchFamily="34" charset="0"/>
              </a:rPr>
              <a:t>dirección física</a:t>
            </a:r>
            <a:r>
              <a:rPr lang="es-AR" sz="1600" dirty="0" smtClean="0">
                <a:solidFill>
                  <a:schemeClr val="tx1"/>
                </a:solidFill>
                <a:latin typeface="Arial" pitchFamily="34" charset="0"/>
                <a:cs typeface="Arial" pitchFamily="34" charset="0"/>
              </a:rPr>
              <a:t>, es la que se carga en el registro de memoria de la memoria (sería la que está en el bus de direcciones)</a:t>
            </a:r>
          </a:p>
          <a:p>
            <a:pPr algn="just">
              <a:spcBef>
                <a:spcPts val="600"/>
              </a:spcBef>
            </a:pPr>
            <a:r>
              <a:rPr lang="es-AR" sz="1600" dirty="0" smtClean="0">
                <a:solidFill>
                  <a:schemeClr val="tx1"/>
                </a:solidFill>
                <a:latin typeface="Arial" pitchFamily="34" charset="0"/>
                <a:cs typeface="Arial" pitchFamily="34" charset="0"/>
              </a:rPr>
              <a:t>El </a:t>
            </a:r>
            <a:r>
              <a:rPr lang="es-AR" sz="1600" dirty="0" smtClean="0">
                <a:solidFill>
                  <a:srgbClr val="CC00CC"/>
                </a:solidFill>
                <a:latin typeface="Arial" pitchFamily="34" charset="0"/>
                <a:cs typeface="Arial" pitchFamily="34" charset="0"/>
              </a:rPr>
              <a:t>espacio de direcciones lógicas</a:t>
            </a:r>
            <a:r>
              <a:rPr lang="es-AR" sz="1600" dirty="0" smtClean="0">
                <a:solidFill>
                  <a:schemeClr val="tx1"/>
                </a:solidFill>
                <a:latin typeface="Arial" pitchFamily="34" charset="0"/>
                <a:cs typeface="Arial" pitchFamily="34" charset="0"/>
              </a:rPr>
              <a:t> es el conjunto de todas las direcciones virtuales generadas mientras que el conjunto de todas las direcciones físicas que corresponden a esas direcciones virtuales, es un </a:t>
            </a:r>
            <a:r>
              <a:rPr lang="es-AR" sz="1600" dirty="0" smtClean="0">
                <a:solidFill>
                  <a:srgbClr val="CC00CC"/>
                </a:solidFill>
                <a:latin typeface="Arial" pitchFamily="34" charset="0"/>
                <a:cs typeface="Arial" pitchFamily="34" charset="0"/>
              </a:rPr>
              <a:t>espacio de direcciones físico</a:t>
            </a:r>
            <a:r>
              <a:rPr lang="es-AR" sz="1600" dirty="0" smtClean="0">
                <a:solidFill>
                  <a:schemeClr val="tx1"/>
                </a:solidFill>
                <a:latin typeface="Arial" pitchFamily="34" charset="0"/>
                <a:cs typeface="Arial" pitchFamily="34" charset="0"/>
              </a:rPr>
              <a:t>.</a:t>
            </a:r>
          </a:p>
          <a:p>
            <a:pPr algn="just">
              <a:spcBef>
                <a:spcPts val="600"/>
              </a:spcBef>
            </a:pPr>
            <a:r>
              <a:rPr lang="es-AR" sz="1600" dirty="0" smtClean="0">
                <a:solidFill>
                  <a:schemeClr val="tx1"/>
                </a:solidFill>
                <a:latin typeface="Arial" pitchFamily="34" charset="0"/>
                <a:cs typeface="Arial" pitchFamily="34" charset="0"/>
              </a:rPr>
              <a:t>La </a:t>
            </a:r>
            <a:r>
              <a:rPr lang="es-AR" sz="1600" dirty="0" smtClean="0">
                <a:solidFill>
                  <a:srgbClr val="CC00CC"/>
                </a:solidFill>
                <a:latin typeface="Arial" pitchFamily="34" charset="0"/>
                <a:cs typeface="Arial" pitchFamily="34" charset="0"/>
              </a:rPr>
              <a:t>MMU</a:t>
            </a:r>
            <a:r>
              <a:rPr lang="es-AR" sz="1600" dirty="0" smtClean="0">
                <a:solidFill>
                  <a:schemeClr val="tx1"/>
                </a:solidFill>
                <a:latin typeface="Arial" pitchFamily="34" charset="0"/>
                <a:cs typeface="Arial" pitchFamily="34" charset="0"/>
              </a:rPr>
              <a:t> (</a:t>
            </a:r>
            <a:r>
              <a:rPr lang="es-AR" sz="1600" dirty="0" smtClean="0">
                <a:solidFill>
                  <a:srgbClr val="CC00CC"/>
                </a:solidFill>
                <a:latin typeface="Arial" pitchFamily="34" charset="0"/>
                <a:cs typeface="Arial" pitchFamily="34" charset="0"/>
              </a:rPr>
              <a:t>unidad de gestión de memoria</a:t>
            </a:r>
            <a:r>
              <a:rPr lang="es-AR" sz="1600" dirty="0" smtClean="0">
                <a:solidFill>
                  <a:schemeClr val="tx1"/>
                </a:solidFill>
                <a:latin typeface="Arial" pitchFamily="34" charset="0"/>
                <a:cs typeface="Arial" pitchFamily="34" charset="0"/>
              </a:rPr>
              <a:t>) es el dispositivo de hardware que se encarga de transformar las direcciones virtuales a físicas. Hay varios mecanismos de transformación.  Ejemplos a) mediante un registro base llamado </a:t>
            </a:r>
            <a:r>
              <a:rPr lang="es-AR" sz="1600" u="sng" dirty="0" smtClean="0">
                <a:solidFill>
                  <a:schemeClr val="tx1"/>
                </a:solidFill>
                <a:latin typeface="Arial" pitchFamily="34" charset="0"/>
                <a:cs typeface="Arial" pitchFamily="34" charset="0"/>
              </a:rPr>
              <a:t>registro de reubicación</a:t>
            </a:r>
            <a:r>
              <a:rPr lang="es-AR" sz="1600" dirty="0" smtClean="0">
                <a:solidFill>
                  <a:schemeClr val="tx1"/>
                </a:solidFill>
                <a:latin typeface="Arial" pitchFamily="34" charset="0"/>
                <a:cs typeface="Arial" pitchFamily="34" charset="0"/>
              </a:rPr>
              <a:t>, cuyo valor se suma a todas las direcciones generadas por el proceso de un usuario al momento que se envía a memoria. b) En MS-DOS con los procesadores 80x86 se utilizan 4 registros de reubicación al cargar y ejecutar procesos).  El programa de usuario nunca ve las direcciones físicas reales, sino que maneja direcciones lógicas.</a:t>
            </a:r>
          </a:p>
          <a:p>
            <a:pPr algn="just">
              <a:spcBef>
                <a:spcPts val="600"/>
              </a:spcBef>
            </a:pPr>
            <a:endParaRPr lang="es-AR" sz="1600" dirty="0" smtClean="0">
              <a:solidFill>
                <a:schemeClr val="tx1"/>
              </a:solidFill>
              <a:latin typeface="Arial" pitchFamily="34" charset="0"/>
              <a:cs typeface="Arial" pitchFamily="34" charset="0"/>
            </a:endParaRPr>
          </a:p>
          <a:p>
            <a:pPr algn="just">
              <a:spcBef>
                <a:spcPts val="600"/>
              </a:spcBef>
            </a:pPr>
            <a:endParaRPr lang="es-AR" sz="1600" dirty="0" smtClean="0">
              <a:solidFill>
                <a:schemeClr val="tx1"/>
              </a:solidFill>
              <a:latin typeface="Arial" pitchFamily="34" charset="0"/>
              <a:cs typeface="Arial" pitchFamily="34" charset="0"/>
            </a:endParaRPr>
          </a:p>
          <a:p>
            <a:pPr algn="just">
              <a:spcBef>
                <a:spcPts val="600"/>
              </a:spcBef>
            </a:pPr>
            <a:endParaRPr lang="es-AR" sz="1600" dirty="0" smtClean="0">
              <a:solidFill>
                <a:schemeClr val="tx1"/>
              </a:solidFill>
              <a:latin typeface="Arial" pitchFamily="34" charset="0"/>
              <a:cs typeface="Arial" pitchFamily="34" charset="0"/>
            </a:endParaRPr>
          </a:p>
          <a:p>
            <a:pPr algn="just">
              <a:spcBef>
                <a:spcPts val="600"/>
              </a:spcBef>
            </a:pPr>
            <a:endParaRPr lang="es-AR" sz="1600" dirty="0" smtClean="0">
              <a:solidFill>
                <a:schemeClr val="tx1"/>
              </a:solidFill>
              <a:latin typeface="Arial" pitchFamily="34" charset="0"/>
              <a:cs typeface="Arial" pitchFamily="34" charset="0"/>
            </a:endParaRPr>
          </a:p>
          <a:p>
            <a:pPr algn="just">
              <a:spcBef>
                <a:spcPts val="600"/>
              </a:spcBef>
            </a:pPr>
            <a:r>
              <a:rPr lang="es-AR" sz="1600" dirty="0" smtClean="0">
                <a:solidFill>
                  <a:schemeClr val="tx1"/>
                </a:solidFill>
                <a:latin typeface="Arial" pitchFamily="34" charset="0"/>
                <a:cs typeface="Arial" pitchFamily="34" charset="0"/>
              </a:rPr>
              <a:t>Es posible </a:t>
            </a:r>
            <a:r>
              <a:rPr lang="es-AR" sz="1600" dirty="0" smtClean="0">
                <a:solidFill>
                  <a:srgbClr val="CC00CC"/>
                </a:solidFill>
                <a:latin typeface="Arial" pitchFamily="34" charset="0"/>
                <a:cs typeface="Arial" pitchFamily="34" charset="0"/>
              </a:rPr>
              <a:t>intercambiar</a:t>
            </a:r>
            <a:r>
              <a:rPr lang="es-AR" sz="1600" dirty="0" smtClean="0">
                <a:solidFill>
                  <a:schemeClr val="tx1"/>
                </a:solidFill>
                <a:latin typeface="Arial" pitchFamily="34" charset="0"/>
                <a:cs typeface="Arial" pitchFamily="34" charset="0"/>
              </a:rPr>
              <a:t> temporalmente un proceso de memoria a un </a:t>
            </a:r>
            <a:r>
              <a:rPr lang="es-AR" sz="1600" dirty="0" smtClean="0">
                <a:solidFill>
                  <a:srgbClr val="CC00CC"/>
                </a:solidFill>
                <a:latin typeface="Arial" pitchFamily="34" charset="0"/>
                <a:cs typeface="Arial" pitchFamily="34" charset="0"/>
              </a:rPr>
              <a:t>almacenamiento auxiliar </a:t>
            </a:r>
            <a:r>
              <a:rPr lang="es-AR" sz="1600" dirty="0" smtClean="0">
                <a:solidFill>
                  <a:schemeClr val="tx1"/>
                </a:solidFill>
                <a:latin typeface="Arial" pitchFamily="34" charset="0"/>
                <a:cs typeface="Arial" pitchFamily="34" charset="0"/>
              </a:rPr>
              <a:t>(generalmente es un disco) y para luego volver a traerlo y continuar su ejecución.</a:t>
            </a:r>
          </a:p>
          <a:p>
            <a:pPr algn="just"/>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p:txBody>
      </p:sp>
      <p:sp>
        <p:nvSpPr>
          <p:cNvPr id="15" name="14 Rectángulo"/>
          <p:cNvSpPr/>
          <p:nvPr/>
        </p:nvSpPr>
        <p:spPr>
          <a:xfrm>
            <a:off x="6565900" y="4927600"/>
            <a:ext cx="1219200" cy="1054100"/>
          </a:xfrm>
          <a:prstGeom prst="rect">
            <a:avLst/>
          </a:prstGeom>
          <a:solidFill>
            <a:srgbClr val="FFFF00"/>
          </a:solidFill>
          <a:ln w="6350">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800" b="1" dirty="0" smtClean="0">
                <a:solidFill>
                  <a:schemeClr val="tx1"/>
                </a:solidFill>
              </a:rPr>
              <a:t>Memoria física</a:t>
            </a:r>
            <a:endParaRPr lang="es-AR" sz="1800" b="1" dirty="0">
              <a:solidFill>
                <a:schemeClr val="tx1"/>
              </a:solidFill>
            </a:endParaRPr>
          </a:p>
        </p:txBody>
      </p:sp>
      <p:sp>
        <p:nvSpPr>
          <p:cNvPr id="21" name="20 Flecha derecha"/>
          <p:cNvSpPr/>
          <p:nvPr/>
        </p:nvSpPr>
        <p:spPr>
          <a:xfrm>
            <a:off x="2286000" y="5359400"/>
            <a:ext cx="1549400" cy="22860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21 Flecha derecha"/>
          <p:cNvSpPr/>
          <p:nvPr/>
        </p:nvSpPr>
        <p:spPr>
          <a:xfrm>
            <a:off x="5016500" y="5359400"/>
            <a:ext cx="1549400" cy="22860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22 Rectángulo"/>
          <p:cNvSpPr/>
          <p:nvPr/>
        </p:nvSpPr>
        <p:spPr>
          <a:xfrm>
            <a:off x="3848100" y="5194300"/>
            <a:ext cx="1219200" cy="520700"/>
          </a:xfrm>
          <a:prstGeom prst="rect">
            <a:avLst/>
          </a:prstGeom>
          <a:solidFill>
            <a:srgbClr val="FFFF00"/>
          </a:solidFill>
          <a:ln w="6350">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800" b="1" dirty="0" smtClean="0">
                <a:solidFill>
                  <a:schemeClr val="tx1"/>
                </a:solidFill>
              </a:rPr>
              <a:t>MMU</a:t>
            </a:r>
            <a:endParaRPr lang="es-AR" sz="1800" b="1" dirty="0">
              <a:solidFill>
                <a:schemeClr val="tx1"/>
              </a:solidFill>
            </a:endParaRPr>
          </a:p>
        </p:txBody>
      </p:sp>
      <p:sp>
        <p:nvSpPr>
          <p:cNvPr id="24" name="23 Rectángulo"/>
          <p:cNvSpPr/>
          <p:nvPr/>
        </p:nvSpPr>
        <p:spPr>
          <a:xfrm>
            <a:off x="1490337" y="5130800"/>
            <a:ext cx="778526" cy="673100"/>
          </a:xfrm>
          <a:prstGeom prst="rect">
            <a:avLst/>
          </a:prstGeom>
          <a:solidFill>
            <a:srgbClr val="FFFF00"/>
          </a:solidFill>
          <a:ln w="6350">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1800" b="1" dirty="0" smtClean="0">
                <a:solidFill>
                  <a:schemeClr val="tx1"/>
                </a:solidFill>
              </a:rPr>
              <a:t>CPU</a:t>
            </a:r>
            <a:endParaRPr lang="es-AR" sz="1800" b="1" dirty="0">
              <a:solidFill>
                <a:schemeClr val="tx1"/>
              </a:solidFill>
            </a:endParaRPr>
          </a:p>
        </p:txBody>
      </p:sp>
      <p:sp>
        <p:nvSpPr>
          <p:cNvPr id="26" name="25 CuadroTexto"/>
          <p:cNvSpPr txBox="1"/>
          <p:nvPr/>
        </p:nvSpPr>
        <p:spPr>
          <a:xfrm>
            <a:off x="2451100" y="4927600"/>
            <a:ext cx="1206500" cy="523220"/>
          </a:xfrm>
          <a:prstGeom prst="rect">
            <a:avLst/>
          </a:prstGeom>
          <a:noFill/>
        </p:spPr>
        <p:txBody>
          <a:bodyPr wrap="square" rtlCol="0">
            <a:spAutoFit/>
          </a:bodyPr>
          <a:lstStyle/>
          <a:p>
            <a:r>
              <a:rPr lang="es-AR" sz="1400" b="1" dirty="0" smtClean="0">
                <a:solidFill>
                  <a:schemeClr val="tx1"/>
                </a:solidFill>
                <a:latin typeface="Arial" pitchFamily="34" charset="0"/>
                <a:cs typeface="Arial" pitchFamily="34" charset="0"/>
              </a:rPr>
              <a:t>Dirección  lógica</a:t>
            </a:r>
            <a:endParaRPr lang="es-AR" sz="1400" b="1" dirty="0">
              <a:solidFill>
                <a:schemeClr val="tx1"/>
              </a:solidFill>
              <a:latin typeface="Arial" pitchFamily="34" charset="0"/>
              <a:cs typeface="Arial" pitchFamily="34" charset="0"/>
            </a:endParaRPr>
          </a:p>
        </p:txBody>
      </p:sp>
      <p:sp>
        <p:nvSpPr>
          <p:cNvPr id="27" name="26 CuadroTexto"/>
          <p:cNvSpPr txBox="1"/>
          <p:nvPr/>
        </p:nvSpPr>
        <p:spPr>
          <a:xfrm>
            <a:off x="5194300" y="4927600"/>
            <a:ext cx="1206500" cy="523220"/>
          </a:xfrm>
          <a:prstGeom prst="rect">
            <a:avLst/>
          </a:prstGeom>
          <a:noFill/>
        </p:spPr>
        <p:txBody>
          <a:bodyPr wrap="square" rtlCol="0">
            <a:spAutoFit/>
          </a:bodyPr>
          <a:lstStyle/>
          <a:p>
            <a:r>
              <a:rPr lang="es-AR" sz="1400" b="1" dirty="0" smtClean="0">
                <a:solidFill>
                  <a:schemeClr val="tx1"/>
                </a:solidFill>
                <a:latin typeface="Arial" pitchFamily="34" charset="0"/>
                <a:cs typeface="Arial" pitchFamily="34" charset="0"/>
              </a:rPr>
              <a:t>Dirección  física</a:t>
            </a:r>
            <a:endParaRPr lang="es-AR" sz="1400" b="1"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MMU </a:t>
            </a:r>
            <a:r>
              <a:rPr lang="es-AR" sz="1800" dirty="0" smtClean="0">
                <a:solidFill>
                  <a:schemeClr val="tx1"/>
                </a:solidFill>
                <a:latin typeface="+mj-lt"/>
                <a:ea typeface="+mj-ea"/>
                <a:cs typeface="+mj-cs"/>
              </a:rPr>
              <a:t>(</a:t>
            </a:r>
            <a:r>
              <a:rPr lang="es-AR" sz="1800" dirty="0" smtClean="0">
                <a:solidFill>
                  <a:schemeClr val="tx1"/>
                </a:solidFill>
                <a:latin typeface="Arial" pitchFamily="34" charset="0"/>
                <a:cs typeface="Arial" pitchFamily="34" charset="0"/>
              </a:rPr>
              <a:t>Unidad de Manejo de Memoria</a:t>
            </a:r>
            <a:r>
              <a:rPr lang="es-AR" sz="1800" dirty="0" smtClean="0">
                <a:solidFill>
                  <a:schemeClr val="tx1"/>
                </a:solidFill>
                <a:latin typeface="+mj-lt"/>
                <a:ea typeface="+mj-ea"/>
                <a:cs typeface="+mj-cs"/>
              </a:rPr>
              <a:t>)</a:t>
            </a:r>
            <a:endParaRPr kumimoji="0" lang="es-AR" sz="18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5" name="4 CuadroTexto"/>
          <p:cNvSpPr txBox="1"/>
          <p:nvPr/>
        </p:nvSpPr>
        <p:spPr>
          <a:xfrm>
            <a:off x="190500" y="952500"/>
            <a:ext cx="8699499" cy="3908762"/>
          </a:xfrm>
          <a:prstGeom prst="rect">
            <a:avLst/>
          </a:prstGeom>
          <a:noFill/>
        </p:spPr>
        <p:txBody>
          <a:bodyPr wrap="square" rtlCol="0">
            <a:spAutoFit/>
          </a:bodyPr>
          <a:lstStyle/>
          <a:p>
            <a:pPr algn="just">
              <a:spcAft>
                <a:spcPts val="600"/>
              </a:spcAft>
            </a:pPr>
            <a:r>
              <a:rPr lang="es-AR" sz="1600" dirty="0" smtClean="0">
                <a:solidFill>
                  <a:schemeClr val="tx1"/>
                </a:solidFill>
                <a:latin typeface="Arial" pitchFamily="34" charset="0"/>
                <a:cs typeface="Arial" pitchFamily="34" charset="0"/>
              </a:rPr>
              <a:t>La MMU (</a:t>
            </a:r>
            <a:r>
              <a:rPr lang="es-AR" sz="1600" dirty="0" err="1" smtClean="0">
                <a:solidFill>
                  <a:schemeClr val="tx1"/>
                </a:solidFill>
                <a:latin typeface="Arial" pitchFamily="34" charset="0"/>
                <a:cs typeface="Arial" pitchFamily="34" charset="0"/>
              </a:rPr>
              <a:t>Memory</a:t>
            </a:r>
            <a:r>
              <a:rPr lang="es-AR" sz="1600" dirty="0" smtClean="0">
                <a:solidFill>
                  <a:schemeClr val="tx1"/>
                </a:solidFill>
                <a:latin typeface="Arial" pitchFamily="34" charset="0"/>
                <a:cs typeface="Arial" pitchFamily="34" charset="0"/>
              </a:rPr>
              <a:t> Management </a:t>
            </a:r>
            <a:r>
              <a:rPr lang="es-AR" sz="1600" dirty="0" err="1" smtClean="0">
                <a:solidFill>
                  <a:schemeClr val="tx1"/>
                </a:solidFill>
                <a:latin typeface="Arial" pitchFamily="34" charset="0"/>
                <a:cs typeface="Arial" pitchFamily="34" charset="0"/>
              </a:rPr>
              <a:t>Unit</a:t>
            </a:r>
            <a:r>
              <a:rPr lang="es-AR" sz="1600" dirty="0" smtClean="0">
                <a:solidFill>
                  <a:schemeClr val="tx1"/>
                </a:solidFill>
                <a:latin typeface="Arial" pitchFamily="34" charset="0"/>
                <a:cs typeface="Arial" pitchFamily="34" charset="0"/>
              </a:rPr>
              <a:t>) es un circuito de soporte que se intercala entre la CPU y la memoria que realiza la traducción de direcciones lógicas a direcciones físicas</a:t>
            </a:r>
          </a:p>
          <a:p>
            <a:pPr marL="92075" indent="-92075" algn="just">
              <a:spcAft>
                <a:spcPts val="600"/>
              </a:spcAft>
              <a:buFont typeface="Arial" pitchFamily="34" charset="0"/>
              <a:buChar char="•"/>
              <a:tabLst>
                <a:tab pos="92075" algn="l"/>
              </a:tabLst>
            </a:pPr>
            <a:r>
              <a:rPr lang="es-AR" sz="1600" dirty="0" smtClean="0">
                <a:solidFill>
                  <a:schemeClr val="tx1"/>
                </a:solidFill>
                <a:latin typeface="Arial" pitchFamily="34" charset="0"/>
                <a:cs typeface="Arial" pitchFamily="34" charset="0"/>
              </a:rPr>
              <a:t>Los procesos emiten siempre direcciones lógicas</a:t>
            </a:r>
          </a:p>
          <a:p>
            <a:pPr marL="92075" indent="-92075" algn="just">
              <a:spcAft>
                <a:spcPts val="600"/>
              </a:spcAft>
              <a:buFont typeface="Arial" pitchFamily="34" charset="0"/>
              <a:buChar char="•"/>
              <a:tabLst>
                <a:tab pos="92075" algn="l"/>
              </a:tabLst>
            </a:pPr>
            <a:r>
              <a:rPr lang="es-AR" sz="1600" dirty="0" smtClean="0">
                <a:solidFill>
                  <a:schemeClr val="tx1"/>
                </a:solidFill>
                <a:latin typeface="Arial" pitchFamily="34" charset="0"/>
                <a:cs typeface="Arial" pitchFamily="34" charset="0"/>
              </a:rPr>
              <a:t>La memoria recibe siempre direcciones físicas</a:t>
            </a:r>
          </a:p>
          <a:p>
            <a:pPr marL="92075" indent="-92075" algn="just">
              <a:spcAft>
                <a:spcPts val="600"/>
              </a:spcAft>
              <a:buFont typeface="Arial" pitchFamily="34" charset="0"/>
              <a:buChar char="•"/>
              <a:tabLst>
                <a:tab pos="92075" algn="l"/>
              </a:tabLst>
            </a:pPr>
            <a:r>
              <a:rPr lang="es-AR" sz="1600" dirty="0" smtClean="0">
                <a:solidFill>
                  <a:schemeClr val="tx1"/>
                </a:solidFill>
                <a:latin typeface="Arial" pitchFamily="34" charset="0"/>
                <a:cs typeface="Arial" pitchFamily="34" charset="0"/>
              </a:rPr>
              <a:t>La traducción de direcciones se realiza en función de unas </a:t>
            </a:r>
            <a:r>
              <a:rPr lang="es-AR" sz="1600" u="sng" dirty="0" smtClean="0">
                <a:solidFill>
                  <a:schemeClr val="tx1"/>
                </a:solidFill>
                <a:latin typeface="Arial" pitchFamily="34" charset="0"/>
                <a:cs typeface="Arial" pitchFamily="34" charset="0"/>
              </a:rPr>
              <a:t>tablas</a:t>
            </a:r>
            <a:r>
              <a:rPr lang="es-AR" sz="1600" dirty="0" smtClean="0">
                <a:solidFill>
                  <a:schemeClr val="tx1"/>
                </a:solidFill>
                <a:latin typeface="Arial" pitchFamily="34" charset="0"/>
                <a:cs typeface="Arial" pitchFamily="34" charset="0"/>
              </a:rPr>
              <a:t> (a veces denominadas  </a:t>
            </a:r>
            <a:r>
              <a:rPr lang="es-AR" sz="1600" u="sng" dirty="0" smtClean="0">
                <a:solidFill>
                  <a:schemeClr val="tx1"/>
                </a:solidFill>
                <a:latin typeface="Arial" pitchFamily="34" charset="0"/>
                <a:cs typeface="Arial" pitchFamily="34" charset="0"/>
              </a:rPr>
              <a:t>mapas de memoria</a:t>
            </a:r>
            <a:r>
              <a:rPr lang="es-AR" sz="1600" dirty="0" smtClean="0">
                <a:solidFill>
                  <a:schemeClr val="tx1"/>
                </a:solidFill>
                <a:latin typeface="Arial" pitchFamily="34" charset="0"/>
                <a:cs typeface="Arial" pitchFamily="34" charset="0"/>
              </a:rPr>
              <a:t>)</a:t>
            </a:r>
          </a:p>
          <a:p>
            <a:pPr marL="92075" indent="-92075" algn="just">
              <a:spcAft>
                <a:spcPts val="600"/>
              </a:spcAft>
              <a:buFont typeface="Arial" pitchFamily="34" charset="0"/>
              <a:buChar char="•"/>
              <a:tabLst>
                <a:tab pos="92075" algn="l"/>
              </a:tabLst>
            </a:pPr>
            <a:r>
              <a:rPr lang="es-AR" sz="1600" dirty="0" smtClean="0">
                <a:solidFill>
                  <a:schemeClr val="tx1"/>
                </a:solidFill>
                <a:latin typeface="Arial" pitchFamily="34" charset="0"/>
                <a:cs typeface="Arial" pitchFamily="34" charset="0"/>
              </a:rPr>
              <a:t>Los mapas de memoria mantienen información que relaciona la memoria lógica de un proceso con la memoria física</a:t>
            </a:r>
          </a:p>
          <a:p>
            <a:pPr marL="92075" indent="-92075" algn="just">
              <a:spcAft>
                <a:spcPts val="600"/>
              </a:spcAft>
              <a:buFont typeface="Arial" pitchFamily="34" charset="0"/>
              <a:buChar char="•"/>
              <a:tabLst>
                <a:tab pos="92075" algn="l"/>
              </a:tabLst>
            </a:pPr>
            <a:r>
              <a:rPr lang="es-AR" sz="1600" dirty="0" smtClean="0">
                <a:solidFill>
                  <a:schemeClr val="tx1"/>
                </a:solidFill>
                <a:latin typeface="Arial" pitchFamily="34" charset="0"/>
                <a:cs typeface="Arial" pitchFamily="34" charset="0"/>
              </a:rPr>
              <a:t>Las tablas de un proceso son creadas por el sistema operativo cuando asigna la memoria al proceso para ponerlo en ejecución</a:t>
            </a:r>
          </a:p>
          <a:p>
            <a:pPr algn="just">
              <a:spcAft>
                <a:spcPts val="600"/>
              </a:spcAft>
            </a:pPr>
            <a:endParaRPr lang="es-AR" sz="1600" dirty="0" smtClean="0">
              <a:solidFill>
                <a:schemeClr val="tx1"/>
              </a:solidFill>
              <a:latin typeface="Arial" pitchFamily="34" charset="0"/>
              <a:cs typeface="Arial" pitchFamily="34" charset="0"/>
            </a:endParaRPr>
          </a:p>
          <a:p>
            <a:pPr algn="just">
              <a:spcAft>
                <a:spcPts val="600"/>
              </a:spcAft>
            </a:pPr>
            <a:r>
              <a:rPr lang="es-AR" sz="1600" dirty="0" smtClean="0">
                <a:solidFill>
                  <a:schemeClr val="tx1"/>
                </a:solidFill>
                <a:latin typeface="Arial" pitchFamily="34" charset="0"/>
                <a:cs typeface="Arial" pitchFamily="34" charset="0"/>
              </a:rPr>
              <a:t>Ejemplo:</a:t>
            </a:r>
          </a:p>
          <a:p>
            <a:pPr algn="just"/>
            <a:endParaRPr lang="es-AR" sz="1600" dirty="0" smtClean="0">
              <a:solidFill>
                <a:schemeClr val="tx1"/>
              </a:solidFill>
              <a:latin typeface="Arial" pitchFamily="34" charset="0"/>
              <a:cs typeface="Arial" pitchFamily="34" charset="0"/>
            </a:endParaRPr>
          </a:p>
        </p:txBody>
      </p:sp>
      <p:pic>
        <p:nvPicPr>
          <p:cNvPr id="1026" name="Picture 2"/>
          <p:cNvPicPr>
            <a:picLocks noChangeAspect="1" noChangeArrowheads="1"/>
          </p:cNvPicPr>
          <p:nvPr/>
        </p:nvPicPr>
        <p:blipFill>
          <a:blip r:embed="rId2" cstate="print">
            <a:clrChange>
              <a:clrFrom>
                <a:srgbClr val="FFFFFF"/>
              </a:clrFrom>
              <a:clrTo>
                <a:srgbClr val="FFFFFF">
                  <a:alpha val="0"/>
                </a:srgbClr>
              </a:clrTo>
            </a:clrChange>
            <a:lum bright="-20000" contrast="20000"/>
          </a:blip>
          <a:srcRect/>
          <a:stretch>
            <a:fillRect/>
          </a:stretch>
        </p:blipFill>
        <p:spPr bwMode="auto">
          <a:xfrm>
            <a:off x="1836420" y="4145280"/>
            <a:ext cx="4781216" cy="2537304"/>
          </a:xfrm>
          <a:prstGeom prst="rect">
            <a:avLst/>
          </a:prstGeom>
          <a:noFill/>
          <a:ln w="9525">
            <a:noFill/>
            <a:miter lim="800000"/>
            <a:headEnd/>
            <a:tailEnd/>
          </a:ln>
        </p:spPr>
      </p:pic>
      <p:sp>
        <p:nvSpPr>
          <p:cNvPr id="8" name="7 Llamada de flecha a la derecha"/>
          <p:cNvSpPr/>
          <p:nvPr/>
        </p:nvSpPr>
        <p:spPr>
          <a:xfrm rot="1411378">
            <a:off x="3259044" y="4887924"/>
            <a:ext cx="733924" cy="381000"/>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CuadroTexto"/>
          <p:cNvSpPr txBox="1"/>
          <p:nvPr/>
        </p:nvSpPr>
        <p:spPr>
          <a:xfrm rot="1373901">
            <a:off x="3154680" y="4838700"/>
            <a:ext cx="693420" cy="369332"/>
          </a:xfrm>
          <a:prstGeom prst="rect">
            <a:avLst/>
          </a:prstGeom>
          <a:noFill/>
        </p:spPr>
        <p:txBody>
          <a:bodyPr wrap="square" rtlCol="0">
            <a:spAutoFit/>
          </a:bodyPr>
          <a:lstStyle/>
          <a:p>
            <a:r>
              <a:rPr lang="es-AR" sz="600" dirty="0" smtClean="0">
                <a:solidFill>
                  <a:schemeClr val="tx1"/>
                </a:solidFill>
                <a:latin typeface="Arial" pitchFamily="34" charset="0"/>
                <a:cs typeface="Arial" pitchFamily="34" charset="0"/>
              </a:rPr>
              <a:t>Mapas de memoria de los procesos</a:t>
            </a:r>
            <a:endParaRPr lang="es-AR" sz="6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r>
              <a:rPr lang="es-AR" sz="1000" dirty="0" smtClean="0">
                <a:solidFill>
                  <a:schemeClr val="tx1"/>
                </a:solidFill>
                <a:latin typeface="+mj-lt"/>
                <a:ea typeface="+mj-ea"/>
                <a:cs typeface="+mj-cs"/>
              </a:rPr>
              <a:t>(</a:t>
            </a:r>
            <a:r>
              <a:rPr lang="es-AR" sz="1000" dirty="0" err="1" smtClean="0">
                <a:solidFill>
                  <a:schemeClr val="tx1"/>
                </a:solidFill>
                <a:latin typeface="+mj-lt"/>
                <a:ea typeface="+mj-ea"/>
                <a:cs typeface="+mj-cs"/>
              </a:rPr>
              <a:t>Silberchatz</a:t>
            </a:r>
            <a:r>
              <a:rPr lang="es-AR" sz="1000" dirty="0" smtClean="0">
                <a:solidFill>
                  <a:schemeClr val="tx1"/>
                </a:solidFill>
                <a:latin typeface="+mj-lt"/>
                <a:ea typeface="+mj-ea"/>
                <a:cs typeface="+mj-cs"/>
              </a:rPr>
              <a:t> 8.1.2,3,4)</a:t>
            </a:r>
            <a:r>
              <a:rPr lang="es-AR" sz="3400" dirty="0" smtClean="0">
                <a:solidFill>
                  <a:schemeClr val="tx1"/>
                </a:solidFill>
                <a:latin typeface="+mj-lt"/>
                <a:ea typeface="+mj-ea"/>
                <a:cs typeface="+mj-cs"/>
              </a:rPr>
              <a:t>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8" name="7 CuadroTexto"/>
          <p:cNvSpPr txBox="1"/>
          <p:nvPr/>
        </p:nvSpPr>
        <p:spPr>
          <a:xfrm>
            <a:off x="50800" y="891540"/>
            <a:ext cx="8978900" cy="6247864"/>
          </a:xfrm>
          <a:prstGeom prst="rect">
            <a:avLst/>
          </a:prstGeom>
          <a:noFill/>
        </p:spPr>
        <p:txBody>
          <a:bodyPr wrap="square" rtlCol="0">
            <a:spAutoFit/>
          </a:bodyPr>
          <a:lstStyle/>
          <a:p>
            <a:pPr marL="180975" lvl="1" indent="-180975" algn="just"/>
            <a:r>
              <a:rPr lang="es-AR" sz="1500" dirty="0" smtClean="0">
                <a:solidFill>
                  <a:srgbClr val="CC00CC"/>
                </a:solidFill>
                <a:latin typeface="Arial" pitchFamily="34" charset="0"/>
                <a:cs typeface="Arial" pitchFamily="34" charset="0"/>
              </a:rPr>
              <a:t>Carga dinámica o intercambio (</a:t>
            </a:r>
            <a:r>
              <a:rPr lang="es-AR" sz="1500" dirty="0" err="1" smtClean="0">
                <a:solidFill>
                  <a:srgbClr val="CC00CC"/>
                </a:solidFill>
                <a:latin typeface="Arial" pitchFamily="34" charset="0"/>
                <a:cs typeface="Arial" pitchFamily="34" charset="0"/>
              </a:rPr>
              <a:t>swapping</a:t>
            </a:r>
            <a:r>
              <a:rPr lang="es-AR" sz="1500" dirty="0" smtClean="0">
                <a:solidFill>
                  <a:srgbClr val="CC00CC"/>
                </a:solidFill>
                <a:latin typeface="Arial" pitchFamily="34" charset="0"/>
                <a:cs typeface="Arial" pitchFamily="34" charset="0"/>
              </a:rPr>
              <a:t>)</a:t>
            </a:r>
            <a:endParaRPr lang="es-AR" sz="1500" dirty="0" smtClean="0">
              <a:solidFill>
                <a:schemeClr val="tx1"/>
              </a:solidFill>
              <a:latin typeface="Arial" pitchFamily="34" charset="0"/>
              <a:cs typeface="Arial" pitchFamily="34" charset="0"/>
            </a:endParaRPr>
          </a:p>
          <a:p>
            <a:pPr marL="180975" indent="-180975" algn="just">
              <a:buFont typeface="Arial" pitchFamily="34" charset="0"/>
              <a:buChar char="•"/>
            </a:pPr>
            <a:r>
              <a:rPr lang="es-AR" sz="1500" dirty="0" smtClean="0">
                <a:solidFill>
                  <a:schemeClr val="tx1"/>
                </a:solidFill>
                <a:latin typeface="Arial" pitchFamily="34" charset="0"/>
                <a:cs typeface="Arial" pitchFamily="34" charset="0"/>
              </a:rPr>
              <a:t>Las funciones no se cargan hasta que se las llame y están almacenadas en el disco en un formato reubicable.</a:t>
            </a:r>
          </a:p>
          <a:p>
            <a:pPr marL="180975" indent="-180975" algn="just">
              <a:buFont typeface="Arial" pitchFamily="34" charset="0"/>
              <a:buChar char="•"/>
            </a:pPr>
            <a:r>
              <a:rPr lang="es-AR" sz="1500" dirty="0" smtClean="0">
                <a:solidFill>
                  <a:schemeClr val="tx1"/>
                </a:solidFill>
                <a:latin typeface="Arial" pitchFamily="34" charset="0"/>
                <a:cs typeface="Arial" pitchFamily="34" charset="0"/>
              </a:rPr>
              <a:t>Cuando se las llama, si no están cargadas en memoria se invoca al cargador  para que la cargue y se actualizan las direcciones</a:t>
            </a:r>
          </a:p>
          <a:p>
            <a:pPr marL="180975" indent="-180975" algn="just">
              <a:buFont typeface="Arial" pitchFamily="34" charset="0"/>
              <a:buChar char="•"/>
            </a:pPr>
            <a:r>
              <a:rPr lang="es-AR" sz="1500" dirty="0" smtClean="0">
                <a:solidFill>
                  <a:schemeClr val="tx1"/>
                </a:solidFill>
                <a:latin typeface="Arial" pitchFamily="34" charset="0"/>
                <a:cs typeface="Arial" pitchFamily="34" charset="0"/>
              </a:rPr>
              <a:t>La ventaja es que si una rutina no se utiliza no se las carga nunca. (por ejemplo grandes rutinas de manejos de errores) Es responsabilidad del usuario, no del SO para que los programas aprovechen este esquema. </a:t>
            </a:r>
          </a:p>
          <a:p>
            <a:pPr marL="180975" lvl="1" indent="-180975" algn="just">
              <a:spcBef>
                <a:spcPts val="600"/>
              </a:spcBef>
            </a:pPr>
            <a:r>
              <a:rPr lang="es-AR" sz="1500" dirty="0" smtClean="0">
                <a:solidFill>
                  <a:srgbClr val="CC00CC"/>
                </a:solidFill>
                <a:latin typeface="Arial" pitchFamily="34" charset="0"/>
                <a:cs typeface="Arial" pitchFamily="34" charset="0"/>
              </a:rPr>
              <a:t>Enlace dinámico</a:t>
            </a:r>
            <a:endParaRPr lang="es-AR" sz="1500" dirty="0" smtClean="0">
              <a:solidFill>
                <a:schemeClr val="tx1"/>
              </a:solidFill>
              <a:latin typeface="Arial" pitchFamily="34" charset="0"/>
              <a:cs typeface="Arial" pitchFamily="34" charset="0"/>
            </a:endParaRPr>
          </a:p>
          <a:p>
            <a:pPr marL="180975" indent="-180975" algn="just">
              <a:buFont typeface="Arial" pitchFamily="34" charset="0"/>
              <a:buChar char="•"/>
            </a:pPr>
            <a:r>
              <a:rPr lang="es-AR" sz="1500" dirty="0" smtClean="0">
                <a:solidFill>
                  <a:schemeClr val="tx1"/>
                </a:solidFill>
                <a:latin typeface="Arial" pitchFamily="34" charset="0"/>
                <a:cs typeface="Arial" pitchFamily="34" charset="0"/>
              </a:rPr>
              <a:t> Es otro caso de carga dinámica. Lo que se pospone es el enlace (no la carga) a las rutinas de una librería del SO. Al invocar una función, solamente se copia un fragmento que permite localizar la rutina en la biblioteca   (DLL)</a:t>
            </a:r>
          </a:p>
          <a:p>
            <a:pPr marL="180975" indent="-180975" algn="just">
              <a:buFont typeface="Arial" pitchFamily="34" charset="0"/>
              <a:buChar char="•"/>
            </a:pPr>
            <a:r>
              <a:rPr lang="es-AR" sz="1500" dirty="0" smtClean="0">
                <a:solidFill>
                  <a:schemeClr val="tx1"/>
                </a:solidFill>
                <a:latin typeface="Arial" pitchFamily="34" charset="0"/>
                <a:cs typeface="Arial" pitchFamily="34" charset="0"/>
              </a:rPr>
              <a:t>Este tipo de enlace tiene grandes ventajas, por ejemplo hace que el programa sea mas liviano y puede evitar las duplicaciones de código.</a:t>
            </a:r>
          </a:p>
          <a:p>
            <a:pPr marL="180975" indent="-180975" algn="just">
              <a:buFont typeface="Arial" pitchFamily="34" charset="0"/>
              <a:buChar char="•"/>
            </a:pPr>
            <a:r>
              <a:rPr lang="es-AR" sz="1500" dirty="0" smtClean="0">
                <a:solidFill>
                  <a:schemeClr val="tx1"/>
                </a:solidFill>
                <a:latin typeface="Arial" pitchFamily="34" charset="0"/>
                <a:cs typeface="Arial" pitchFamily="34" charset="0"/>
              </a:rPr>
              <a:t>Las bibliotecas de enlace dinámico, o bibliotecas compartidas, suelen encontrarse en directorios específicos del sistema operativo, de forma que, cada vez que un programa necesite usar alguna, el sistema operativo conozca el lugar en el que se encuentra, para así poder enlazarla y realizar correctamente la operación. Este esquema requiere la ayuda del SO</a:t>
            </a:r>
            <a:endParaRPr lang="es-AR" sz="1500" dirty="0" smtClean="0">
              <a:solidFill>
                <a:srgbClr val="CC00CC"/>
              </a:solidFill>
              <a:latin typeface="Arial" pitchFamily="34" charset="0"/>
              <a:cs typeface="Arial" pitchFamily="34" charset="0"/>
            </a:endParaRPr>
          </a:p>
          <a:p>
            <a:pPr marL="180975" lvl="1" indent="-180975" algn="just">
              <a:spcBef>
                <a:spcPts val="600"/>
              </a:spcBef>
            </a:pPr>
            <a:r>
              <a:rPr lang="es-AR" sz="1500" dirty="0" smtClean="0">
                <a:solidFill>
                  <a:srgbClr val="CC00CC"/>
                </a:solidFill>
                <a:latin typeface="Arial" pitchFamily="34" charset="0"/>
                <a:cs typeface="Arial" pitchFamily="34" charset="0"/>
              </a:rPr>
              <a:t>Superposiciones (</a:t>
            </a:r>
            <a:r>
              <a:rPr lang="es-AR" sz="1500" dirty="0" err="1" smtClean="0">
                <a:solidFill>
                  <a:srgbClr val="CC00CC"/>
                </a:solidFill>
                <a:latin typeface="Arial" pitchFamily="34" charset="0"/>
                <a:cs typeface="Arial" pitchFamily="34" charset="0"/>
              </a:rPr>
              <a:t>Overlays</a:t>
            </a:r>
            <a:r>
              <a:rPr lang="es-AR" sz="1500" dirty="0" smtClean="0">
                <a:solidFill>
                  <a:srgbClr val="CC00CC"/>
                </a:solidFill>
                <a:latin typeface="Arial" pitchFamily="34" charset="0"/>
                <a:cs typeface="Arial" pitchFamily="34" charset="0"/>
              </a:rPr>
              <a:t> o recubrimientos)</a:t>
            </a:r>
            <a:endParaRPr lang="es-AR" sz="1500" dirty="0" smtClean="0">
              <a:solidFill>
                <a:schemeClr val="tx1"/>
              </a:solidFill>
              <a:latin typeface="Arial" pitchFamily="34" charset="0"/>
              <a:cs typeface="Arial" pitchFamily="34" charset="0"/>
            </a:endParaRPr>
          </a:p>
          <a:p>
            <a:pPr marL="180975" indent="-180975" algn="just">
              <a:buFont typeface="Arial" pitchFamily="34" charset="0"/>
              <a:buChar char="•"/>
            </a:pPr>
            <a:r>
              <a:rPr lang="es-ES" sz="1500" dirty="0" smtClean="0">
                <a:solidFill>
                  <a:schemeClr val="tx1"/>
                </a:solidFill>
                <a:latin typeface="Arial" pitchFamily="34" charset="0"/>
                <a:cs typeface="Arial" pitchFamily="34" charset="0"/>
              </a:rPr>
              <a:t>Es un mecanismo para ejecutar programas más grandes que la memoria donde mantiene en la misma </a:t>
            </a:r>
            <a:r>
              <a:rPr lang="es-AR" sz="1500" dirty="0" smtClean="0">
                <a:solidFill>
                  <a:schemeClr val="tx1"/>
                </a:solidFill>
                <a:latin typeface="Arial" pitchFamily="34" charset="0"/>
                <a:cs typeface="Arial" pitchFamily="34" charset="0"/>
              </a:rPr>
              <a:t>sólo aquellas instrucciones y datos que se requieren en un momento determinado. Muchos programas no necesitan todo el código al mismo tiempo, sino que se ejecutan por fases (ej. un compilador). </a:t>
            </a:r>
          </a:p>
          <a:p>
            <a:pPr marL="180975" indent="-180975" algn="just">
              <a:buFont typeface="Arial" pitchFamily="34" charset="0"/>
              <a:buChar char="•"/>
            </a:pPr>
            <a:r>
              <a:rPr lang="es-AR" sz="1500" dirty="0" smtClean="0">
                <a:solidFill>
                  <a:schemeClr val="tx1"/>
                </a:solidFill>
                <a:latin typeface="Arial" pitchFamily="34" charset="0"/>
                <a:cs typeface="Arial" pitchFamily="34" charset="0"/>
              </a:rPr>
              <a:t>El sistema operativo no da soporte. Su programación era compleja y es responsabilidad del programador diseñar y programar la estructura de </a:t>
            </a:r>
            <a:r>
              <a:rPr lang="es-AR" sz="1500" dirty="0" err="1" smtClean="0">
                <a:solidFill>
                  <a:schemeClr val="tx1"/>
                </a:solidFill>
                <a:latin typeface="Arial" pitchFamily="34" charset="0"/>
                <a:cs typeface="Arial" pitchFamily="34" charset="0"/>
              </a:rPr>
              <a:t>overlays</a:t>
            </a:r>
            <a:r>
              <a:rPr lang="es-AR" sz="1500" dirty="0" smtClean="0">
                <a:solidFill>
                  <a:schemeClr val="tx1"/>
                </a:solidFill>
                <a:latin typeface="Arial" pitchFamily="34" charset="0"/>
                <a:cs typeface="Arial" pitchFamily="34" charset="0"/>
              </a:rPr>
              <a:t>.</a:t>
            </a:r>
            <a:endParaRPr lang="es-AR" sz="1500" dirty="0">
              <a:solidFill>
                <a:schemeClr val="tx1"/>
              </a:solidFill>
              <a:latin typeface="Arial" pitchFamily="34" charset="0"/>
              <a:cs typeface="Arial" pitchFamily="34" charset="0"/>
            </a:endParaRPr>
          </a:p>
        </p:txBody>
      </p:sp>
      <p:sp>
        <p:nvSpPr>
          <p:cNvPr id="9" name="8 CuadroTexto"/>
          <p:cNvSpPr txBox="1"/>
          <p:nvPr/>
        </p:nvSpPr>
        <p:spPr>
          <a:xfrm>
            <a:off x="1592580" y="2506980"/>
            <a:ext cx="1051560" cy="307777"/>
          </a:xfrm>
          <a:prstGeom prst="rect">
            <a:avLst/>
          </a:prstGeom>
          <a:noFill/>
        </p:spPr>
        <p:txBody>
          <a:bodyPr wrap="square" rtlCol="0">
            <a:spAutoFit/>
          </a:bodyPr>
          <a:lstStyle/>
          <a:p>
            <a:r>
              <a:rPr lang="es-ES" sz="1400" b="1" dirty="0" smtClean="0">
                <a:solidFill>
                  <a:schemeClr val="tx1"/>
                </a:solidFill>
                <a:latin typeface="Arial" pitchFamily="34" charset="0"/>
                <a:cs typeface="Arial" pitchFamily="34" charset="0"/>
              </a:rPr>
              <a:t>Ejemplo</a:t>
            </a:r>
            <a:endParaRPr lang="es-ES" sz="1400" b="1" dirty="0">
              <a:solidFill>
                <a:schemeClr val="tx1"/>
              </a:solidFill>
              <a:latin typeface="Arial" pitchFamily="34" charset="0"/>
              <a:cs typeface="Arial" pitchFamily="34" charset="0"/>
            </a:endParaRPr>
          </a:p>
        </p:txBody>
      </p:sp>
      <p:sp>
        <p:nvSpPr>
          <p:cNvPr id="10" name="9 CuadroTexto"/>
          <p:cNvSpPr txBox="1"/>
          <p:nvPr/>
        </p:nvSpPr>
        <p:spPr>
          <a:xfrm>
            <a:off x="6156960" y="4861560"/>
            <a:ext cx="1051560" cy="307777"/>
          </a:xfrm>
          <a:prstGeom prst="rect">
            <a:avLst/>
          </a:prstGeom>
          <a:noFill/>
        </p:spPr>
        <p:txBody>
          <a:bodyPr wrap="square" rtlCol="0">
            <a:spAutoFit/>
          </a:bodyPr>
          <a:lstStyle/>
          <a:p>
            <a:r>
              <a:rPr lang="es-ES" sz="1400" b="1" dirty="0" smtClean="0">
                <a:solidFill>
                  <a:schemeClr val="tx1"/>
                </a:solidFill>
                <a:latin typeface="Arial" pitchFamily="34" charset="0"/>
                <a:cs typeface="Arial" pitchFamily="34" charset="0"/>
              </a:rPr>
              <a:t>Ejemplo</a:t>
            </a:r>
            <a:endParaRPr lang="es-ES" sz="1400" b="1" dirty="0">
              <a:solidFill>
                <a:schemeClr val="tx1"/>
              </a:solidFill>
              <a:latin typeface="Arial" pitchFamily="34" charset="0"/>
              <a:cs typeface="Arial" pitchFamily="34" charset="0"/>
            </a:endParaRPr>
          </a:p>
        </p:txBody>
      </p:sp>
      <p:sp>
        <p:nvSpPr>
          <p:cNvPr id="12" name="11 CuadroTexto"/>
          <p:cNvSpPr txBox="1"/>
          <p:nvPr/>
        </p:nvSpPr>
        <p:spPr>
          <a:xfrm>
            <a:off x="5257800" y="6542603"/>
            <a:ext cx="1051560" cy="307777"/>
          </a:xfrm>
          <a:prstGeom prst="rect">
            <a:avLst/>
          </a:prstGeom>
          <a:noFill/>
        </p:spPr>
        <p:txBody>
          <a:bodyPr wrap="square" rtlCol="0">
            <a:spAutoFit/>
          </a:bodyPr>
          <a:lstStyle/>
          <a:p>
            <a:r>
              <a:rPr lang="es-ES" sz="1400" b="1" dirty="0" smtClean="0">
                <a:solidFill>
                  <a:schemeClr val="tx1"/>
                </a:solidFill>
                <a:latin typeface="Arial" pitchFamily="34" charset="0"/>
                <a:cs typeface="Arial" pitchFamily="34" charset="0"/>
              </a:rPr>
              <a:t>Ejemplo</a:t>
            </a:r>
            <a:endParaRPr lang="es-ES" sz="1400" b="1" dirty="0">
              <a:solidFill>
                <a:schemeClr val="tx1"/>
              </a:solidFill>
              <a:latin typeface="Arial" pitchFamily="34" charset="0"/>
              <a:cs typeface="Arial"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1366839" y="182542"/>
            <a:ext cx="6443661" cy="3373142"/>
          </a:xfrm>
          <a:prstGeom prst="rect">
            <a:avLst/>
          </a:prstGeom>
          <a:ln>
            <a:noFill/>
          </a:ln>
          <a:effectLst>
            <a:outerShdw blurRad="292100" dist="139700" dir="2700000" algn="tl" rotWithShape="0">
              <a:srgbClr val="333333">
                <a:alpha val="65000"/>
              </a:srgbClr>
            </a:outerShdw>
          </a:effectLst>
        </p:spPr>
      </p:pic>
      <p:pic>
        <p:nvPicPr>
          <p:cNvPr id="1027" name="Picture 3"/>
          <p:cNvPicPr>
            <a:picLocks noChangeAspect="1" noChangeArrowheads="1"/>
          </p:cNvPicPr>
          <p:nvPr/>
        </p:nvPicPr>
        <p:blipFill>
          <a:blip r:embed="rId4" cstate="print"/>
          <a:srcRect/>
          <a:stretch>
            <a:fillRect/>
          </a:stretch>
        </p:blipFill>
        <p:spPr bwMode="auto">
          <a:xfrm>
            <a:off x="1876925" y="289560"/>
            <a:ext cx="6497455" cy="3685223"/>
          </a:xfrm>
          <a:prstGeom prst="rect">
            <a:avLst/>
          </a:prstGeom>
          <a:ln>
            <a:noFill/>
          </a:ln>
          <a:effectLst>
            <a:outerShdw blurRad="292100" dist="139700" dir="2700000" algn="tl" rotWithShape="0">
              <a:srgbClr val="333333">
                <a:alpha val="65000"/>
              </a:srgbClr>
            </a:outerShdw>
          </a:effectLst>
        </p:spPr>
      </p:pic>
      <p:pic>
        <p:nvPicPr>
          <p:cNvPr id="1028" name="Picture 4"/>
          <p:cNvPicPr>
            <a:picLocks noChangeAspect="1" noChangeArrowheads="1"/>
          </p:cNvPicPr>
          <p:nvPr/>
        </p:nvPicPr>
        <p:blipFill>
          <a:blip r:embed="rId5" cstate="print"/>
          <a:srcRect/>
          <a:stretch>
            <a:fillRect/>
          </a:stretch>
        </p:blipFill>
        <p:spPr bwMode="auto">
          <a:xfrm>
            <a:off x="2311717" y="548640"/>
            <a:ext cx="6832283" cy="3717871"/>
          </a:xfrm>
          <a:prstGeom prst="rect">
            <a:avLst/>
          </a:prstGeom>
          <a:ln>
            <a:noFill/>
          </a:ln>
          <a:effectLst>
            <a:outerShdw blurRad="292100" dist="139700" dir="2700000" algn="tl" rotWithShape="0">
              <a:srgbClr val="333333">
                <a:alpha val="65000"/>
              </a:srgbClr>
            </a:outerShdw>
          </a:effectLst>
        </p:spPr>
      </p:pic>
      <p:sp>
        <p:nvSpPr>
          <p:cNvPr id="17" name="16 Rectángulo"/>
          <p:cNvSpPr/>
          <p:nvPr/>
        </p:nvSpPr>
        <p:spPr>
          <a:xfrm>
            <a:off x="8496300" y="655320"/>
            <a:ext cx="403860" cy="274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X</a:t>
            </a:r>
            <a:endParaRPr lang="es-ES" dirty="0"/>
          </a:p>
        </p:txBody>
      </p:sp>
      <p:pic>
        <p:nvPicPr>
          <p:cNvPr id="8194" name="Picture 2"/>
          <p:cNvPicPr>
            <a:picLocks noChangeAspect="1" noChangeArrowheads="1"/>
          </p:cNvPicPr>
          <p:nvPr/>
        </p:nvPicPr>
        <p:blipFill>
          <a:blip r:embed="rId6" cstate="print"/>
          <a:srcRect/>
          <a:stretch>
            <a:fillRect/>
          </a:stretch>
        </p:blipFill>
        <p:spPr bwMode="auto">
          <a:xfrm>
            <a:off x="4198620" y="4228650"/>
            <a:ext cx="4617720" cy="230169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anim calcmode="lin" valueType="num">
                                      <p:cBhvr>
                                        <p:cTn id="8" dur="500" fill="hold"/>
                                        <p:tgtEl>
                                          <p:spTgt spid="1026"/>
                                        </p:tgtEl>
                                        <p:attrNameLst>
                                          <p:attrName>ppt_x</p:attrName>
                                        </p:attrNameLst>
                                      </p:cBhvr>
                                      <p:tavLst>
                                        <p:tav tm="0">
                                          <p:val>
                                            <p:strVal val="#ppt_x"/>
                                          </p:val>
                                        </p:tav>
                                        <p:tav tm="100000">
                                          <p:val>
                                            <p:strVal val="#ppt_x"/>
                                          </p:val>
                                        </p:tav>
                                      </p:tavLst>
                                    </p:anim>
                                    <p:anim calcmode="lin" valueType="num">
                                      <p:cBhvr>
                                        <p:cTn id="9" dur="500" fill="hold"/>
                                        <p:tgtEl>
                                          <p:spTgt spid="1026"/>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1026"/>
                                        </p:tgtEl>
                                        <p:attrNameLst>
                                          <p:attrName>style.visibility</p:attrName>
                                        </p:attrNameLst>
                                      </p:cBhvr>
                                      <p:to>
                                        <p:strVal val="hidden"/>
                                      </p:to>
                                    </p:set>
                                  </p:subTnLst>
                                </p:cTn>
                              </p:par>
                            </p:childTnLst>
                          </p:cTn>
                        </p:par>
                      </p:childTnLst>
                    </p:cTn>
                  </p:par>
                </p:childTnLst>
              </p:cTn>
              <p:nextCondLst>
                <p:cond evt="onClick" delay="0">
                  <p:tgtEl>
                    <p:spTgt spid="9"/>
                  </p:tgtEl>
                </p:cond>
              </p:nextCondLst>
            </p:seq>
            <p:seq concurrent="1" nextAc="seek">
              <p:cTn id="10" restart="whenNotActive" fill="hold" evtFilter="cancelBubble" nodeType="interactiveSeq">
                <p:stCondLst>
                  <p:cond evt="onClick" delay="0">
                    <p:tgtEl>
                      <p:spTgt spid="10"/>
                    </p:tgtEl>
                  </p:cond>
                </p:stCondLst>
                <p:endSync evt="end" delay="0">
                  <p:rtn val="all"/>
                </p:endSync>
                <p:childTnLst>
                  <p:par>
                    <p:cTn id="11" fill="hold">
                      <p:stCondLst>
                        <p:cond delay="0"/>
                      </p:stCondLst>
                      <p:childTnLst>
                        <p:par>
                          <p:cTn id="12" fill="hold">
                            <p:stCondLst>
                              <p:cond delay="0"/>
                            </p:stCondLst>
                            <p:childTnLst>
                              <p:par>
                                <p:cTn id="13" presetID="47" presetClass="entr" presetSubtype="0" fill="hold" nodeType="clickEffect">
                                  <p:stCondLst>
                                    <p:cond delay="0"/>
                                  </p:stCondLst>
                                  <p:childTnLst>
                                    <p:set>
                                      <p:cBhvr>
                                        <p:cTn id="14" dur="1" fill="hold">
                                          <p:stCondLst>
                                            <p:cond delay="0"/>
                                          </p:stCondLst>
                                        </p:cTn>
                                        <p:tgtEl>
                                          <p:spTgt spid="1027"/>
                                        </p:tgtEl>
                                        <p:attrNameLst>
                                          <p:attrName>style.visibility</p:attrName>
                                        </p:attrNameLst>
                                      </p:cBhvr>
                                      <p:to>
                                        <p:strVal val="visible"/>
                                      </p:to>
                                    </p:set>
                                    <p:animEffect transition="in" filter="fade">
                                      <p:cBhvr>
                                        <p:cTn id="15" dur="500"/>
                                        <p:tgtEl>
                                          <p:spTgt spid="1027"/>
                                        </p:tgtEl>
                                      </p:cBhvr>
                                    </p:animEffect>
                                    <p:anim calcmode="lin" valueType="num">
                                      <p:cBhvr>
                                        <p:cTn id="16" dur="500" fill="hold"/>
                                        <p:tgtEl>
                                          <p:spTgt spid="1027"/>
                                        </p:tgtEl>
                                        <p:attrNameLst>
                                          <p:attrName>ppt_x</p:attrName>
                                        </p:attrNameLst>
                                      </p:cBhvr>
                                      <p:tavLst>
                                        <p:tav tm="0">
                                          <p:val>
                                            <p:strVal val="#ppt_x"/>
                                          </p:val>
                                        </p:tav>
                                        <p:tav tm="100000">
                                          <p:val>
                                            <p:strVal val="#ppt_x"/>
                                          </p:val>
                                        </p:tav>
                                      </p:tavLst>
                                    </p:anim>
                                    <p:anim calcmode="lin" valueType="num">
                                      <p:cBhvr>
                                        <p:cTn id="17" dur="500" fill="hold"/>
                                        <p:tgtEl>
                                          <p:spTgt spid="1027"/>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10"/>
                  </p:tgtEl>
                </p:cond>
              </p:nextCondLst>
            </p:seq>
            <p:seq concurrent="1" nextAc="seek">
              <p:cTn id="18" restart="whenNotActive" fill="hold" evtFilter="cancelBubble" nodeType="interactiveSeq">
                <p:stCondLst>
                  <p:cond evt="onClick" delay="0">
                    <p:tgtEl>
                      <p:spTgt spid="12"/>
                    </p:tgtEl>
                  </p:cond>
                </p:stCondLst>
                <p:endSync evt="end" delay="0">
                  <p:rtn val="all"/>
                </p:endSync>
                <p:childTnLst>
                  <p:par>
                    <p:cTn id="19" fill="hold">
                      <p:stCondLst>
                        <p:cond delay="0"/>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1028"/>
                                        </p:tgtEl>
                                        <p:attrNameLst>
                                          <p:attrName>style.visibility</p:attrName>
                                        </p:attrNameLst>
                                      </p:cBhvr>
                                      <p:to>
                                        <p:strVal val="visible"/>
                                      </p:to>
                                    </p:set>
                                    <p:animEffect transition="in" filter="fade">
                                      <p:cBhvr>
                                        <p:cTn id="23" dur="1000"/>
                                        <p:tgtEl>
                                          <p:spTgt spid="1028"/>
                                        </p:tgtEl>
                                      </p:cBhvr>
                                    </p:animEffect>
                                    <p:anim calcmode="lin" valueType="num">
                                      <p:cBhvr>
                                        <p:cTn id="24" dur="1000" fill="hold"/>
                                        <p:tgtEl>
                                          <p:spTgt spid="1028"/>
                                        </p:tgtEl>
                                        <p:attrNameLst>
                                          <p:attrName>ppt_x</p:attrName>
                                        </p:attrNameLst>
                                      </p:cBhvr>
                                      <p:tavLst>
                                        <p:tav tm="0">
                                          <p:val>
                                            <p:strVal val="#ppt_x"/>
                                          </p:val>
                                        </p:tav>
                                        <p:tav tm="100000">
                                          <p:val>
                                            <p:strVal val="#ppt_x"/>
                                          </p:val>
                                        </p:tav>
                                      </p:tavLst>
                                    </p:anim>
                                    <p:anim calcmode="lin" valueType="num">
                                      <p:cBhvr>
                                        <p:cTn id="25" dur="1000" fill="hold"/>
                                        <p:tgtEl>
                                          <p:spTgt spid="1028"/>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1028"/>
                                        </p:tgtEl>
                                        <p:attrNameLst>
                                          <p:attrName>style.visibility</p:attrName>
                                        </p:attrNameLst>
                                      </p:cBhvr>
                                      <p:to>
                                        <p:strVal val="hidden"/>
                                      </p:to>
                                    </p:set>
                                  </p:subTnLst>
                                </p:cTn>
                              </p:par>
                              <p:par>
                                <p:cTn id="26" presetID="47" presetClass="entr" presetSubtype="0" fill="hold" nodeType="withEffect">
                                  <p:stCondLst>
                                    <p:cond delay="0"/>
                                  </p:stCondLst>
                                  <p:childTnLst>
                                    <p:set>
                                      <p:cBhvr>
                                        <p:cTn id="27" dur="1" fill="hold">
                                          <p:stCondLst>
                                            <p:cond delay="0"/>
                                          </p:stCondLst>
                                        </p:cTn>
                                        <p:tgtEl>
                                          <p:spTgt spid="8194"/>
                                        </p:tgtEl>
                                        <p:attrNameLst>
                                          <p:attrName>style.visibility</p:attrName>
                                        </p:attrNameLst>
                                      </p:cBhvr>
                                      <p:to>
                                        <p:strVal val="visible"/>
                                      </p:to>
                                    </p:set>
                                    <p:animEffect transition="in" filter="fade">
                                      <p:cBhvr>
                                        <p:cTn id="28" dur="1000"/>
                                        <p:tgtEl>
                                          <p:spTgt spid="8194"/>
                                        </p:tgtEl>
                                      </p:cBhvr>
                                    </p:animEffect>
                                    <p:anim calcmode="lin" valueType="num">
                                      <p:cBhvr>
                                        <p:cTn id="29" dur="1000" fill="hold"/>
                                        <p:tgtEl>
                                          <p:spTgt spid="8194"/>
                                        </p:tgtEl>
                                        <p:attrNameLst>
                                          <p:attrName>ppt_x</p:attrName>
                                        </p:attrNameLst>
                                      </p:cBhvr>
                                      <p:tavLst>
                                        <p:tav tm="0">
                                          <p:val>
                                            <p:strVal val="#ppt_x"/>
                                          </p:val>
                                        </p:tav>
                                        <p:tav tm="100000">
                                          <p:val>
                                            <p:strVal val="#ppt_x"/>
                                          </p:val>
                                        </p:tav>
                                      </p:tavLst>
                                    </p:anim>
                                    <p:anim calcmode="lin" valueType="num">
                                      <p:cBhvr>
                                        <p:cTn id="30" dur="1000" fill="hold"/>
                                        <p:tgtEl>
                                          <p:spTgt spid="8194"/>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12"/>
                  </p:tgtEl>
                </p:cond>
              </p:nextCondLst>
            </p:seq>
            <p:seq concurrent="1" nextAc="seek">
              <p:cTn id="31" restart="whenNotActive" fill="hold" evtFilter="cancelBubble" nodeType="interactiveSeq">
                <p:stCondLst>
                  <p:cond evt="onClick" delay="0">
                    <p:tgtEl>
                      <p:spTgt spid="1028"/>
                    </p:tgtEl>
                  </p:cond>
                </p:stCondLst>
                <p:endSync evt="end" delay="0">
                  <p:rtn val="all"/>
                </p:endSync>
                <p:childTnLst>
                  <p:par>
                    <p:cTn id="32" fill="hold">
                      <p:stCondLst>
                        <p:cond delay="0"/>
                      </p:stCondLst>
                      <p:childTnLst>
                        <p:par>
                          <p:cTn id="33" fill="hold">
                            <p:stCondLst>
                              <p:cond delay="0"/>
                            </p:stCondLst>
                            <p:childTnLst>
                              <p:par>
                                <p:cTn id="34" presetID="2" presetClass="exit" presetSubtype="4" fill="hold" nodeType="clickEffect">
                                  <p:stCondLst>
                                    <p:cond delay="0"/>
                                  </p:stCondLst>
                                  <p:childTnLst>
                                    <p:anim calcmode="lin" valueType="num">
                                      <p:cBhvr additive="base">
                                        <p:cTn id="35" dur="500"/>
                                        <p:tgtEl>
                                          <p:spTgt spid="1028"/>
                                        </p:tgtEl>
                                        <p:attrNameLst>
                                          <p:attrName>ppt_x</p:attrName>
                                        </p:attrNameLst>
                                      </p:cBhvr>
                                      <p:tavLst>
                                        <p:tav tm="0">
                                          <p:val>
                                            <p:strVal val="ppt_x"/>
                                          </p:val>
                                        </p:tav>
                                        <p:tav tm="100000">
                                          <p:val>
                                            <p:strVal val="ppt_x"/>
                                          </p:val>
                                        </p:tav>
                                      </p:tavLst>
                                    </p:anim>
                                    <p:anim calcmode="lin" valueType="num">
                                      <p:cBhvr additive="base">
                                        <p:cTn id="36" dur="500"/>
                                        <p:tgtEl>
                                          <p:spTgt spid="1028"/>
                                        </p:tgtEl>
                                        <p:attrNameLst>
                                          <p:attrName>ppt_y</p:attrName>
                                        </p:attrNameLst>
                                      </p:cBhvr>
                                      <p:tavLst>
                                        <p:tav tm="0">
                                          <p:val>
                                            <p:strVal val="ppt_y"/>
                                          </p:val>
                                        </p:tav>
                                        <p:tav tm="100000">
                                          <p:val>
                                            <p:strVal val="1+ppt_h/2"/>
                                          </p:val>
                                        </p:tav>
                                      </p:tavLst>
                                    </p:anim>
                                    <p:set>
                                      <p:cBhvr>
                                        <p:cTn id="37" dur="1" fill="hold">
                                          <p:stCondLst>
                                            <p:cond delay="499"/>
                                          </p:stCondLst>
                                        </p:cTn>
                                        <p:tgtEl>
                                          <p:spTgt spid="1028"/>
                                        </p:tgtEl>
                                        <p:attrNameLst>
                                          <p:attrName>style.visibility</p:attrName>
                                        </p:attrNameLst>
                                      </p:cBhvr>
                                      <p:to>
                                        <p:strVal val="hidden"/>
                                      </p:to>
                                    </p:set>
                                  </p:childTnLst>
                                </p:cTn>
                              </p:par>
                              <p:par>
                                <p:cTn id="38" presetID="2" presetClass="exit" presetSubtype="4" fill="hold" nodeType="withEffect">
                                  <p:stCondLst>
                                    <p:cond delay="0"/>
                                  </p:stCondLst>
                                  <p:childTnLst>
                                    <p:anim calcmode="lin" valueType="num">
                                      <p:cBhvr additive="base">
                                        <p:cTn id="39" dur="500"/>
                                        <p:tgtEl>
                                          <p:spTgt spid="8194"/>
                                        </p:tgtEl>
                                        <p:attrNameLst>
                                          <p:attrName>ppt_x</p:attrName>
                                        </p:attrNameLst>
                                      </p:cBhvr>
                                      <p:tavLst>
                                        <p:tav tm="0">
                                          <p:val>
                                            <p:strVal val="ppt_x"/>
                                          </p:val>
                                        </p:tav>
                                        <p:tav tm="100000">
                                          <p:val>
                                            <p:strVal val="ppt_x"/>
                                          </p:val>
                                        </p:tav>
                                      </p:tavLst>
                                    </p:anim>
                                    <p:anim calcmode="lin" valueType="num">
                                      <p:cBhvr additive="base">
                                        <p:cTn id="40" dur="500"/>
                                        <p:tgtEl>
                                          <p:spTgt spid="8194"/>
                                        </p:tgtEl>
                                        <p:attrNameLst>
                                          <p:attrName>ppt_y</p:attrName>
                                        </p:attrNameLst>
                                      </p:cBhvr>
                                      <p:tavLst>
                                        <p:tav tm="0">
                                          <p:val>
                                            <p:strVal val="ppt_y"/>
                                          </p:val>
                                        </p:tav>
                                        <p:tav tm="100000">
                                          <p:val>
                                            <p:strVal val="1+ppt_h/2"/>
                                          </p:val>
                                        </p:tav>
                                      </p:tavLst>
                                    </p:anim>
                                    <p:set>
                                      <p:cBhvr>
                                        <p:cTn id="41" dur="1" fill="hold">
                                          <p:stCondLst>
                                            <p:cond delay="499"/>
                                          </p:stCondLst>
                                        </p:cTn>
                                        <p:tgtEl>
                                          <p:spTgt spid="8194"/>
                                        </p:tgtEl>
                                        <p:attrNameLst>
                                          <p:attrName>style.visibility</p:attrName>
                                        </p:attrNameLst>
                                      </p:cBhvr>
                                      <p:to>
                                        <p:strVal val="hidden"/>
                                      </p:to>
                                    </p:set>
                                  </p:childTnLst>
                                </p:cTn>
                              </p:par>
                            </p:childTnLst>
                          </p:cTn>
                        </p:par>
                      </p:childTnLst>
                    </p:cTn>
                  </p:par>
                </p:childTnLst>
              </p:cTn>
              <p:nextCondLst>
                <p:cond evt="onClick" delay="0">
                  <p:tgtEl>
                    <p:spTgt spid="1028"/>
                  </p:tgtEl>
                </p:cond>
              </p:nextCondLst>
            </p:seq>
            <p:seq concurrent="1" nextAc="seek">
              <p:cTn id="42" restart="whenNotActive" fill="hold" evtFilter="cancelBubble" nodeType="interactiveSeq">
                <p:stCondLst>
                  <p:cond evt="onClick" delay="0">
                    <p:tgtEl>
                      <p:spTgt spid="1027"/>
                    </p:tgtEl>
                  </p:cond>
                </p:stCondLst>
                <p:endSync evt="end" delay="0">
                  <p:rtn val="all"/>
                </p:endSync>
                <p:childTnLst>
                  <p:par>
                    <p:cTn id="43" fill="hold">
                      <p:stCondLst>
                        <p:cond delay="0"/>
                      </p:stCondLst>
                      <p:childTnLst>
                        <p:par>
                          <p:cTn id="44" fill="hold">
                            <p:stCondLst>
                              <p:cond delay="0"/>
                            </p:stCondLst>
                            <p:childTnLst>
                              <p:par>
                                <p:cTn id="45" presetID="2" presetClass="exit" presetSubtype="4" fill="hold" nodeType="clickEffect">
                                  <p:stCondLst>
                                    <p:cond delay="0"/>
                                  </p:stCondLst>
                                  <p:childTnLst>
                                    <p:anim calcmode="lin" valueType="num">
                                      <p:cBhvr additive="base">
                                        <p:cTn id="46" dur="500"/>
                                        <p:tgtEl>
                                          <p:spTgt spid="1027"/>
                                        </p:tgtEl>
                                        <p:attrNameLst>
                                          <p:attrName>ppt_x</p:attrName>
                                        </p:attrNameLst>
                                      </p:cBhvr>
                                      <p:tavLst>
                                        <p:tav tm="0">
                                          <p:val>
                                            <p:strVal val="ppt_x"/>
                                          </p:val>
                                        </p:tav>
                                        <p:tav tm="100000">
                                          <p:val>
                                            <p:strVal val="ppt_x"/>
                                          </p:val>
                                        </p:tav>
                                      </p:tavLst>
                                    </p:anim>
                                    <p:anim calcmode="lin" valueType="num">
                                      <p:cBhvr additive="base">
                                        <p:cTn id="47" dur="500"/>
                                        <p:tgtEl>
                                          <p:spTgt spid="1027"/>
                                        </p:tgtEl>
                                        <p:attrNameLst>
                                          <p:attrName>ppt_y</p:attrName>
                                        </p:attrNameLst>
                                      </p:cBhvr>
                                      <p:tavLst>
                                        <p:tav tm="0">
                                          <p:val>
                                            <p:strVal val="ppt_y"/>
                                          </p:val>
                                        </p:tav>
                                        <p:tav tm="100000">
                                          <p:val>
                                            <p:strVal val="1+ppt_h/2"/>
                                          </p:val>
                                        </p:tav>
                                      </p:tavLst>
                                    </p:anim>
                                    <p:set>
                                      <p:cBhvr>
                                        <p:cTn id="48" dur="1" fill="hold">
                                          <p:stCondLst>
                                            <p:cond delay="499"/>
                                          </p:stCondLst>
                                        </p:cTn>
                                        <p:tgtEl>
                                          <p:spTgt spid="1027"/>
                                        </p:tgtEl>
                                        <p:attrNameLst>
                                          <p:attrName>style.visibility</p:attrName>
                                        </p:attrNameLst>
                                      </p:cBhvr>
                                      <p:to>
                                        <p:strVal val="hidden"/>
                                      </p:to>
                                    </p:set>
                                  </p:childTnLst>
                                </p:cTn>
                              </p:par>
                            </p:childTnLst>
                          </p:cTn>
                        </p:par>
                      </p:childTnLst>
                    </p:cTn>
                  </p:par>
                </p:childTnLst>
              </p:cTn>
              <p:nextCondLst>
                <p:cond evt="onClick" delay="0">
                  <p:tgtEl>
                    <p:spTgt spid="1027"/>
                  </p:tgtEl>
                </p:cond>
              </p:nextCondLst>
            </p:seq>
            <p:seq concurrent="1" nextAc="seek">
              <p:cTn id="49" restart="whenNotActive" fill="hold" evtFilter="cancelBubble" nodeType="interactiveSeq">
                <p:stCondLst>
                  <p:cond evt="onClick" delay="0">
                    <p:tgtEl>
                      <p:spTgt spid="1026"/>
                    </p:tgtEl>
                  </p:cond>
                </p:stCondLst>
                <p:endSync evt="end" delay="0">
                  <p:rtn val="all"/>
                </p:endSync>
                <p:childTnLst>
                  <p:par>
                    <p:cTn id="50" fill="hold">
                      <p:stCondLst>
                        <p:cond delay="0"/>
                      </p:stCondLst>
                      <p:childTnLst>
                        <p:par>
                          <p:cTn id="51" fill="hold">
                            <p:stCondLst>
                              <p:cond delay="0"/>
                            </p:stCondLst>
                            <p:childTnLst>
                              <p:par>
                                <p:cTn id="52" presetID="2" presetClass="exit" presetSubtype="4" fill="hold" nodeType="clickEffect">
                                  <p:stCondLst>
                                    <p:cond delay="0"/>
                                  </p:stCondLst>
                                  <p:childTnLst>
                                    <p:anim calcmode="lin" valueType="num">
                                      <p:cBhvr additive="base">
                                        <p:cTn id="53" dur="500"/>
                                        <p:tgtEl>
                                          <p:spTgt spid="1026"/>
                                        </p:tgtEl>
                                        <p:attrNameLst>
                                          <p:attrName>ppt_x</p:attrName>
                                        </p:attrNameLst>
                                      </p:cBhvr>
                                      <p:tavLst>
                                        <p:tav tm="0">
                                          <p:val>
                                            <p:strVal val="ppt_x"/>
                                          </p:val>
                                        </p:tav>
                                        <p:tav tm="100000">
                                          <p:val>
                                            <p:strVal val="ppt_x"/>
                                          </p:val>
                                        </p:tav>
                                      </p:tavLst>
                                    </p:anim>
                                    <p:anim calcmode="lin" valueType="num">
                                      <p:cBhvr additive="base">
                                        <p:cTn id="54" dur="500"/>
                                        <p:tgtEl>
                                          <p:spTgt spid="1026"/>
                                        </p:tgtEl>
                                        <p:attrNameLst>
                                          <p:attrName>ppt_y</p:attrName>
                                        </p:attrNameLst>
                                      </p:cBhvr>
                                      <p:tavLst>
                                        <p:tav tm="0">
                                          <p:val>
                                            <p:strVal val="ppt_y"/>
                                          </p:val>
                                        </p:tav>
                                        <p:tav tm="100000">
                                          <p:val>
                                            <p:strVal val="1+ppt_h/2"/>
                                          </p:val>
                                        </p:tav>
                                      </p:tavLst>
                                    </p:anim>
                                    <p:set>
                                      <p:cBhvr>
                                        <p:cTn id="55" dur="1" fill="hold">
                                          <p:stCondLst>
                                            <p:cond delay="499"/>
                                          </p:stCondLst>
                                        </p:cTn>
                                        <p:tgtEl>
                                          <p:spTgt spid="1026"/>
                                        </p:tgtEl>
                                        <p:attrNameLst>
                                          <p:attrName>style.visibility</p:attrName>
                                        </p:attrNameLst>
                                      </p:cBhvr>
                                      <p:to>
                                        <p:strVal val="hidden"/>
                                      </p:to>
                                    </p:set>
                                  </p:childTnLst>
                                </p:cTn>
                              </p:par>
                            </p:childTnLst>
                          </p:cTn>
                        </p:par>
                      </p:childTnLst>
                    </p:cTn>
                  </p:par>
                </p:childTnLst>
              </p:cTn>
              <p:nextCondLst>
                <p:cond evt="onClick" delay="0">
                  <p:tgtEl>
                    <p:spTgt spid="102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Asignación de 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5663089"/>
          </a:xfrm>
          <a:prstGeom prst="rect">
            <a:avLst/>
          </a:prstGeom>
          <a:noFill/>
        </p:spPr>
        <p:txBody>
          <a:bodyPr wrap="square" rtlCol="0">
            <a:spAutoFit/>
          </a:bodyPr>
          <a:lstStyle/>
          <a:p>
            <a:pPr algn="just">
              <a:spcAft>
                <a:spcPts val="600"/>
              </a:spcAft>
            </a:pPr>
            <a:r>
              <a:rPr lang="es-AR" sz="1600" b="1" dirty="0" smtClean="0">
                <a:solidFill>
                  <a:srgbClr val="7030A0"/>
                </a:solidFill>
                <a:latin typeface="Arial" pitchFamily="34" charset="0"/>
                <a:cs typeface="Arial" pitchFamily="34" charset="0"/>
              </a:rPr>
              <a:t>Modelos de Gestión de memoria:</a:t>
            </a:r>
          </a:p>
          <a:p>
            <a:pPr marL="342900" indent="-342900" algn="just">
              <a:spcAft>
                <a:spcPts val="600"/>
              </a:spcAft>
            </a:pPr>
            <a:r>
              <a:rPr lang="es-AR" sz="1600" dirty="0" smtClean="0">
                <a:solidFill>
                  <a:schemeClr val="tx1"/>
                </a:solidFill>
                <a:latin typeface="Arial" pitchFamily="34" charset="0"/>
                <a:cs typeface="Arial" pitchFamily="34" charset="0"/>
              </a:rPr>
              <a:t>La memoria física puede ser asignada a los procesos siguiendo diversas técnicas:</a:t>
            </a:r>
          </a:p>
          <a:p>
            <a:pPr marL="342900" indent="-342900" algn="just"/>
            <a:r>
              <a:rPr lang="es-AR" sz="1600" dirty="0" smtClean="0">
                <a:solidFill>
                  <a:srgbClr val="CC00CC"/>
                </a:solidFill>
                <a:latin typeface="Arial" pitchFamily="34" charset="0"/>
                <a:cs typeface="Arial" pitchFamily="34" charset="0"/>
              </a:rPr>
              <a:t>Asignación contigua: </a:t>
            </a:r>
            <a:r>
              <a:rPr lang="es-AR" sz="1600" dirty="0" smtClean="0">
                <a:solidFill>
                  <a:schemeClr val="tx1"/>
                </a:solidFill>
                <a:latin typeface="Arial" pitchFamily="34" charset="0"/>
                <a:cs typeface="Arial" pitchFamily="34" charset="0"/>
              </a:rPr>
              <a:t>el espacio de direcciones lógicas de un proceso se mapea (</a:t>
            </a:r>
            <a:r>
              <a:rPr lang="es-AR" sz="1600" u="sng" dirty="0" smtClean="0">
                <a:solidFill>
                  <a:schemeClr val="tx1"/>
                </a:solidFill>
                <a:latin typeface="Arial" pitchFamily="34" charset="0"/>
                <a:cs typeface="Arial" pitchFamily="34" charset="0"/>
              </a:rPr>
              <a:t>sin ningún mecanismo</a:t>
            </a:r>
            <a:r>
              <a:rPr lang="es-AR" sz="1600" dirty="0" smtClean="0">
                <a:solidFill>
                  <a:schemeClr val="tx1"/>
                </a:solidFill>
                <a:latin typeface="Arial" pitchFamily="34" charset="0"/>
                <a:cs typeface="Arial" pitchFamily="34" charset="0"/>
              </a:rPr>
              <a:t>) sobre una única zona (partición) de la memoria física: las direcciones de memoria son </a:t>
            </a:r>
            <a:r>
              <a:rPr lang="es-AR" sz="1600" u="sng" dirty="0" smtClean="0">
                <a:solidFill>
                  <a:schemeClr val="tx1"/>
                </a:solidFill>
                <a:latin typeface="Arial" pitchFamily="34" charset="0"/>
                <a:cs typeface="Arial" pitchFamily="34" charset="0"/>
              </a:rPr>
              <a:t>contiguas</a:t>
            </a:r>
            <a:r>
              <a:rPr lang="es-AR" sz="1600" dirty="0" smtClean="0">
                <a:solidFill>
                  <a:schemeClr val="tx1"/>
                </a:solidFill>
                <a:latin typeface="Arial" pitchFamily="34" charset="0"/>
                <a:cs typeface="Arial" pitchFamily="34" charset="0"/>
              </a:rPr>
              <a:t>.</a:t>
            </a:r>
          </a:p>
          <a:p>
            <a:pPr marL="342900" indent="-342900" algn="just"/>
            <a:r>
              <a:rPr lang="es-AR" sz="1600" dirty="0" smtClean="0">
                <a:solidFill>
                  <a:schemeClr val="tx1"/>
                </a:solidFill>
                <a:latin typeface="Arial" pitchFamily="34" charset="0"/>
                <a:cs typeface="Arial" pitchFamily="34" charset="0"/>
              </a:rPr>
              <a:t>		– Simple</a:t>
            </a:r>
          </a:p>
          <a:p>
            <a:pPr marL="342900" indent="-342900" algn="just"/>
            <a:r>
              <a:rPr lang="es-AR" sz="1600" dirty="0" smtClean="0">
                <a:solidFill>
                  <a:schemeClr val="tx1"/>
                </a:solidFill>
                <a:latin typeface="Arial" pitchFamily="34" charset="0"/>
                <a:cs typeface="Arial" pitchFamily="34" charset="0"/>
              </a:rPr>
              <a:t>		– Particionada</a:t>
            </a:r>
          </a:p>
          <a:p>
            <a:pPr marL="342900" indent="-342900" algn="just"/>
            <a:r>
              <a:rPr lang="es-AR" sz="1600" dirty="0" smtClean="0">
                <a:solidFill>
                  <a:schemeClr val="tx1"/>
                </a:solidFill>
                <a:latin typeface="Arial" pitchFamily="34" charset="0"/>
                <a:cs typeface="Arial" pitchFamily="34" charset="0"/>
              </a:rPr>
              <a:t>			» Particiones fijas o estáticas	</a:t>
            </a:r>
          </a:p>
          <a:p>
            <a:pPr marL="342900" indent="-342900" algn="just"/>
            <a:r>
              <a:rPr lang="es-AR" sz="1600" dirty="0" smtClean="0">
                <a:solidFill>
                  <a:schemeClr val="tx1"/>
                </a:solidFill>
                <a:latin typeface="Arial" pitchFamily="34" charset="0"/>
                <a:cs typeface="Arial" pitchFamily="34" charset="0"/>
              </a:rPr>
              <a:t>			» Particiones variables o dinámicas</a:t>
            </a:r>
          </a:p>
          <a:p>
            <a:pPr marL="342900" indent="-342900" algn="just"/>
            <a:endParaRPr lang="es-AR" sz="1600" dirty="0" smtClean="0">
              <a:solidFill>
                <a:schemeClr val="tx1"/>
              </a:solidFill>
              <a:latin typeface="Arial" pitchFamily="34" charset="0"/>
              <a:cs typeface="Arial" pitchFamily="34" charset="0"/>
            </a:endParaRPr>
          </a:p>
          <a:p>
            <a:pPr marL="342900" indent="-342900" algn="just"/>
            <a:r>
              <a:rPr lang="es-AR" sz="1600" dirty="0" smtClean="0">
                <a:solidFill>
                  <a:srgbClr val="CC00CC"/>
                </a:solidFill>
                <a:latin typeface="Arial" pitchFamily="34" charset="0"/>
                <a:cs typeface="Arial" pitchFamily="34" charset="0"/>
              </a:rPr>
              <a:t>Asignación dispersa: </a:t>
            </a:r>
            <a:r>
              <a:rPr lang="es-AR" sz="1600" dirty="0" smtClean="0">
                <a:solidFill>
                  <a:schemeClr val="tx1"/>
                </a:solidFill>
                <a:latin typeface="Arial" pitchFamily="34" charset="0"/>
                <a:cs typeface="Arial" pitchFamily="34" charset="0"/>
              </a:rPr>
              <a:t>La memoria lógica se divide en fragmentos (páginas, segmentos), que se mapean sobre zonas de la memoria física </a:t>
            </a:r>
            <a:r>
              <a:rPr lang="es-AR" sz="1600" u="sng" dirty="0" smtClean="0">
                <a:solidFill>
                  <a:schemeClr val="tx1"/>
                </a:solidFill>
                <a:latin typeface="Arial" pitchFamily="34" charset="0"/>
                <a:cs typeface="Arial" pitchFamily="34" charset="0"/>
              </a:rPr>
              <a:t>no contiguas</a:t>
            </a:r>
            <a:r>
              <a:rPr lang="es-AR" sz="1600" dirty="0" smtClean="0">
                <a:solidFill>
                  <a:schemeClr val="tx1"/>
                </a:solidFill>
                <a:latin typeface="Arial" pitchFamily="34" charset="0"/>
                <a:cs typeface="Arial" pitchFamily="34" charset="0"/>
              </a:rPr>
              <a:t>: el espacio de direcciones físicas de un proceso consta de varias zonas no contiguas:</a:t>
            </a:r>
          </a:p>
          <a:p>
            <a:pPr marL="342900" indent="-342900" algn="just"/>
            <a:r>
              <a:rPr lang="es-AR" sz="1600" dirty="0" smtClean="0">
                <a:solidFill>
                  <a:schemeClr val="tx1"/>
                </a:solidFill>
                <a:latin typeface="Arial" pitchFamily="34" charset="0"/>
                <a:cs typeface="Arial" pitchFamily="34" charset="0"/>
              </a:rPr>
              <a:t>		– Paginación.</a:t>
            </a:r>
          </a:p>
          <a:p>
            <a:pPr marL="342900" indent="-342900" algn="just"/>
            <a:r>
              <a:rPr lang="es-AR" sz="1600" dirty="0" smtClean="0">
                <a:solidFill>
                  <a:schemeClr val="tx1"/>
                </a:solidFill>
                <a:latin typeface="Arial" pitchFamily="34" charset="0"/>
                <a:cs typeface="Arial" pitchFamily="34" charset="0"/>
              </a:rPr>
              <a:t>		– Segmentación</a:t>
            </a:r>
          </a:p>
          <a:p>
            <a:pPr marL="342900" indent="-342900" algn="just"/>
            <a:endParaRPr lang="es-AR" sz="1600" dirty="0" smtClean="0">
              <a:solidFill>
                <a:schemeClr val="tx1"/>
              </a:solidFill>
              <a:latin typeface="Arial" pitchFamily="34" charset="0"/>
              <a:cs typeface="Arial" pitchFamily="34" charset="0"/>
            </a:endParaRPr>
          </a:p>
          <a:p>
            <a:pPr marL="342900" indent="-342900" algn="just"/>
            <a:r>
              <a:rPr lang="es-AR" sz="1600" dirty="0" smtClean="0">
                <a:solidFill>
                  <a:schemeClr val="tx1"/>
                </a:solidFill>
                <a:latin typeface="Arial" pitchFamily="34" charset="0"/>
                <a:cs typeface="Arial" pitchFamily="34" charset="0"/>
              </a:rPr>
              <a:t>La asignación contigua simple solo permite la carga de un único proceso.</a:t>
            </a:r>
          </a:p>
          <a:p>
            <a:pPr marL="342900" indent="-342900" algn="just"/>
            <a:r>
              <a:rPr lang="es-AR" sz="1600" dirty="0" smtClean="0">
                <a:solidFill>
                  <a:schemeClr val="tx1"/>
                </a:solidFill>
                <a:latin typeface="Arial" pitchFamily="34" charset="0"/>
                <a:cs typeface="Arial" pitchFamily="34" charset="0"/>
              </a:rPr>
              <a:t>La asignación contigua particionada permite cargar varios procesos, uno en cada partición.</a:t>
            </a:r>
          </a:p>
          <a:p>
            <a:pPr marL="342900" indent="-342900" algn="just"/>
            <a:r>
              <a:rPr lang="es-AR" sz="1600" dirty="0" smtClean="0">
                <a:solidFill>
                  <a:schemeClr val="tx1"/>
                </a:solidFill>
                <a:latin typeface="Arial" pitchFamily="34" charset="0"/>
                <a:cs typeface="Arial" pitchFamily="34" charset="0"/>
              </a:rPr>
              <a:t>La asignación dispersa permite cargar varios procesos, en fragmentos no contiguos.</a:t>
            </a: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5663089"/>
          </a:xfrm>
          <a:prstGeom prst="rect">
            <a:avLst/>
          </a:prstGeom>
          <a:noFill/>
        </p:spPr>
        <p:txBody>
          <a:bodyPr wrap="square" rtlCol="0">
            <a:spAutoFit/>
          </a:bodyPr>
          <a:lstStyle/>
          <a:p>
            <a:pPr marL="342900" indent="-342900" algn="just">
              <a:buFont typeface="+mj-lt"/>
              <a:buAutoNum type="arabicPeriod"/>
            </a:pPr>
            <a:r>
              <a:rPr lang="es-AR" sz="1600" b="1" dirty="0" smtClean="0">
                <a:solidFill>
                  <a:srgbClr val="7030A0"/>
                </a:solidFill>
                <a:latin typeface="Arial" pitchFamily="34" charset="0"/>
                <a:cs typeface="Arial" pitchFamily="34" charset="0"/>
              </a:rPr>
              <a:t>Sin ningún mecanismo</a:t>
            </a:r>
          </a:p>
          <a:p>
            <a:pPr marL="342900" indent="-342900" algn="just">
              <a:buFont typeface="Arial" pitchFamily="34" charset="0"/>
              <a:buChar char="•"/>
            </a:pPr>
            <a:r>
              <a:rPr lang="es-AR" sz="1600" dirty="0" smtClean="0">
                <a:solidFill>
                  <a:schemeClr val="tx1"/>
                </a:solidFill>
                <a:latin typeface="Arial" pitchFamily="34" charset="0"/>
                <a:cs typeface="Arial" pitchFamily="34" charset="0"/>
              </a:rPr>
              <a:t>Es la más simple. Trabaja directamente sobre la memoria física.</a:t>
            </a:r>
          </a:p>
          <a:p>
            <a:pPr marL="342900" indent="-342900" algn="just">
              <a:buFont typeface="Arial" pitchFamily="34" charset="0"/>
              <a:buChar char="•"/>
            </a:pPr>
            <a:r>
              <a:rPr lang="es-AR" sz="1600" dirty="0" smtClean="0">
                <a:solidFill>
                  <a:schemeClr val="tx1"/>
                </a:solidFill>
                <a:latin typeface="Arial" pitchFamily="34" charset="0"/>
                <a:cs typeface="Arial" pitchFamily="34" charset="0"/>
              </a:rPr>
              <a:t>Un solo programa cargado en memoria (además del SO)</a:t>
            </a:r>
          </a:p>
          <a:p>
            <a:pPr marL="342900" indent="-342900" algn="just">
              <a:buFont typeface="Arial" pitchFamily="34" charset="0"/>
              <a:buChar char="•"/>
            </a:pPr>
            <a:r>
              <a:rPr lang="es-AR" sz="1600" dirty="0" smtClean="0">
                <a:solidFill>
                  <a:schemeClr val="tx1"/>
                </a:solidFill>
                <a:latin typeface="Arial" pitchFamily="34" charset="0"/>
                <a:cs typeface="Arial" pitchFamily="34" charset="0"/>
              </a:rPr>
              <a:t>Utilizado en las primeras computadoras (hasta 1980)</a:t>
            </a:r>
          </a:p>
          <a:p>
            <a:pPr marL="342900" indent="-342900" algn="just">
              <a:spcBef>
                <a:spcPts val="1200"/>
              </a:spcBef>
              <a:spcAft>
                <a:spcPts val="0"/>
              </a:spcAft>
            </a:pPr>
            <a:r>
              <a:rPr lang="es-AR" sz="1600" dirty="0" smtClean="0">
                <a:solidFill>
                  <a:schemeClr val="tx1"/>
                </a:solidFill>
                <a:latin typeface="Arial" pitchFamily="34" charset="0"/>
                <a:cs typeface="Arial" pitchFamily="34" charset="0"/>
              </a:rPr>
              <a:t>Maneras de organizar la memoria:</a:t>
            </a: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endParaRPr lang="es-AR" sz="1600" dirty="0" smtClean="0">
              <a:solidFill>
                <a:schemeClr val="tx1"/>
              </a:solidFill>
              <a:latin typeface="Arial" pitchFamily="34" charset="0"/>
              <a:cs typeface="Arial" pitchFamily="34" charset="0"/>
            </a:endParaRPr>
          </a:p>
          <a:p>
            <a:pPr marL="342900" indent="-342900" algn="just"/>
            <a:r>
              <a:rPr lang="es-AR" sz="1600" dirty="0" smtClean="0">
                <a:solidFill>
                  <a:schemeClr val="tx1"/>
                </a:solidFill>
                <a:latin typeface="Arial" pitchFamily="34" charset="0"/>
                <a:cs typeface="Arial" pitchFamily="34" charset="0"/>
              </a:rPr>
              <a:t>Se puede ver que una gran desventaja de los modelos a) y c) es que al estar cargado el SO en memoria RAM, éste puede ser alterado por un error del programa del usuario</a:t>
            </a:r>
          </a:p>
          <a:p>
            <a:pPr marL="342900" indent="-342900" algn="just"/>
            <a:endParaRPr lang="es-AR" sz="1600" dirty="0" smtClean="0">
              <a:solidFill>
                <a:schemeClr val="tx1"/>
              </a:solidFill>
              <a:latin typeface="Arial" pitchFamily="34" charset="0"/>
              <a:cs typeface="Arial" pitchFamily="34" charset="0"/>
            </a:endParaRPr>
          </a:p>
        </p:txBody>
      </p:sp>
      <p:pic>
        <p:nvPicPr>
          <p:cNvPr id="2051" name="Picture 3"/>
          <p:cNvPicPr>
            <a:picLocks noChangeAspect="1" noChangeArrowheads="1"/>
          </p:cNvPicPr>
          <p:nvPr/>
        </p:nvPicPr>
        <p:blipFill>
          <a:blip r:embed="rId3" cstate="print">
            <a:clrChange>
              <a:clrFrom>
                <a:srgbClr val="FFFFFF"/>
              </a:clrFrom>
              <a:clrTo>
                <a:srgbClr val="FFFFFF">
                  <a:alpha val="0"/>
                </a:srgbClr>
              </a:clrTo>
            </a:clrChange>
            <a:lum bright="-20000" contrast="20000"/>
          </a:blip>
          <a:srcRect/>
          <a:stretch>
            <a:fillRect/>
          </a:stretch>
        </p:blipFill>
        <p:spPr bwMode="auto">
          <a:xfrm>
            <a:off x="2133600" y="2432050"/>
            <a:ext cx="4697413" cy="1934711"/>
          </a:xfrm>
          <a:prstGeom prst="rect">
            <a:avLst/>
          </a:prstGeom>
          <a:noFill/>
          <a:ln w="9525">
            <a:noFill/>
            <a:miter lim="800000"/>
            <a:headEnd/>
            <a:tailEnd/>
          </a:ln>
        </p:spPr>
      </p:pic>
      <p:sp>
        <p:nvSpPr>
          <p:cNvPr id="8" name="7 CuadroTexto"/>
          <p:cNvSpPr txBox="1"/>
          <p:nvPr/>
        </p:nvSpPr>
        <p:spPr>
          <a:xfrm>
            <a:off x="884749" y="4673600"/>
            <a:ext cx="1909251" cy="1169551"/>
          </a:xfrm>
          <a:prstGeom prst="rect">
            <a:avLst/>
          </a:prstGeom>
          <a:noFill/>
        </p:spPr>
        <p:txBody>
          <a:bodyPr wrap="square" rtlCol="0">
            <a:spAutoFit/>
          </a:bodyPr>
          <a:lstStyle/>
          <a:p>
            <a:pPr algn="l"/>
            <a:r>
              <a:rPr lang="es-AR" sz="1400" b="1" dirty="0" smtClean="0">
                <a:solidFill>
                  <a:schemeClr val="tx1"/>
                </a:solidFill>
                <a:latin typeface="Arial" pitchFamily="34" charset="0"/>
                <a:cs typeface="Arial" pitchFamily="34" charset="0"/>
              </a:rPr>
              <a:t>a) </a:t>
            </a:r>
            <a:r>
              <a:rPr lang="es-AR" sz="1400" dirty="0" smtClean="0">
                <a:solidFill>
                  <a:schemeClr val="tx1"/>
                </a:solidFill>
                <a:latin typeface="Arial" pitchFamily="34" charset="0"/>
                <a:cs typeface="Arial" pitchFamily="34" charset="0"/>
              </a:rPr>
              <a:t>No se lo utiliza actualmente. Fue usado en mainframes y minicomputadoras</a:t>
            </a:r>
          </a:p>
          <a:p>
            <a:pPr algn="l"/>
            <a:endParaRPr lang="es-AR" sz="1400" dirty="0">
              <a:solidFill>
                <a:schemeClr val="tx1"/>
              </a:solidFill>
              <a:latin typeface="Arial" pitchFamily="34" charset="0"/>
              <a:cs typeface="Arial" pitchFamily="34" charset="0"/>
            </a:endParaRPr>
          </a:p>
        </p:txBody>
      </p:sp>
      <p:cxnSp>
        <p:nvCxnSpPr>
          <p:cNvPr id="12" name="11 Conector recto de flecha"/>
          <p:cNvCxnSpPr>
            <a:stCxn id="8" idx="0"/>
          </p:cNvCxnSpPr>
          <p:nvPr/>
        </p:nvCxnSpPr>
        <p:spPr>
          <a:xfrm flipV="1">
            <a:off x="1839375" y="4343400"/>
            <a:ext cx="878425" cy="3302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3373949" y="4673600"/>
            <a:ext cx="2302951" cy="1169551"/>
          </a:xfrm>
          <a:prstGeom prst="rect">
            <a:avLst/>
          </a:prstGeom>
          <a:noFill/>
        </p:spPr>
        <p:txBody>
          <a:bodyPr wrap="square" rtlCol="0">
            <a:spAutoFit/>
          </a:bodyPr>
          <a:lstStyle/>
          <a:p>
            <a:pPr algn="l"/>
            <a:r>
              <a:rPr lang="es-AR" sz="1400" b="1" dirty="0" smtClean="0">
                <a:solidFill>
                  <a:schemeClr val="tx1"/>
                </a:solidFill>
                <a:latin typeface="Arial" pitchFamily="34" charset="0"/>
                <a:cs typeface="Arial" pitchFamily="34" charset="0"/>
              </a:rPr>
              <a:t>b) </a:t>
            </a:r>
            <a:r>
              <a:rPr lang="es-AR" sz="1400" dirty="0" smtClean="0">
                <a:solidFill>
                  <a:schemeClr val="tx1"/>
                </a:solidFill>
                <a:latin typeface="Arial" pitchFamily="34" charset="0"/>
                <a:cs typeface="Arial" pitchFamily="34" charset="0"/>
              </a:rPr>
              <a:t>Utilizado en algunas computadoras de bolsillo (Palm Top, etc.) con sistemas embebidos</a:t>
            </a:r>
          </a:p>
          <a:p>
            <a:endParaRPr lang="es-AR" sz="1400" dirty="0">
              <a:solidFill>
                <a:schemeClr val="tx1"/>
              </a:solidFill>
              <a:latin typeface="Arial" pitchFamily="34" charset="0"/>
              <a:cs typeface="Arial" pitchFamily="34" charset="0"/>
            </a:endParaRPr>
          </a:p>
        </p:txBody>
      </p:sp>
      <p:cxnSp>
        <p:nvCxnSpPr>
          <p:cNvPr id="14" name="13 Conector recto de flecha"/>
          <p:cNvCxnSpPr>
            <a:stCxn id="13" idx="0"/>
            <a:endCxn id="2051" idx="2"/>
          </p:cNvCxnSpPr>
          <p:nvPr/>
        </p:nvCxnSpPr>
        <p:spPr>
          <a:xfrm flipH="1" flipV="1">
            <a:off x="4482307" y="4366761"/>
            <a:ext cx="43118" cy="306839"/>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19 CuadroTexto"/>
          <p:cNvSpPr txBox="1"/>
          <p:nvPr/>
        </p:nvSpPr>
        <p:spPr>
          <a:xfrm>
            <a:off x="6117149" y="4673600"/>
            <a:ext cx="2455351" cy="954107"/>
          </a:xfrm>
          <a:prstGeom prst="rect">
            <a:avLst/>
          </a:prstGeom>
          <a:noFill/>
        </p:spPr>
        <p:txBody>
          <a:bodyPr wrap="square" rtlCol="0">
            <a:spAutoFit/>
          </a:bodyPr>
          <a:lstStyle/>
          <a:p>
            <a:pPr algn="l"/>
            <a:r>
              <a:rPr lang="es-AR" sz="1400" b="1" dirty="0" smtClean="0">
                <a:solidFill>
                  <a:schemeClr val="tx1"/>
                </a:solidFill>
                <a:latin typeface="Arial" pitchFamily="34" charset="0"/>
                <a:cs typeface="Arial" pitchFamily="34" charset="0"/>
              </a:rPr>
              <a:t>c) </a:t>
            </a:r>
            <a:r>
              <a:rPr lang="es-AR" sz="1400" dirty="0" smtClean="0">
                <a:solidFill>
                  <a:schemeClr val="tx1"/>
                </a:solidFill>
                <a:latin typeface="Arial" pitchFamily="34" charset="0"/>
                <a:cs typeface="Arial" pitchFamily="34" charset="0"/>
              </a:rPr>
              <a:t>Utilizado en las primeras computadoras personales que por ejemplo utilizaban el MS-DOS</a:t>
            </a:r>
            <a:endParaRPr lang="es-AR" sz="1400" dirty="0">
              <a:solidFill>
                <a:schemeClr val="tx1"/>
              </a:solidFill>
              <a:latin typeface="Arial" pitchFamily="34" charset="0"/>
              <a:cs typeface="Arial" pitchFamily="34" charset="0"/>
            </a:endParaRPr>
          </a:p>
        </p:txBody>
      </p:sp>
      <p:cxnSp>
        <p:nvCxnSpPr>
          <p:cNvPr id="21" name="20 Conector recto de flecha"/>
          <p:cNvCxnSpPr>
            <a:stCxn id="20" idx="0"/>
          </p:cNvCxnSpPr>
          <p:nvPr/>
        </p:nvCxnSpPr>
        <p:spPr>
          <a:xfrm flipH="1" flipV="1">
            <a:off x="6121400" y="4368800"/>
            <a:ext cx="1223425" cy="3048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4508927"/>
          </a:xfrm>
          <a:prstGeom prst="rect">
            <a:avLst/>
          </a:prstGeom>
          <a:noFill/>
        </p:spPr>
        <p:txBody>
          <a:bodyPr wrap="square" rtlCol="0">
            <a:spAutoFit/>
          </a:bodyPr>
          <a:lstStyle/>
          <a:p>
            <a:pPr algn="just"/>
            <a:r>
              <a:rPr lang="es-AR" sz="1600" dirty="0" smtClean="0">
                <a:solidFill>
                  <a:srgbClr val="7030A0"/>
                </a:solidFill>
                <a:latin typeface="Arial" pitchFamily="34" charset="0"/>
                <a:cs typeface="Arial" pitchFamily="34" charset="0"/>
              </a:rPr>
              <a:t>Ejecución de múltiples programas sin abstracción de memoria:</a:t>
            </a:r>
          </a:p>
          <a:p>
            <a:pPr algn="just">
              <a:spcBef>
                <a:spcPts val="600"/>
              </a:spcBef>
            </a:pPr>
            <a:r>
              <a:rPr lang="es-AR" sz="1600" dirty="0" smtClean="0">
                <a:solidFill>
                  <a:srgbClr val="7030A0"/>
                </a:solidFill>
                <a:latin typeface="Arial" pitchFamily="34" charset="0"/>
                <a:cs typeface="Arial" pitchFamily="34" charset="0"/>
              </a:rPr>
              <a:t>Asignación contigua y con una sola partición:</a:t>
            </a:r>
          </a:p>
          <a:p>
            <a:pPr algn="just">
              <a:spcBef>
                <a:spcPts val="600"/>
              </a:spcBef>
            </a:pPr>
            <a:r>
              <a:rPr lang="es-AR" sz="1600" dirty="0" smtClean="0">
                <a:solidFill>
                  <a:schemeClr val="tx1"/>
                </a:solidFill>
                <a:latin typeface="Arial" pitchFamily="34" charset="0"/>
                <a:cs typeface="Arial" pitchFamily="34" charset="0"/>
              </a:rPr>
              <a:t>En memoria reside el SO y el área para programas del usuario. En una PC el vector de interrupciones se encuentra en la parte baja de la RAM por lo que estableceremos que también el SO se encuentra esa sección, bloque o segmento de memoria y en bloque superior de memoria el área del usuario.</a:t>
            </a:r>
          </a:p>
          <a:p>
            <a:pPr algn="just">
              <a:spcBef>
                <a:spcPts val="600"/>
              </a:spcBef>
            </a:pPr>
            <a:r>
              <a:rPr lang="es-AR" sz="1600" dirty="0" smtClean="0">
                <a:solidFill>
                  <a:schemeClr val="tx1"/>
                </a:solidFill>
                <a:latin typeface="Arial" pitchFamily="34" charset="0"/>
                <a:cs typeface="Arial" pitchFamily="34" charset="0"/>
              </a:rPr>
              <a:t>Cuando se carga un proceso hay que proteger el código y datos del SO o los procesos de usuario uno de otros. Para realizar esta protección se puede utilizar 2 registros: el de </a:t>
            </a:r>
            <a:r>
              <a:rPr lang="es-AR" sz="1600" dirty="0" smtClean="0">
                <a:solidFill>
                  <a:srgbClr val="0033CC"/>
                </a:solidFill>
                <a:latin typeface="Arial" pitchFamily="34" charset="0"/>
                <a:cs typeface="Arial" pitchFamily="34" charset="0"/>
              </a:rPr>
              <a:t>reubicación</a:t>
            </a:r>
            <a:r>
              <a:rPr lang="es-AR" sz="1600" dirty="0" smtClean="0">
                <a:solidFill>
                  <a:schemeClr val="tx1"/>
                </a:solidFill>
                <a:latin typeface="Arial" pitchFamily="34" charset="0"/>
                <a:cs typeface="Arial" pitchFamily="34" charset="0"/>
              </a:rPr>
              <a:t> (especifica la base) y el de </a:t>
            </a:r>
            <a:r>
              <a:rPr lang="es-AR" sz="1600" dirty="0" smtClean="0">
                <a:solidFill>
                  <a:srgbClr val="0033CC"/>
                </a:solidFill>
                <a:latin typeface="Arial" pitchFamily="34" charset="0"/>
                <a:cs typeface="Arial" pitchFamily="34" charset="0"/>
              </a:rPr>
              <a:t>límite</a:t>
            </a:r>
            <a:r>
              <a:rPr lang="es-AR" sz="1600" dirty="0" smtClean="0">
                <a:solidFill>
                  <a:schemeClr val="tx1"/>
                </a:solidFill>
                <a:latin typeface="Arial" pitchFamily="34" charset="0"/>
                <a:cs typeface="Arial" pitchFamily="34" charset="0"/>
              </a:rPr>
              <a:t> (especifica el tamaño del intervalo designado).  </a:t>
            </a:r>
            <a:r>
              <a:rPr lang="es-AR" sz="1600" u="sng" dirty="0" smtClean="0">
                <a:solidFill>
                  <a:schemeClr val="tx1"/>
                </a:solidFill>
                <a:latin typeface="Arial" pitchFamily="34" charset="0"/>
                <a:cs typeface="Arial" pitchFamily="34" charset="0"/>
              </a:rPr>
              <a:t>Cada vez que el </a:t>
            </a:r>
            <a:r>
              <a:rPr lang="es-AR" sz="1600" u="sng" dirty="0" err="1" smtClean="0">
                <a:solidFill>
                  <a:schemeClr val="tx1"/>
                </a:solidFill>
                <a:latin typeface="Arial" pitchFamily="34" charset="0"/>
                <a:cs typeface="Arial" pitchFamily="34" charset="0"/>
              </a:rPr>
              <a:t>kernel</a:t>
            </a:r>
            <a:r>
              <a:rPr lang="es-AR" sz="1600" u="sng" dirty="0" smtClean="0">
                <a:solidFill>
                  <a:schemeClr val="tx1"/>
                </a:solidFill>
                <a:latin typeface="Arial" pitchFamily="34" charset="0"/>
                <a:cs typeface="Arial" pitchFamily="34" charset="0"/>
              </a:rPr>
              <a:t> carga el reg. base y el reg. límite de un proceso, se produce un cambio de contexto</a:t>
            </a:r>
            <a:r>
              <a:rPr lang="es-AR" sz="1600" dirty="0" smtClean="0">
                <a:solidFill>
                  <a:schemeClr val="tx1"/>
                </a:solidFill>
                <a:latin typeface="Arial" pitchFamily="34" charset="0"/>
                <a:cs typeface="Arial" pitchFamily="34" charset="0"/>
              </a:rPr>
              <a:t>. </a:t>
            </a:r>
          </a:p>
          <a:p>
            <a:pPr algn="just">
              <a:spcBef>
                <a:spcPts val="0"/>
              </a:spcBef>
            </a:pPr>
            <a:endParaRPr lang="es-AR" sz="1600" dirty="0" smtClean="0">
              <a:solidFill>
                <a:schemeClr val="tx1"/>
              </a:solidFill>
              <a:latin typeface="Arial" pitchFamily="34" charset="0"/>
              <a:cs typeface="Arial" pitchFamily="34" charset="0"/>
            </a:endParaRPr>
          </a:p>
          <a:p>
            <a:pPr algn="just">
              <a:spcBef>
                <a:spcPts val="0"/>
              </a:spcBef>
            </a:pPr>
            <a:r>
              <a:rPr lang="es-AR" sz="1600" dirty="0" smtClean="0">
                <a:solidFill>
                  <a:schemeClr val="tx1"/>
                </a:solidFill>
                <a:latin typeface="Arial" pitchFamily="34" charset="0"/>
                <a:cs typeface="Arial" pitchFamily="34" charset="0"/>
              </a:rPr>
              <a:t>Esquema de traducción</a:t>
            </a:r>
          </a:p>
          <a:p>
            <a:pPr algn="just">
              <a:spcBef>
                <a:spcPts val="0"/>
              </a:spcBef>
            </a:pPr>
            <a:r>
              <a:rPr lang="es-AR" sz="1600" dirty="0" smtClean="0">
                <a:solidFill>
                  <a:schemeClr val="tx1"/>
                </a:solidFill>
                <a:latin typeface="Arial" pitchFamily="34" charset="0"/>
                <a:cs typeface="Arial" pitchFamily="34" charset="0"/>
              </a:rPr>
              <a:t>de direcciones:</a:t>
            </a:r>
          </a:p>
          <a:p>
            <a:pPr algn="just"/>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p:txBody>
      </p:sp>
      <p:pic>
        <p:nvPicPr>
          <p:cNvPr id="3076" name="Picture 4"/>
          <p:cNvPicPr>
            <a:picLocks noChangeAspect="1" noChangeArrowheads="1"/>
          </p:cNvPicPr>
          <p:nvPr/>
        </p:nvPicPr>
        <p:blipFill>
          <a:blip r:embed="rId3" cstate="print">
            <a:clrChange>
              <a:clrFrom>
                <a:srgbClr val="FFFFFF"/>
              </a:clrFrom>
              <a:clrTo>
                <a:srgbClr val="FFFFFF">
                  <a:alpha val="0"/>
                </a:srgbClr>
              </a:clrTo>
            </a:clrChange>
            <a:lum bright="-10000"/>
          </a:blip>
          <a:srcRect/>
          <a:stretch>
            <a:fillRect/>
          </a:stretch>
        </p:blipFill>
        <p:spPr bwMode="auto">
          <a:xfrm>
            <a:off x="1828800" y="4560518"/>
            <a:ext cx="4711137" cy="2186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4739759"/>
          </a:xfrm>
          <a:prstGeom prst="rect">
            <a:avLst/>
          </a:prstGeom>
          <a:noFill/>
        </p:spPr>
        <p:txBody>
          <a:bodyPr wrap="square" rtlCol="0">
            <a:spAutoFit/>
          </a:bodyPr>
          <a:lstStyle/>
          <a:p>
            <a:pPr marL="342900" indent="-342900" algn="just">
              <a:spcBef>
                <a:spcPts val="600"/>
              </a:spcBef>
            </a:pPr>
            <a:r>
              <a:rPr lang="es-AR" sz="1600" b="1" dirty="0" smtClean="0">
                <a:solidFill>
                  <a:srgbClr val="7030A0"/>
                </a:solidFill>
                <a:latin typeface="Arial" pitchFamily="34" charset="0"/>
                <a:cs typeface="Arial" pitchFamily="34" charset="0"/>
              </a:rPr>
              <a:t>2. Asignación con múltiples particiones:</a:t>
            </a:r>
          </a:p>
          <a:p>
            <a:pPr algn="just">
              <a:spcBef>
                <a:spcPts val="600"/>
              </a:spcBef>
            </a:pPr>
            <a:r>
              <a:rPr lang="es-AR" sz="1600" dirty="0" smtClean="0">
                <a:solidFill>
                  <a:schemeClr val="tx1"/>
                </a:solidFill>
                <a:latin typeface="Arial" pitchFamily="34" charset="0"/>
                <a:cs typeface="Arial" pitchFamily="34" charset="0"/>
              </a:rPr>
              <a:t>A fin que varios procesos puedan residir en la memoria al mismo tiempo, se presenta el desafío de como repartir el espacio (huecos) entre los mismos. Hay 2 esquemas de asignación: </a:t>
            </a:r>
            <a:r>
              <a:rPr lang="es-AR" sz="1600" u="sng" dirty="0" smtClean="0">
                <a:solidFill>
                  <a:schemeClr val="tx1"/>
                </a:solidFill>
                <a:latin typeface="Arial" pitchFamily="34" charset="0"/>
                <a:cs typeface="Arial" pitchFamily="34" charset="0"/>
              </a:rPr>
              <a:t>particiones fijas </a:t>
            </a:r>
            <a:r>
              <a:rPr lang="es-AR" sz="1600" dirty="0" smtClean="0">
                <a:solidFill>
                  <a:schemeClr val="tx1"/>
                </a:solidFill>
                <a:latin typeface="Arial" pitchFamily="34" charset="0"/>
                <a:cs typeface="Arial" pitchFamily="34" charset="0"/>
              </a:rPr>
              <a:t>y </a:t>
            </a:r>
            <a:r>
              <a:rPr lang="es-AR" sz="1600" u="sng" dirty="0" smtClean="0">
                <a:solidFill>
                  <a:schemeClr val="tx1"/>
                </a:solidFill>
                <a:latin typeface="Arial" pitchFamily="34" charset="0"/>
                <a:cs typeface="Arial" pitchFamily="34" charset="0"/>
              </a:rPr>
              <a:t>particiones variables</a:t>
            </a:r>
            <a:r>
              <a:rPr lang="es-AR" sz="1600" dirty="0" smtClean="0">
                <a:solidFill>
                  <a:schemeClr val="tx1"/>
                </a:solidFill>
                <a:latin typeface="Arial" pitchFamily="34" charset="0"/>
                <a:cs typeface="Arial" pitchFamily="34" charset="0"/>
              </a:rPr>
              <a:t>.</a:t>
            </a:r>
          </a:p>
          <a:p>
            <a:pPr algn="just">
              <a:spcBef>
                <a:spcPts val="1200"/>
              </a:spcBef>
            </a:pPr>
            <a:r>
              <a:rPr lang="es-AR" sz="1600" b="1" dirty="0" smtClean="0">
                <a:solidFill>
                  <a:srgbClr val="0033CC"/>
                </a:solidFill>
                <a:latin typeface="Arial" pitchFamily="34" charset="0"/>
                <a:cs typeface="Arial" pitchFamily="34" charset="0"/>
              </a:rPr>
              <a:t>a) Particiones fijas o estáticas:</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Se divide la memoria en varios trozos (particiones):</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Las particiones pueden ser del mismo o diferente tamaño </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Tamaño fijo de las particiones (inamovible)</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Un único proceso por partición con tamaño </a:t>
            </a:r>
            <a:r>
              <a:rPr lang="es-AR" sz="1600" b="1" dirty="0" smtClean="0">
                <a:solidFill>
                  <a:schemeClr val="tx1"/>
                </a:solidFill>
                <a:latin typeface="Arial" pitchFamily="34" charset="0"/>
                <a:cs typeface="Arial" pitchFamily="34" charset="0"/>
              </a:rPr>
              <a:t>≤</a:t>
            </a:r>
            <a:r>
              <a:rPr lang="es-AR" sz="1600" dirty="0" smtClean="0">
                <a:solidFill>
                  <a:schemeClr val="tx1"/>
                </a:solidFill>
                <a:latin typeface="Arial" pitchFamily="34" charset="0"/>
                <a:cs typeface="Arial" pitchFamily="34" charset="0"/>
              </a:rPr>
              <a:t> partición.</a:t>
            </a:r>
          </a:p>
          <a:p>
            <a:pPr marL="177800" indent="-177800" algn="just">
              <a:spcBef>
                <a:spcPts val="0"/>
              </a:spcBef>
              <a:buFont typeface="Arial" pitchFamily="34" charset="0"/>
              <a:buChar char="•"/>
            </a:pPr>
            <a:r>
              <a:rPr lang="es-AR" sz="1600" dirty="0" smtClean="0">
                <a:solidFill>
                  <a:srgbClr val="FF66FF"/>
                </a:solidFill>
                <a:latin typeface="Arial" pitchFamily="34" charset="0"/>
                <a:cs typeface="Arial" pitchFamily="34" charset="0"/>
              </a:rPr>
              <a:t>Estructura de datos para la gestión de particiones</a:t>
            </a:r>
            <a:r>
              <a:rPr lang="es-AR" sz="1600" dirty="0" smtClean="0">
                <a:solidFill>
                  <a:schemeClr val="tx1"/>
                </a:solidFill>
                <a:latin typeface="Arial" pitchFamily="34" charset="0"/>
                <a:cs typeface="Arial" pitchFamily="34" charset="0"/>
              </a:rPr>
              <a:t>:</a:t>
            </a:r>
            <a:r>
              <a:rPr lang="es-AR" sz="1600" b="1" dirty="0" smtClean="0">
                <a:solidFill>
                  <a:schemeClr val="tx1"/>
                </a:solidFill>
                <a:latin typeface="Arial" pitchFamily="34" charset="0"/>
                <a:cs typeface="Arial" pitchFamily="34" charset="0"/>
              </a:rPr>
              <a:t> TDP</a:t>
            </a:r>
            <a:r>
              <a:rPr lang="es-AR" sz="1600" dirty="0" smtClean="0">
                <a:solidFill>
                  <a:schemeClr val="tx1"/>
                </a:solidFill>
                <a:latin typeface="Arial" pitchFamily="34" charset="0"/>
                <a:cs typeface="Arial" pitchFamily="34" charset="0"/>
              </a:rPr>
              <a:t> </a:t>
            </a:r>
          </a:p>
          <a:p>
            <a:pPr marL="177800" indent="-177800" algn="just">
              <a:spcBef>
                <a:spcPts val="0"/>
              </a:spcBef>
            </a:pPr>
            <a:endParaRPr lang="es-AR" sz="1600" dirty="0" smtClean="0">
              <a:solidFill>
                <a:srgbClr val="7030A0"/>
              </a:solidFill>
              <a:latin typeface="Arial" pitchFamily="34" charset="0"/>
              <a:cs typeface="Arial" pitchFamily="34" charset="0"/>
            </a:endParaRPr>
          </a:p>
          <a:p>
            <a:pPr marL="177800" indent="-177800" algn="just">
              <a:spcBef>
                <a:spcPts val="0"/>
              </a:spcBef>
            </a:pPr>
            <a:r>
              <a:rPr lang="es-AR" sz="1600" dirty="0" smtClean="0">
                <a:solidFill>
                  <a:srgbClr val="7030A0"/>
                </a:solidFill>
                <a:latin typeface="Arial" pitchFamily="34" charset="0"/>
                <a:cs typeface="Arial" pitchFamily="34" charset="0"/>
              </a:rPr>
              <a:t>Tabla de descripción de particiones (TDP)</a:t>
            </a:r>
          </a:p>
          <a:p>
            <a:pPr algn="just">
              <a:spcBef>
                <a:spcPts val="0"/>
              </a:spcBef>
            </a:pPr>
            <a:endParaRPr lang="es-AR" sz="1600" dirty="0" smtClean="0">
              <a:solidFill>
                <a:schemeClr val="tx1"/>
              </a:solidFill>
              <a:latin typeface="Arial" pitchFamily="34" charset="0"/>
              <a:cs typeface="Arial" pitchFamily="34" charset="0"/>
            </a:endParaRPr>
          </a:p>
          <a:p>
            <a:pPr algn="just">
              <a:spcBef>
                <a:spcPts val="1200"/>
              </a:spcBef>
            </a:pPr>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a:p>
            <a:pPr algn="just"/>
            <a:endParaRPr lang="es-AR" sz="1600" dirty="0" smtClean="0">
              <a:solidFill>
                <a:schemeClr val="tx1"/>
              </a:solidFill>
              <a:latin typeface="Arial" pitchFamily="34" charset="0"/>
              <a:cs typeface="Arial" pitchFamily="34" charset="0"/>
            </a:endParaRPr>
          </a:p>
        </p:txBody>
      </p:sp>
      <p:sp>
        <p:nvSpPr>
          <p:cNvPr id="7" name="6 CuadroTexto"/>
          <p:cNvSpPr txBox="1"/>
          <p:nvPr/>
        </p:nvSpPr>
        <p:spPr>
          <a:xfrm>
            <a:off x="9144000" y="1225689"/>
            <a:ext cx="3149600" cy="5262979"/>
          </a:xfrm>
          <a:prstGeom prst="rect">
            <a:avLst/>
          </a:prstGeom>
          <a:noFill/>
        </p:spPr>
        <p:txBody>
          <a:bodyPr wrap="square" rtlCol="0">
            <a:spAutoFit/>
          </a:bodyPr>
          <a:lstStyle/>
          <a:p>
            <a:pPr algn="just"/>
            <a:r>
              <a:rPr lang="es-AR" sz="1200" dirty="0" smtClean="0">
                <a:solidFill>
                  <a:schemeClr val="tx1"/>
                </a:solidFill>
                <a:latin typeface="Arial" pitchFamily="34" charset="0"/>
                <a:cs typeface="Arial" pitchFamily="34" charset="0"/>
              </a:rPr>
              <a:t>Multiprogramación con particiones fijas • El objetivo en todo esto es tener mas de un proceso en memoria a la vez, solución posible sería dividir la memoria en n partes al inicio de una sesión de uso de la máquina, pero aún así se obtiene el desperdicio de particiones grandes con una tarea pequeña, la respuesta puede ser tener particiones pequeñas también. Las tareas que van llegando se forman hasta que una partición adecuada está disponible, en cuyo momento la tarea se carga en esa partición y se ejecuta hasta terminar.</a:t>
            </a:r>
          </a:p>
          <a:p>
            <a:pPr algn="just"/>
            <a:r>
              <a:rPr lang="es-AR" sz="1200" dirty="0" smtClean="0">
                <a:solidFill>
                  <a:schemeClr val="tx1"/>
                </a:solidFill>
                <a:latin typeface="Arial" pitchFamily="34" charset="0"/>
                <a:cs typeface="Arial" pitchFamily="34" charset="0"/>
              </a:rPr>
              <a:t>.</a:t>
            </a:r>
          </a:p>
          <a:p>
            <a:pPr algn="just"/>
            <a:r>
              <a:rPr lang="es-AR" sz="1200" dirty="0" smtClean="0">
                <a:solidFill>
                  <a:schemeClr val="tx1"/>
                </a:solidFill>
                <a:latin typeface="Arial" pitchFamily="34" charset="0"/>
                <a:cs typeface="Arial" pitchFamily="34" charset="0"/>
              </a:rPr>
              <a:t>Intercambio: En un sistema por lotes la organización de la memoria en particiones fijas es adecuado pero en un ambiente multiusuario la situación es distinta con el tiempo compartido, ya que existen mas usuarios de los que puede albergar la memoria, por lo que es conveniente albergar el exceso de los procesos en disco., por supuesto para ser ejecutados estos procesos deben ser trasladados a la memoria principal. Al traslado de procesos de disco a memoria y viceversa se le llama intercambio</a:t>
            </a:r>
            <a:endParaRPr lang="es-AR" sz="1200" dirty="0">
              <a:solidFill>
                <a:schemeClr val="tx1"/>
              </a:solidFill>
              <a:latin typeface="Arial" pitchFamily="34" charset="0"/>
              <a:cs typeface="Arial" pitchFamily="34" charset="0"/>
            </a:endParaRPr>
          </a:p>
        </p:txBody>
      </p:sp>
      <p:sp>
        <p:nvSpPr>
          <p:cNvPr id="8" name="7 CuadroTexto"/>
          <p:cNvSpPr txBox="1"/>
          <p:nvPr/>
        </p:nvSpPr>
        <p:spPr>
          <a:xfrm>
            <a:off x="266700" y="4292600"/>
            <a:ext cx="4381500" cy="1815882"/>
          </a:xfrm>
          <a:prstGeom prst="rect">
            <a:avLst/>
          </a:prstGeom>
          <a:noFill/>
        </p:spPr>
        <p:txBody>
          <a:bodyPr wrap="square" rtlCol="0">
            <a:spAutoFit/>
          </a:bodyPr>
          <a:lstStyle/>
          <a:p>
            <a:pPr algn="just"/>
            <a:r>
              <a:rPr lang="es-AR" sz="1600" dirty="0" smtClean="0">
                <a:solidFill>
                  <a:schemeClr val="tx1"/>
                </a:solidFill>
                <a:latin typeface="Arial" pitchFamily="34" charset="0"/>
                <a:cs typeface="Arial" pitchFamily="34" charset="0"/>
              </a:rPr>
              <a:t>Se define al crear las particiones, donde se almacena la dirección inicial (base) el tamaño y su estado.</a:t>
            </a:r>
          </a:p>
          <a:p>
            <a:pPr algn="just"/>
            <a:r>
              <a:rPr lang="es-AR" sz="1600" dirty="0" smtClean="0">
                <a:solidFill>
                  <a:schemeClr val="tx1"/>
                </a:solidFill>
                <a:latin typeface="Arial" pitchFamily="34" charset="0"/>
                <a:cs typeface="Arial" pitchFamily="34" charset="0"/>
              </a:rPr>
              <a:t>Como la cantidad y tamaño de las particiones son fijas, el único campo que se actualiza es el del estado</a:t>
            </a:r>
          </a:p>
          <a:p>
            <a:pPr algn="just"/>
            <a:endParaRPr lang="es-AR" sz="1600" dirty="0" smtClean="0">
              <a:solidFill>
                <a:schemeClr val="tx1"/>
              </a:solidFill>
              <a:latin typeface="Arial" pitchFamily="34" charset="0"/>
              <a:cs typeface="Arial" pitchFamily="34" charset="0"/>
            </a:endParaRPr>
          </a:p>
        </p:txBody>
      </p:sp>
      <p:pic>
        <p:nvPicPr>
          <p:cNvPr id="10" name="Picture 2"/>
          <p:cNvPicPr>
            <a:picLocks noChangeAspect="1" noChangeArrowheads="1"/>
          </p:cNvPicPr>
          <p:nvPr/>
        </p:nvPicPr>
        <p:blipFill>
          <a:blip r:embed="rId3" cstate="print">
            <a:clrChange>
              <a:clrFrom>
                <a:srgbClr val="FFFFFF"/>
              </a:clrFrom>
              <a:clrTo>
                <a:srgbClr val="FFFFFF">
                  <a:alpha val="0"/>
                </a:srgbClr>
              </a:clrTo>
            </a:clrChange>
            <a:lum bright="-20000" contrast="-10000"/>
          </a:blip>
          <a:srcRect/>
          <a:stretch>
            <a:fillRect/>
          </a:stretch>
        </p:blipFill>
        <p:spPr bwMode="auto">
          <a:xfrm>
            <a:off x="4868262" y="4356100"/>
            <a:ext cx="3915667" cy="2362200"/>
          </a:xfrm>
          <a:prstGeom prst="rect">
            <a:avLst/>
          </a:prstGeom>
          <a:noFill/>
          <a:ln w="9525">
            <a:noFill/>
            <a:miter lim="800000"/>
            <a:headEnd/>
            <a:tailEnd/>
          </a:ln>
        </p:spPr>
      </p:pic>
      <p:sp>
        <p:nvSpPr>
          <p:cNvPr id="12" name="11 CuadroTexto"/>
          <p:cNvSpPr txBox="1"/>
          <p:nvPr/>
        </p:nvSpPr>
        <p:spPr>
          <a:xfrm>
            <a:off x="3251200" y="6098012"/>
            <a:ext cx="1092200" cy="338554"/>
          </a:xfrm>
          <a:prstGeom prst="rect">
            <a:avLst/>
          </a:prstGeom>
          <a:noFill/>
        </p:spPr>
        <p:txBody>
          <a:bodyPr wrap="square" rtlCol="0">
            <a:spAutoFit/>
          </a:bodyPr>
          <a:lstStyle/>
          <a:p>
            <a:pPr algn="just"/>
            <a:r>
              <a:rPr lang="es-AR" sz="1600" dirty="0" smtClean="0">
                <a:solidFill>
                  <a:schemeClr val="tx1"/>
                </a:solidFill>
                <a:latin typeface="Arial" pitchFamily="34" charset="0"/>
                <a:cs typeface="Arial" pitchFamily="34" charset="0"/>
              </a:rPr>
              <a:t>Ejemplo:</a:t>
            </a:r>
            <a:endParaRPr lang="es-AR" sz="16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724900" cy="6740307"/>
          </a:xfrm>
          <a:prstGeom prst="rect">
            <a:avLst/>
          </a:prstGeom>
          <a:noFill/>
        </p:spPr>
        <p:txBody>
          <a:bodyPr wrap="square" rtlCol="0">
            <a:spAutoFit/>
          </a:bodyPr>
          <a:lstStyle/>
          <a:p>
            <a:pPr algn="just">
              <a:spcBef>
                <a:spcPts val="600"/>
              </a:spcBef>
            </a:pPr>
            <a:r>
              <a:rPr lang="es-AR" sz="1600" dirty="0" smtClean="0">
                <a:solidFill>
                  <a:srgbClr val="7030A0"/>
                </a:solidFill>
                <a:latin typeface="Arial" pitchFamily="34" charset="0"/>
                <a:cs typeface="Arial" pitchFamily="34" charset="0"/>
              </a:rPr>
              <a:t>Estrategias de asignación (proceso      partición):</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Cola única</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Varias colas (generalmente cuando hay particiones de distinto tamaño)</a:t>
            </a:r>
          </a:p>
          <a:p>
            <a:pPr algn="just">
              <a:spcBef>
                <a:spcPts val="600"/>
              </a:spcBef>
            </a:pPr>
            <a:r>
              <a:rPr lang="es-AR" sz="1600" dirty="0" smtClean="0">
                <a:solidFill>
                  <a:srgbClr val="7030A0"/>
                </a:solidFill>
                <a:latin typeface="Arial" pitchFamily="34" charset="0"/>
                <a:cs typeface="Arial" pitchFamily="34" charset="0"/>
              </a:rPr>
              <a:t>Si no hay particiones libres:</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Esperar la finalización de un proceso</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Intercambio (entre memoria principal y almacenamiento auxiliar).</a:t>
            </a:r>
          </a:p>
          <a:p>
            <a:pPr algn="just">
              <a:spcBef>
                <a:spcPts val="1200"/>
              </a:spcBef>
            </a:pPr>
            <a:r>
              <a:rPr lang="es-AR" sz="1600" dirty="0" smtClean="0">
                <a:solidFill>
                  <a:srgbClr val="7030A0"/>
                </a:solidFill>
                <a:latin typeface="Arial" pitchFamily="34" charset="0"/>
                <a:cs typeface="Arial" pitchFamily="34" charset="0"/>
              </a:rPr>
              <a:t>Protección entre procesos:</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Mediante los registro base y límite</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Comprobación de cada acceso a memoria</a:t>
            </a:r>
          </a:p>
          <a:p>
            <a:pPr algn="just">
              <a:spcBef>
                <a:spcPts val="1200"/>
              </a:spcBef>
            </a:pPr>
            <a:r>
              <a:rPr lang="es-AR" sz="1600" dirty="0" smtClean="0">
                <a:solidFill>
                  <a:schemeClr val="tx1"/>
                </a:solidFill>
                <a:latin typeface="Arial" pitchFamily="34" charset="0"/>
                <a:cs typeface="Arial" pitchFamily="34" charset="0"/>
              </a:rPr>
              <a:t>El grado de multiprogramación  ► está limitado por el número de particiones.</a:t>
            </a:r>
          </a:p>
          <a:p>
            <a:pPr algn="just">
              <a:spcBef>
                <a:spcPts val="1200"/>
              </a:spcBef>
            </a:pPr>
            <a:r>
              <a:rPr lang="es-ES" sz="1600" b="1" dirty="0" smtClean="0">
                <a:solidFill>
                  <a:srgbClr val="FF0000"/>
                </a:solidFill>
                <a:latin typeface="Arial" pitchFamily="34" charset="0"/>
                <a:cs typeface="Arial" pitchFamily="34" charset="0"/>
              </a:rPr>
              <a:t>Fragmentación</a:t>
            </a:r>
            <a:r>
              <a:rPr lang="es-ES" sz="1600" dirty="0" smtClean="0">
                <a:solidFill>
                  <a:srgbClr val="FF0000"/>
                </a:solidFill>
                <a:latin typeface="Arial" pitchFamily="34" charset="0"/>
                <a:cs typeface="Arial" pitchFamily="34" charset="0"/>
              </a:rPr>
              <a:t>: </a:t>
            </a:r>
            <a:endParaRPr lang="es-ES" sz="1600" dirty="0" smtClean="0">
              <a:solidFill>
                <a:schemeClr val="tx1"/>
              </a:solidFill>
              <a:latin typeface="Arial" pitchFamily="34" charset="0"/>
              <a:cs typeface="Arial" pitchFamily="34" charset="0"/>
            </a:endParaRPr>
          </a:p>
          <a:p>
            <a:pPr algn="just">
              <a:spcBef>
                <a:spcPts val="0"/>
              </a:spcBef>
            </a:pPr>
            <a:r>
              <a:rPr lang="es-ES" sz="1600" dirty="0" smtClean="0">
                <a:solidFill>
                  <a:schemeClr val="tx1"/>
                </a:solidFill>
                <a:latin typeface="Arial" pitchFamily="34" charset="0"/>
                <a:cs typeface="Arial" pitchFamily="34" charset="0"/>
              </a:rPr>
              <a:t>Incapacidad del sistema operativo para asignar posiciones de memoria principal no utilizadas. Hay dos tipos de fragmentación: interna y externa</a:t>
            </a:r>
            <a:endParaRPr lang="es-AR" sz="1600" dirty="0" smtClean="0">
              <a:solidFill>
                <a:schemeClr val="tx1"/>
              </a:solidFill>
              <a:latin typeface="Arial" pitchFamily="34" charset="0"/>
              <a:cs typeface="Arial" pitchFamily="34" charset="0"/>
            </a:endParaRPr>
          </a:p>
          <a:p>
            <a:pPr algn="just">
              <a:spcBef>
                <a:spcPts val="1200"/>
              </a:spcBef>
            </a:pPr>
            <a:r>
              <a:rPr lang="es-AR" sz="1600" dirty="0" smtClean="0">
                <a:solidFill>
                  <a:schemeClr val="tx1"/>
                </a:solidFill>
                <a:latin typeface="Arial" pitchFamily="34" charset="0"/>
                <a:cs typeface="Arial" pitchFamily="34" charset="0"/>
              </a:rPr>
              <a:t>El principal problema de las particiones fijas es la </a:t>
            </a:r>
            <a:r>
              <a:rPr lang="es-AR" sz="1600" b="1" dirty="0" smtClean="0">
                <a:solidFill>
                  <a:srgbClr val="FF0000"/>
                </a:solidFill>
                <a:latin typeface="Arial" pitchFamily="34" charset="0"/>
                <a:cs typeface="Arial" pitchFamily="34" charset="0"/>
              </a:rPr>
              <a:t>FRAGMENTACIÓN INTERNA</a:t>
            </a:r>
            <a:r>
              <a:rPr lang="es-AR" sz="1600" dirty="0" smtClean="0">
                <a:solidFill>
                  <a:schemeClr val="tx1"/>
                </a:solidFill>
                <a:latin typeface="Arial" pitchFamily="34" charset="0"/>
                <a:cs typeface="Arial" pitchFamily="34" charset="0"/>
              </a:rPr>
              <a:t>  ya que:</a:t>
            </a:r>
          </a:p>
          <a:p>
            <a:pPr marL="177800" indent="-177800" algn="l">
              <a:spcBef>
                <a:spcPts val="0"/>
              </a:spcBef>
              <a:buFont typeface="Arial" pitchFamily="34" charset="0"/>
              <a:buChar char="•"/>
            </a:pPr>
            <a:r>
              <a:rPr lang="es-AR" sz="1600" dirty="0" smtClean="0">
                <a:solidFill>
                  <a:schemeClr val="tx1"/>
                </a:solidFill>
                <a:latin typeface="Arial" pitchFamily="34" charset="0"/>
                <a:cs typeface="Arial" pitchFamily="34" charset="0"/>
              </a:rPr>
              <a:t>Dentro de cada partición queda una zona de memoria no aprovechable.</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Se da cuando el proceso es más pequeño que la partición</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No se puede asignar ningún otro proceso</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Es posible que haya procesos esperando para entrar  en memoria aún cuando haya espacio libre para ellos</a:t>
            </a:r>
          </a:p>
          <a:p>
            <a:pPr marL="0" lvl="2" algn="l">
              <a:spcBef>
                <a:spcPts val="0"/>
              </a:spcBef>
            </a:pPr>
            <a:endParaRPr lang="es-AR" sz="1600" dirty="0" smtClean="0">
              <a:solidFill>
                <a:schemeClr val="tx1"/>
              </a:solidFill>
              <a:latin typeface="Arial" pitchFamily="34" charset="0"/>
              <a:cs typeface="Arial" pitchFamily="34" charset="0"/>
            </a:endParaRPr>
          </a:p>
          <a:p>
            <a:pPr algn="just">
              <a:spcBef>
                <a:spcPts val="1800"/>
              </a:spcBef>
            </a:pPr>
            <a:endParaRPr lang="es-AR" sz="1600" dirty="0" smtClean="0">
              <a:solidFill>
                <a:srgbClr val="7030A0"/>
              </a:solidFill>
              <a:latin typeface="Arial" pitchFamily="34" charset="0"/>
              <a:cs typeface="Arial" pitchFamily="34" charset="0"/>
            </a:endParaRPr>
          </a:p>
          <a:p>
            <a:pPr algn="just">
              <a:spcBef>
                <a:spcPts val="1800"/>
              </a:spcBef>
            </a:pPr>
            <a:endParaRPr lang="es-AR" sz="1600" dirty="0" smtClean="0">
              <a:solidFill>
                <a:srgbClr val="7030A0"/>
              </a:solidFill>
              <a:latin typeface="Arial" pitchFamily="34" charset="0"/>
              <a:cs typeface="Arial" pitchFamily="34" charset="0"/>
            </a:endParaRPr>
          </a:p>
        </p:txBody>
      </p:sp>
      <p:sp>
        <p:nvSpPr>
          <p:cNvPr id="6" name="5 Flecha derecha"/>
          <p:cNvSpPr/>
          <p:nvPr/>
        </p:nvSpPr>
        <p:spPr>
          <a:xfrm>
            <a:off x="3596640" y="1089660"/>
            <a:ext cx="106680" cy="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 </a:t>
            </a:r>
            <a:endParaRPr lang="es-E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724900" cy="3539430"/>
          </a:xfrm>
          <a:prstGeom prst="rect">
            <a:avLst/>
          </a:prstGeom>
          <a:noFill/>
        </p:spPr>
        <p:txBody>
          <a:bodyPr wrap="square" rtlCol="0">
            <a:spAutoFit/>
          </a:bodyPr>
          <a:lstStyle/>
          <a:p>
            <a:pPr algn="just">
              <a:spcBef>
                <a:spcPts val="1200"/>
              </a:spcBef>
            </a:pPr>
            <a:r>
              <a:rPr lang="es-AR" sz="1600" b="1" dirty="0" smtClean="0">
                <a:solidFill>
                  <a:srgbClr val="0033CC"/>
                </a:solidFill>
                <a:latin typeface="Arial" pitchFamily="34" charset="0"/>
                <a:cs typeface="Arial" pitchFamily="34" charset="0"/>
              </a:rPr>
              <a:t>b) Particiones variables o dinámicas</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Las particiones son variables en número, tamaño y su dirección varía con el tiempo.</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Inicialmente la memoria solamente tiene el SO y éste mantiene información sobre las zonas de memoria asignadas y las libres</a:t>
            </a: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A cada proceso se le asigna la memoria que necesita exactamente</a:t>
            </a:r>
          </a:p>
          <a:p>
            <a:pPr marL="177800" indent="-177800" algn="just">
              <a:spcBef>
                <a:spcPts val="0"/>
              </a:spcBef>
              <a:buFont typeface="Arial" pitchFamily="34" charset="0"/>
              <a:buChar char="•"/>
            </a:pPr>
            <a:r>
              <a:rPr lang="es-ES" sz="1600" dirty="0" smtClean="0">
                <a:solidFill>
                  <a:schemeClr val="tx1"/>
                </a:solidFill>
                <a:latin typeface="Arial" pitchFamily="34" charset="0"/>
                <a:cs typeface="Arial" pitchFamily="34" charset="0"/>
              </a:rPr>
              <a:t>Es necesario tener una estrategia de asignación de espacio y gestión de espacio libre</a:t>
            </a:r>
            <a:endParaRPr lang="es-AR" sz="1600" dirty="0" smtClean="0">
              <a:solidFill>
                <a:schemeClr val="tx1"/>
              </a:solidFill>
              <a:latin typeface="Arial" pitchFamily="34" charset="0"/>
              <a:cs typeface="Arial" pitchFamily="34" charset="0"/>
            </a:endParaRPr>
          </a:p>
          <a:p>
            <a:pPr marL="177800" indent="-177800" algn="just">
              <a:spcBef>
                <a:spcPts val="0"/>
              </a:spcBef>
              <a:buFont typeface="Arial" pitchFamily="34" charset="0"/>
              <a:buChar char="•"/>
            </a:pPr>
            <a:endParaRPr lang="es-AR" sz="1600" dirty="0" smtClean="0">
              <a:solidFill>
                <a:schemeClr val="tx1"/>
              </a:solidFill>
              <a:latin typeface="Arial" pitchFamily="34" charset="0"/>
              <a:cs typeface="Arial" pitchFamily="34" charset="0"/>
            </a:endParaRPr>
          </a:p>
          <a:p>
            <a:pPr marL="177800" indent="-177800" algn="just">
              <a:spcBef>
                <a:spcPts val="0"/>
              </a:spcBef>
            </a:pPr>
            <a:r>
              <a:rPr lang="es-AR" sz="1600" dirty="0" smtClean="0">
                <a:solidFill>
                  <a:srgbClr val="CC00CC"/>
                </a:solidFill>
                <a:latin typeface="Arial" pitchFamily="34" charset="0"/>
                <a:cs typeface="Arial" pitchFamily="34" charset="0"/>
              </a:rPr>
              <a:t>Administración de memoria libre </a:t>
            </a:r>
            <a:r>
              <a:rPr lang="es-AR" sz="1050" dirty="0" smtClean="0">
                <a:solidFill>
                  <a:schemeClr val="tx1"/>
                </a:solidFill>
                <a:latin typeface="Arial" pitchFamily="34" charset="0"/>
                <a:cs typeface="Arial" pitchFamily="34" charset="0"/>
              </a:rPr>
              <a:t>( Tanenbaum3.2.3 )</a:t>
            </a:r>
          </a:p>
          <a:p>
            <a:pPr marL="177800" indent="-177800" algn="just">
              <a:spcBef>
                <a:spcPts val="0"/>
              </a:spcBef>
            </a:pPr>
            <a:r>
              <a:rPr lang="es-AR" sz="1600" dirty="0" smtClean="0">
                <a:solidFill>
                  <a:schemeClr val="tx1"/>
                </a:solidFill>
                <a:latin typeface="Arial" pitchFamily="34" charset="0"/>
                <a:cs typeface="Arial" pitchFamily="34" charset="0"/>
              </a:rPr>
              <a:t>Se utilizan 2 métodos:</a:t>
            </a:r>
          </a:p>
          <a:p>
            <a:pPr marL="444500" lvl="1" indent="-88900" algn="just">
              <a:spcBef>
                <a:spcPts val="0"/>
              </a:spcBef>
              <a:buFont typeface="Arial" pitchFamily="34" charset="0"/>
              <a:buChar char="•"/>
            </a:pPr>
            <a:r>
              <a:rPr lang="es-AR" sz="1600" dirty="0" smtClean="0">
                <a:solidFill>
                  <a:srgbClr val="FF0000"/>
                </a:solidFill>
                <a:latin typeface="Arial" pitchFamily="34" charset="0"/>
                <a:cs typeface="Arial" pitchFamily="34" charset="0"/>
              </a:rPr>
              <a:t>Mapa de bits</a:t>
            </a:r>
            <a:r>
              <a:rPr lang="es-AR" sz="1600" dirty="0" smtClean="0">
                <a:solidFill>
                  <a:schemeClr val="tx1"/>
                </a:solidFill>
                <a:latin typeface="Arial" pitchFamily="34" charset="0"/>
                <a:cs typeface="Arial" pitchFamily="34" charset="0"/>
              </a:rPr>
              <a:t>: División de memoria en pequeñas unidades libre u ocupadas</a:t>
            </a:r>
          </a:p>
          <a:p>
            <a:pPr marL="444500" lvl="1" indent="-88900" algn="just">
              <a:spcBef>
                <a:spcPts val="0"/>
              </a:spcBef>
              <a:buFont typeface="Arial" pitchFamily="34" charset="0"/>
              <a:buChar char="•"/>
            </a:pPr>
            <a:r>
              <a:rPr lang="es-AR" sz="1600" dirty="0" smtClean="0">
                <a:solidFill>
                  <a:srgbClr val="FF0000"/>
                </a:solidFill>
                <a:latin typeface="Arial" pitchFamily="34" charset="0"/>
                <a:cs typeface="Arial" pitchFamily="34" charset="0"/>
              </a:rPr>
              <a:t>Listas enlazadas o ligadas:</a:t>
            </a:r>
            <a:r>
              <a:rPr lang="es-AR" sz="1600" dirty="0" smtClean="0">
                <a:solidFill>
                  <a:schemeClr val="tx1"/>
                </a:solidFill>
                <a:latin typeface="Arial" pitchFamily="34" charset="0"/>
                <a:cs typeface="Arial" pitchFamily="34" charset="0"/>
              </a:rPr>
              <a:t> Lista enlazada en la que cada nodo especifica una partición o un hueco</a:t>
            </a:r>
            <a:endParaRPr lang="es-AR" sz="1600" dirty="0" smtClean="0">
              <a:solidFill>
                <a:srgbClr val="FF0000"/>
              </a:solidFill>
              <a:latin typeface="Arial" pitchFamily="34" charset="0"/>
              <a:cs typeface="Arial" pitchFamily="34" charset="0"/>
            </a:endParaRPr>
          </a:p>
          <a:p>
            <a:pPr marL="444500" lvl="1" indent="-88900" algn="just">
              <a:spcBef>
                <a:spcPts val="0"/>
              </a:spcBef>
              <a:buFont typeface="Arial" pitchFamily="34" charset="0"/>
              <a:buChar char="•"/>
            </a:pPr>
            <a:endParaRPr lang="es-AR" sz="1600" dirty="0" smtClean="0">
              <a:solidFill>
                <a:schemeClr val="tx1"/>
              </a:solidFill>
              <a:latin typeface="Arial" pitchFamily="34" charset="0"/>
              <a:cs typeface="Arial" pitchFamily="34" charset="0"/>
            </a:endParaRPr>
          </a:p>
          <a:p>
            <a:pPr marL="0" lvl="1" algn="l">
              <a:spcBef>
                <a:spcPts val="0"/>
              </a:spcBef>
            </a:pPr>
            <a:r>
              <a:rPr lang="es-AR" sz="1600" dirty="0" smtClean="0">
                <a:solidFill>
                  <a:schemeClr val="tx1"/>
                </a:solidFill>
                <a:latin typeface="Arial" pitchFamily="34" charset="0"/>
                <a:cs typeface="Arial" pitchFamily="34" charset="0"/>
              </a:rPr>
              <a:t>Ejemplo:</a:t>
            </a:r>
          </a:p>
        </p:txBody>
      </p:sp>
      <p:pic>
        <p:nvPicPr>
          <p:cNvPr id="4099" name="Picture 3"/>
          <p:cNvPicPr>
            <a:picLocks noChangeAspect="1" noChangeArrowheads="1"/>
          </p:cNvPicPr>
          <p:nvPr/>
        </p:nvPicPr>
        <p:blipFill>
          <a:blip r:embed="rId3" cstate="print">
            <a:clrChange>
              <a:clrFrom>
                <a:srgbClr val="FFFFFF"/>
              </a:clrFrom>
              <a:clrTo>
                <a:srgbClr val="FFFFFF">
                  <a:alpha val="0"/>
                </a:srgbClr>
              </a:clrTo>
            </a:clrChange>
            <a:lum bright="-30000"/>
          </a:blip>
          <a:srcRect/>
          <a:stretch>
            <a:fillRect/>
          </a:stretch>
        </p:blipFill>
        <p:spPr bwMode="auto">
          <a:xfrm>
            <a:off x="2133600" y="3837578"/>
            <a:ext cx="4084320" cy="1618958"/>
          </a:xfrm>
          <a:prstGeom prst="rect">
            <a:avLst/>
          </a:prstGeom>
          <a:noFill/>
          <a:ln w="9525">
            <a:noFill/>
            <a:miter lim="800000"/>
            <a:headEnd/>
            <a:tailEnd/>
          </a:ln>
        </p:spPr>
      </p:pic>
      <p:sp>
        <p:nvSpPr>
          <p:cNvPr id="8" name="7 CuadroTexto"/>
          <p:cNvSpPr txBox="1"/>
          <p:nvPr/>
        </p:nvSpPr>
        <p:spPr>
          <a:xfrm>
            <a:off x="254000" y="5534660"/>
            <a:ext cx="8686800" cy="1077218"/>
          </a:xfrm>
          <a:prstGeom prst="rect">
            <a:avLst/>
          </a:prstGeom>
          <a:noFill/>
        </p:spPr>
        <p:txBody>
          <a:bodyPr wrap="square" rtlCol="0">
            <a:spAutoFit/>
          </a:bodyPr>
          <a:lstStyle/>
          <a:p>
            <a:pPr algn="l"/>
            <a:r>
              <a:rPr lang="es-AR" sz="1600" b="1" dirty="0" smtClean="0">
                <a:solidFill>
                  <a:schemeClr val="tx1"/>
                </a:solidFill>
                <a:latin typeface="Arial" pitchFamily="34" charset="0"/>
                <a:cs typeface="Arial" pitchFamily="34" charset="0"/>
              </a:rPr>
              <a:t>(a) </a:t>
            </a:r>
            <a:r>
              <a:rPr lang="es-AR" sz="1600" dirty="0" smtClean="0">
                <a:solidFill>
                  <a:schemeClr val="tx1"/>
                </a:solidFill>
                <a:latin typeface="Arial" pitchFamily="34" charset="0"/>
                <a:cs typeface="Arial" pitchFamily="34" charset="0"/>
              </a:rPr>
              <a:t>Una parte de la memoria con cinco procesos y tres huecos. Las marcas de graduación muestran las unidades de asignación de memoria. Las regiones sombreadas (0 en el mapa de bits) están libres.</a:t>
            </a:r>
            <a:r>
              <a:rPr lang="es-AR" sz="1600" b="1" dirty="0" smtClean="0">
                <a:solidFill>
                  <a:schemeClr val="tx1"/>
                </a:solidFill>
                <a:latin typeface="Arial" pitchFamily="34" charset="0"/>
                <a:cs typeface="Arial" pitchFamily="34" charset="0"/>
              </a:rPr>
              <a:t> (b)</a:t>
            </a:r>
            <a:r>
              <a:rPr lang="es-AR" sz="1600" dirty="0" smtClean="0">
                <a:solidFill>
                  <a:schemeClr val="tx1"/>
                </a:solidFill>
                <a:latin typeface="Arial" pitchFamily="34" charset="0"/>
                <a:cs typeface="Arial" pitchFamily="34" charset="0"/>
              </a:rPr>
              <a:t> El mapa de bits correspondiente. </a:t>
            </a:r>
            <a:r>
              <a:rPr lang="es-AR" sz="1600" b="1" dirty="0" smtClean="0">
                <a:solidFill>
                  <a:schemeClr val="tx1"/>
                </a:solidFill>
                <a:latin typeface="Arial" pitchFamily="34" charset="0"/>
                <a:cs typeface="Arial" pitchFamily="34" charset="0"/>
              </a:rPr>
              <a:t>(c)</a:t>
            </a:r>
            <a:r>
              <a:rPr lang="es-AR" sz="1600" dirty="0" smtClean="0">
                <a:solidFill>
                  <a:schemeClr val="tx1"/>
                </a:solidFill>
                <a:latin typeface="Arial" pitchFamily="34" charset="0"/>
                <a:cs typeface="Arial" pitchFamily="34" charset="0"/>
              </a:rPr>
              <a:t> La misma información en forma de lista.</a:t>
            </a:r>
            <a:endParaRPr lang="es-AR" sz="16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16112" y="952500"/>
            <a:ext cx="8889999" cy="4647426"/>
          </a:xfrm>
          <a:prstGeom prst="rect">
            <a:avLst/>
          </a:prstGeom>
          <a:noFill/>
        </p:spPr>
        <p:txBody>
          <a:bodyPr wrap="square" rtlCol="0">
            <a:spAutoFit/>
          </a:bodyPr>
          <a:lstStyle/>
          <a:p>
            <a:pPr algn="just">
              <a:spcBef>
                <a:spcPts val="1200"/>
              </a:spcBef>
            </a:pPr>
            <a:r>
              <a:rPr lang="es-AR" sz="1600" dirty="0" smtClean="0">
                <a:solidFill>
                  <a:schemeClr val="tx1"/>
                </a:solidFill>
                <a:latin typeface="Arial" pitchFamily="34" charset="0"/>
                <a:cs typeface="Arial" pitchFamily="34" charset="0"/>
              </a:rPr>
              <a:t>Cuando se utilizan </a:t>
            </a:r>
            <a:r>
              <a:rPr lang="es-AR" sz="1600" u="sng" dirty="0" smtClean="0">
                <a:solidFill>
                  <a:schemeClr val="tx1"/>
                </a:solidFill>
                <a:latin typeface="Arial" pitchFamily="34" charset="0"/>
                <a:cs typeface="Arial" pitchFamily="34" charset="0"/>
              </a:rPr>
              <a:t>listas enlazadas</a:t>
            </a:r>
            <a:r>
              <a:rPr lang="es-AR" sz="1600" dirty="0" smtClean="0">
                <a:solidFill>
                  <a:schemeClr val="tx1"/>
                </a:solidFill>
                <a:latin typeface="Arial" pitchFamily="34" charset="0"/>
                <a:cs typeface="Arial" pitchFamily="34" charset="0"/>
              </a:rPr>
              <a:t>, la lista de segmentos está ordenada por dirección, de este modo cuando termina un proceso o se intercambia, actualizarla es simple. Un proceso que termina generalmente tiene dos vecinos (excepto en los extremos). Se generan 4 combinaciones que pueden ser procesos o huecos :</a:t>
            </a:r>
          </a:p>
          <a:p>
            <a:pPr algn="just">
              <a:spcBef>
                <a:spcPts val="1200"/>
              </a:spcBef>
            </a:pPr>
            <a:endParaRPr lang="es-AR" sz="1600" dirty="0" smtClean="0">
              <a:solidFill>
                <a:schemeClr val="tx1"/>
              </a:solidFill>
              <a:latin typeface="Arial" pitchFamily="34" charset="0"/>
              <a:cs typeface="Arial" pitchFamily="34" charset="0"/>
            </a:endParaRPr>
          </a:p>
          <a:p>
            <a:pPr algn="just">
              <a:spcBef>
                <a:spcPts val="1200"/>
              </a:spcBef>
            </a:pPr>
            <a:endParaRPr lang="es-AR" sz="1600" dirty="0" smtClean="0">
              <a:solidFill>
                <a:schemeClr val="tx1"/>
              </a:solidFill>
              <a:latin typeface="Arial" pitchFamily="34" charset="0"/>
              <a:cs typeface="Arial" pitchFamily="34" charset="0"/>
            </a:endParaRPr>
          </a:p>
          <a:p>
            <a:pPr algn="just">
              <a:spcBef>
                <a:spcPts val="1200"/>
              </a:spcBef>
            </a:pPr>
            <a:endParaRPr lang="es-AR" sz="1600" dirty="0" smtClean="0">
              <a:solidFill>
                <a:schemeClr val="tx1"/>
              </a:solidFill>
              <a:latin typeface="Arial" pitchFamily="34" charset="0"/>
              <a:cs typeface="Arial" pitchFamily="34" charset="0"/>
            </a:endParaRPr>
          </a:p>
          <a:p>
            <a:pPr algn="just">
              <a:spcBef>
                <a:spcPts val="1200"/>
              </a:spcBef>
            </a:pPr>
            <a:endParaRPr lang="es-AR" sz="1600" dirty="0" smtClean="0">
              <a:solidFill>
                <a:srgbClr val="7030A0"/>
              </a:solidFill>
              <a:latin typeface="Arial" pitchFamily="34" charset="0"/>
              <a:cs typeface="Arial" pitchFamily="34" charset="0"/>
            </a:endParaRPr>
          </a:p>
          <a:p>
            <a:pPr algn="just">
              <a:spcBef>
                <a:spcPts val="0"/>
              </a:spcBef>
            </a:pPr>
            <a:endParaRPr lang="es-AR" sz="1600" dirty="0" smtClean="0">
              <a:solidFill>
                <a:srgbClr val="7030A0"/>
              </a:solidFill>
              <a:latin typeface="Arial" pitchFamily="34" charset="0"/>
              <a:cs typeface="Arial" pitchFamily="34" charset="0"/>
            </a:endParaRPr>
          </a:p>
          <a:p>
            <a:pPr algn="just">
              <a:spcBef>
                <a:spcPts val="0"/>
              </a:spcBef>
            </a:pPr>
            <a:endParaRPr lang="es-AR" sz="1600" dirty="0" smtClean="0">
              <a:solidFill>
                <a:srgbClr val="7030A0"/>
              </a:solidFill>
              <a:latin typeface="Arial" pitchFamily="34" charset="0"/>
              <a:cs typeface="Arial" pitchFamily="34" charset="0"/>
            </a:endParaRPr>
          </a:p>
          <a:p>
            <a:pPr algn="just">
              <a:spcBef>
                <a:spcPts val="0"/>
              </a:spcBef>
            </a:pPr>
            <a:endParaRPr lang="es-AR" sz="1600" dirty="0" smtClean="0">
              <a:solidFill>
                <a:schemeClr val="tx1"/>
              </a:solidFill>
              <a:latin typeface="Arial" pitchFamily="34" charset="0"/>
              <a:cs typeface="Arial" pitchFamily="34" charset="0"/>
            </a:endParaRPr>
          </a:p>
          <a:p>
            <a:pPr algn="just">
              <a:spcBef>
                <a:spcPts val="0"/>
              </a:spcBef>
            </a:pPr>
            <a:r>
              <a:rPr lang="es-AR" sz="1600" dirty="0" smtClean="0">
                <a:solidFill>
                  <a:schemeClr val="tx1"/>
                </a:solidFill>
                <a:latin typeface="Arial" pitchFamily="34" charset="0"/>
                <a:cs typeface="Arial" pitchFamily="34" charset="0"/>
              </a:rPr>
              <a:t>Ejemplo de asignación:</a:t>
            </a:r>
          </a:p>
          <a:p>
            <a:pPr algn="just">
              <a:spcBef>
                <a:spcPts val="0"/>
              </a:spcBef>
            </a:pPr>
            <a:endParaRPr lang="es-AR" sz="1600" dirty="0" smtClean="0">
              <a:solidFill>
                <a:schemeClr val="tx1"/>
              </a:solidFill>
              <a:latin typeface="Arial" pitchFamily="34" charset="0"/>
              <a:cs typeface="Arial" pitchFamily="34" charset="0"/>
            </a:endParaRPr>
          </a:p>
          <a:p>
            <a:pPr algn="just">
              <a:spcBef>
                <a:spcPts val="0"/>
              </a:spcBef>
            </a:pPr>
            <a:endParaRPr lang="es-AR" sz="1600" dirty="0" smtClean="0">
              <a:solidFill>
                <a:srgbClr val="7030A0"/>
              </a:solidFill>
              <a:latin typeface="Arial" pitchFamily="34" charset="0"/>
              <a:cs typeface="Arial" pitchFamily="34" charset="0"/>
            </a:endParaRPr>
          </a:p>
          <a:p>
            <a:pPr algn="just">
              <a:spcBef>
                <a:spcPts val="0"/>
              </a:spcBef>
            </a:pPr>
            <a:endParaRPr lang="es-AR" sz="1600" dirty="0" smtClean="0">
              <a:solidFill>
                <a:srgbClr val="7030A0"/>
              </a:solidFill>
              <a:latin typeface="Arial" pitchFamily="34" charset="0"/>
              <a:cs typeface="Arial" pitchFamily="34" charset="0"/>
            </a:endParaRPr>
          </a:p>
          <a:p>
            <a:pPr algn="just">
              <a:spcBef>
                <a:spcPts val="0"/>
              </a:spcBef>
            </a:pPr>
            <a:endParaRPr lang="es-AR" sz="1600" dirty="0" smtClean="0">
              <a:solidFill>
                <a:srgbClr val="7030A0"/>
              </a:solidFill>
              <a:latin typeface="Arial" pitchFamily="34" charset="0"/>
              <a:cs typeface="Arial" pitchFamily="34" charset="0"/>
            </a:endParaRPr>
          </a:p>
        </p:txBody>
      </p:sp>
      <p:pic>
        <p:nvPicPr>
          <p:cNvPr id="5122" name="Picture 2"/>
          <p:cNvPicPr>
            <a:picLocks noChangeAspect="1" noChangeArrowheads="1"/>
          </p:cNvPicPr>
          <p:nvPr/>
        </p:nvPicPr>
        <p:blipFill>
          <a:blip r:embed="rId3" cstate="print">
            <a:clrChange>
              <a:clrFrom>
                <a:srgbClr val="FFFFFF"/>
              </a:clrFrom>
              <a:clrTo>
                <a:srgbClr val="FFFFFF">
                  <a:alpha val="0"/>
                </a:srgbClr>
              </a:clrTo>
            </a:clrChange>
            <a:lum bright="-30000"/>
          </a:blip>
          <a:srcRect/>
          <a:stretch>
            <a:fillRect/>
          </a:stretch>
        </p:blipFill>
        <p:spPr bwMode="auto">
          <a:xfrm>
            <a:off x="129128" y="2178394"/>
            <a:ext cx="4048732" cy="1617816"/>
          </a:xfrm>
          <a:prstGeom prst="rect">
            <a:avLst/>
          </a:prstGeom>
          <a:noFill/>
          <a:ln w="9525">
            <a:noFill/>
            <a:miter lim="800000"/>
            <a:headEnd/>
            <a:tailEnd/>
          </a:ln>
        </p:spPr>
      </p:pic>
      <p:sp>
        <p:nvSpPr>
          <p:cNvPr id="7" name="6 CuadroTexto"/>
          <p:cNvSpPr txBox="1"/>
          <p:nvPr/>
        </p:nvSpPr>
        <p:spPr>
          <a:xfrm>
            <a:off x="4241801" y="2099856"/>
            <a:ext cx="4673599" cy="2031325"/>
          </a:xfrm>
          <a:prstGeom prst="rect">
            <a:avLst/>
          </a:prstGeom>
          <a:noFill/>
        </p:spPr>
        <p:txBody>
          <a:bodyPr wrap="square" rtlCol="0">
            <a:spAutoFit/>
          </a:bodyPr>
          <a:lstStyle/>
          <a:p>
            <a:pPr algn="just"/>
            <a:r>
              <a:rPr lang="es-AR" sz="1400" dirty="0" smtClean="0">
                <a:solidFill>
                  <a:schemeClr val="tx1"/>
                </a:solidFill>
                <a:latin typeface="Arial" pitchFamily="34" charset="0"/>
                <a:cs typeface="Arial" pitchFamily="34" charset="0"/>
              </a:rPr>
              <a:t>En (a), para actualizar la lista se requiere reemplazar una P por una H. En las figuras (b) y (c) dos entradas se fusionan en una sola y la lista se reduce en una entrada. En (d), se fusionan las tres entradas y dos elementos son eliminados de la lista. Es conveniente utilizar una lista doblemente enlazada en vez de la lista simplemente enlazada Esta estructura facilita encontrar la entrada anterior y ver si es posible una combinación.</a:t>
            </a:r>
          </a:p>
          <a:p>
            <a:pPr algn="just"/>
            <a:endParaRPr lang="es-AR" sz="1400" dirty="0">
              <a:solidFill>
                <a:schemeClr val="tx1"/>
              </a:solidFill>
              <a:latin typeface="Arial" pitchFamily="34" charset="0"/>
              <a:cs typeface="Arial" pitchFamily="34" charset="0"/>
            </a:endParaRPr>
          </a:p>
        </p:txBody>
      </p:sp>
      <p:pic>
        <p:nvPicPr>
          <p:cNvPr id="5123" name="Picture 3"/>
          <p:cNvPicPr>
            <a:picLocks noChangeAspect="1" noChangeArrowheads="1"/>
          </p:cNvPicPr>
          <p:nvPr/>
        </p:nvPicPr>
        <p:blipFill>
          <a:blip r:embed="rId4" cstate="print">
            <a:clrChange>
              <a:clrFrom>
                <a:srgbClr val="FFFFFF"/>
              </a:clrFrom>
              <a:clrTo>
                <a:srgbClr val="FFFFFF">
                  <a:alpha val="0"/>
                </a:srgbClr>
              </a:clrTo>
            </a:clrChange>
            <a:lum bright="-30000"/>
          </a:blip>
          <a:srcRect/>
          <a:stretch>
            <a:fillRect/>
          </a:stretch>
        </p:blipFill>
        <p:spPr bwMode="auto">
          <a:xfrm>
            <a:off x="443155" y="4383197"/>
            <a:ext cx="4979761" cy="2248924"/>
          </a:xfrm>
          <a:prstGeom prst="rect">
            <a:avLst/>
          </a:prstGeom>
          <a:noFill/>
          <a:ln w="9525">
            <a:noFill/>
            <a:miter lim="800000"/>
            <a:headEnd/>
            <a:tailEnd/>
          </a:ln>
        </p:spPr>
      </p:pic>
      <p:sp>
        <p:nvSpPr>
          <p:cNvPr id="10" name="9 CuadroTexto"/>
          <p:cNvSpPr txBox="1"/>
          <p:nvPr/>
        </p:nvSpPr>
        <p:spPr>
          <a:xfrm>
            <a:off x="5753101" y="5245775"/>
            <a:ext cx="3031672" cy="1384995"/>
          </a:xfrm>
          <a:prstGeom prst="rect">
            <a:avLst/>
          </a:prstGeom>
          <a:noFill/>
        </p:spPr>
        <p:txBody>
          <a:bodyPr wrap="square" rtlCol="0">
            <a:spAutoFit/>
          </a:bodyPr>
          <a:lstStyle/>
          <a:p>
            <a:pPr algn="l"/>
            <a:r>
              <a:rPr lang="es-AR" sz="1400" dirty="0" smtClean="0">
                <a:solidFill>
                  <a:schemeClr val="tx1"/>
                </a:solidFill>
                <a:latin typeface="Arial" pitchFamily="34" charset="0"/>
                <a:cs typeface="Arial" pitchFamily="34" charset="0"/>
              </a:rPr>
              <a:t>El problema de las particiones variables es:</a:t>
            </a:r>
          </a:p>
          <a:p>
            <a:pPr algn="l"/>
            <a:r>
              <a:rPr lang="es-AR" sz="1400" b="1" dirty="0" smtClean="0">
                <a:solidFill>
                  <a:srgbClr val="FF0000"/>
                </a:solidFill>
                <a:latin typeface="Arial" pitchFamily="34" charset="0"/>
                <a:cs typeface="Arial" pitchFamily="34" charset="0"/>
              </a:rPr>
              <a:t>FRAGMENTACIÓN  EXTERNA:</a:t>
            </a:r>
          </a:p>
          <a:p>
            <a:pPr algn="l"/>
            <a:r>
              <a:rPr lang="es-ES" sz="1400" dirty="0" smtClean="0">
                <a:solidFill>
                  <a:schemeClr val="tx1"/>
                </a:solidFill>
                <a:latin typeface="Arial" pitchFamily="34" charset="0"/>
                <a:cs typeface="Arial" pitchFamily="34" charset="0"/>
              </a:rPr>
              <a:t>existe el espacio necesario para satisfacer una petición de un proceso pero no es contiguo</a:t>
            </a:r>
            <a:endParaRPr lang="es-AR" sz="1400" dirty="0">
              <a:solidFill>
                <a:schemeClr val="tx1"/>
              </a:solidFill>
              <a:latin typeface="Arial" pitchFamily="34" charset="0"/>
              <a:cs typeface="Arial" pitchFamily="34" charset="0"/>
            </a:endParaRPr>
          </a:p>
        </p:txBody>
      </p:sp>
      <p:sp>
        <p:nvSpPr>
          <p:cNvPr id="13" name="12 CuadroTexto"/>
          <p:cNvSpPr txBox="1"/>
          <p:nvPr/>
        </p:nvSpPr>
        <p:spPr>
          <a:xfrm>
            <a:off x="5753101" y="4636175"/>
            <a:ext cx="3031672" cy="523220"/>
          </a:xfrm>
          <a:prstGeom prst="rect">
            <a:avLst/>
          </a:prstGeom>
          <a:noFill/>
        </p:spPr>
        <p:txBody>
          <a:bodyPr wrap="square" rtlCol="0">
            <a:spAutoFit/>
          </a:bodyPr>
          <a:lstStyle/>
          <a:p>
            <a:pPr algn="l"/>
            <a:r>
              <a:rPr lang="es-AR" sz="1400" dirty="0" smtClean="0">
                <a:solidFill>
                  <a:schemeClr val="tx1"/>
                </a:solidFill>
                <a:latin typeface="Arial" pitchFamily="34" charset="0"/>
                <a:cs typeface="Arial" pitchFamily="34" charset="0"/>
              </a:rPr>
              <a:t>En particiones variables </a:t>
            </a:r>
            <a:r>
              <a:rPr lang="es-AR" sz="1400" u="sng" dirty="0" smtClean="0">
                <a:solidFill>
                  <a:schemeClr val="tx1"/>
                </a:solidFill>
                <a:latin typeface="Arial" pitchFamily="34" charset="0"/>
                <a:cs typeface="Arial" pitchFamily="34" charset="0"/>
              </a:rPr>
              <a:t>no hay fragmentación interna</a:t>
            </a:r>
            <a:r>
              <a:rPr lang="es-AR" sz="1400" dirty="0" smtClean="0">
                <a:solidFill>
                  <a:schemeClr val="tx1"/>
                </a:solidFill>
                <a:latin typeface="Arial" pitchFamily="34" charset="0"/>
                <a:cs typeface="Arial" pitchFamily="34" charset="0"/>
              </a:rPr>
              <a:t>.</a:t>
            </a:r>
            <a:endParaRPr lang="es-AR" sz="14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4" name="13 CuadroTexto"/>
          <p:cNvSpPr txBox="1"/>
          <p:nvPr/>
        </p:nvSpPr>
        <p:spPr>
          <a:xfrm>
            <a:off x="254000" y="952500"/>
            <a:ext cx="8648700" cy="5547673"/>
          </a:xfrm>
          <a:prstGeom prst="rect">
            <a:avLst/>
          </a:prstGeom>
          <a:noFill/>
        </p:spPr>
        <p:txBody>
          <a:bodyPr wrap="square" rtlCol="0">
            <a:spAutoFit/>
          </a:bodyPr>
          <a:lstStyle/>
          <a:p>
            <a:pPr algn="just">
              <a:spcBef>
                <a:spcPts val="1200"/>
              </a:spcBef>
            </a:pPr>
            <a:r>
              <a:rPr lang="es-ES" sz="1600" dirty="0" smtClean="0">
                <a:solidFill>
                  <a:srgbClr val="7030A0"/>
                </a:solidFill>
                <a:latin typeface="Arial" pitchFamily="34" charset="0"/>
                <a:cs typeface="Arial" pitchFamily="34" charset="0"/>
              </a:rPr>
              <a:t>Compactación  de memoria (o desfragmentación):</a:t>
            </a:r>
          </a:p>
          <a:p>
            <a:pPr algn="just">
              <a:spcBef>
                <a:spcPts val="0"/>
              </a:spcBef>
            </a:pPr>
            <a:r>
              <a:rPr lang="es-ES" sz="1400" dirty="0" smtClean="0">
                <a:solidFill>
                  <a:schemeClr val="tx1"/>
                </a:solidFill>
                <a:latin typeface="Arial" pitchFamily="34" charset="0"/>
                <a:cs typeface="Arial" pitchFamily="34" charset="0"/>
              </a:rPr>
              <a:t>Técnica utilizada para reducir la fragmentación externa. Consiste en arrastrar los contenidos de memoria a un lugar para reunir toda la memoria libre en un bloque. </a:t>
            </a:r>
          </a:p>
          <a:p>
            <a:pPr algn="just">
              <a:spcBef>
                <a:spcPts val="1200"/>
              </a:spcBef>
            </a:pPr>
            <a:r>
              <a:rPr lang="es-ES" sz="1600" dirty="0" smtClean="0">
                <a:solidFill>
                  <a:srgbClr val="7030A0"/>
                </a:solidFill>
                <a:latin typeface="Arial" pitchFamily="34" charset="0"/>
                <a:cs typeface="Arial" pitchFamily="34" charset="0"/>
              </a:rPr>
              <a:t>Problemas de la compactación </a:t>
            </a:r>
            <a:r>
              <a:rPr lang="es-ES" sz="1600" dirty="0" smtClean="0">
                <a:solidFill>
                  <a:schemeClr val="tx1"/>
                </a:solidFill>
                <a:latin typeface="Arial" pitchFamily="34" charset="0"/>
                <a:cs typeface="Arial" pitchFamily="34" charset="0"/>
              </a:rPr>
              <a:t>: </a:t>
            </a:r>
          </a:p>
          <a:p>
            <a:pPr marL="182563" indent="-182563" algn="just">
              <a:spcBef>
                <a:spcPts val="300"/>
              </a:spcBef>
              <a:buFont typeface="Arial" pitchFamily="34" charset="0"/>
              <a:buChar char="•"/>
            </a:pPr>
            <a:r>
              <a:rPr lang="es-ES" sz="1400" dirty="0" smtClean="0">
                <a:solidFill>
                  <a:schemeClr val="tx1"/>
                </a:solidFill>
                <a:latin typeface="Arial" pitchFamily="34" charset="0"/>
                <a:cs typeface="Arial" pitchFamily="34" charset="0"/>
              </a:rPr>
              <a:t>Requiere reubicación dinámica</a:t>
            </a:r>
          </a:p>
          <a:p>
            <a:pPr marL="182563" indent="-182563" algn="just">
              <a:spcBef>
                <a:spcPts val="300"/>
              </a:spcBef>
              <a:buFont typeface="Arial" pitchFamily="34" charset="0"/>
              <a:buChar char="•"/>
            </a:pPr>
            <a:r>
              <a:rPr lang="es-ES" sz="1400" dirty="0" smtClean="0">
                <a:solidFill>
                  <a:schemeClr val="tx1"/>
                </a:solidFill>
                <a:latin typeface="Arial" pitchFamily="34" charset="0"/>
                <a:cs typeface="Arial" pitchFamily="34" charset="0"/>
              </a:rPr>
              <a:t>Consume recursos del sistema</a:t>
            </a:r>
          </a:p>
          <a:p>
            <a:pPr marL="182563" indent="-182563" algn="just">
              <a:spcBef>
                <a:spcPts val="300"/>
              </a:spcBef>
              <a:buFont typeface="Arial" pitchFamily="34" charset="0"/>
              <a:buChar char="•"/>
            </a:pPr>
            <a:r>
              <a:rPr lang="es-ES" sz="1400" dirty="0" smtClean="0">
                <a:solidFill>
                  <a:schemeClr val="tx1"/>
                </a:solidFill>
                <a:latin typeface="Arial" pitchFamily="34" charset="0"/>
                <a:cs typeface="Arial" pitchFamily="34" charset="0"/>
              </a:rPr>
              <a:t>El sistema se detiene mientras se realiza  no se puede hacer demasiado frecuentemente</a:t>
            </a:r>
            <a:endParaRPr lang="es-AR" sz="1400" dirty="0" smtClean="0">
              <a:solidFill>
                <a:schemeClr val="tx1"/>
              </a:solidFill>
              <a:latin typeface="Arial" pitchFamily="34" charset="0"/>
              <a:cs typeface="Arial" pitchFamily="34" charset="0"/>
            </a:endParaRPr>
          </a:p>
          <a:p>
            <a:pPr algn="just">
              <a:spcBef>
                <a:spcPts val="1200"/>
              </a:spcBef>
              <a:spcAft>
                <a:spcPts val="600"/>
              </a:spcAft>
            </a:pPr>
            <a:r>
              <a:rPr lang="es-AR" sz="1600" dirty="0" smtClean="0">
                <a:solidFill>
                  <a:srgbClr val="7030A0"/>
                </a:solidFill>
                <a:latin typeface="Arial" pitchFamily="34" charset="0"/>
                <a:cs typeface="Arial" pitchFamily="34" charset="0"/>
              </a:rPr>
              <a:t>Estrategias de asignación o colocación </a:t>
            </a:r>
          </a:p>
          <a:p>
            <a:pPr algn="just">
              <a:spcBef>
                <a:spcPts val="0"/>
              </a:spcBef>
              <a:spcAft>
                <a:spcPts val="600"/>
              </a:spcAft>
            </a:pPr>
            <a:r>
              <a:rPr lang="es-ES" sz="1400" dirty="0" smtClean="0">
                <a:solidFill>
                  <a:srgbClr val="7030A0"/>
                </a:solidFill>
                <a:latin typeface="Arial" pitchFamily="34" charset="0"/>
                <a:cs typeface="Arial" pitchFamily="34" charset="0"/>
              </a:rPr>
              <a:t>¿Como elegir un hueco cuando llega una nueva petición de tamaño N? </a:t>
            </a:r>
          </a:p>
          <a:p>
            <a:pPr algn="just">
              <a:spcBef>
                <a:spcPts val="0"/>
              </a:spcBef>
            </a:pPr>
            <a:r>
              <a:rPr lang="es-ES" sz="1400" dirty="0" smtClean="0">
                <a:solidFill>
                  <a:schemeClr val="tx1"/>
                </a:solidFill>
                <a:latin typeface="Arial" pitchFamily="34" charset="0"/>
                <a:cs typeface="Arial" pitchFamily="34" charset="0"/>
              </a:rPr>
              <a:t>En </a:t>
            </a:r>
            <a:r>
              <a:rPr lang="es-ES" sz="1400" b="1" dirty="0" smtClean="0">
                <a:solidFill>
                  <a:schemeClr val="tx1"/>
                </a:solidFill>
                <a:latin typeface="Arial" pitchFamily="34" charset="0"/>
                <a:cs typeface="Arial" pitchFamily="34" charset="0"/>
              </a:rPr>
              <a:t>particiones fijas</a:t>
            </a:r>
            <a:r>
              <a:rPr lang="es-ES" sz="1400" dirty="0" smtClean="0">
                <a:solidFill>
                  <a:schemeClr val="tx1"/>
                </a:solidFill>
                <a:latin typeface="Arial" pitchFamily="34" charset="0"/>
                <a:cs typeface="Arial" pitchFamily="34" charset="0"/>
              </a:rPr>
              <a:t>, el proceso solo puede ir a una partición libre del tamaño adecuado (o mayor). No hay "ajustes" que hacer, por lo tanto </a:t>
            </a:r>
            <a:r>
              <a:rPr lang="es-ES" sz="1400" b="1" dirty="0" smtClean="0">
                <a:solidFill>
                  <a:schemeClr val="tx1"/>
                </a:solidFill>
                <a:latin typeface="Arial" pitchFamily="34" charset="0"/>
                <a:cs typeface="Arial" pitchFamily="34" charset="0"/>
              </a:rPr>
              <a:t>los algoritmos de ajuste no se utilizan </a:t>
            </a:r>
            <a:r>
              <a:rPr lang="es-ES" sz="1400" dirty="0" smtClean="0">
                <a:solidFill>
                  <a:schemeClr val="tx1"/>
                </a:solidFill>
                <a:latin typeface="Arial" pitchFamily="34" charset="0"/>
                <a:cs typeface="Arial" pitchFamily="34" charset="0"/>
              </a:rPr>
              <a:t>con particiones fijas o estáticas, sino que están diseñados para esquemas de particiones variables o dinámicas.</a:t>
            </a:r>
            <a:endParaRPr lang="es-AR" sz="1400" dirty="0" smtClean="0">
              <a:solidFill>
                <a:schemeClr val="tx1"/>
              </a:solidFill>
              <a:latin typeface="Arial" pitchFamily="34" charset="0"/>
              <a:cs typeface="Arial" pitchFamily="34" charset="0"/>
            </a:endParaRPr>
          </a:p>
          <a:p>
            <a:pPr algn="just">
              <a:spcBef>
                <a:spcPts val="600"/>
              </a:spcBef>
            </a:pPr>
            <a:r>
              <a:rPr lang="es-ES" sz="1400" dirty="0" smtClean="0">
                <a:solidFill>
                  <a:schemeClr val="tx1"/>
                </a:solidFill>
                <a:latin typeface="Arial" pitchFamily="34" charset="0"/>
                <a:cs typeface="Arial" pitchFamily="34" charset="0"/>
              </a:rPr>
              <a:t>En los sistemas de </a:t>
            </a:r>
            <a:r>
              <a:rPr lang="es-ES" sz="1400" b="1" dirty="0" smtClean="0">
                <a:solidFill>
                  <a:schemeClr val="tx1"/>
                </a:solidFill>
                <a:latin typeface="Arial" pitchFamily="34" charset="0"/>
                <a:cs typeface="Arial" pitchFamily="34" charset="0"/>
              </a:rPr>
              <a:t>particiones variables</a:t>
            </a:r>
            <a:r>
              <a:rPr lang="es-ES" sz="1400" dirty="0" smtClean="0">
                <a:solidFill>
                  <a:schemeClr val="tx1"/>
                </a:solidFill>
                <a:latin typeface="Arial" pitchFamily="34" charset="0"/>
                <a:cs typeface="Arial" pitchFamily="34" charset="0"/>
              </a:rPr>
              <a:t>, las particiones para cada proceso se van creando a medida que son asignadas al procesador.  Tiene como ventaja principal que evitamos el desperdicio de memoria dentro de cada bloque ya que cada uno está hecho a medida para el proceso que contiene. </a:t>
            </a:r>
          </a:p>
          <a:p>
            <a:pPr algn="just">
              <a:spcBef>
                <a:spcPts val="600"/>
              </a:spcBef>
            </a:pPr>
            <a:r>
              <a:rPr lang="es-ES" sz="1400" dirty="0" smtClean="0">
                <a:solidFill>
                  <a:schemeClr val="tx1"/>
                </a:solidFill>
                <a:latin typeface="Arial" pitchFamily="34" charset="0"/>
                <a:cs typeface="Arial" pitchFamily="34" charset="0"/>
              </a:rPr>
              <a:t>Una vez que un proceso ha concluido, su partición se queda en desuso y sería necesario aplicar algoritmos de desfragmentación de memoria (supone un alto coste de rendimiento) para poder unificar todas las partes que han quedado libres y así reciclar las particiones que quedaron huérfanas. </a:t>
            </a:r>
          </a:p>
          <a:p>
            <a:pPr algn="just">
              <a:spcBef>
                <a:spcPts val="600"/>
              </a:spcBef>
            </a:pPr>
            <a:r>
              <a:rPr lang="es-ES" sz="1400" dirty="0" smtClean="0">
                <a:solidFill>
                  <a:schemeClr val="tx1"/>
                </a:solidFill>
                <a:latin typeface="Arial" pitchFamily="34" charset="0"/>
                <a:cs typeface="Arial" pitchFamily="34" charset="0"/>
              </a:rPr>
              <a:t>Otra forma de obtener particiones de mayor tamaño es unificar dos o más huecos adyacentes en uno sólo (como se mencionó en la diapositiva anterior)</a:t>
            </a:r>
          </a:p>
          <a:p>
            <a:pPr algn="just"/>
            <a:r>
              <a:rPr lang="es-ES" sz="1600" dirty="0" smtClean="0">
                <a:solidFill>
                  <a:schemeClr val="tx1"/>
                </a:solidFill>
                <a:latin typeface="Arial" pitchFamily="34" charset="0"/>
                <a:cs typeface="Arial" pitchFamily="34" charset="0"/>
              </a:rPr>
              <a:t> </a:t>
            </a:r>
            <a:endParaRPr lang="es-AR" sz="16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CuadroTexto"/>
          <p:cNvSpPr txBox="1"/>
          <p:nvPr/>
        </p:nvSpPr>
        <p:spPr>
          <a:xfrm>
            <a:off x="9144000" y="1225689"/>
            <a:ext cx="3149600" cy="5262979"/>
          </a:xfrm>
          <a:prstGeom prst="rect">
            <a:avLst/>
          </a:prstGeom>
          <a:noFill/>
        </p:spPr>
        <p:txBody>
          <a:bodyPr wrap="square" rtlCol="0">
            <a:spAutoFit/>
          </a:bodyPr>
          <a:lstStyle/>
          <a:p>
            <a:pPr algn="just"/>
            <a:r>
              <a:rPr lang="es-AR" sz="1200" dirty="0" smtClean="0">
                <a:solidFill>
                  <a:schemeClr val="tx1"/>
                </a:solidFill>
                <a:latin typeface="Arial" pitchFamily="34" charset="0"/>
                <a:cs typeface="Arial" pitchFamily="34" charset="0"/>
              </a:rPr>
              <a:t>Multiprogramación con particiones fijas • El objetivo en todo esto es tener mas de un proceso en memoria a la vez, solución posible sería dividir la memoria en n partes al inicio e una sesión de uso de la máquina, pero aún así se obtiene el desperdicio de particiones grandes con una tarea pequeña, la respuesta puede ser tener particiones pequeñas también. Las tareas que van llegando se forman hasta que una partición adecuada está disponible, en cuyo momento la tarea se carga en esa partición y se ejecuta hasta terminar.</a:t>
            </a:r>
          </a:p>
          <a:p>
            <a:pPr algn="just"/>
            <a:r>
              <a:rPr lang="es-AR" sz="1200" dirty="0" smtClean="0">
                <a:solidFill>
                  <a:schemeClr val="tx1"/>
                </a:solidFill>
                <a:latin typeface="Arial" pitchFamily="34" charset="0"/>
                <a:cs typeface="Arial" pitchFamily="34" charset="0"/>
              </a:rPr>
              <a:t>.</a:t>
            </a:r>
          </a:p>
          <a:p>
            <a:pPr algn="just"/>
            <a:r>
              <a:rPr lang="es-AR" sz="1200" dirty="0" smtClean="0">
                <a:solidFill>
                  <a:schemeClr val="tx1"/>
                </a:solidFill>
                <a:latin typeface="Arial" pitchFamily="34" charset="0"/>
                <a:cs typeface="Arial" pitchFamily="34" charset="0"/>
              </a:rPr>
              <a:t>Intercambio: En un sistema por lotes la organización de la memoria en particiones fijas es adecuado pero en un ambiente multiusuario la situación es distinta con el tiempo compartido, ya que existen mas usuarios de los que puede albergar la memoria, por lo que es conveniente albergar el exceso de los procesos en disco., por supuesto para ser ejecutados estos procesos deben ser trasladados a la memoria principal. Al traslado de procesos de disco a memoria y viceversa se le llama intercambio</a:t>
            </a:r>
            <a:endParaRPr lang="es-AR" sz="1200" dirty="0">
              <a:solidFill>
                <a:schemeClr val="tx1"/>
              </a:solidFill>
              <a:latin typeface="Arial" pitchFamily="34" charset="0"/>
              <a:cs typeface="Arial" pitchFamily="34" charset="0"/>
            </a:endParaRPr>
          </a:p>
        </p:txBody>
      </p:sp>
      <p:pic>
        <p:nvPicPr>
          <p:cNvPr id="6147" name="Picture 3"/>
          <p:cNvPicPr>
            <a:picLocks noChangeAspect="1" noChangeArrowheads="1"/>
          </p:cNvPicPr>
          <p:nvPr/>
        </p:nvPicPr>
        <p:blipFill>
          <a:blip r:embed="rId3" cstate="print">
            <a:lum/>
          </a:blip>
          <a:srcRect/>
          <a:stretch>
            <a:fillRect/>
          </a:stretch>
        </p:blipFill>
        <p:spPr bwMode="auto">
          <a:xfrm>
            <a:off x="587694" y="2548890"/>
            <a:ext cx="3746950" cy="2032244"/>
          </a:xfrm>
          <a:prstGeom prst="rect">
            <a:avLst/>
          </a:prstGeom>
          <a:ln>
            <a:noFill/>
          </a:ln>
          <a:effectLst>
            <a:outerShdw blurRad="292100" dist="139700" dir="2700000" algn="tl" rotWithShape="0">
              <a:srgbClr val="333333">
                <a:alpha val="65000"/>
              </a:srgbClr>
            </a:outerShdw>
          </a:effectLst>
        </p:spPr>
      </p:pic>
      <p:pic>
        <p:nvPicPr>
          <p:cNvPr id="6148" name="Picture 4"/>
          <p:cNvPicPr>
            <a:picLocks noChangeAspect="1" noChangeArrowheads="1"/>
          </p:cNvPicPr>
          <p:nvPr/>
        </p:nvPicPr>
        <p:blipFill>
          <a:blip r:embed="rId4" cstate="print"/>
          <a:srcRect/>
          <a:stretch>
            <a:fillRect/>
          </a:stretch>
        </p:blipFill>
        <p:spPr bwMode="auto">
          <a:xfrm>
            <a:off x="4636770" y="2562860"/>
            <a:ext cx="3682077" cy="2006600"/>
          </a:xfrm>
          <a:prstGeom prst="rect">
            <a:avLst/>
          </a:prstGeom>
          <a:ln>
            <a:noFill/>
          </a:ln>
          <a:effectLst>
            <a:outerShdw blurRad="292100" dist="139700" dir="2700000" algn="tl" rotWithShape="0">
              <a:srgbClr val="333333">
                <a:alpha val="65000"/>
              </a:srgbClr>
            </a:outerShdw>
          </a:effectLst>
        </p:spPr>
      </p:pic>
      <p:pic>
        <p:nvPicPr>
          <p:cNvPr id="6149" name="Picture 5"/>
          <p:cNvPicPr>
            <a:picLocks noChangeAspect="1" noChangeArrowheads="1"/>
          </p:cNvPicPr>
          <p:nvPr/>
        </p:nvPicPr>
        <p:blipFill>
          <a:blip r:embed="rId5" cstate="print"/>
          <a:srcRect/>
          <a:stretch>
            <a:fillRect/>
          </a:stretch>
        </p:blipFill>
        <p:spPr bwMode="auto">
          <a:xfrm>
            <a:off x="504508" y="4696165"/>
            <a:ext cx="3800170" cy="1955371"/>
          </a:xfrm>
          <a:prstGeom prst="rect">
            <a:avLst/>
          </a:prstGeom>
          <a:ln>
            <a:noFill/>
          </a:ln>
          <a:effectLst>
            <a:outerShdw blurRad="292100" dist="139700" dir="2700000" algn="tl" rotWithShape="0">
              <a:srgbClr val="333333">
                <a:alpha val="65000"/>
              </a:srgbClr>
            </a:outerShdw>
          </a:effectLst>
        </p:spPr>
      </p:pic>
      <p:sp>
        <p:nvSpPr>
          <p:cNvPr id="14" name="13 CuadroTexto"/>
          <p:cNvSpPr txBox="1"/>
          <p:nvPr/>
        </p:nvSpPr>
        <p:spPr>
          <a:xfrm>
            <a:off x="254000" y="952500"/>
            <a:ext cx="8648700" cy="1815882"/>
          </a:xfrm>
          <a:prstGeom prst="rect">
            <a:avLst/>
          </a:prstGeom>
          <a:noFill/>
        </p:spPr>
        <p:txBody>
          <a:bodyPr wrap="square" rtlCol="0">
            <a:spAutoFit/>
          </a:bodyPr>
          <a:lstStyle/>
          <a:p>
            <a:pPr algn="just">
              <a:spcBef>
                <a:spcPts val="1200"/>
              </a:spcBef>
            </a:pPr>
            <a:r>
              <a:rPr lang="es-AR" sz="1600" dirty="0" smtClean="0">
                <a:solidFill>
                  <a:srgbClr val="7030A0"/>
                </a:solidFill>
                <a:latin typeface="Arial" pitchFamily="34" charset="0"/>
                <a:cs typeface="Arial" pitchFamily="34" charset="0"/>
              </a:rPr>
              <a:t>Estrategias de asignación o colocación</a:t>
            </a:r>
            <a:endParaRPr lang="es-AR" sz="1200" dirty="0" smtClean="0">
              <a:solidFill>
                <a:srgbClr val="7030A0"/>
              </a:solidFill>
              <a:latin typeface="Arial" pitchFamily="34" charset="0"/>
              <a:cs typeface="Arial" pitchFamily="34" charset="0"/>
            </a:endParaRPr>
          </a:p>
          <a:p>
            <a:pPr marL="177800" indent="-177800" algn="just">
              <a:spcBef>
                <a:spcPts val="0"/>
              </a:spcBef>
              <a:buFont typeface="Arial" pitchFamily="34" charset="0"/>
              <a:buChar char="•"/>
            </a:pPr>
            <a:r>
              <a:rPr lang="es-AR" sz="1600" dirty="0" smtClean="0">
                <a:solidFill>
                  <a:srgbClr val="CC00CC"/>
                </a:solidFill>
                <a:latin typeface="Arial" pitchFamily="34" charset="0"/>
                <a:cs typeface="Arial" pitchFamily="34" charset="0"/>
              </a:rPr>
              <a:t>Primer ajuste: </a:t>
            </a:r>
            <a:r>
              <a:rPr lang="es-AR" sz="1600" dirty="0" smtClean="0">
                <a:solidFill>
                  <a:schemeClr val="tx1"/>
                </a:solidFill>
                <a:latin typeface="Arial" pitchFamily="34" charset="0"/>
                <a:cs typeface="Arial" pitchFamily="34" charset="0"/>
              </a:rPr>
              <a:t>asigna el primer hueco que tenga tamaño suficiente. La búsqueda comienza desde el comienzo del conjunto de huecos o desde donde terminó la búsqueda anterior (</a:t>
            </a:r>
            <a:r>
              <a:rPr lang="es-AR" sz="1600" dirty="0" smtClean="0">
                <a:solidFill>
                  <a:srgbClr val="CC00CC"/>
                </a:solidFill>
                <a:latin typeface="Arial" pitchFamily="34" charset="0"/>
                <a:cs typeface="Arial" pitchFamily="34" charset="0"/>
              </a:rPr>
              <a:t>próximo ajuste</a:t>
            </a:r>
            <a:r>
              <a:rPr lang="es-AR" sz="1600" dirty="0" smtClean="0">
                <a:solidFill>
                  <a:schemeClr val="tx1"/>
                </a:solidFill>
                <a:latin typeface="Arial" pitchFamily="34" charset="0"/>
                <a:cs typeface="Arial" pitchFamily="34" charset="0"/>
              </a:rPr>
              <a:t>)</a:t>
            </a:r>
          </a:p>
          <a:p>
            <a:pPr marL="177800" indent="-177800" algn="just">
              <a:spcBef>
                <a:spcPts val="0"/>
              </a:spcBef>
              <a:buFont typeface="Arial" pitchFamily="34" charset="0"/>
              <a:buChar char="•"/>
            </a:pPr>
            <a:r>
              <a:rPr lang="es-AR" sz="1600" dirty="0" smtClean="0">
                <a:solidFill>
                  <a:srgbClr val="CC00CC"/>
                </a:solidFill>
                <a:latin typeface="Arial" pitchFamily="34" charset="0"/>
                <a:cs typeface="Arial" pitchFamily="34" charset="0"/>
              </a:rPr>
              <a:t>Mejor ajuste: </a:t>
            </a:r>
            <a:r>
              <a:rPr lang="es-AR" sz="1600" dirty="0" smtClean="0">
                <a:solidFill>
                  <a:schemeClr val="tx1"/>
                </a:solidFill>
                <a:latin typeface="Arial" pitchFamily="34" charset="0"/>
                <a:cs typeface="Arial" pitchFamily="34" charset="0"/>
              </a:rPr>
              <a:t>busca el hueco más pequeño que tenga tamaño suficiente</a:t>
            </a:r>
          </a:p>
          <a:p>
            <a:pPr marL="177800" indent="-177800" algn="just">
              <a:spcBef>
                <a:spcPts val="0"/>
              </a:spcBef>
              <a:buFont typeface="Arial" pitchFamily="34" charset="0"/>
              <a:buChar char="•"/>
            </a:pPr>
            <a:r>
              <a:rPr lang="es-AR" sz="1600" dirty="0" smtClean="0">
                <a:solidFill>
                  <a:srgbClr val="CC00CC"/>
                </a:solidFill>
                <a:latin typeface="Arial" pitchFamily="34" charset="0"/>
                <a:cs typeface="Arial" pitchFamily="34" charset="0"/>
              </a:rPr>
              <a:t>Peor ajuste</a:t>
            </a:r>
            <a:r>
              <a:rPr lang="es-AR" sz="1600" dirty="0" smtClean="0">
                <a:solidFill>
                  <a:schemeClr val="tx1"/>
                </a:solidFill>
                <a:latin typeface="Arial" pitchFamily="34" charset="0"/>
                <a:cs typeface="Arial" pitchFamily="34" charset="0"/>
              </a:rPr>
              <a:t>: busca el hueco más grande </a:t>
            </a:r>
            <a:r>
              <a:rPr lang="es-AR" sz="1400" dirty="0" smtClean="0">
                <a:solidFill>
                  <a:schemeClr val="tx1"/>
                </a:solidFill>
                <a:latin typeface="Arial" pitchFamily="34" charset="0"/>
                <a:cs typeface="Arial" pitchFamily="34" charset="0"/>
              </a:rPr>
              <a:t>(a veces es conveniente tener la lista ordenada x tamaño)</a:t>
            </a:r>
          </a:p>
          <a:p>
            <a:pPr algn="just"/>
            <a:endParaRPr lang="es-AR" sz="1600" dirty="0">
              <a:solidFill>
                <a:schemeClr val="tx1"/>
              </a:solidFill>
              <a:latin typeface="Arial" pitchFamily="34" charset="0"/>
              <a:cs typeface="Arial" pitchFamily="34" charset="0"/>
            </a:endParaRPr>
          </a:p>
        </p:txBody>
      </p:sp>
      <p:sp>
        <p:nvSpPr>
          <p:cNvPr id="10" name="9 CuadroTexto"/>
          <p:cNvSpPr txBox="1"/>
          <p:nvPr/>
        </p:nvSpPr>
        <p:spPr>
          <a:xfrm>
            <a:off x="4490720" y="4770120"/>
            <a:ext cx="4478020" cy="1815882"/>
          </a:xfrm>
          <a:prstGeom prst="rect">
            <a:avLst/>
          </a:prstGeom>
          <a:noFill/>
        </p:spPr>
        <p:txBody>
          <a:bodyPr wrap="square" rtlCol="0">
            <a:spAutoFit/>
          </a:bodyPr>
          <a:lstStyle/>
          <a:p>
            <a:pPr algn="just"/>
            <a:r>
              <a:rPr lang="es-AR" sz="1600" dirty="0" smtClean="0">
                <a:solidFill>
                  <a:schemeClr val="tx1"/>
                </a:solidFill>
                <a:latin typeface="Arial" pitchFamily="34" charset="0"/>
                <a:cs typeface="Arial" pitchFamily="34" charset="0"/>
              </a:rPr>
              <a:t>Mediante simulaciones, el primer ajuste y el mejor ajuste son los mejores que el peor ajuste en cuanto al aprovechamiento de memoria y a la reducción del tiempo. En lo que respecta a memoria, el primer ajuste y el mejor ajuste son similares sin embargo el primer ajuste es un poco más rápido</a:t>
            </a:r>
            <a:endParaRPr lang="es-AR" sz="1600" dirty="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8" name="Picture 6"/>
          <p:cNvPicPr>
            <a:picLocks noChangeAspect="1" noChangeArrowheads="1"/>
          </p:cNvPicPr>
          <p:nvPr/>
        </p:nvPicPr>
        <p:blipFill>
          <a:blip r:embed="rId3" cstate="print"/>
          <a:stretch>
            <a:fillRect/>
          </a:stretch>
        </p:blipFill>
        <p:spPr bwMode="auto">
          <a:xfrm>
            <a:off x="1426209" y="2778760"/>
            <a:ext cx="6323331" cy="3902236"/>
          </a:xfrm>
          <a:prstGeom prst="rect">
            <a:avLst/>
          </a:prstGeom>
          <a:noFill/>
          <a:ln>
            <a:noFill/>
          </a:ln>
        </p:spPr>
      </p:pic>
      <p:sp>
        <p:nvSpPr>
          <p:cNvPr id="10" name="9 CuadroTexto"/>
          <p:cNvSpPr txBox="1"/>
          <p:nvPr/>
        </p:nvSpPr>
        <p:spPr>
          <a:xfrm>
            <a:off x="165100" y="1010920"/>
            <a:ext cx="8849360" cy="2123658"/>
          </a:xfrm>
          <a:prstGeom prst="rect">
            <a:avLst/>
          </a:prstGeom>
          <a:noFill/>
        </p:spPr>
        <p:txBody>
          <a:bodyPr wrap="square" rtlCol="0">
            <a:spAutoFit/>
          </a:bodyPr>
          <a:lstStyle/>
          <a:p>
            <a:pPr algn="just">
              <a:spcBef>
                <a:spcPts val="0"/>
              </a:spcBef>
            </a:pPr>
            <a:r>
              <a:rPr lang="es-AR" sz="1600" dirty="0" smtClean="0">
                <a:solidFill>
                  <a:srgbClr val="7030A0"/>
                </a:solidFill>
                <a:latin typeface="Arial" pitchFamily="34" charset="0"/>
                <a:cs typeface="Arial" pitchFamily="34" charset="0"/>
              </a:rPr>
              <a:t>Sistema </a:t>
            </a:r>
            <a:r>
              <a:rPr lang="es-AR" sz="1600" dirty="0" err="1" smtClean="0">
                <a:solidFill>
                  <a:srgbClr val="7030A0"/>
                </a:solidFill>
                <a:latin typeface="Arial" pitchFamily="34" charset="0"/>
                <a:cs typeface="Arial" pitchFamily="34" charset="0"/>
              </a:rPr>
              <a:t>Buddy</a:t>
            </a:r>
            <a:endParaRPr lang="es-AR" sz="1600" dirty="0" smtClean="0">
              <a:solidFill>
                <a:srgbClr val="7030A0"/>
              </a:solidFill>
              <a:latin typeface="Arial" pitchFamily="34" charset="0"/>
              <a:cs typeface="Arial" pitchFamily="34" charset="0"/>
            </a:endParaRPr>
          </a:p>
          <a:p>
            <a:pPr marL="177800" indent="-177800" algn="just">
              <a:spcBef>
                <a:spcPts val="0"/>
              </a:spcBef>
              <a:buFont typeface="Arial" pitchFamily="34" charset="0"/>
              <a:buChar char="•"/>
            </a:pPr>
            <a:r>
              <a:rPr lang="es-AR" sz="1600" dirty="0" smtClean="0">
                <a:solidFill>
                  <a:schemeClr val="tx1"/>
                </a:solidFill>
                <a:latin typeface="Arial" pitchFamily="34" charset="0"/>
                <a:cs typeface="Arial" pitchFamily="34" charset="0"/>
              </a:rPr>
              <a:t>El espacio completo  disponible se trata como un único bloque de tamaño 2U.</a:t>
            </a:r>
          </a:p>
          <a:p>
            <a:pPr marL="177800" indent="-177800" algn="just">
              <a:spcBef>
                <a:spcPts val="600"/>
              </a:spcBef>
              <a:buFont typeface="Arial" pitchFamily="34" charset="0"/>
              <a:buChar char="•"/>
            </a:pPr>
            <a:r>
              <a:rPr lang="es-AR" sz="1600" dirty="0" smtClean="0">
                <a:solidFill>
                  <a:schemeClr val="tx1"/>
                </a:solidFill>
                <a:latin typeface="Arial" pitchFamily="34" charset="0"/>
                <a:cs typeface="Arial" pitchFamily="34" charset="0"/>
              </a:rPr>
              <a:t>Si se realiza una petición de tamaño </a:t>
            </a:r>
            <a:r>
              <a:rPr lang="es-AR" sz="1600" b="1" dirty="0" smtClean="0">
                <a:solidFill>
                  <a:schemeClr val="tx1"/>
                </a:solidFill>
                <a:latin typeface="Arial" pitchFamily="34" charset="0"/>
                <a:cs typeface="Arial" pitchFamily="34" charset="0"/>
              </a:rPr>
              <a:t>s</a:t>
            </a:r>
            <a:r>
              <a:rPr lang="es-AR" sz="1600" dirty="0" smtClean="0">
                <a:solidFill>
                  <a:schemeClr val="tx1"/>
                </a:solidFill>
                <a:latin typeface="Arial" pitchFamily="34" charset="0"/>
                <a:cs typeface="Arial" pitchFamily="34" charset="0"/>
              </a:rPr>
              <a:t>, tal que</a:t>
            </a:r>
          </a:p>
          <a:p>
            <a:pPr marL="85725" indent="-85725" algn="just">
              <a:spcBef>
                <a:spcPts val="0"/>
              </a:spcBef>
            </a:pPr>
            <a:r>
              <a:rPr lang="es-AR" sz="1600" dirty="0" smtClean="0">
                <a:solidFill>
                  <a:schemeClr val="tx1"/>
                </a:solidFill>
                <a:latin typeface="Arial" pitchFamily="34" charset="0"/>
                <a:cs typeface="Arial" pitchFamily="34" charset="0"/>
              </a:rPr>
              <a:t>     2U-1 </a:t>
            </a:r>
            <a:r>
              <a:rPr lang="es-AR" sz="1600" b="1" dirty="0" smtClean="0">
                <a:solidFill>
                  <a:schemeClr val="tx1"/>
                </a:solidFill>
                <a:latin typeface="Arial" pitchFamily="34" charset="0"/>
                <a:cs typeface="Arial" pitchFamily="34" charset="0"/>
              </a:rPr>
              <a:t>&lt;</a:t>
            </a:r>
            <a:r>
              <a:rPr lang="es-AR" sz="1600" dirty="0" smtClean="0">
                <a:solidFill>
                  <a:schemeClr val="tx1"/>
                </a:solidFill>
                <a:latin typeface="Arial" pitchFamily="34" charset="0"/>
                <a:cs typeface="Arial" pitchFamily="34" charset="0"/>
              </a:rPr>
              <a:t> s </a:t>
            </a:r>
            <a:r>
              <a:rPr lang="es-AR" sz="1600" b="1" dirty="0" smtClean="0">
                <a:solidFill>
                  <a:schemeClr val="tx1"/>
                </a:solidFill>
                <a:latin typeface="Arial" pitchFamily="34" charset="0"/>
                <a:cs typeface="Arial" pitchFamily="34" charset="0"/>
              </a:rPr>
              <a:t>≤</a:t>
            </a:r>
            <a:r>
              <a:rPr lang="es-AR" sz="1600" dirty="0" smtClean="0">
                <a:solidFill>
                  <a:schemeClr val="tx1"/>
                </a:solidFill>
                <a:latin typeface="Arial" pitchFamily="34" charset="0"/>
                <a:cs typeface="Arial" pitchFamily="34" charset="0"/>
              </a:rPr>
              <a:t>  2U, se asigna el bloque entero</a:t>
            </a:r>
          </a:p>
          <a:p>
            <a:pPr marL="622300" lvl="1" indent="-165100" algn="just">
              <a:spcBef>
                <a:spcPts val="600"/>
              </a:spcBef>
              <a:buFont typeface="Arial" pitchFamily="34" charset="0"/>
              <a:buChar char="•"/>
            </a:pPr>
            <a:r>
              <a:rPr lang="es-AR" sz="1600" dirty="0" smtClean="0">
                <a:solidFill>
                  <a:schemeClr val="tx1"/>
                </a:solidFill>
                <a:latin typeface="Arial" pitchFamily="34" charset="0"/>
                <a:cs typeface="Arial" pitchFamily="34" charset="0"/>
              </a:rPr>
              <a:t>En otro caso, el bloque se divide en dos bloques </a:t>
            </a:r>
            <a:r>
              <a:rPr lang="es-AR" sz="1600" dirty="0" err="1" smtClean="0">
                <a:solidFill>
                  <a:schemeClr val="tx1"/>
                </a:solidFill>
                <a:latin typeface="Arial" pitchFamily="34" charset="0"/>
                <a:cs typeface="Arial" pitchFamily="34" charset="0"/>
              </a:rPr>
              <a:t>buddy</a:t>
            </a:r>
            <a:r>
              <a:rPr lang="es-AR" sz="1600" dirty="0" smtClean="0">
                <a:solidFill>
                  <a:schemeClr val="tx1"/>
                </a:solidFill>
                <a:latin typeface="Arial" pitchFamily="34" charset="0"/>
                <a:cs typeface="Arial" pitchFamily="34" charset="0"/>
              </a:rPr>
              <a:t> iguales de tamaño.</a:t>
            </a:r>
          </a:p>
          <a:p>
            <a:pPr marL="622300" lvl="1" indent="-165100" algn="just">
              <a:spcBef>
                <a:spcPts val="600"/>
              </a:spcBef>
              <a:buFont typeface="Arial" pitchFamily="34" charset="0"/>
              <a:buChar char="•"/>
            </a:pPr>
            <a:r>
              <a:rPr lang="es-AR" sz="1600" dirty="0" smtClean="0">
                <a:solidFill>
                  <a:schemeClr val="tx1"/>
                </a:solidFill>
                <a:latin typeface="Arial" pitchFamily="34" charset="0"/>
                <a:cs typeface="Arial" pitchFamily="34" charset="0"/>
              </a:rPr>
              <a:t>El proceso continúa hasta que el bloque más pequeño mayor o igual que </a:t>
            </a:r>
            <a:r>
              <a:rPr lang="es-AR" sz="1600" b="1" dirty="0" smtClean="0">
                <a:solidFill>
                  <a:schemeClr val="tx1"/>
                </a:solidFill>
                <a:latin typeface="Arial" pitchFamily="34" charset="0"/>
                <a:cs typeface="Arial" pitchFamily="34" charset="0"/>
              </a:rPr>
              <a:t>s</a:t>
            </a:r>
            <a:r>
              <a:rPr lang="es-AR" sz="1600" dirty="0" smtClean="0">
                <a:solidFill>
                  <a:schemeClr val="tx1"/>
                </a:solidFill>
                <a:latin typeface="Arial" pitchFamily="34" charset="0"/>
                <a:cs typeface="Arial" pitchFamily="34" charset="0"/>
              </a:rPr>
              <a:t> se genera.</a:t>
            </a:r>
          </a:p>
          <a:p>
            <a:pPr marL="177800" indent="-177800" algn="just">
              <a:spcBef>
                <a:spcPts val="600"/>
              </a:spcBef>
            </a:pPr>
            <a:endParaRPr lang="es-AR" sz="1600"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dirty="0"/>
          </a:p>
        </p:txBody>
      </p:sp>
      <p:sp>
        <p:nvSpPr>
          <p:cNvPr id="11" name="1 Título"/>
          <p:cNvSpPr txBox="1">
            <a:spLocks/>
          </p:cNvSpPr>
          <p:nvPr/>
        </p:nvSpPr>
        <p:spPr>
          <a:xfrm>
            <a:off x="457200" y="109538"/>
            <a:ext cx="8229600" cy="833726"/>
          </a:xfrm>
          <a:prstGeom prst="rect">
            <a:avLst/>
          </a:prstGeom>
        </p:spPr>
        <p:txBody>
          <a:bodyPr vert="horz" lIns="91440" tIns="45720" rIns="91440" bIns="45720" rtlCol="0" anchor="ctr">
            <a:normAutofit/>
          </a:bodyPr>
          <a:lstStyle/>
          <a:p>
            <a:pPr lvl="0" fontAlgn="auto">
              <a:spcAft>
                <a:spcPts val="0"/>
              </a:spcAft>
              <a:defRPr/>
            </a:pPr>
            <a:r>
              <a:rPr lang="es-AR" sz="3400" dirty="0" smtClean="0">
                <a:solidFill>
                  <a:schemeClr val="tx1"/>
                </a:solidFill>
                <a:latin typeface="+mj-lt"/>
                <a:ea typeface="+mj-ea"/>
                <a:cs typeface="+mj-cs"/>
              </a:rPr>
              <a:t>Memoria Virtual </a:t>
            </a:r>
            <a:endParaRPr kumimoji="0" lang="es-AR" sz="105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0500" y="952500"/>
            <a:ext cx="8699499" cy="1138773"/>
          </a:xfrm>
          <a:prstGeom prst="rect">
            <a:avLst/>
          </a:prstGeom>
          <a:noFill/>
        </p:spPr>
        <p:txBody>
          <a:bodyPr wrap="square" rtlCol="0">
            <a:spAutoFit/>
          </a:bodyPr>
          <a:lstStyle/>
          <a:p>
            <a:pPr algn="just">
              <a:spcBef>
                <a:spcPts val="1200"/>
              </a:spcBef>
            </a:pPr>
            <a:endParaRPr lang="es-AR" sz="1600" dirty="0" smtClean="0">
              <a:solidFill>
                <a:schemeClr val="tx1"/>
              </a:solidFill>
              <a:latin typeface="Arial" pitchFamily="34" charset="0"/>
              <a:cs typeface="Arial" pitchFamily="34" charset="0"/>
            </a:endParaRPr>
          </a:p>
          <a:p>
            <a:pPr algn="just">
              <a:spcBef>
                <a:spcPts val="1200"/>
              </a:spcBef>
            </a:pPr>
            <a:endParaRPr lang="es-AR" sz="1600" dirty="0" smtClean="0">
              <a:solidFill>
                <a:schemeClr val="tx1"/>
              </a:solidFill>
              <a:latin typeface="Arial" pitchFamily="34" charset="0"/>
              <a:cs typeface="Arial" pitchFamily="34" charset="0"/>
            </a:endParaRPr>
          </a:p>
          <a:p>
            <a:pPr algn="just">
              <a:spcBef>
                <a:spcPts val="1200"/>
              </a:spcBef>
            </a:pPr>
            <a:endParaRPr lang="es-AR" sz="1600" dirty="0" smtClean="0">
              <a:solidFill>
                <a:schemeClr val="tx1"/>
              </a:solidFill>
              <a:latin typeface="Arial" pitchFamily="34" charset="0"/>
              <a:cs typeface="Arial" pitchFamily="34" charset="0"/>
            </a:endParaRPr>
          </a:p>
        </p:txBody>
      </p:sp>
      <p:sp>
        <p:nvSpPr>
          <p:cNvPr id="8" name="1 Título"/>
          <p:cNvSpPr txBox="1">
            <a:spLocks/>
          </p:cNvSpPr>
          <p:nvPr/>
        </p:nvSpPr>
        <p:spPr>
          <a:xfrm rot="20973532">
            <a:off x="906987" y="3005138"/>
            <a:ext cx="8229600" cy="833726"/>
          </a:xfrm>
          <a:prstGeom prst="rect">
            <a:avLst/>
          </a:prstGeom>
        </p:spPr>
        <p:txBody>
          <a:bodyPr vert="horz" lIns="91440" tIns="45720" rIns="91440" bIns="45720" rtlCol="0" anchor="ctr">
            <a:noAutofit/>
          </a:bodyPr>
          <a:lstStyle/>
          <a:p>
            <a:pPr lvl="0" fontAlgn="auto">
              <a:spcAft>
                <a:spcPts val="0"/>
              </a:spcAft>
              <a:defRPr/>
            </a:pPr>
            <a:r>
              <a:rPr lang="es-AR" sz="8800" noProof="0" dirty="0" smtClean="0">
                <a:solidFill>
                  <a:schemeClr val="tx1"/>
                </a:solidFill>
                <a:latin typeface="+mj-lt"/>
                <a:ea typeface="+mj-ea"/>
                <a:cs typeface="+mj-cs"/>
              </a:rPr>
              <a:t>Continuará……</a:t>
            </a:r>
            <a:endParaRPr kumimoji="0" lang="es-AR" sz="88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40425</TotalTime>
  <Words>3696</Words>
  <Application>Microsoft Office PowerPoint</Application>
  <PresentationFormat>Presentación en pantalla (4:3)</PresentationFormat>
  <Paragraphs>282</Paragraphs>
  <Slides>21</Slides>
  <Notes>20</Notes>
  <HiddenSlides>0</HiddenSlides>
  <MMClips>0</MMClips>
  <ScaleCrop>false</ScaleCrop>
  <HeadingPairs>
    <vt:vector size="4" baseType="variant">
      <vt:variant>
        <vt:lpstr>Tema</vt:lpstr>
      </vt:variant>
      <vt:variant>
        <vt:i4>1</vt:i4>
      </vt:variant>
      <vt:variant>
        <vt:lpstr>Títulos de diapositiva</vt:lpstr>
      </vt:variant>
      <vt:variant>
        <vt:i4>21</vt:i4>
      </vt:variant>
    </vt:vector>
  </HeadingPairs>
  <TitlesOfParts>
    <vt:vector size="22"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vector>
  </TitlesOfParts>
  <Company>East Texas Data Service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Ryzen</cp:lastModifiedBy>
  <cp:revision>2175</cp:revision>
  <cp:lastPrinted>2001-01-13T18:08:51Z</cp:lastPrinted>
  <dcterms:created xsi:type="dcterms:W3CDTF">2000-11-18T17:50:49Z</dcterms:created>
  <dcterms:modified xsi:type="dcterms:W3CDTF">2026-03-02T23:59:01Z</dcterms:modified>
</cp:coreProperties>
</file>