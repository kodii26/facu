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5"/>
  </p:notesMasterIdLst>
  <p:handoutMasterIdLst>
    <p:handoutMasterId r:id="rId36"/>
  </p:handoutMasterIdLst>
  <p:sldIdLst>
    <p:sldId id="353" r:id="rId2"/>
    <p:sldId id="354" r:id="rId3"/>
    <p:sldId id="356" r:id="rId4"/>
    <p:sldId id="359" r:id="rId5"/>
    <p:sldId id="357" r:id="rId6"/>
    <p:sldId id="358" r:id="rId7"/>
    <p:sldId id="360" r:id="rId8"/>
    <p:sldId id="362" r:id="rId9"/>
    <p:sldId id="361" r:id="rId10"/>
    <p:sldId id="363" r:id="rId11"/>
    <p:sldId id="373" r:id="rId12"/>
    <p:sldId id="365" r:id="rId13"/>
    <p:sldId id="366" r:id="rId14"/>
    <p:sldId id="367" r:id="rId15"/>
    <p:sldId id="368" r:id="rId16"/>
    <p:sldId id="370" r:id="rId17"/>
    <p:sldId id="369" r:id="rId18"/>
    <p:sldId id="371" r:id="rId19"/>
    <p:sldId id="372" r:id="rId20"/>
    <p:sldId id="374" r:id="rId21"/>
    <p:sldId id="376" r:id="rId22"/>
    <p:sldId id="375" r:id="rId23"/>
    <p:sldId id="377" r:id="rId24"/>
    <p:sldId id="379" r:id="rId25"/>
    <p:sldId id="378" r:id="rId26"/>
    <p:sldId id="382" r:id="rId27"/>
    <p:sldId id="383" r:id="rId28"/>
    <p:sldId id="381" r:id="rId29"/>
    <p:sldId id="380" r:id="rId30"/>
    <p:sldId id="384" r:id="rId31"/>
    <p:sldId id="385" r:id="rId32"/>
    <p:sldId id="386" r:id="rId33"/>
    <p:sldId id="387" r:id="rId34"/>
  </p:sldIdLst>
  <p:sldSz cx="9144000" cy="6858000" type="screen4x3"/>
  <p:notesSz cx="6754813" cy="98663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C0C0C0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8"/>
    <a:srgbClr val="3E951B"/>
    <a:srgbClr val="FFA747"/>
    <a:srgbClr val="99CC00"/>
    <a:srgbClr val="009900"/>
    <a:srgbClr val="9A6116"/>
    <a:srgbClr val="FF00FF"/>
    <a:srgbClr val="CC00CC"/>
    <a:srgbClr val="FF0066"/>
    <a:srgbClr val="FF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6" autoAdjust="0"/>
    <p:restoredTop sz="95291" autoAdjust="0"/>
  </p:normalViewPr>
  <p:slideViewPr>
    <p:cSldViewPr snapToGrid="0">
      <p:cViewPr>
        <p:scale>
          <a:sx n="100" d="100"/>
          <a:sy n="100" d="100"/>
        </p:scale>
        <p:origin x="-1890" y="-306"/>
      </p:cViewPr>
      <p:guideLst>
        <p:guide orient="horz" pos="4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4"/>
    </p:cViewPr>
  </p:sorterViewPr>
  <p:notesViewPr>
    <p:cSldViewPr snapToGrid="0">
      <p:cViewPr>
        <p:scale>
          <a:sx n="100" d="100"/>
          <a:sy n="100" d="100"/>
        </p:scale>
        <p:origin x="-894" y="678"/>
      </p:cViewPr>
      <p:guideLst>
        <p:guide orient="horz" pos="3108"/>
        <p:guide pos="212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t" anchorCtr="0" compatLnSpc="1">
            <a:prstTxWarp prst="textNoShape">
              <a:avLst/>
            </a:prstTxWarp>
          </a:bodyPr>
          <a:lstStyle>
            <a:lvl1pPr algn="l" defTabSz="923925">
              <a:defRPr sz="12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5875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1013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b" anchorCtr="0" compatLnSpc="1">
            <a:prstTxWarp prst="textNoShape">
              <a:avLst/>
            </a:prstTxWarp>
          </a:bodyPr>
          <a:lstStyle>
            <a:lvl1pPr algn="l" defTabSz="923925">
              <a:defRPr sz="12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5875" y="9371013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</a:defRPr>
            </a:lvl1pPr>
          </a:lstStyle>
          <a:p>
            <a:fld id="{9CE37C41-A159-4594-91F3-888775DD85B5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t" anchorCtr="0" compatLnSpc="1">
            <a:prstTxWarp prst="textNoShape">
              <a:avLst/>
            </a:prstTxWarp>
          </a:bodyPr>
          <a:lstStyle>
            <a:lvl1pPr algn="l" defTabSz="923925">
              <a:defRPr sz="12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endParaRPr lang="es-AR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endParaRPr lang="es-A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1413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b" anchorCtr="0" compatLnSpc="1">
            <a:prstTxWarp prst="textNoShape">
              <a:avLst/>
            </a:prstTxWarp>
          </a:bodyPr>
          <a:lstStyle>
            <a:lvl1pPr algn="l" defTabSz="923925">
              <a:defRPr sz="12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endParaRPr lang="es-AR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37260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64" tIns="46232" rIns="92464" bIns="46232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fld id="{98A73CF5-616C-4868-81A9-4AC3700A2DB9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AAAE-BB77-4FBD-80CD-8806CBC61BD7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E1CF4-E877-4C43-B0C9-9F5999A0129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1F3A6-EE0E-4D54-B51D-BEF7C6505C7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7C7A-EA67-4BE9-B0DB-B07E46B014F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61DD-4B4E-4120-8426-714380EE502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7E45-CE50-45F6-AFAF-BBEC857663A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9D250-4BD8-4A02-9BB7-6F58C7E277CE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C138-3AA1-47A5-94C5-74E44E949D7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3A78-FB7A-473A-B37B-537E71F8FD3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7C3E-6F24-490F-B5A6-302494F4F6F6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54AD-D593-41AF-9419-80BAB15846A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73113" y="0"/>
            <a:ext cx="7772400" cy="9525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CDFD1E-D31C-4027-98FC-BCB6935708C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alphaModFix amt="33000"/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C601D-D1AA-400D-878E-9B5C6DECE3A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0" y="952500"/>
            <a:ext cx="91440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Continuación…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39800"/>
            <a:ext cx="869949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0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Paginación</a:t>
            </a:r>
            <a:endParaRPr lang="es-AR" sz="20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Técnica que elimina definitivamente la fragmentación externa.</a:t>
            </a: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idea: Dividir el programa en bloques de tamaño fijo. El tamaño es una potencia de 2 y puede ir entre 512bytes a 16mb </a:t>
            </a: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(en la última versión de </a:t>
            </a:r>
            <a:r>
              <a:rPr lang="es-AR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Silberchatz</a:t>
            </a: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es entre 4Kb y 1Gb)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Un programa puede residir en varias páginas no contiguas en la memoria.</a:t>
            </a: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Las páginas disponibles en memoria se llaman </a:t>
            </a:r>
            <a:r>
              <a:rPr lang="es-AR" sz="2000" dirty="0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marcos de página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s-AR" sz="2000" dirty="0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page </a:t>
            </a:r>
            <a:r>
              <a:rPr lang="es-AR" sz="2000" dirty="0" err="1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frames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Toda dirección lógica se descompone en dos partes: </a:t>
            </a:r>
            <a:r>
              <a:rPr lang="es-AR" sz="2000" dirty="0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número de página 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 </a:t>
            </a:r>
            <a:r>
              <a:rPr lang="es-AR" sz="2000" dirty="0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desplazamiento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Para ejecutar un programa de tamaño n páginas, se requieren n marcos libres y cargar el programa en ellos. Se asigna memoria a un proceso siempre que haya memoria total suficiente.</a:t>
            </a:r>
          </a:p>
          <a:p>
            <a:pPr marL="266700" indent="-2667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MMU se encarga de asociar cada número de página lógico con el marco de página físico. Para ello emplea una </a:t>
            </a:r>
            <a:r>
              <a:rPr lang="es-AR" sz="2000" dirty="0" smtClean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tabla de páginas.</a:t>
            </a:r>
            <a:r>
              <a:rPr lang="es-AR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Esta tabla se encuentra en la memoria principal.</a:t>
            </a:r>
            <a:endParaRPr lang="es-AR" sz="2000" dirty="0" smtClean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ón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generada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por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la CPU se divide en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lvl="1" algn="just">
              <a:lnSpc>
                <a:spcPct val="90000"/>
              </a:lnSpc>
              <a:spcBef>
                <a:spcPts val="600"/>
              </a:spcBef>
            </a:pPr>
            <a:r>
              <a:rPr lang="en-US" sz="2000" dirty="0" err="1" smtClean="0">
                <a:solidFill>
                  <a:srgbClr val="7030A0"/>
                </a:solidFill>
                <a:latin typeface="Arial" charset="0"/>
              </a:rPr>
              <a:t>n</a:t>
            </a:r>
            <a:r>
              <a:rPr lang="en-US" altLang="ja-JP" sz="2000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úmero</a:t>
            </a:r>
            <a:r>
              <a:rPr lang="en-US" altLang="ja-JP" sz="2000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2000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página</a:t>
            </a:r>
            <a:r>
              <a:rPr lang="en-US" altLang="ja-JP" sz="2000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sz="2000" dirty="0" smtClean="0">
                <a:solidFill>
                  <a:srgbClr val="7030A0"/>
                </a:solidFill>
                <a:latin typeface="Arial" charset="0"/>
              </a:rPr>
              <a:t>(</a:t>
            </a:r>
            <a:r>
              <a:rPr lang="en-US" sz="2000" i="1" dirty="0" smtClean="0">
                <a:solidFill>
                  <a:srgbClr val="7030A0"/>
                </a:solidFill>
                <a:latin typeface="Arial" charset="0"/>
              </a:rPr>
              <a:t>p</a:t>
            </a:r>
            <a:r>
              <a:rPr lang="en-US" sz="2000" dirty="0" smtClean="0">
                <a:solidFill>
                  <a:srgbClr val="7030A0"/>
                </a:solidFill>
                <a:latin typeface="Arial" charset="0"/>
              </a:rPr>
              <a:t>):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se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usa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como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índice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a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una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tabla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que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contiene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la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dirección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cada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la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memoria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física</a:t>
            </a:r>
            <a:endParaRPr lang="en-US" altLang="ja-JP" sz="20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lvl="1" algn="just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desplazamiento</a:t>
            </a:r>
            <a:r>
              <a:rPr lang="en-US" altLang="ja-JP" sz="2000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en la </a:t>
            </a:r>
            <a:r>
              <a:rPr lang="en-US" altLang="ja-JP" sz="2000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página</a:t>
            </a:r>
            <a:r>
              <a:rPr lang="en-US" sz="2000" dirty="0" smtClean="0">
                <a:solidFill>
                  <a:srgbClr val="7030A0"/>
                </a:solidFill>
                <a:latin typeface="Arial" charset="0"/>
              </a:rPr>
              <a:t> (d)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: se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combina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con la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ón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básica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para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definir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la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dirección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memoria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que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se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envía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a la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unidad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memoria</a:t>
            </a: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lvl="1" algn="just">
              <a:lnSpc>
                <a:spcPct val="90000"/>
              </a:lnSpc>
              <a:buFont typeface="Times" pitchFamily="-109" charset="0"/>
              <a:buNone/>
            </a:pP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para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un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espacio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direcciones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2</a:t>
            </a:r>
            <a:r>
              <a:rPr lang="en-US" sz="2000" i="1" baseline="30000" dirty="0" smtClean="0">
                <a:solidFill>
                  <a:schemeClr val="tx1"/>
                </a:solidFill>
                <a:latin typeface="Arial" charset="0"/>
              </a:rPr>
              <a:t>m 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y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altLang="ja-JP" sz="20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áginas</a:t>
            </a:r>
            <a:r>
              <a:rPr lang="en-US" altLang="ja-JP" sz="20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</a:t>
            </a:r>
            <a:r>
              <a:rPr lang="en-US" sz="2000" i="1" baseline="30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i="1" dirty="0" smtClean="0">
                <a:solidFill>
                  <a:schemeClr val="tx1"/>
                </a:solidFill>
                <a:latin typeface="Arial" charset="0"/>
              </a:rPr>
              <a:t>2</a:t>
            </a:r>
            <a:r>
              <a:rPr lang="en-US" sz="2000" baseline="30000" dirty="0" smtClean="0">
                <a:solidFill>
                  <a:schemeClr val="tx1"/>
                </a:solidFill>
                <a:latin typeface="Arial" charset="0"/>
              </a:rPr>
              <a:t>n 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bytes</a:t>
            </a:r>
          </a:p>
          <a:p>
            <a:pPr lvl="1" algn="just">
              <a:lnSpc>
                <a:spcPct val="90000"/>
              </a:lnSpc>
              <a:buFont typeface="Times" pitchFamily="-109" charset="0"/>
              <a:buNone/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just">
              <a:lnSpc>
                <a:spcPct val="90000"/>
              </a:lnSpc>
              <a:buFont typeface="Times" pitchFamily="-109" charset="0"/>
              <a:buNone/>
            </a:pP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Como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cada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proceso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suele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haber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puebe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haber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varias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tablas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cargadas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en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debido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hay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varios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procesos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),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esto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los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procesadores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tienen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un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registro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llamado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RBTP (Reg. Base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)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contiene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comienzo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activa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0" lvl="1" algn="just">
              <a:lnSpc>
                <a:spcPct val="90000"/>
              </a:lnSpc>
              <a:buFont typeface="Times" pitchFamily="-109" charset="0"/>
              <a:buNone/>
            </a:pP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La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dada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será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0" lvl="1" algn="just">
              <a:lnSpc>
                <a:spcPct val="90000"/>
              </a:lnSpc>
              <a:buFont typeface="Times" pitchFamily="-109" charset="0"/>
              <a:buNone/>
            </a:pP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        Dir.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= RBTP +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nro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*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tamaño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6" name="15 Grupo"/>
          <p:cNvGrpSpPr/>
          <p:nvPr/>
        </p:nvGrpSpPr>
        <p:grpSpPr>
          <a:xfrm>
            <a:off x="2449699" y="2698696"/>
            <a:ext cx="3314915" cy="1304627"/>
            <a:chOff x="2655888" y="3451731"/>
            <a:chExt cx="3314915" cy="1304627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655888" y="4008438"/>
              <a:ext cx="3105150" cy="43815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" sz="16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4289425" y="3652838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AR" sz="16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848132" y="3454906"/>
              <a:ext cx="108395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</a:t>
              </a:r>
              <a:r>
                <a:rPr lang="en-US" altLang="ja-JP" sz="1600" dirty="0" err="1">
                  <a:solidFill>
                    <a:schemeClr val="tx1"/>
                  </a:solidFill>
                  <a:latin typeface="Arial" pitchFamily="34" charset="0"/>
                  <a:ea typeface="ヒラギノ角ゴ Pro W3" pitchFamily="-109" charset="-128"/>
                  <a:cs typeface="Arial" pitchFamily="34" charset="0"/>
                </a:rPr>
                <a:t>úmero</a:t>
              </a:r>
              <a:r>
                <a:rPr lang="en-US" altLang="ja-JP" sz="1600" dirty="0">
                  <a:solidFill>
                    <a:schemeClr val="tx1"/>
                  </a:solidFill>
                  <a:latin typeface="Arial" pitchFamily="34" charset="0"/>
                  <a:ea typeface="ヒラギノ角ゴ Pro W3" pitchFamily="-109" charset="-128"/>
                  <a:cs typeface="Arial" pitchFamily="34" charset="0"/>
                </a:rPr>
                <a:t> </a:t>
              </a:r>
              <a:endParaRPr lang="en-US" altLang="ja-JP" sz="1600" dirty="0" smtClean="0">
                <a:solidFill>
                  <a:schemeClr val="tx1"/>
                </a:solidFill>
                <a:latin typeface="Arial" pitchFamily="34" charset="0"/>
                <a:ea typeface="ヒラギノ角ゴ Pro W3" pitchFamily="-109" charset="-128"/>
                <a:cs typeface="Arial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altLang="ja-JP" sz="1600" dirty="0" smtClean="0">
                  <a:solidFill>
                    <a:schemeClr val="tx1"/>
                  </a:solidFill>
                  <a:latin typeface="Arial" pitchFamily="34" charset="0"/>
                  <a:ea typeface="ヒラギノ角ゴ Pro W3" pitchFamily="-109" charset="-128"/>
                  <a:cs typeface="Arial" pitchFamily="34" charset="0"/>
                </a:rPr>
                <a:t>de </a:t>
              </a:r>
              <a:r>
                <a:rPr lang="en-US" altLang="ja-JP" sz="1600" dirty="0" err="1">
                  <a:solidFill>
                    <a:schemeClr val="tx1"/>
                  </a:solidFill>
                  <a:latin typeface="Arial" pitchFamily="34" charset="0"/>
                  <a:ea typeface="ヒラギノ角ゴ Pro W3" pitchFamily="-109" charset="-128"/>
                  <a:cs typeface="Arial" pitchFamily="34" charset="0"/>
                </a:rPr>
                <a:t>página</a:t>
              </a:r>
              <a:endPara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317786" y="3451731"/>
              <a:ext cx="165301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Desplazamiento</a:t>
              </a:r>
              <a:endPara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16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en la </a:t>
              </a:r>
              <a:r>
                <a:rPr lang="en-US" sz="1600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p</a:t>
              </a:r>
              <a:r>
                <a:rPr lang="en-US" altLang="ja-JP" sz="1600" dirty="0" err="1">
                  <a:solidFill>
                    <a:schemeClr val="tx1"/>
                  </a:solidFill>
                  <a:latin typeface="Arial" pitchFamily="34" charset="0"/>
                  <a:ea typeface="ヒラギノ角ゴ Pro W3" pitchFamily="-109" charset="-128"/>
                  <a:cs typeface="Arial" pitchFamily="34" charset="0"/>
                </a:rPr>
                <a:t>ágina</a:t>
              </a:r>
              <a:endPara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158552" y="4036804"/>
              <a:ext cx="41389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 p</a:t>
              </a:r>
              <a:endPara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463670" y="4066967"/>
              <a:ext cx="70243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      d</a:t>
              </a:r>
              <a:endPara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2978150" y="4408279"/>
              <a:ext cx="7937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m - n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4575174" y="4417804"/>
              <a:ext cx="8223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 n</a:t>
              </a:r>
              <a:endParaRPr lang="en-US" sz="16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702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Arial" charset="0"/>
              </a:rPr>
              <a:t>Hardware de </a:t>
            </a:r>
            <a:r>
              <a:rPr lang="en-US" sz="2000" b="1" dirty="0" err="1" smtClean="0">
                <a:solidFill>
                  <a:schemeClr val="tx1"/>
                </a:solidFill>
                <a:latin typeface="Arial" charset="0"/>
              </a:rPr>
              <a:t>paginación</a:t>
            </a:r>
            <a:r>
              <a:rPr lang="en-US" sz="2000" b="1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n-US" sz="1800" b="1" dirty="0" err="1" smtClean="0">
                <a:solidFill>
                  <a:schemeClr val="tx1"/>
                </a:solidFill>
                <a:latin typeface="Arial" charset="0"/>
              </a:rPr>
              <a:t>Pasos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342900" indent="-342900" algn="just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Se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extrae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número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i="1" dirty="0" smtClean="0">
                <a:solidFill>
                  <a:srgbClr val="7030A0"/>
                </a:solidFill>
                <a:latin typeface="Arial" charset="0"/>
              </a:rPr>
              <a:t>p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división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entera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entre la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y el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tamaño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 y se lo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usa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como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índice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342900" indent="-342900" algn="just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De la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, en se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obtiene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número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frame </a:t>
            </a:r>
            <a:r>
              <a:rPr lang="en-US" sz="1800" i="1" dirty="0" smtClean="0">
                <a:solidFill>
                  <a:srgbClr val="7030A0"/>
                </a:solidFill>
                <a:latin typeface="Arial" charset="0"/>
              </a:rPr>
              <a:t>f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342900" indent="-342900" algn="just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Se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reemplaza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número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i="1" dirty="0" smtClean="0">
                <a:solidFill>
                  <a:srgbClr val="7030A0"/>
                </a:solidFill>
                <a:latin typeface="Arial" charset="0"/>
              </a:rPr>
              <a:t>p 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en la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con el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número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frame </a:t>
            </a:r>
            <a:r>
              <a:rPr lang="en-US" sz="1800" i="1" dirty="0" smtClean="0">
                <a:solidFill>
                  <a:srgbClr val="7030A0"/>
                </a:solidFill>
                <a:latin typeface="Arial" charset="0"/>
              </a:rPr>
              <a:t>f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342900" indent="-342900" algn="just">
              <a:lnSpc>
                <a:spcPct val="90000"/>
              </a:lnSpc>
              <a:spcBef>
                <a:spcPts val="600"/>
              </a:spcBef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(el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desplazamiento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se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obtener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como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resto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entre la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y el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tamaño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18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0846" y="1492623"/>
            <a:ext cx="4578724" cy="2544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Ejemplo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traducción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Supongamos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16 bits, con </a:t>
            </a:r>
            <a:r>
              <a:rPr lang="en-US" sz="20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2000" dirty="0" smtClean="0">
                <a:solidFill>
                  <a:schemeClr val="tx1"/>
                </a:solidFill>
                <a:latin typeface="Arial" charset="0"/>
              </a:rPr>
              <a:t> de 4kb</a:t>
            </a: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4450" y="2162175"/>
            <a:ext cx="5651459" cy="3595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1092200"/>
            <a:ext cx="8699499" cy="139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Ejemplo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páginación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con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32 bytes y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4 bytes.</a:t>
            </a:r>
          </a:p>
          <a:p>
            <a:pPr algn="just">
              <a:lnSpc>
                <a:spcPct val="90000"/>
              </a:lnSpc>
            </a:pP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Modelo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paginación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n-US" sz="1800" dirty="0" err="1" smtClean="0">
                <a:solidFill>
                  <a:schemeClr val="tx1"/>
                </a:solidFill>
                <a:latin typeface="Arial" charset="0"/>
              </a:rPr>
              <a:t>física</a:t>
            </a:r>
            <a:endParaRPr lang="en-US" sz="18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18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9720" y="2708275"/>
            <a:ext cx="735859" cy="212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8744" y="3052420"/>
            <a:ext cx="734332" cy="120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83762" y="1871663"/>
            <a:ext cx="936160" cy="4617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12 Conector recto de flecha"/>
          <p:cNvCxnSpPr/>
          <p:nvPr/>
        </p:nvCxnSpPr>
        <p:spPr>
          <a:xfrm>
            <a:off x="4127500" y="3302000"/>
            <a:ext cx="1270000" cy="1485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>
            <a:off x="4089400" y="3543300"/>
            <a:ext cx="1320800" cy="18161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flipV="1">
            <a:off x="4127500" y="2819400"/>
            <a:ext cx="11938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 flipV="1">
            <a:off x="4102100" y="3352800"/>
            <a:ext cx="1308100" cy="584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>
            <a:off x="2120900" y="2971800"/>
            <a:ext cx="15240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2146300" y="3492500"/>
            <a:ext cx="1498600" cy="127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/>
          <p:nvPr/>
        </p:nvCxnSpPr>
        <p:spPr>
          <a:xfrm flipV="1">
            <a:off x="2171700" y="3759200"/>
            <a:ext cx="1473200" cy="215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flipV="1">
            <a:off x="2159000" y="3937000"/>
            <a:ext cx="1473200" cy="533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39800"/>
            <a:ext cx="8699499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800" b="1" dirty="0" err="1" smtClean="0">
                <a:solidFill>
                  <a:srgbClr val="7030A0"/>
                </a:solidFill>
                <a:latin typeface="Arial" charset="0"/>
              </a:rPr>
              <a:t>Gestión</a:t>
            </a:r>
            <a:r>
              <a:rPr lang="en-US" sz="1800" b="1" dirty="0" smtClean="0">
                <a:solidFill>
                  <a:srgbClr val="7030A0"/>
                </a:solidFill>
                <a:latin typeface="Arial" charset="0"/>
              </a:rPr>
              <a:t> del </a:t>
            </a:r>
            <a:r>
              <a:rPr lang="en-US" sz="1800" b="1" dirty="0" err="1" smtClean="0">
                <a:solidFill>
                  <a:srgbClr val="7030A0"/>
                </a:solidFill>
                <a:latin typeface="Arial" charset="0"/>
              </a:rPr>
              <a:t>espacio</a:t>
            </a:r>
            <a:r>
              <a:rPr lang="en-US" sz="18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800" b="1" dirty="0" err="1" smtClean="0">
                <a:solidFill>
                  <a:srgbClr val="7030A0"/>
                </a:solidFill>
                <a:latin typeface="Arial" charset="0"/>
              </a:rPr>
              <a:t>libre</a:t>
            </a:r>
            <a:r>
              <a:rPr lang="en-US" sz="1800" b="1" dirty="0" smtClean="0">
                <a:solidFill>
                  <a:srgbClr val="7030A0"/>
                </a:solidFill>
                <a:latin typeface="Arial" charset="0"/>
              </a:rPr>
              <a:t> en </a:t>
            </a:r>
            <a:r>
              <a:rPr lang="en-US" sz="1800" b="1" dirty="0" err="1" smtClean="0">
                <a:solidFill>
                  <a:srgbClr val="7030A0"/>
                </a:solidFill>
                <a:latin typeface="Arial" charset="0"/>
              </a:rPr>
              <a:t>paginación</a:t>
            </a:r>
            <a:r>
              <a:rPr lang="en-US" sz="1800" b="1" dirty="0" smtClean="0">
                <a:solidFill>
                  <a:srgbClr val="7030A0"/>
                </a:solidFill>
                <a:latin typeface="Arial" charset="0"/>
              </a:rPr>
              <a:t>:</a:t>
            </a:r>
          </a:p>
          <a:p>
            <a:pPr algn="just">
              <a:lnSpc>
                <a:spcPct val="90000"/>
              </a:lnSpc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La gestión del espacio libre consiste simplemente en saber qué marcos están libres</a:t>
            </a:r>
          </a:p>
          <a:p>
            <a:pPr algn="just">
              <a:lnSpc>
                <a:spcPct val="90000"/>
              </a:lnSpc>
            </a:pPr>
            <a:endParaRPr lang="es-AR" sz="18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El SO posee una </a:t>
            </a:r>
            <a:r>
              <a:rPr lang="es-AR" sz="1800" dirty="0" smtClean="0">
                <a:solidFill>
                  <a:srgbClr val="7030A0"/>
                </a:solidFill>
                <a:latin typeface="Arial" charset="0"/>
              </a:rPr>
              <a:t>tabla de marcos de páginas </a:t>
            </a: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(TMP) que se puede implementar con  con un mapa de bits</a:t>
            </a:r>
            <a:endParaRPr lang="en-US" sz="18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7288" y="2747963"/>
            <a:ext cx="1914525" cy="3038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81563" y="2776538"/>
            <a:ext cx="2257425" cy="3000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9 CuadroTexto"/>
          <p:cNvSpPr txBox="1"/>
          <p:nvPr/>
        </p:nvSpPr>
        <p:spPr>
          <a:xfrm>
            <a:off x="914399" y="5866507"/>
            <a:ext cx="2190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Estado inicial de la tabla antes de cargar un proceso</a:t>
            </a:r>
          </a:p>
          <a:p>
            <a:pPr algn="just"/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AR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4886324" y="5866507"/>
            <a:ext cx="23907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Estado final de la tabla antes de cargar un proceso de 4 páginas</a:t>
            </a:r>
          </a:p>
          <a:p>
            <a:pPr algn="just"/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AR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58225" cy="700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s-AR" sz="1800" b="1" dirty="0" smtClean="0">
                <a:solidFill>
                  <a:srgbClr val="7030A0"/>
                </a:solidFill>
                <a:latin typeface="Arial" charset="0"/>
              </a:rPr>
              <a:t>TLB (</a:t>
            </a:r>
            <a:r>
              <a:rPr lang="es-AR" sz="1800" b="1" dirty="0" err="1" smtClean="0">
                <a:solidFill>
                  <a:srgbClr val="7030A0"/>
                </a:solidFill>
                <a:latin typeface="Arial" charset="0"/>
              </a:rPr>
              <a:t>Translation</a:t>
            </a:r>
            <a:r>
              <a:rPr lang="es-AR" sz="18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800" b="1" dirty="0" err="1" smtClean="0">
                <a:solidFill>
                  <a:srgbClr val="7030A0"/>
                </a:solidFill>
                <a:latin typeface="Arial" charset="0"/>
              </a:rPr>
              <a:t>Lookaside</a:t>
            </a:r>
            <a:r>
              <a:rPr lang="es-AR" sz="1800" b="1" dirty="0" smtClean="0">
                <a:solidFill>
                  <a:srgbClr val="7030A0"/>
                </a:solidFill>
                <a:latin typeface="Arial" charset="0"/>
              </a:rPr>
              <a:t> Buffer:   </a:t>
            </a:r>
            <a:r>
              <a:rPr lang="es-AR" sz="1800" dirty="0" smtClean="0">
                <a:solidFill>
                  <a:srgbClr val="7030A0"/>
                </a:solidFill>
                <a:latin typeface="Arial" charset="0"/>
              </a:rPr>
              <a:t>buffer de traducción adelantada o registros asociativos)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Qué es: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Pequeña caché dentro del procesador 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Contiene unas pocas entradas de la TP (entre 8 y 2048 entradas. Por ej.</a:t>
            </a:r>
            <a:r>
              <a:rPr lang="es-AR" sz="1400" dirty="0" smtClean="0">
                <a:solidFill>
                  <a:schemeClr val="tx1"/>
                </a:solidFill>
                <a:latin typeface="Arial" charset="0"/>
              </a:rPr>
              <a:t> 80486 tiene 32 entradas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Tiempo de acceso muy rápido (igual que acceder a un registro de la CPU)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Para qué: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Acelera el tiempo de traducción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Evita accesos a la TP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Esquema del hardware de paginación con TBL</a:t>
            </a:r>
          </a:p>
          <a:p>
            <a:pPr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7975" y="3915448"/>
            <a:ext cx="3771900" cy="276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583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Funcionamiento de la TBL</a:t>
            </a:r>
          </a:p>
          <a:p>
            <a:pPr marL="180975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Contiene un conjunto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tuplas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&lt;página lógica P, marco físico M&gt;</a:t>
            </a:r>
          </a:p>
          <a:p>
            <a:pPr marL="180975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Cuando se quiere resolver una dirección y la página lógica es P, se busca P en todas las entradas de la TLB, simultáneamente.</a:t>
            </a:r>
          </a:p>
          <a:p>
            <a:pPr marL="638175" lvl="1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 P se encuentra en la TLB, se obtiene el marco M de la página P y no hace falta acceder a la TP (</a:t>
            </a: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acierto de TLB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).</a:t>
            </a:r>
          </a:p>
          <a:p>
            <a:pPr marL="638175" lvl="1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 no se encuentra (</a:t>
            </a: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fallo de TLB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), se accede a la TP y se actualiza la TLB con la información de P y M.</a:t>
            </a:r>
          </a:p>
          <a:p>
            <a:pPr marL="638175" lvl="1" indent="-180975" algn="just">
              <a:lnSpc>
                <a:spcPct val="90000"/>
              </a:lnSpc>
              <a:spcBef>
                <a:spcPts val="600"/>
              </a:spcBef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just">
              <a:lnSpc>
                <a:spcPct val="90000"/>
              </a:lnSpc>
              <a:spcBef>
                <a:spcPts val="600"/>
              </a:spcBef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TLB: situaciones especiales</a:t>
            </a:r>
          </a:p>
          <a:p>
            <a:pPr marL="2152650" lvl="1" indent="-2152650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r>
              <a:rPr lang="es-AR" sz="1600" dirty="0" smtClean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Fallo de TLB llena  </a:t>
            </a:r>
            <a:r>
              <a:rPr lang="es-AR" sz="2800" dirty="0" smtClean="0">
                <a:solidFill>
                  <a:srgbClr val="00B0F0"/>
                </a:solidFill>
                <a:latin typeface="Arial" charset="0"/>
              </a:rPr>
              <a:t>→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hay que reemplazar una de las actuales entradas…  </a:t>
            </a:r>
          </a:p>
          <a:p>
            <a:pPr marL="2152650" lvl="1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¿cuál de ellas? </a:t>
            </a:r>
            <a:r>
              <a:rPr lang="es-AR" sz="1600" dirty="0" smtClean="0">
                <a:solidFill>
                  <a:srgbClr val="00B0F0"/>
                </a:solidFill>
                <a:latin typeface="Arial" charset="0"/>
              </a:rPr>
              <a:t>→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la más vieja, la menos usada, al azar…</a:t>
            </a:r>
          </a:p>
          <a:p>
            <a:pPr marL="2152650" lvl="1" indent="-2152650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2514600" lvl="1" indent="-2514600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r>
              <a:rPr lang="es-AR" sz="1600" dirty="0" smtClean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Cambio de contexto  </a:t>
            </a:r>
            <a:r>
              <a:rPr lang="es-AR" sz="2800" dirty="0" smtClean="0">
                <a:solidFill>
                  <a:srgbClr val="00B0F0"/>
                </a:solidFill>
                <a:latin typeface="Arial" charset="0"/>
              </a:rPr>
              <a:t>→</a:t>
            </a:r>
            <a:r>
              <a:rPr lang="es-AR" sz="1050" dirty="0" smtClean="0">
                <a:solidFill>
                  <a:schemeClr val="tx1"/>
                </a:solidFill>
                <a:latin typeface="Arial" charset="0"/>
              </a:rPr>
              <a:t> 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hay que vaciar la TLB, o cargarla con el contenido que tenía el proceso que entra en CPU.</a:t>
            </a:r>
          </a:p>
          <a:p>
            <a:pPr marL="2514600" lvl="1" indent="-2514600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447675" lvl="1" indent="-447675" algn="just">
              <a:lnSpc>
                <a:spcPct val="90000"/>
              </a:lnSpc>
              <a:spcBef>
                <a:spcPts val="600"/>
              </a:spcBef>
              <a:tabLst>
                <a:tab pos="2152650" algn="l"/>
              </a:tabLs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Tasa de aciertos: 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porcentaje de las veces que un número de página se encuentra en los registros asociativos. Pueden obtenerse tasas de aciertos entre 80 y 98%.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just">
              <a:lnSpc>
                <a:spcPct val="90000"/>
              </a:lnSpc>
            </a:pPr>
            <a:endParaRPr lang="en-US" sz="1600" dirty="0" smtClean="0">
              <a:solidFill>
                <a:srgbClr val="7030A0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2000" dirty="0" smtClean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385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Tamaño de la página: ¿pequeñas o grandes?</a:t>
            </a:r>
          </a:p>
          <a:p>
            <a:pPr algn="just">
              <a:lnSpc>
                <a:spcPct val="90000"/>
              </a:lnSpc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endParaRPr lang="es-AR" sz="1600" b="1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Protección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Las páginas pueden tener asignados bits de protección (ej. lectura, escritura, ejecución).</a:t>
            </a:r>
          </a:p>
          <a:p>
            <a:pPr marL="180975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También hay que protegerse de accesos fuera de límites del espacio lógico. Posibles medidas:</a:t>
            </a:r>
          </a:p>
          <a:p>
            <a:pPr marL="638175" lvl="1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Bit de validez (entradas marcadas como no válidas)</a:t>
            </a:r>
          </a:p>
          <a:p>
            <a:pPr marL="638175" lvl="1" indent="-180975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Registro de longitud de la tabla de páginas (RLTP)</a:t>
            </a:r>
          </a:p>
          <a:p>
            <a:pPr marL="638175" lvl="1" indent="-180975" algn="just">
              <a:lnSpc>
                <a:spcPct val="90000"/>
              </a:lnSpc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638175" lvl="1" indent="-180975" algn="just">
              <a:lnSpc>
                <a:spcPct val="90000"/>
              </a:lnSpc>
              <a:buFont typeface="Arial" pitchFamily="34" charset="0"/>
              <a:buChar char="•"/>
            </a:pPr>
            <a:endParaRPr lang="es-AR" sz="1600" b="1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Páginas compartidas</a:t>
            </a:r>
          </a:p>
          <a:p>
            <a:pPr marL="180975" indent="-180975" algn="just">
              <a:lnSpc>
                <a:spcPct val="90000"/>
              </a:lnSpc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552448" y="1358903"/>
          <a:ext cx="8105776" cy="99731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52888"/>
                <a:gridCol w="4052888"/>
              </a:tblGrid>
              <a:tr h="2917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 smtClean="0"/>
                        <a:t>Pequeño</a:t>
                      </a:r>
                      <a:endParaRPr lang="es-AR" sz="1400" dirty="0" smtClean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 smtClean="0"/>
                        <a:t>Grande</a:t>
                      </a:r>
                      <a:endParaRPr lang="es-AR" sz="1400" dirty="0" smtClean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/>
                </a:tc>
              </a:tr>
              <a:tr h="692518">
                <a:tc>
                  <a:txBody>
                    <a:bodyPr/>
                    <a:lstStyle/>
                    <a:p>
                      <a:pPr marL="180975" indent="-180975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s-AR" sz="1400" dirty="0" smtClean="0"/>
                        <a:t>Mejora fragmentación interna</a:t>
                      </a:r>
                    </a:p>
                    <a:p>
                      <a:pPr marL="180975" indent="-180975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s-AR" sz="1400" dirty="0" smtClean="0"/>
                        <a:t>Aumenta el tamaño de la tabla de página</a:t>
                      </a:r>
                      <a:endParaRPr lang="es-A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s-AR" sz="1400" dirty="0" smtClean="0"/>
                        <a:t>Peor desde el punto de vista de la fragmentación interna</a:t>
                      </a:r>
                    </a:p>
                    <a:p>
                      <a:pPr marL="180975" indent="-180975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s-AR" sz="1400" dirty="0" smtClean="0"/>
                        <a:t>Tamaño de las tablas de páginas menor</a:t>
                      </a:r>
                      <a:endParaRPr lang="es-AR" sz="1400" dirty="0" smtClean="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12 CuadroTexto"/>
          <p:cNvSpPr txBox="1"/>
          <p:nvPr/>
        </p:nvSpPr>
        <p:spPr>
          <a:xfrm>
            <a:off x="177800" y="4610101"/>
            <a:ext cx="5194300" cy="2332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C</a:t>
            </a:r>
            <a:r>
              <a:rPr lang="en-US" altLang="ja-JP" sz="1600" b="1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ódigo</a:t>
            </a:r>
            <a:r>
              <a:rPr lang="en-US" altLang="ja-JP" sz="1600" b="1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b="1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compartido</a:t>
            </a:r>
            <a:r>
              <a:rPr lang="en-US" altLang="ja-JP" sz="1600" b="1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copia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ódigo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sólo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lectura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(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reentrante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)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compartido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por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varios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procesos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(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p.ej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.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editores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texto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,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compiladores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, etc) 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just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ódigo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compartido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debe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estar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el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mismo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lugar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el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espacio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direcciones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lógicas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todos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los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procesos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C</a:t>
            </a:r>
            <a:r>
              <a:rPr lang="en-US" altLang="ja-JP" sz="1600" b="1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ódigo</a:t>
            </a:r>
            <a:r>
              <a:rPr lang="en-US" altLang="ja-JP" sz="1600" b="1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y </a:t>
            </a:r>
            <a:r>
              <a:rPr lang="en-US" altLang="ja-JP" sz="1600" b="1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datos</a:t>
            </a:r>
            <a:r>
              <a:rPr lang="en-US" altLang="ja-JP" sz="1600" b="1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b="1" dirty="0" err="1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privados</a:t>
            </a:r>
            <a:r>
              <a:rPr lang="en-US" altLang="ja-JP" sz="1600" b="1" dirty="0" smtClean="0">
                <a:solidFill>
                  <a:srgbClr val="7030A0"/>
                </a:solidFill>
                <a:latin typeface="Arial" charset="0"/>
                <a:ea typeface="ヒラギノ角ゴ Pro W3" pitchFamily="-109" charset="-128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proceso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tiene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copia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separada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ódigo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.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just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Las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para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el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código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privado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pueden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estar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cualquier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lado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el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espacio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direcciones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lógicas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/>
            <a:endParaRPr lang="es-AR" sz="16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2060" y="3815924"/>
            <a:ext cx="2982679" cy="292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Estructura de tablas de páginas</a:t>
            </a:r>
          </a:p>
          <a:p>
            <a:pPr algn="just">
              <a:lnSpc>
                <a:spcPct val="90000"/>
              </a:lnSpc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s-AR" sz="1600" dirty="0" smtClean="0">
                <a:solidFill>
                  <a:srgbClr val="002060"/>
                </a:solidFill>
                <a:latin typeface="Arial" charset="0"/>
              </a:rPr>
              <a:t>Problema: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En una arquitectura de direcciones de 32 bits, con páginas de 4Kb, la tabla de páginas de un proceso podría llegar a ocupar 4 megas (2^32/2^12) (Suponiendo que cada entrada ocupe 4 bytes, queda 4*2^20= 4Mb). (peor si trabajamos con 48 o 64 bits)</a:t>
            </a:r>
          </a:p>
          <a:p>
            <a:pPr algn="just"/>
            <a:r>
              <a:rPr lang="es-AR" sz="1600" dirty="0" smtClean="0">
                <a:solidFill>
                  <a:srgbClr val="002060"/>
                </a:solidFill>
                <a:latin typeface="Arial" charset="0"/>
              </a:rPr>
              <a:t>Solución “fácil”: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aumentar el tamaño de página  </a:t>
            </a:r>
            <a:r>
              <a:rPr lang="es-AR" sz="2800" dirty="0" smtClean="0">
                <a:solidFill>
                  <a:schemeClr val="tx1"/>
                </a:solidFill>
                <a:latin typeface="Arial" charset="0"/>
              </a:rPr>
              <a:t>→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aumenta la fragmentación interna</a:t>
            </a:r>
          </a:p>
          <a:p>
            <a:pPr algn="just"/>
            <a:r>
              <a:rPr lang="es-AR" sz="1600" dirty="0" smtClean="0">
                <a:solidFill>
                  <a:srgbClr val="002060"/>
                </a:solidFill>
                <a:latin typeface="Arial" charset="0"/>
              </a:rPr>
              <a:t>Soluciones más sofisticadas:</a:t>
            </a:r>
          </a:p>
          <a:p>
            <a:pPr marL="177800" indent="-177800"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rgbClr val="FF0000"/>
                </a:solidFill>
                <a:latin typeface="Arial" charset="0"/>
              </a:rPr>
              <a:t>Paginación jerárquica</a:t>
            </a:r>
          </a:p>
          <a:p>
            <a:pPr marL="177800" indent="-177800"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rgbClr val="FF0000"/>
                </a:solidFill>
                <a:latin typeface="Arial" charset="0"/>
              </a:rPr>
              <a:t>Tabla hash de páginas (tabla </a:t>
            </a:r>
            <a:r>
              <a:rPr lang="es-AR" sz="1600" dirty="0" err="1" smtClean="0">
                <a:solidFill>
                  <a:srgbClr val="FF0000"/>
                </a:solidFill>
                <a:latin typeface="Arial" charset="0"/>
              </a:rPr>
              <a:t>hasheada</a:t>
            </a:r>
            <a:r>
              <a:rPr lang="es-AR" sz="1600" dirty="0" smtClean="0">
                <a:solidFill>
                  <a:srgbClr val="FF0000"/>
                </a:solidFill>
                <a:latin typeface="Arial" charset="0"/>
              </a:rPr>
              <a:t>)</a:t>
            </a:r>
          </a:p>
          <a:p>
            <a:pPr marL="177800" indent="-177800"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rgbClr val="FF0000"/>
                </a:solidFill>
                <a:latin typeface="Arial" charset="0"/>
              </a:rPr>
              <a:t>Tabla de páginas invertida</a:t>
            </a:r>
          </a:p>
          <a:p>
            <a:pPr marL="177800" indent="-177800" algn="just"/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77800" indent="-177800" algn="just"/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Tablas de páginas Jerárquicas </a:t>
            </a:r>
          </a:p>
          <a:p>
            <a:pPr marL="177800" indent="-177800"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divide el espacio de direcciones lógicas en múltiples tablas de páginas</a:t>
            </a:r>
          </a:p>
          <a:p>
            <a:pPr marL="177800" indent="-177800"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una técnica simple: una tabla de páginas de dos niveles</a:t>
            </a:r>
          </a:p>
          <a:p>
            <a:pPr marL="177800" indent="-177800" algn="just"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77800" indent="-177800" algn="just"/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Formato de dirección lógica                                  Esquema:</a:t>
            </a:r>
          </a:p>
          <a:p>
            <a:pPr marL="177800" indent="-177800" algn="just"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793" y="5109233"/>
            <a:ext cx="2240936" cy="495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83963" y="4356100"/>
            <a:ext cx="2427543" cy="2501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52500"/>
            <a:ext cx="8699499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ejemplo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  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Paginación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2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niveles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algn="just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Supongamos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ón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lógica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(en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áquina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32-bits con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tamaño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1K) se divide en:</a:t>
            </a:r>
          </a:p>
          <a:p>
            <a:pPr marL="723900" lvl="1" indent="-2667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úmero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 de bits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para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22 bits</a:t>
            </a:r>
          </a:p>
          <a:p>
            <a:pPr marL="723900" lvl="1" indent="-2667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desplazamiento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ágina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10 bits</a:t>
            </a:r>
          </a:p>
          <a:p>
            <a:pPr algn="just">
              <a:lnSpc>
                <a:spcPct val="90000"/>
              </a:lnSpc>
            </a:pPr>
            <a:endParaRPr lang="en-US" altLang="ja-JP" sz="16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Debido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a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que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la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tabla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tambien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paginada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, el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número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se divide en: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723900" lvl="2" indent="-2667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</a:rPr>
              <a:t>úmero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</a:rPr>
              <a:t> 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12 bits</a:t>
            </a:r>
          </a:p>
          <a:p>
            <a:pPr marL="723900" lvl="2" indent="-2667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desplazamiento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ágina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10 bits</a:t>
            </a:r>
          </a:p>
          <a:p>
            <a:pPr marL="0" lvl="1" algn="l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l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esquema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sería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  <a:br>
              <a:rPr lang="en-US" sz="1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600" dirty="0" smtClean="0">
                <a:solidFill>
                  <a:schemeClr val="tx1"/>
                </a:solidFill>
                <a:latin typeface="Arial" charset="0"/>
              </a:rPr>
            </a:b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l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donde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i="1" dirty="0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sz="1600" i="1" baseline="-25000" dirty="0" smtClean="0">
                <a:solidFill>
                  <a:schemeClr val="tx1"/>
                </a:solidFill>
                <a:latin typeface="Arial" charset="0"/>
              </a:rPr>
              <a:t>1</a:t>
            </a:r>
            <a:r>
              <a:rPr lang="en-US" sz="1600" i="1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un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índice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en la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tabla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exterior, y </a:t>
            </a:r>
            <a:r>
              <a:rPr lang="en-US" sz="1600" i="1" dirty="0" smtClean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sz="1600" i="1" baseline="-25000" dirty="0" smtClean="0">
                <a:solidFill>
                  <a:schemeClr val="tx1"/>
                </a:solidFill>
                <a:latin typeface="Arial" charset="0"/>
              </a:rPr>
              <a:t>2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desplazamiento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dentro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abla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interior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que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contiene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la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asociación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las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páginas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y los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marcos</a:t>
            </a:r>
            <a:r>
              <a:rPr lang="en-US" altLang="ja-JP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altLang="ja-JP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memoria</a:t>
            </a:r>
            <a:endParaRPr lang="en-US" altLang="ja-JP" sz="16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marL="0" lvl="1" algn="l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marL="0" lvl="1" algn="l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marL="0" lvl="1" algn="l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  <a:ea typeface="ヒラギノ角ゴ Pro W3" pitchFamily="-109" charset="-128"/>
            </a:endParaRPr>
          </a:p>
          <a:p>
            <a:pPr marL="0" lvl="1" algn="l">
              <a:lnSpc>
                <a:spcPct val="90000"/>
              </a:lnSpc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Esquema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traducción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direcciones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  <a:ea typeface="ヒラギノ角ゴ Pro W3" pitchFamily="-109" charset="-128"/>
              </a:rPr>
              <a:t>:</a:t>
            </a:r>
          </a:p>
          <a:p>
            <a:pPr marL="0" lvl="1" algn="l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7000" y="3556000"/>
            <a:ext cx="3455988" cy="785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6137" y="5214711"/>
            <a:ext cx="3522661" cy="1461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1874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Tabla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de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Páginas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Hasheada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Permite manejar espacios de direcciones mayores de 32 bits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Utiliza el número de página virtual como un valor hash.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Cada entrada en la tabla hash contiene un puntero a una lista enlazada de elementos donde el hash tuvo la misma ubicación (para manejar colisiones).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Cada elemento de la lista tiene </a:t>
            </a:r>
            <a:r>
              <a:rPr lang="es-AR" sz="1600" u="sng" dirty="0" smtClean="0">
                <a:solidFill>
                  <a:schemeClr val="tx1"/>
                </a:solidFill>
                <a:latin typeface="Arial" charset="0"/>
              </a:rPr>
              <a:t>tres campos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1)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página virtual. 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2)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el valor del marco de la página mapeada.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 3)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un puntero hacia la página siguiente de la lista de enlaces.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6094" y="3508375"/>
            <a:ext cx="4946810" cy="2701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7 CuadroTexto"/>
          <p:cNvSpPr txBox="1"/>
          <p:nvPr/>
        </p:nvSpPr>
        <p:spPr>
          <a:xfrm>
            <a:off x="203201" y="3016982"/>
            <a:ext cx="3898899" cy="3688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Funcionamiento:</a:t>
            </a:r>
          </a:p>
          <a:p>
            <a:pPr marL="342900" indent="-342900" algn="just">
              <a:lnSpc>
                <a:spcPct val="90000"/>
              </a:lnSpc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El número de página virtual de la dirección es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hasheado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en la tabla y accede a la lista y se compara con el numero de página  (campo 1).</a:t>
            </a:r>
          </a:p>
          <a:p>
            <a:pPr marL="342900" indent="-342900" algn="just">
              <a:lnSpc>
                <a:spcPct val="90000"/>
              </a:lnSpc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 hay una coincidencia </a:t>
            </a:r>
            <a:r>
              <a:rPr lang="es-AR" sz="4000" baseline="-8000" dirty="0" smtClean="0">
                <a:solidFill>
                  <a:srgbClr val="FF0000"/>
                </a:solidFill>
                <a:latin typeface="Arial" charset="0"/>
              </a:rPr>
              <a:t>→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el marco de página correspondiente (campo 2) se utiliza para formar la dirección física deseada.</a:t>
            </a:r>
          </a:p>
          <a:p>
            <a:pPr marL="342900" indent="-342900" algn="just">
              <a:lnSpc>
                <a:spcPct val="90000"/>
              </a:lnSpc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 no hay coincidencia </a:t>
            </a:r>
            <a:r>
              <a:rPr lang="es-AR" sz="4000" baseline="-8000" dirty="0" smtClean="0">
                <a:solidFill>
                  <a:srgbClr val="FF0000"/>
                </a:solidFill>
                <a:latin typeface="Arial" charset="0"/>
              </a:rPr>
              <a:t>→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se buscan las entradas siguientes en la lista enlazada en busca de un que coincida con el número de página virtual.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58850"/>
            <a:ext cx="8699499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Tabla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de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Páginas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Invertidas</a:t>
            </a:r>
            <a:endParaRPr lang="en-US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En el sistema hay una sola tabla de páginas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Hay una entrada por cada marco físico de memoria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Cada dirección virtual está formada por:   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&lt;</a:t>
            </a:r>
            <a:r>
              <a:rPr lang="es-AR" sz="1600" dirty="0" err="1" smtClean="0">
                <a:solidFill>
                  <a:srgbClr val="FF00FF"/>
                </a:solidFill>
                <a:latin typeface="Arial" charset="0"/>
              </a:rPr>
              <a:t>id.proceso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, </a:t>
            </a:r>
            <a:r>
              <a:rPr lang="es-AR" sz="1600" dirty="0" err="1" smtClean="0">
                <a:solidFill>
                  <a:srgbClr val="FF00FF"/>
                </a:solidFill>
                <a:latin typeface="Arial" charset="0"/>
              </a:rPr>
              <a:t>nro.página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, desplazamiento&gt;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Cada entrada  de la tabla invertida contiene el nro. de página de la dirección virtual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y el id del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proceso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u="sng" dirty="0" err="1" smtClean="0">
                <a:solidFill>
                  <a:schemeClr val="tx1"/>
                </a:solidFill>
                <a:latin typeface="Arial" charset="0"/>
              </a:rPr>
              <a:t>Ventaja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Minimiza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tamaño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u="sng" dirty="0" err="1" smtClean="0">
                <a:solidFill>
                  <a:schemeClr val="tx1"/>
                </a:solidFill>
                <a:latin typeface="Arial" charset="0"/>
              </a:rPr>
              <a:t>Desventaja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incrementa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tiempo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necesario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búsqueda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hash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limitar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búsqueda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endParaRPr lang="en-US" sz="1600" dirty="0" smtClean="0">
              <a:solidFill>
                <a:srgbClr val="7030A0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</a:pPr>
            <a:r>
              <a:rPr lang="en-US" sz="1600" dirty="0" err="1" smtClean="0">
                <a:solidFill>
                  <a:srgbClr val="7030A0"/>
                </a:solidFill>
                <a:latin typeface="Arial" charset="0"/>
              </a:rPr>
              <a:t>Arquitectura</a:t>
            </a:r>
            <a:r>
              <a:rPr lang="en-US" sz="1600" dirty="0" smtClean="0">
                <a:solidFill>
                  <a:srgbClr val="7030A0"/>
                </a:solidFill>
                <a:latin typeface="Arial" charset="0"/>
              </a:rPr>
              <a:t>:</a:t>
            </a: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266700" indent="-266700" algn="just">
              <a:lnSpc>
                <a:spcPct val="90000"/>
              </a:lnSpc>
              <a:spcBef>
                <a:spcPts val="300"/>
              </a:spcBef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4" name="13 Grupo"/>
          <p:cNvGrpSpPr/>
          <p:nvPr/>
        </p:nvGrpSpPr>
        <p:grpSpPr>
          <a:xfrm>
            <a:off x="2381249" y="3705224"/>
            <a:ext cx="4327525" cy="2994025"/>
            <a:chOff x="2533650" y="3304424"/>
            <a:chExt cx="4870450" cy="3375776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33650" y="3304424"/>
              <a:ext cx="4870450" cy="33757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12" name="11 Conector recto"/>
            <p:cNvCxnSpPr/>
            <p:nvPr/>
          </p:nvCxnSpPr>
          <p:spPr>
            <a:xfrm flipH="1">
              <a:off x="3629026" y="4749800"/>
              <a:ext cx="288924" cy="247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Segmentación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977900"/>
            <a:ext cx="8699499" cy="2163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Este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esquema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gestión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partición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pero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aquí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varios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organización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considera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manera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usuario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visualiza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180975" indent="-180975" algn="just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colección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donde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unidad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como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principal,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pila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procedimiento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variables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globales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variables locales,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símbolos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etc.</a:t>
            </a:r>
          </a:p>
          <a:p>
            <a:pPr algn="just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           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Espacio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usuario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30" name="29 Grupo"/>
          <p:cNvGrpSpPr/>
          <p:nvPr/>
        </p:nvGrpSpPr>
        <p:grpSpPr>
          <a:xfrm>
            <a:off x="285749" y="2924175"/>
            <a:ext cx="3028951" cy="2684621"/>
            <a:chOff x="495299" y="2638425"/>
            <a:chExt cx="3028951" cy="2684621"/>
          </a:xfrm>
        </p:grpSpPr>
        <p:sp>
          <p:nvSpPr>
            <p:cNvPr id="15" name="14 Rectángulo"/>
            <p:cNvSpPr/>
            <p:nvPr/>
          </p:nvSpPr>
          <p:spPr>
            <a:xfrm>
              <a:off x="581025" y="2638425"/>
              <a:ext cx="2943225" cy="2657475"/>
            </a:xfrm>
            <a:prstGeom prst="rect">
              <a:avLst/>
            </a:prstGeom>
            <a:solidFill>
              <a:srgbClr val="A3FFB2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2114550" y="3314699"/>
              <a:ext cx="962025" cy="23812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Pila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2419350" y="3829049"/>
              <a:ext cx="962025" cy="44767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Variables globales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1990725" y="4629150"/>
              <a:ext cx="962025" cy="40957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Función factorial()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1009650" y="3838575"/>
              <a:ext cx="962025" cy="65722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Tabla de símbolos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800100" y="2686051"/>
              <a:ext cx="962025" cy="1000124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Programa principal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495299" y="5076825"/>
              <a:ext cx="21240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000" b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Espacio de direcciones lógicas</a:t>
              </a:r>
              <a:endParaRPr lang="es-AR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1" name="30 Grupo"/>
          <p:cNvGrpSpPr/>
          <p:nvPr/>
        </p:nvGrpSpPr>
        <p:grpSpPr>
          <a:xfrm>
            <a:off x="3990975" y="2647951"/>
            <a:ext cx="962025" cy="4057649"/>
            <a:chOff x="6677025" y="2609851"/>
            <a:chExt cx="962025" cy="4057649"/>
          </a:xfrm>
        </p:grpSpPr>
        <p:sp>
          <p:nvSpPr>
            <p:cNvPr id="23" name="22 Rectángulo"/>
            <p:cNvSpPr/>
            <p:nvPr/>
          </p:nvSpPr>
          <p:spPr>
            <a:xfrm>
              <a:off x="6677025" y="2609851"/>
              <a:ext cx="962025" cy="40576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677025" y="6172199"/>
              <a:ext cx="962025" cy="23812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Pila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19 Rectángulo"/>
            <p:cNvSpPr/>
            <p:nvPr/>
          </p:nvSpPr>
          <p:spPr>
            <a:xfrm>
              <a:off x="6677025" y="4724399"/>
              <a:ext cx="962025" cy="44767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Variables globales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6677025" y="5172075"/>
              <a:ext cx="962025" cy="40957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Función factorial()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21 Rectángulo"/>
            <p:cNvSpPr/>
            <p:nvPr/>
          </p:nvSpPr>
          <p:spPr>
            <a:xfrm>
              <a:off x="6677025" y="2790825"/>
              <a:ext cx="962025" cy="657225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Tabla de símbolos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28 Rectángulo"/>
            <p:cNvSpPr/>
            <p:nvPr/>
          </p:nvSpPr>
          <p:spPr>
            <a:xfrm>
              <a:off x="6677025" y="3533776"/>
              <a:ext cx="962025" cy="1000124"/>
            </a:xfrm>
            <a:prstGeom prst="rect">
              <a:avLst/>
            </a:prstGeom>
            <a:solidFill>
              <a:srgbClr val="F1F62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200" b="1" dirty="0" smtClean="0">
                  <a:solidFill>
                    <a:schemeClr val="tx1"/>
                  </a:solidFill>
                </a:rPr>
                <a:t>Programa principal</a:t>
              </a:r>
              <a:endParaRPr lang="es-AR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31 CuadroTexto"/>
          <p:cNvSpPr txBox="1"/>
          <p:nvPr/>
        </p:nvSpPr>
        <p:spPr>
          <a:xfrm>
            <a:off x="2495550" y="6273225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Espacio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física</a:t>
            </a:r>
            <a:endParaRPr lang="es-AR" sz="1600" dirty="0"/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48640" y="3905932"/>
            <a:ext cx="3193762" cy="2712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33 CuadroTexto"/>
          <p:cNvSpPr txBox="1"/>
          <p:nvPr/>
        </p:nvSpPr>
        <p:spPr>
          <a:xfrm>
            <a:off x="6845300" y="3515178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Ejemplo</a:t>
            </a:r>
            <a:endParaRPr lang="es-A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Segmentación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95250" y="977900"/>
            <a:ext cx="89535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Las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direcciones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lógicas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estan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formadas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tupla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  &lt;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nro.segmento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desplazamiento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&gt;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b="1" dirty="0" err="1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Tabla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 de </a:t>
            </a:r>
            <a:r>
              <a:rPr lang="en-US" sz="1600" b="1" dirty="0" err="1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segmentos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mapea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direcciones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físicas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bidimensionales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tiene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638175" lvl="1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s-AR" sz="1600" b="1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base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comienzo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donde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está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638175" lvl="1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1600" b="1" dirty="0" err="1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límite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especifica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longitud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lvl="1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Como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tener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muchos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ser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muy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grande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hay 2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registros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asociados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180975" lvl="1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Registro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de base de </a:t>
            </a: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1600" dirty="0" smtClean="0">
                <a:solidFill>
                  <a:srgbClr val="002060"/>
                </a:solidFill>
                <a:latin typeface="Arial" charset="0"/>
              </a:rPr>
              <a:t>STBR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segment table base register):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donde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comienza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lvl="1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Registro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longitud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de la </a:t>
            </a: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rgbClr val="0033CC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rgbClr val="0033CC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1600" dirty="0" smtClean="0">
                <a:solidFill>
                  <a:srgbClr val="002060"/>
                </a:solidFill>
                <a:latin typeface="Arial" charset="0"/>
              </a:rPr>
              <a:t>STLR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segment table length register):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indica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cantidad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usados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lvl="1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Para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dirección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lógica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(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s,d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) sea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válida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debe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verificar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Arial" charset="0"/>
              </a:rPr>
              <a:t>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&lt; STLR y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luego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obtener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STBR+s</a:t>
            </a:r>
          </a:p>
          <a:p>
            <a:pPr marL="180975" lvl="1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Varios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Arial" charset="0"/>
              </a:rPr>
              <a:t>compartir</a:t>
            </a:r>
            <a:r>
              <a:rPr lang="en-US" sz="1600" b="1" dirty="0" smtClean="0">
                <a:solidFill>
                  <a:srgbClr val="FF0000"/>
                </a:solidFill>
                <a:latin typeface="Arial" charset="0"/>
              </a:rPr>
              <a:t> un </a:t>
            </a:r>
            <a:r>
              <a:rPr lang="en-US" sz="1600" b="1" dirty="0" err="1" smtClean="0">
                <a:solidFill>
                  <a:srgbClr val="FF0000"/>
                </a:solidFill>
                <a:latin typeface="Arial" charset="0"/>
              </a:rPr>
              <a:t>segmento</a:t>
            </a:r>
            <a:r>
              <a:rPr lang="en-US" sz="1600" b="1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cuando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entradas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tienen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mismo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valor.</a:t>
            </a:r>
          </a:p>
          <a:p>
            <a:pPr marL="180975" lvl="1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planificador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largo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plazo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debe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buscar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asignar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todos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usuario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(al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igual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hace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con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paginación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) con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diferencia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tienen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longitudes variables. Para la </a:t>
            </a:r>
            <a:r>
              <a:rPr lang="en-US" sz="1600" b="1" dirty="0" err="1" smtClean="0">
                <a:solidFill>
                  <a:srgbClr val="FF0000"/>
                </a:solidFill>
                <a:latin typeface="Arial" charset="0"/>
              </a:rPr>
              <a:t>ubicación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algoritmo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mejor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ajuste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o del primer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ajuste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Puede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producirse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u="sng" dirty="0" smtClean="0">
                <a:solidFill>
                  <a:schemeClr val="tx1"/>
                </a:solidFill>
                <a:latin typeface="Arial" charset="0"/>
              </a:rPr>
              <a:t>fragmentación</a:t>
            </a:r>
            <a:r>
              <a:rPr lang="en-US" sz="1600" u="sng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u="sng" dirty="0" err="1" smtClean="0">
                <a:solidFill>
                  <a:schemeClr val="tx1"/>
                </a:solidFill>
                <a:latin typeface="Arial" charset="0"/>
              </a:rPr>
              <a:t>externa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180975" lvl="1" indent="-180975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b="1" dirty="0" err="1" smtClean="0">
                <a:solidFill>
                  <a:srgbClr val="FF0000"/>
                </a:solidFill>
                <a:latin typeface="Arial" charset="0"/>
              </a:rPr>
              <a:t>Protección</a:t>
            </a:r>
            <a:r>
              <a:rPr lang="en-US" sz="1600" b="1" dirty="0" smtClean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entrada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hay un bit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validación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(0:segmento no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válido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)  y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permisos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lectura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/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escritura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/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ejecución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 </a:t>
            </a:r>
          </a:p>
          <a:p>
            <a:pPr marL="180975" lvl="1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0" lvl="1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638175" lvl="1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Segmentación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95250" y="977900"/>
            <a:ext cx="8953500" cy="568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Esquema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1114426" y="1447800"/>
            <a:ext cx="6829424" cy="4295068"/>
            <a:chOff x="1228726" y="1581150"/>
            <a:chExt cx="5867732" cy="407118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CA6100"/>
                </a:clrFrom>
                <a:clrTo>
                  <a:srgbClr val="CA6100">
                    <a:alpha val="0"/>
                  </a:srgbClr>
                </a:clrTo>
              </a:clrChange>
            </a:blip>
            <a:srcRect t="538" r="695" b="1792"/>
            <a:stretch>
              <a:fillRect/>
            </a:stretch>
          </p:blipFill>
          <p:spPr bwMode="auto">
            <a:xfrm>
              <a:off x="1228726" y="1581150"/>
              <a:ext cx="5867732" cy="40711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6 Rectángulo"/>
            <p:cNvSpPr/>
            <p:nvPr/>
          </p:nvSpPr>
          <p:spPr>
            <a:xfrm>
              <a:off x="5915025" y="2571749"/>
              <a:ext cx="1162050" cy="2828925"/>
            </a:xfrm>
            <a:prstGeom prst="rect">
              <a:avLst/>
            </a:prstGeom>
            <a:solidFill>
              <a:srgbClr val="92D05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b="1" dirty="0" smtClean="0">
                  <a:solidFill>
                    <a:schemeClr val="tx1"/>
                  </a:solidFill>
                </a:rPr>
                <a:t>Memoria</a:t>
              </a:r>
            </a:p>
            <a:p>
              <a:pPr algn="ctr"/>
              <a:r>
                <a:rPr lang="es-AR" sz="1600" b="1" dirty="0" smtClean="0">
                  <a:solidFill>
                    <a:schemeClr val="tx1"/>
                  </a:solidFill>
                </a:rPr>
                <a:t>Física</a:t>
              </a:r>
              <a:endParaRPr lang="es-A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1247775" y="2743200"/>
              <a:ext cx="742949" cy="933450"/>
            </a:xfrm>
            <a:prstGeom prst="rect">
              <a:avLst/>
            </a:prstGeom>
            <a:solidFill>
              <a:srgbClr val="FF99FF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b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CPU</a:t>
              </a:r>
              <a:endParaRPr lang="es-AR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Memoria. Segmentación con paginación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95250" y="977900"/>
            <a:ext cx="8953500" cy="844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utilizó en el sistema operativo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Multics</a:t>
            </a: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Intenta combinar lo mejor del esquema de paginación y segmentación.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Un segmento está formado por un conjunto de páginas y, por tanto, no tiene que estar contiguo en memoria.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MMU utiliza una tabla de segmentos, tal que cada entrada de la tabla apunta a una tabla de páginas.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Al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paginar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segmentos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elimina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fragmentación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externa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sencillo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utilizar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cualquier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marco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vacío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almacenar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4867" y="3255683"/>
            <a:ext cx="4509558" cy="3183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9549" y="1092072"/>
            <a:ext cx="4252157" cy="47943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49406" y="1692275"/>
            <a:ext cx="4434540" cy="4273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1132565"/>
            <a:ext cx="8820150" cy="442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90000"/>
              </a:lnSpc>
              <a:spcAft>
                <a:spcPts val="600"/>
              </a:spcAft>
            </a:pPr>
            <a:r>
              <a:rPr lang="es-AR" b="1" i="1" dirty="0" smtClean="0">
                <a:solidFill>
                  <a:srgbClr val="FF0000"/>
                </a:solidFill>
                <a:latin typeface="Arial" charset="0"/>
              </a:rPr>
              <a:t>No es necesario tener todo el programa en memoria RAM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AR" sz="1800" dirty="0" smtClean="0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AR" sz="1800" dirty="0" smtClean="0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Se podrían ejecutar programas mayores que la RAM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Se podrían tener más procesos en memoria principal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AR" sz="1800" dirty="0" smtClean="0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El objetivo es tener la memoria de un proceso dividida en bloques , e ir cargando en la memoria principal el bloque que es necesario para poder continuar su ejecución.</a:t>
            </a:r>
            <a:endParaRPr lang="en-US" sz="18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marL="180975" indent="-180975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9 Flecha abajo"/>
          <p:cNvSpPr/>
          <p:nvPr/>
        </p:nvSpPr>
        <p:spPr>
          <a:xfrm>
            <a:off x="3657600" y="1627863"/>
            <a:ext cx="1457325" cy="796023"/>
          </a:xfrm>
          <a:prstGeom prst="downArrow">
            <a:avLst>
              <a:gd name="adj1" fmla="val 50000"/>
              <a:gd name="adj2" fmla="val 69122"/>
            </a:avLst>
          </a:prstGeom>
          <a:solidFill>
            <a:srgbClr val="FFFF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13" name="12 Flecha abajo"/>
          <p:cNvSpPr/>
          <p:nvPr/>
        </p:nvSpPr>
        <p:spPr>
          <a:xfrm rot="18939404">
            <a:off x="5412106" y="4064892"/>
            <a:ext cx="247650" cy="1000125"/>
          </a:xfrm>
          <a:prstGeom prst="downArrow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Flecha abajo"/>
          <p:cNvSpPr/>
          <p:nvPr/>
        </p:nvSpPr>
        <p:spPr>
          <a:xfrm rot="2700000">
            <a:off x="2979421" y="4064890"/>
            <a:ext cx="247650" cy="1000125"/>
          </a:xfrm>
          <a:prstGeom prst="downArrow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CuadroTexto"/>
          <p:cNvSpPr txBox="1"/>
          <p:nvPr/>
        </p:nvSpPr>
        <p:spPr>
          <a:xfrm>
            <a:off x="883920" y="5120263"/>
            <a:ext cx="3343275" cy="75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90000"/>
              </a:lnSpc>
              <a:spcAft>
                <a:spcPts val="600"/>
              </a:spcAft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Bloques del mismo tamaño</a:t>
            </a:r>
          </a:p>
          <a:p>
            <a:pPr marL="180975" indent="-180975">
              <a:lnSpc>
                <a:spcPct val="90000"/>
              </a:lnSpc>
              <a:spcAft>
                <a:spcPts val="600"/>
              </a:spcAft>
            </a:pPr>
            <a:r>
              <a:rPr lang="en-US" b="1" dirty="0" smtClean="0">
                <a:solidFill>
                  <a:srgbClr val="0033CC"/>
                </a:solidFill>
                <a:latin typeface="Arial" charset="0"/>
              </a:rPr>
              <a:t>PAGINACIÓN</a:t>
            </a:r>
            <a:endParaRPr lang="es-AR" b="1" dirty="0" smtClean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4251960" y="5120263"/>
            <a:ext cx="3343275" cy="75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90000"/>
              </a:lnSpc>
              <a:spcAft>
                <a:spcPts val="600"/>
              </a:spcAft>
            </a:pPr>
            <a:r>
              <a:rPr lang="es-AR" sz="1800" dirty="0" smtClean="0">
                <a:solidFill>
                  <a:schemeClr val="tx1"/>
                </a:solidFill>
                <a:latin typeface="Arial" charset="0"/>
              </a:rPr>
              <a:t>Bloques de distinto tamaño</a:t>
            </a:r>
          </a:p>
          <a:p>
            <a:pPr marL="180975" indent="-180975">
              <a:lnSpc>
                <a:spcPct val="90000"/>
              </a:lnSpc>
              <a:spcAft>
                <a:spcPts val="600"/>
              </a:spcAft>
            </a:pPr>
            <a:r>
              <a:rPr lang="en-US" b="1" dirty="0" smtClean="0">
                <a:solidFill>
                  <a:srgbClr val="0033CC"/>
                </a:solidFill>
                <a:latin typeface="Arial" charset="0"/>
              </a:rPr>
              <a:t>SEGMENTACIÓN</a:t>
            </a:r>
            <a:endParaRPr lang="es-AR" b="1" dirty="0" smtClean="0">
              <a:solidFill>
                <a:srgbClr val="0033CC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Paginada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90500" y="1132565"/>
            <a:ext cx="8820150" cy="165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Espacio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lógico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paginado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Algunas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están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principal y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otras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secundaria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(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generalmente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disco y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sección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tal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fin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recibe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nombre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archivo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o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espacio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intercambio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tabla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identifican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las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mediante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el bit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validez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0728" y="2621280"/>
            <a:ext cx="4125286" cy="3817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Paginada</a:t>
            </a:r>
            <a:endParaRPr kumimoji="0" lang="es-AR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85725" y="977901"/>
            <a:ext cx="8903000" cy="404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Paginación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por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demanda</a:t>
            </a:r>
            <a:r>
              <a:rPr lang="en-US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charset="0"/>
              </a:rPr>
              <a:t>pura</a:t>
            </a:r>
            <a:r>
              <a:rPr lang="en-US" sz="1600" b="1" dirty="0" smtClean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no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trae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nunca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una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si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no se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necesita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.  Las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 van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cargando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medida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necesitan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(se van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resolviendo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fallos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Si se produce un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fallo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página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decir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que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ésta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no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encuentra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cargada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en la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memoria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, se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ejecutan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los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siguientes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pasos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475" y="2780525"/>
            <a:ext cx="3361763" cy="282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6 CuadroTexto"/>
          <p:cNvSpPr txBox="1"/>
          <p:nvPr/>
        </p:nvSpPr>
        <p:spPr>
          <a:xfrm>
            <a:off x="3793034" y="1963271"/>
            <a:ext cx="5147766" cy="4752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determina  si el acceso a memoria fue una referencia válida o no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 no es válida se termina el proceso, En caso contrario se guarda el contexto del proceso. 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busca un marco libre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lee del disco la página necesitada:</a:t>
            </a:r>
          </a:p>
          <a:p>
            <a:pPr marL="800100" lvl="1" indent="-342900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s-ES" sz="1400" dirty="0" smtClean="0">
                <a:solidFill>
                  <a:schemeClr val="tx1"/>
                </a:solidFill>
                <a:latin typeface="Arial" charset="0"/>
              </a:rPr>
              <a:t>Esperar en la cola del dispositivo hasta que se atienda la solicitud de lectura.</a:t>
            </a:r>
          </a:p>
          <a:p>
            <a:pPr marL="800100" lvl="1" indent="-342900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s-ES" sz="1400" dirty="0" smtClean="0">
                <a:solidFill>
                  <a:schemeClr val="tx1"/>
                </a:solidFill>
                <a:latin typeface="Arial" charset="0"/>
              </a:rPr>
              <a:t>Esperar durante el tiempo de búsqueda y de latencia del dispositivo.</a:t>
            </a:r>
          </a:p>
          <a:p>
            <a:pPr marL="800100" lvl="1" indent="-342900" algn="just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s-ES" sz="1400" dirty="0" smtClean="0">
                <a:solidFill>
                  <a:schemeClr val="tx1"/>
                </a:solidFill>
                <a:latin typeface="Arial" charset="0"/>
              </a:rPr>
              <a:t>Comenzar la transferencia de la página al marco libre.</a:t>
            </a:r>
            <a:r>
              <a:rPr lang="es-AR" sz="14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marL="800100" lvl="1" indent="-342900" algn="just">
              <a:lnSpc>
                <a:spcPct val="90000"/>
              </a:lnSpc>
              <a:spcAft>
                <a:spcPts val="600"/>
              </a:spcAft>
            </a:pPr>
            <a:r>
              <a:rPr lang="es-AR" sz="1400" dirty="0" smtClean="0">
                <a:solidFill>
                  <a:schemeClr val="tx1"/>
                </a:solidFill>
                <a:latin typeface="Arial" charset="0"/>
              </a:rPr>
              <a:t>Aquí durante la espera la CPU, puede estar ejecutando otros procesos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actualiza la tabla de página y demás tablas.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reestablece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el contexto y reiniciar la instrucción en el lugar donde había quedado</a:t>
            </a: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8" name="7 Imagen" descr="fallo de pagina.png"/>
          <p:cNvPicPr>
            <a:picLocks noChangeAspect="1"/>
          </p:cNvPicPr>
          <p:nvPr/>
        </p:nvPicPr>
        <p:blipFill>
          <a:blip r:embed="rId4" cstate="print"/>
          <a:srcRect b="5536"/>
          <a:stretch>
            <a:fillRect/>
          </a:stretch>
        </p:blipFill>
        <p:spPr>
          <a:xfrm>
            <a:off x="0" y="942703"/>
            <a:ext cx="9144000" cy="57585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1"/>
            <a:ext cx="8820150" cy="687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lnSpc>
                <a:spcPct val="90000"/>
              </a:lnSpc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¿Qué hacer cuando se produce un fallo de página y todos los marcos están ocupados? </a:t>
            </a: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>
              <a:lnSpc>
                <a:spcPct val="90000"/>
              </a:lnSpc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Hay que elegir una </a:t>
            </a:r>
            <a:r>
              <a:rPr lang="es-AR" sz="1600" i="1" dirty="0" smtClean="0">
                <a:solidFill>
                  <a:srgbClr val="FF00FF"/>
                </a:solidFill>
                <a:latin typeface="Arial" charset="0"/>
              </a:rPr>
              <a:t>página víctima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de las que están en la memoria física</a:t>
            </a:r>
          </a:p>
          <a:p>
            <a:pPr marL="87313" indent="-87313">
              <a:lnSpc>
                <a:spcPct val="90000"/>
              </a:lnSpc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y sustituirla con la página solicitada</a:t>
            </a: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0"/>
              </a:spcAft>
            </a:pPr>
            <a:r>
              <a:rPr lang="es-AR" sz="1600" dirty="0" smtClean="0">
                <a:solidFill>
                  <a:srgbClr val="7030A0"/>
                </a:solidFill>
                <a:latin typeface="Arial" charset="0"/>
              </a:rPr>
              <a:t>¿Cómo elegir la víctima?  </a:t>
            </a:r>
            <a:r>
              <a:rPr lang="es-AR" sz="1600" dirty="0" smtClean="0">
                <a:solidFill>
                  <a:srgbClr val="7030A0"/>
                </a:solidFill>
                <a:latin typeface="Arial" charset="0"/>
                <a:sym typeface="Wingdings" pitchFamily="2" charset="2"/>
              </a:rPr>
              <a:t> ¿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más usada?¿la más vieja?¿una página que causo el fallo? ¿? </a:t>
            </a:r>
          </a:p>
          <a:p>
            <a:pPr marL="87313" indent="-8731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3200" dirty="0" smtClean="0">
                <a:solidFill>
                  <a:srgbClr val="FF0000"/>
                </a:solidFill>
                <a:latin typeface="Arial" charset="0"/>
              </a:rPr>
              <a:t>	</a:t>
            </a:r>
            <a:r>
              <a:rPr lang="es-AR" sz="2800" b="1" dirty="0" smtClean="0">
                <a:solidFill>
                  <a:srgbClr val="FF0000"/>
                </a:solidFill>
                <a:latin typeface="Arial" charset="0"/>
              </a:rPr>
              <a:t>Algoritmos de reemplazo o sustitución de páginas</a:t>
            </a:r>
            <a:endParaRPr lang="es-AR" sz="2800" b="1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rgbClr val="7030A0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7 Flecha abajo"/>
          <p:cNvSpPr/>
          <p:nvPr/>
        </p:nvSpPr>
        <p:spPr>
          <a:xfrm>
            <a:off x="3698155" y="1295401"/>
            <a:ext cx="1207220" cy="533400"/>
          </a:xfrm>
          <a:prstGeom prst="downArrow">
            <a:avLst>
              <a:gd name="adj1" fmla="val 37376"/>
              <a:gd name="adj2" fmla="val 69122"/>
            </a:avLst>
          </a:prstGeom>
          <a:solidFill>
            <a:srgbClr val="FFFF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 </a:t>
            </a:r>
            <a:endParaRPr lang="es-AR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348" y="3638550"/>
            <a:ext cx="5264735" cy="262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11 Conector recto de flecha"/>
          <p:cNvCxnSpPr/>
          <p:nvPr/>
        </p:nvCxnSpPr>
        <p:spPr>
          <a:xfrm flipH="1">
            <a:off x="3219450" y="4038600"/>
            <a:ext cx="2333625" cy="8763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5524500" y="3724275"/>
            <a:ext cx="35909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¿Cómo saber si una página se ha modificado? </a:t>
            </a:r>
          </a:p>
          <a:p>
            <a:pPr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Agregando un </a:t>
            </a:r>
            <a:r>
              <a:rPr lang="es-AR" sz="1600" dirty="0" smtClean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bit de modificación </a:t>
            </a: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 la tabla de páginas.</a:t>
            </a:r>
          </a:p>
          <a:p>
            <a:pPr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Inicialmente está en 0.</a:t>
            </a:r>
          </a:p>
          <a:p>
            <a:pPr algn="just"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La MMU lo pone en 1  cada vez que se hace una operación de escritura sobre la página correspondiente.</a:t>
            </a:r>
            <a:endParaRPr lang="es-AR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1"/>
            <a:ext cx="8820150" cy="650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Objetivo de todos los algoritmos de sustitución: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Tratar de minimizarlas frecuencia de fallos de páginas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Tratar de elegir páginas víctimas que no se vayan a utilizar mucho en el futuro</a:t>
            </a:r>
          </a:p>
          <a:p>
            <a:pPr marL="182563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Ideas de criterios…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página menos recientemente usada (LRU)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menos frecuentemente usada (LFU)</a:t>
            </a:r>
          </a:p>
          <a:p>
            <a:pPr marL="182563" indent="-182563" algn="just">
              <a:spcAft>
                <a:spcPts val="12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más vieja (FIFO)</a:t>
            </a:r>
          </a:p>
          <a:p>
            <a:pPr marL="182563" indent="-182563" algn="just">
              <a:spcBef>
                <a:spcPts val="0"/>
              </a:spcBef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Algunos algoritmos de reemplazo</a:t>
            </a:r>
          </a:p>
          <a:p>
            <a:pPr marL="639763" lvl="1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Algoritmos clásicos  o básicos 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FIFO (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first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in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first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out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Optimo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LRU  (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least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recently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used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LFU  (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least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frecuently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used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639763" lvl="1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Aproximaciones realistas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NRU  (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not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recently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used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Segunda oportunidad o reloj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Aging</a:t>
            </a: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NFU  (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not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frecuently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used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096963" lvl="2" indent="-182563" algn="just">
              <a:spcAft>
                <a:spcPts val="0"/>
              </a:spcAft>
            </a:pP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WSClock</a:t>
            </a: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lnSpc>
                <a:spcPct val="90000"/>
              </a:lnSpc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87313" indent="-87313" algn="just">
              <a:lnSpc>
                <a:spcPct val="90000"/>
              </a:lnSpc>
              <a:spcAft>
                <a:spcPts val="600"/>
              </a:spcAft>
            </a:pPr>
            <a:endParaRPr lang="en-US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1"/>
            <a:ext cx="88201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FIFO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Es el primero que se utilizó en sistemas paginados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sustituye la página residente que más tiempo estuvo en memoria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Muy fácil de implementar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No requiere hardware adicional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rgbClr val="CC00CC"/>
                </a:solidFill>
                <a:latin typeface="Arial" charset="0"/>
              </a:rPr>
              <a:t>Problema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 al no tener en cuenta el uso real de las páginas, puede quitar aquellas que utiliza con mucha frecuencia.</a:t>
            </a:r>
          </a:p>
          <a:p>
            <a:pPr marL="182563" indent="-182563" algn="just">
              <a:spcAft>
                <a:spcPts val="600"/>
              </a:spcAft>
              <a:buFont typeface="Arial" pitchFamily="34" charset="0"/>
              <a:buChar char="•"/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Ejemplo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Simulación con la cadena de referencia a páginas lógicas: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7 0 1 2 0 3 0 4 2 3 0 3 2 1 2 0 1 7 0 1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tres marcos físicos (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B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9218" y="4696557"/>
            <a:ext cx="7820025" cy="163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1"/>
            <a:ext cx="8820150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El algoritmo FIFO tiene un problema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paradógico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  En algunos casos, si se aumenta el número de marcos físicos, puede aumentar la cantidad de fallos de página!!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Esto se conoce como </a:t>
            </a:r>
            <a:r>
              <a:rPr lang="es-AR" sz="1600" b="1" dirty="0" smtClean="0">
                <a:solidFill>
                  <a:srgbClr val="CC00CC"/>
                </a:solidFill>
                <a:latin typeface="Arial" charset="0"/>
              </a:rPr>
              <a:t>Anomalía de </a:t>
            </a:r>
            <a:r>
              <a:rPr lang="es-AR" sz="1600" b="1" dirty="0" err="1" smtClean="0">
                <a:solidFill>
                  <a:srgbClr val="CC00CC"/>
                </a:solidFill>
                <a:latin typeface="Arial" charset="0"/>
              </a:rPr>
              <a:t>Bélády</a:t>
            </a:r>
            <a:r>
              <a:rPr lang="es-AR" sz="1600" b="1" dirty="0" smtClean="0">
                <a:solidFill>
                  <a:srgbClr val="CC00CC"/>
                </a:solidFill>
                <a:latin typeface="Arial" charset="0"/>
              </a:rPr>
              <a:t> 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(descrito por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László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Bélády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(IBM) en 1969)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Verifica esto probando con la cadena de referencia: 3 2 1 0 3 2 4 3 2 1 0 4 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531" y="2920161"/>
            <a:ext cx="5133975" cy="322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6 Rectángulo"/>
          <p:cNvSpPr/>
          <p:nvPr/>
        </p:nvSpPr>
        <p:spPr>
          <a:xfrm>
            <a:off x="5844985" y="3439443"/>
            <a:ext cx="30748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 el pasado, se creía que al aumentar el número de marcos de página disponibles, el número de fallos siempre permanecería igual o disminuiría. </a:t>
            </a:r>
          </a:p>
          <a:p>
            <a:pPr algn="just"/>
            <a:r>
              <a:rPr lang="es-ES" sz="1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Bélády</a:t>
            </a:r>
            <a:r>
              <a:rPr lang="es-E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demostró que es posible aumentar el número de fotogramas pero también podría llegar a aumentar el número de fallos.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OPTIMO   (OPT)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Bélády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de mostró en 1966 que si se escoge como víctima la página que mas tarde en el tiempo será accedida, el numero de fallos en mínimo.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debe quitar la página que tardará más tiempo en ser referenciada.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Este algoritmo no es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implementable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en el caso general, debido a que se requiere saber como se va a comportar el proceso en el futuro.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Para “adivinar” cual página va a ser la que más tarde se accederá se utilizan 2 estrategias clásicas: la LRU (la usada menos recientemente) o la LFU (la usada menos frecuentemente)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Ejemplo</a:t>
            </a: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Simulación con la cadena de referencia a páginas lógicas: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7 0 1 2 0 3 0 4 2 3 0 3 2 1 2 0 1 7 0 1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tres marcos físicos (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B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111" y="4691477"/>
            <a:ext cx="77343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LRU (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Least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Recently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Used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:  menos recientemente usada)</a:t>
            </a:r>
          </a:p>
          <a:p>
            <a:pPr marL="182563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Supone que las páginas utilizadas recientemente, se utilizarán de nuevo 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  <a:sym typeface="Wingdings" pitchFamily="2" charset="2"/>
              </a:rPr>
              <a:t>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Víctima: la página que lleva más tiempo sin ser referenciada</a:t>
            </a:r>
          </a:p>
          <a:p>
            <a:pPr marL="182563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No sufre la anomalía de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Bélády</a:t>
            </a: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Hay que mantener una lista de todas las páginas en memoria</a:t>
            </a:r>
          </a:p>
          <a:p>
            <a:pPr marL="639763" lvl="1" indent="-182563" algn="just">
              <a:spcAft>
                <a:spcPts val="0"/>
              </a:spcAft>
            </a:pPr>
            <a:r>
              <a:rPr lang="es-AR" sz="1600" dirty="0" smtClean="0">
                <a:solidFill>
                  <a:srgbClr val="00B050"/>
                </a:solidFill>
                <a:latin typeface="Arial" charset="0"/>
              </a:rPr>
              <a:t>Frente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 más recientemente utilizada</a:t>
            </a:r>
          </a:p>
          <a:p>
            <a:pPr marL="639763" lvl="1" indent="-182563" algn="just">
              <a:spcAft>
                <a:spcPts val="0"/>
              </a:spcAft>
            </a:pPr>
            <a:r>
              <a:rPr lang="es-AR" sz="1600" dirty="0" smtClean="0">
                <a:solidFill>
                  <a:srgbClr val="00B050"/>
                </a:solidFill>
                <a:latin typeface="Arial" charset="0"/>
              </a:rPr>
              <a:t>Fondo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 menos recientemente utilizada</a:t>
            </a:r>
          </a:p>
          <a:p>
            <a:pPr marL="182563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	  Problemas: </a:t>
            </a:r>
          </a:p>
          <a:p>
            <a:pPr marL="639763" lvl="1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¡¡actualizar la lista en cada referencia a memoria!!</a:t>
            </a:r>
          </a:p>
          <a:p>
            <a:pPr marL="639763" lvl="1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Sobrecarga en buscar una página, eliminarla, moverla a la cabeza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	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Ejemplo Implementación por software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Simulación con la cadena de referencia a páginas lógicas: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7 0 1 2 0 3 0 4 2 3 0 3 2 1 2 0 1 7 0 1 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tres marcos físicos (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B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y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)</a:t>
            </a:r>
          </a:p>
          <a:p>
            <a:pPr marL="182563" indent="-182563" algn="just"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marL="182563" indent="-182563" algn="just"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36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01809" y="2279080"/>
            <a:ext cx="5831087" cy="4075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5101" y="4849468"/>
            <a:ext cx="8750300" cy="1566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LRU</a:t>
            </a:r>
          </a:p>
          <a:p>
            <a:pPr marL="182563" indent="-182563" algn="just">
              <a:spcAft>
                <a:spcPts val="0"/>
              </a:spcAft>
            </a:pP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Implementación de Hardware (1): Contador por cada entrada en la Tabla de páginas</a:t>
            </a:r>
          </a:p>
          <a:p>
            <a:pPr marL="639763" lvl="1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En el hardware hay un contador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especial de 64 bits</a:t>
            </a:r>
          </a:p>
          <a:p>
            <a:pPr marL="639763" lvl="1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se incrementa después de ejecutar cada instrucción</a:t>
            </a:r>
          </a:p>
          <a:p>
            <a:pPr marL="639763" lvl="1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Después de cada referencia a memoria, se almacena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C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(o se suma al valor que tenia la página) en la entrada correspondiente</a:t>
            </a:r>
          </a:p>
          <a:p>
            <a:pPr marL="639763" lvl="1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elige como victima la que tenga el contador más pequeño</a:t>
            </a:r>
          </a:p>
          <a:p>
            <a:pPr marL="639763" lvl="1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Problemas eficiencia:</a:t>
            </a:r>
          </a:p>
          <a:p>
            <a:pPr marL="1096963" lvl="2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Almacenar el contador en cada referencia a memoria</a:t>
            </a:r>
          </a:p>
          <a:p>
            <a:pPr marL="1096963" lvl="2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Buscar en la TP el contador más pequeño</a:t>
            </a:r>
          </a:p>
          <a:p>
            <a:pPr marL="182563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Implementación de Hardware (2): matriz </a:t>
            </a:r>
            <a:r>
              <a:rPr lang="es-AR" sz="1600" dirty="0" err="1" smtClean="0">
                <a:solidFill>
                  <a:srgbClr val="FF00FF"/>
                </a:solidFill>
                <a:latin typeface="Arial" charset="0"/>
              </a:rPr>
              <a:t>NxN</a:t>
            </a:r>
            <a:r>
              <a:rPr lang="es-AR" sz="1600" dirty="0" smtClean="0">
                <a:solidFill>
                  <a:srgbClr val="FF00FF"/>
                </a:solidFill>
                <a:latin typeface="Arial" charset="0"/>
              </a:rPr>
              <a:t> (N = nº marcos que existen)</a:t>
            </a:r>
          </a:p>
          <a:p>
            <a:pPr marL="639763" lvl="1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Inicialmente toda la matriz está en 0. Se referencia el marco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k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:</a:t>
            </a:r>
          </a:p>
          <a:p>
            <a:pPr marL="1096963" lvl="2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Primero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setea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todos los  bits de la fila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k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a 1</a:t>
            </a:r>
          </a:p>
          <a:p>
            <a:pPr marL="1096963" lvl="2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Luego </a:t>
            </a:r>
            <a:r>
              <a:rPr lang="es-AR" sz="1600" dirty="0" err="1" smtClean="0">
                <a:solidFill>
                  <a:schemeClr val="tx1"/>
                </a:solidFill>
                <a:latin typeface="Arial" charset="0"/>
              </a:rPr>
              <a:t>setea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todos los bits de la columna </a:t>
            </a:r>
            <a:r>
              <a:rPr lang="es-AR" sz="1600" b="1" dirty="0" smtClean="0">
                <a:solidFill>
                  <a:schemeClr val="tx1"/>
                </a:solidFill>
                <a:latin typeface="Arial" charset="0"/>
              </a:rPr>
              <a:t>k</a:t>
            </a: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 a 0</a:t>
            </a:r>
          </a:p>
          <a:p>
            <a:pPr marL="1096963" lvl="2" indent="-182563" algn="just">
              <a:spcAft>
                <a:spcPts val="0"/>
              </a:spcAft>
              <a:buFont typeface="Arial" pitchFamily="34" charset="0"/>
              <a:buChar char="•"/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fila con menor valor binario es la menos recientemente utilizada</a:t>
            </a:r>
          </a:p>
          <a:p>
            <a:pPr marL="182563" indent="-182563" algn="just">
              <a:spcBef>
                <a:spcPts val="600"/>
              </a:spcBef>
              <a:spcAft>
                <a:spcPts val="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Para la secuencia de páginas  0 1 2 3 2 1 0 3 2 3</a:t>
            </a:r>
          </a:p>
          <a:p>
            <a:pPr marL="182563" indent="-182563" algn="just">
              <a:spcAft>
                <a:spcPts val="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020" y="5206532"/>
            <a:ext cx="4256987" cy="984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1299" y="5422993"/>
            <a:ext cx="4317398" cy="764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592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de la 2da oportunidad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Se puede ver en (a) las paginas en orden FIFO. Supongamos que ocurre un fallo de página. La página más antigua es A, si A tiene el bit R a cero, se saca de la memoria. En cambio, si R vale 1, A se coloca al final de la lista, poniéndose a cero el bit R. La búsqueda de una página adecuada prosigue con B.</a:t>
            </a: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</a:blip>
          <a:srcRect/>
          <a:stretch>
            <a:fillRect/>
          </a:stretch>
        </p:blipFill>
        <p:spPr bwMode="auto">
          <a:xfrm>
            <a:off x="224971" y="1397908"/>
            <a:ext cx="5122148" cy="253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2" name="Picture 4" descr="https://lsi.vc.ehu.eus/pablogn/docencia/manuales/SO/TemasSOuJaen/MEMORIAVIRTUAL/Image18.gif"/>
          <p:cNvPicPr>
            <a:picLocks noChangeAspect="1" noChangeArrowheads="1"/>
          </p:cNvPicPr>
          <p:nvPr/>
        </p:nvPicPr>
        <p:blipFill>
          <a:blip r:embed="rId4" cstate="print"/>
          <a:srcRect b="23135"/>
          <a:stretch>
            <a:fillRect/>
          </a:stretch>
        </p:blipFill>
        <p:spPr bwMode="auto">
          <a:xfrm>
            <a:off x="1841499" y="4227098"/>
            <a:ext cx="5260975" cy="1654891"/>
          </a:xfrm>
          <a:prstGeom prst="rect">
            <a:avLst/>
          </a:prstGeom>
          <a:noFill/>
        </p:spPr>
      </p:pic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99429" y="1104900"/>
            <a:ext cx="3341371" cy="3037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NRU  (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Not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Recently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Used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: no usado recientemente)</a:t>
            </a:r>
          </a:p>
          <a:p>
            <a:pPr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Es uno de los esquemas que intentan aproximarse al algoritmo LRU. Específicamente es una modificación del algoritmo de segunda oportunidad, el cual considera el bit de referencia R y el bit de modificación M como un par ordenado (R, M) respectivamente. 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spcAft>
                <a:spcPts val="600"/>
              </a:spcAft>
            </a:pPr>
            <a:endParaRPr lang="es-AR" sz="1600" dirty="0" smtClean="0">
              <a:solidFill>
                <a:schemeClr val="tx1"/>
              </a:solidFill>
              <a:latin typeface="Arial" charset="0"/>
            </a:endParaRPr>
          </a:p>
          <a:p>
            <a:pPr algn="just">
              <a:spcAft>
                <a:spcPts val="600"/>
              </a:spcAft>
            </a:pPr>
            <a:r>
              <a:rPr lang="es-AR" sz="1600" dirty="0" smtClean="0">
                <a:solidFill>
                  <a:schemeClr val="tx1"/>
                </a:solidFill>
                <a:latin typeface="Arial" charset="0"/>
              </a:rPr>
              <a:t>La diferencia más grande entre éste algoritmo y el de segunda oportunidad es que en este se da preferencia a aquellas páginas que han sido modificadas, de tal forma de reducir el I/O de disco asociado a éstas. Es un algoritmo eficiente de implementar con rendimiento bueno mas no óptimo, además de que se debe hacer una búsqueda a través de cada par de bits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</a:blip>
          <a:stretch>
            <a:fillRect/>
          </a:stretch>
        </p:blipFill>
        <p:spPr bwMode="auto">
          <a:xfrm>
            <a:off x="232229" y="2177818"/>
            <a:ext cx="6148504" cy="31815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9 CuadroTexto"/>
          <p:cNvSpPr txBox="1"/>
          <p:nvPr/>
        </p:nvSpPr>
        <p:spPr>
          <a:xfrm>
            <a:off x="6489700" y="3009900"/>
            <a:ext cx="220980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AR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Mejor candidata a ser reemplazada</a:t>
            </a:r>
            <a:endParaRPr lang="es-AR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12 Conector recto de flecha"/>
          <p:cNvCxnSpPr>
            <a:stCxn id="10" idx="1"/>
          </p:cNvCxnSpPr>
          <p:nvPr/>
        </p:nvCxnSpPr>
        <p:spPr>
          <a:xfrm flipH="1">
            <a:off x="4140200" y="3271510"/>
            <a:ext cx="2349500" cy="513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6489700" y="3746500"/>
            <a:ext cx="241300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AR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 es tan buena como la primera opción, pues la página deberá ser escrita antes de ser reemplazada.</a:t>
            </a:r>
            <a:endParaRPr lang="es-AR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19 Conector recto de flecha"/>
          <p:cNvCxnSpPr>
            <a:stCxn id="19" idx="1"/>
          </p:cNvCxnSpPr>
          <p:nvPr/>
        </p:nvCxnSpPr>
        <p:spPr>
          <a:xfrm flipH="1" flipV="1">
            <a:off x="3810000" y="4102100"/>
            <a:ext cx="2679700" cy="1214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6915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20650" y="952502"/>
            <a:ext cx="882015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Algoritmo LFU (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Least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frequently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 </a:t>
            </a:r>
            <a:r>
              <a:rPr lang="es-AR" sz="1600" b="1" dirty="0" err="1" smtClean="0">
                <a:solidFill>
                  <a:srgbClr val="7030A0"/>
                </a:solidFill>
                <a:latin typeface="Arial" charset="0"/>
              </a:rPr>
              <a:t>used</a:t>
            </a: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: menos frecuentemente usado)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  <a:p>
            <a:pPr marL="182563" indent="-182563" algn="just">
              <a:spcAft>
                <a:spcPts val="600"/>
              </a:spcAft>
            </a:pPr>
            <a:r>
              <a:rPr lang="es-AR" sz="1600" b="1" dirty="0" smtClean="0">
                <a:solidFill>
                  <a:srgbClr val="7030A0"/>
                </a:solidFill>
                <a:latin typeface="Arial" charset="0"/>
              </a:rPr>
              <a:t>Algunos bits utilizados en la Tabla de Páginas</a:t>
            </a:r>
          </a:p>
          <a:p>
            <a:pPr marL="182563" indent="-182563" algn="just">
              <a:spcAft>
                <a:spcPts val="600"/>
              </a:spcAft>
            </a:pPr>
            <a:endParaRPr lang="es-AR" sz="1600" b="1" dirty="0" smtClean="0">
              <a:solidFill>
                <a:srgbClr val="7030A0"/>
              </a:solidFill>
              <a:latin typeface="Arial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Memoria Virtual - </a:t>
            </a:r>
            <a:r>
              <a:rPr lang="es-AR" sz="33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sustitución de Páginas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</a:blip>
          <a:srcRect t="21772"/>
          <a:stretch>
            <a:fillRect/>
          </a:stretch>
        </p:blipFill>
        <p:spPr bwMode="auto">
          <a:xfrm>
            <a:off x="250825" y="1333500"/>
            <a:ext cx="4702175" cy="182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</a:blip>
          <a:srcRect/>
          <a:stretch>
            <a:fillRect/>
          </a:stretch>
        </p:blipFill>
        <p:spPr bwMode="auto">
          <a:xfrm>
            <a:off x="4914900" y="1371600"/>
            <a:ext cx="4165600" cy="1761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</a:blip>
          <a:srcRect/>
          <a:stretch>
            <a:fillRect/>
          </a:stretch>
        </p:blipFill>
        <p:spPr bwMode="auto">
          <a:xfrm>
            <a:off x="268060" y="4191000"/>
            <a:ext cx="4834410" cy="2364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25685" y="-8622"/>
            <a:ext cx="5943600" cy="629729"/>
          </a:xfrm>
        </p:spPr>
        <p:txBody>
          <a:bodyPr>
            <a:normAutofit fontScale="90000"/>
          </a:bodyPr>
          <a:lstStyle/>
          <a:p>
            <a:r>
              <a:rPr lang="es-ES" sz="3600" dirty="0" smtClean="0"/>
              <a:t>Cómo es en Windows? </a:t>
            </a:r>
            <a:endParaRPr lang="es-ES" sz="3600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91824" y="473851"/>
            <a:ext cx="8287662" cy="683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La dirección virtual</a:t>
            </a:r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, usa paginación jerárquica y 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se divide así (sólo</a:t>
            </a:r>
            <a:r>
              <a:rPr kumimoji="0" lang="es-E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se usan 48bits)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[ PML4 | PDPT | PD | PT | Offset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Donde: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PML4 → Page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Map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Level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PDPT → Page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Directory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Pointer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Table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PD → Page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Directory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PT → Page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Table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Offset → desplazamiento dentro de la página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lvl="0" algn="l" eaLnBrk="0" hangingPunct="0"/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Supongamos la dirección virtual: </a:t>
            </a:r>
            <a:r>
              <a:rPr lang="es-ES" sz="1400" b="1" dirty="0" smtClean="0">
                <a:solidFill>
                  <a:schemeClr val="tx1"/>
                </a:solidFill>
                <a:latin typeface="+mn-lt"/>
              </a:rPr>
              <a:t>0x0000_7FF6_A1B2_3C4D  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(los ‘_’ son para mejorar la legibilidad)</a:t>
            </a:r>
          </a:p>
          <a:p>
            <a:pPr lvl="0" algn="l" eaLnBrk="0" hangingPunct="0"/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En binario: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0000 0000 0000 0000 </a:t>
            </a:r>
            <a:r>
              <a:rPr lang="es-ES" sz="1200" b="1" dirty="0" smtClean="0">
                <a:solidFill>
                  <a:srgbClr val="0070C0"/>
                </a:solidFill>
                <a:latin typeface="+mn-lt"/>
              </a:rPr>
              <a:t>0111 1111 1</a:t>
            </a:r>
            <a:r>
              <a:rPr lang="es-ES" sz="1200" b="1" dirty="0" smtClean="0">
                <a:solidFill>
                  <a:srgbClr val="005828"/>
                </a:solidFill>
                <a:latin typeface="+mn-lt"/>
              </a:rPr>
              <a:t>111 0110 10</a:t>
            </a:r>
            <a:r>
              <a:rPr lang="es-ES" sz="1200" b="1" dirty="0" smtClean="0">
                <a:solidFill>
                  <a:srgbClr val="3E951B"/>
                </a:solidFill>
                <a:latin typeface="+mn-lt"/>
              </a:rPr>
              <a:t>10 0001 101</a:t>
            </a:r>
            <a:r>
              <a:rPr lang="es-ES" sz="1200" b="1" dirty="0" smtClean="0">
                <a:solidFill>
                  <a:srgbClr val="FFA747"/>
                </a:solidFill>
                <a:latin typeface="+mn-lt"/>
              </a:rPr>
              <a:t>1 0010 0011 </a:t>
            </a:r>
            <a:r>
              <a:rPr lang="es-ES" sz="1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1100 0100 1101</a:t>
            </a:r>
            <a:endParaRPr lang="es-ES" sz="1200" b="1" dirty="0" smtClean="0">
              <a:solidFill>
                <a:schemeClr val="accent1">
                  <a:lumMod val="75000"/>
                </a:schemeClr>
              </a:solidFill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algn="l"/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¿Cómo encuentra el procesador la primera base? (El Registro CR3)</a:t>
            </a:r>
          </a:p>
          <a:p>
            <a:pPr algn="l"/>
            <a:r>
              <a:rPr lang="es-ES" sz="1200" dirty="0" smtClean="0">
                <a:solidFill>
                  <a:schemeClr val="tx1"/>
                </a:solidFill>
                <a:latin typeface="+mn-lt"/>
              </a:rPr>
              <a:t>Ninguna entrada de una tabla puede apuntar a la primera tabla (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PML4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 Para iniciar todo el proceso, el procesador consulta el registro de control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CR3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CPU. El CR3 almacena la dirección física base de la PML4 del proceso que se está ejecutando actualmente en ese núcleo. Cada vez que el sistema operativo cambia de contexto (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context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switch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), carga el CR3 con la dirección de la PML4 del nuevo proceso.</a:t>
            </a:r>
          </a:p>
          <a:p>
            <a:pPr algn="l"/>
            <a:endParaRPr lang="es-ES" sz="1200" dirty="0" smtClean="0">
              <a:solidFill>
                <a:schemeClr val="tx1"/>
              </a:solidFill>
              <a:latin typeface="+mn-lt"/>
            </a:endParaRP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En la arquitectura x64 (x86_64), cada nivel de la estructura de paginación utiliza los bits de la dirección virtual para indexar una tabla y obtener un descriptor (llamado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entrada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 Es esta entrada la que contiene y apunta a la dirección física base de la siguiente tabla (o de la página final).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1. Entrada de la PML4 (PML4E)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¿Quién la indexa?: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El campo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PML4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dirección virtual (bits 47-39). En el ejemplo, el índice 0xFF.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¿A qué apunta?: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Esta entrada (PML4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Entry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 contiene la dirección física base de la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PDPT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(Page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Pointer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Table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2. Entrada de la PDPT (PDPTE)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¿Quién la indexa?: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El campo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PDPT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dirección virtual (bits 38-30). En el ejemplo, el índice 0x1da.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¿A qué apunta?: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Esta entrada (PDPT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Entry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 contiene la dirección física base del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PD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(Page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3. Entrada del PD (PDE)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¿Quién la indexa?: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El campo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PD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dirección virtual (bits 29-21). En el ejemplo, el índice 0x10d.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¿A qué apunta?: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Esta entrada (Page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Entry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 contiene la dirección física base de la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(Page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Table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4. Entrada de la PT (PTE)</a:t>
            </a:r>
          </a:p>
          <a:p>
            <a:pPr algn="l">
              <a:tabLst>
                <a:tab pos="357188" algn="l"/>
                <a:tab pos="628650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¿Quién la indexa?: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El campo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dirección virtual (bits 20-12). En el ejemplo, el índice 0x123.</a:t>
            </a:r>
          </a:p>
          <a:p>
            <a:pPr marL="357188" indent="-357188" algn="l">
              <a:tabLst>
                <a:tab pos="357188" algn="l"/>
              </a:tabLst>
            </a:pP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	¿A qué apunta?: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Esta entrada final (Page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Table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Entry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 contiene la dirección física base de la </a:t>
            </a:r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Página de Memoria Real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(el marco físico o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Page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Frame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). A esta dirección se le suma directamente el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Offset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para obtener el dato buscado.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425685" y="-8622"/>
            <a:ext cx="5943600" cy="629729"/>
          </a:xfrm>
        </p:spPr>
        <p:txBody>
          <a:bodyPr>
            <a:normAutofit fontScale="90000"/>
          </a:bodyPr>
          <a:lstStyle/>
          <a:p>
            <a:r>
              <a:rPr lang="es-ES" sz="3600" dirty="0" smtClean="0"/>
              <a:t>Cómo es en Linux? </a:t>
            </a:r>
            <a:endParaRPr lang="es-ES" sz="36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91824" y="897633"/>
            <a:ext cx="8287662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A nivel de hardware, el mecanismo es idéntico al de Windows, pero Linux define conceptualmente las tablas con nombres específicos dentro de su subsistema de gestión de memoria (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  <a:cs typeface="Arial" pitchFamily="34" charset="0"/>
              </a:rPr>
              <a:t>Memory</a:t>
            </a:r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 Management). </a:t>
            </a:r>
          </a:p>
          <a:p>
            <a:pPr lvl="0" algn="l"/>
            <a:endParaRPr lang="es-ES" sz="1200" dirty="0" smtClean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lvl="0" algn="l"/>
            <a:r>
              <a:rPr lang="es-ES" sz="1200" dirty="0" smtClean="0">
                <a:solidFill>
                  <a:schemeClr val="tx1"/>
                </a:solidFill>
                <a:latin typeface="+mn-lt"/>
                <a:cs typeface="Arial" pitchFamily="34" charset="0"/>
              </a:rPr>
              <a:t>La dirección virtual, usa paginación jerárquica y se divide así (sólo se usan 48bits):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[ PGD | PUD | PMD | PTE | Offset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Donde:</a:t>
            </a:r>
          </a:p>
          <a:p>
            <a:pPr algn="l"/>
            <a:r>
              <a:rPr lang="es-ES" sz="1200" dirty="0" smtClean="0">
                <a:solidFill>
                  <a:schemeClr val="tx1"/>
                </a:solidFill>
                <a:latin typeface="+mn-lt"/>
              </a:rPr>
              <a:t>En Linux se accede a través del puntero </a:t>
            </a:r>
            <a:r>
              <a:rPr lang="es-ES" sz="1200" b="1" dirty="0" err="1" smtClean="0">
                <a:solidFill>
                  <a:schemeClr val="tx1"/>
                </a:solidFill>
                <a:latin typeface="+mn-lt"/>
              </a:rPr>
              <a:t>pgd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dentro de la estructura </a:t>
            </a:r>
            <a:r>
              <a:rPr lang="es-ES" sz="1200" b="1" dirty="0" err="1" smtClean="0">
                <a:solidFill>
                  <a:schemeClr val="tx1"/>
                </a:solidFill>
                <a:latin typeface="+mn-lt"/>
              </a:rPr>
              <a:t>mm_struct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del descriptor del proceso (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task_struct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) para acceder a la </a:t>
            </a:r>
            <a:r>
              <a:rPr lang="es-ES" sz="1200" dirty="0" err="1" smtClean="0">
                <a:solidFill>
                  <a:schemeClr val="tx1"/>
                </a:solidFill>
                <a:latin typeface="+mn-lt"/>
              </a:rPr>
              <a:t>direccion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de la primer tabla:</a:t>
            </a:r>
          </a:p>
          <a:p>
            <a:pPr algn="l"/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PGD: 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Directorio Global de Páginas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(Page Global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)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l"/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PUD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: Directorio Superior de Páginas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(Page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Upper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)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l"/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PMD: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 Directorio Intermedio de Páginas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(Page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Middle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Directory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)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l"/>
            <a:r>
              <a:rPr lang="es-ES" sz="1200" b="1" dirty="0" smtClean="0">
                <a:solidFill>
                  <a:schemeClr val="tx1"/>
                </a:solidFill>
                <a:latin typeface="+mn-lt"/>
              </a:rPr>
              <a:t>PTE: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  Entrada de Tabla de Páginas / Tabla de Páginas 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(Page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Table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Entry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 / </a:t>
            </a:r>
            <a:r>
              <a:rPr lang="es-ES" sz="1200" i="1" dirty="0" err="1" smtClean="0">
                <a:solidFill>
                  <a:schemeClr val="tx1"/>
                </a:solidFill>
                <a:latin typeface="+mn-lt"/>
              </a:rPr>
              <a:t>Table</a:t>
            </a:r>
            <a:r>
              <a:rPr lang="es-ES" sz="1200" i="1" dirty="0" smtClean="0">
                <a:solidFill>
                  <a:schemeClr val="tx1"/>
                </a:solidFill>
                <a:latin typeface="+mn-lt"/>
              </a:rPr>
              <a:t>)</a:t>
            </a:r>
            <a:r>
              <a:rPr lang="es-ES" sz="12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64239" y="2273480"/>
            <a:ext cx="2811462" cy="431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895350"/>
            <a:ext cx="9144000" cy="5230814"/>
          </a:xfrm>
        </p:spPr>
        <p:txBody>
          <a:bodyPr>
            <a:normAutofit/>
          </a:bodyPr>
          <a:lstStyle/>
          <a:p>
            <a:r>
              <a:rPr lang="es-ES" sz="1600" dirty="0" smtClean="0"/>
              <a:t>La</a:t>
            </a:r>
            <a:r>
              <a:rPr lang="es-ES" sz="1600" dirty="0" smtClean="0"/>
              <a:t> </a:t>
            </a:r>
            <a:r>
              <a:rPr lang="es-ES" sz="1600" b="1" dirty="0" err="1" smtClean="0"/>
              <a:t>hiperpaginación</a:t>
            </a:r>
            <a:r>
              <a:rPr lang="es-ES" sz="1600" b="1" dirty="0" smtClean="0"/>
              <a:t> (</a:t>
            </a:r>
            <a:r>
              <a:rPr lang="es-ES" sz="1600" b="1" dirty="0" err="1" smtClean="0"/>
              <a:t>thrashing</a:t>
            </a:r>
            <a:r>
              <a:rPr lang="es-ES" sz="1600" b="1" dirty="0" smtClean="0"/>
              <a:t>)</a:t>
            </a:r>
            <a:r>
              <a:rPr lang="es-ES" sz="1600" dirty="0" smtClean="0"/>
              <a:t> es una situación en la que un sistema con memoria virtual genera tantos </a:t>
            </a:r>
            <a:r>
              <a:rPr lang="es-ES" sz="1600" b="1" dirty="0" smtClean="0"/>
              <a:t>fallos de página</a:t>
            </a:r>
            <a:r>
              <a:rPr lang="es-ES" sz="1600" dirty="0" smtClean="0"/>
              <a:t> que pasa más tiempo intercambiando páginas entre RAM y disco que ejecutando procesos.</a:t>
            </a:r>
          </a:p>
          <a:p>
            <a:r>
              <a:rPr lang="es-ES" sz="1600" b="1" dirty="0" smtClean="0"/>
              <a:t>Consecuencia:</a:t>
            </a:r>
            <a:r>
              <a:rPr lang="es-ES" sz="1600" dirty="0" smtClean="0"/>
              <a:t> el rendimiento cae drásticamente aunque la CPU parezca estar muy ocupada gestionando memoria.</a:t>
            </a:r>
            <a:endParaRPr lang="es-ES" sz="1600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457200" y="109538"/>
            <a:ext cx="8229600" cy="83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34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Hiperpaginación</a:t>
            </a:r>
            <a:endParaRPr kumimoji="0" lang="es-A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0" y="2200541"/>
            <a:ext cx="7505700" cy="459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AutoShape 4" descr="Cómo prevenir la hiperpaginación en sistem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5" y="971529"/>
            <a:ext cx="8725828" cy="582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57676</TotalTime>
  <Words>3551</Words>
  <Application>Microsoft Office PowerPoint</Application>
  <PresentationFormat>Presentación en pantalla (4:3)</PresentationFormat>
  <Paragraphs>526</Paragraphs>
  <Slides>33</Slides>
  <Notes>30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Cómo es en Windows? </vt:lpstr>
      <vt:lpstr>Cómo es en Linux? </vt:lpstr>
      <vt:lpstr>Diapositiva 33</vt:lpstr>
    </vt:vector>
  </TitlesOfParts>
  <Company>East Texas Data Service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Steve  Armstrong</dc:creator>
  <cp:lastModifiedBy>Ryzen</cp:lastModifiedBy>
  <cp:revision>2252</cp:revision>
  <cp:lastPrinted>2001-01-13T18:08:51Z</cp:lastPrinted>
  <dcterms:created xsi:type="dcterms:W3CDTF">2000-11-18T17:50:49Z</dcterms:created>
  <dcterms:modified xsi:type="dcterms:W3CDTF">2026-06-03T21:34:34Z</dcterms:modified>
</cp:coreProperties>
</file>