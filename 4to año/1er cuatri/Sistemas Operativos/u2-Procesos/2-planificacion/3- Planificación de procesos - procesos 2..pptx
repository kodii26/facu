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6"/>
  </p:notesMasterIdLst>
  <p:handoutMasterIdLst>
    <p:handoutMasterId r:id="rId27"/>
  </p:handoutMasterIdLst>
  <p:sldIdLst>
    <p:sldId id="353" r:id="rId2"/>
    <p:sldId id="419" r:id="rId3"/>
    <p:sldId id="390" r:id="rId4"/>
    <p:sldId id="421" r:id="rId5"/>
    <p:sldId id="392" r:id="rId6"/>
    <p:sldId id="400" r:id="rId7"/>
    <p:sldId id="405" r:id="rId8"/>
    <p:sldId id="393" r:id="rId9"/>
    <p:sldId id="401" r:id="rId10"/>
    <p:sldId id="407" r:id="rId11"/>
    <p:sldId id="402" r:id="rId12"/>
    <p:sldId id="403" r:id="rId13"/>
    <p:sldId id="404" r:id="rId14"/>
    <p:sldId id="420" r:id="rId15"/>
    <p:sldId id="408" r:id="rId16"/>
    <p:sldId id="406" r:id="rId17"/>
    <p:sldId id="409" r:id="rId18"/>
    <p:sldId id="410" r:id="rId19"/>
    <p:sldId id="412" r:id="rId20"/>
    <p:sldId id="413" r:id="rId21"/>
    <p:sldId id="414" r:id="rId22"/>
    <p:sldId id="415" r:id="rId23"/>
    <p:sldId id="418" r:id="rId24"/>
    <p:sldId id="417" r:id="rId25"/>
  </p:sldIdLst>
  <p:sldSz cx="9144000" cy="6858000" type="screen4x3"/>
  <p:notesSz cx="6754813" cy="9866313"/>
  <p:defaultTextStyle>
    <a:defPPr>
      <a:defRPr lang="en-US"/>
    </a:defPPr>
    <a:lvl1pPr algn="ctr" rtl="0" fontAlgn="base">
      <a:spcBef>
        <a:spcPct val="0"/>
      </a:spcBef>
      <a:spcAft>
        <a:spcPct val="0"/>
      </a:spcAft>
      <a:defRPr sz="2400" kern="1200">
        <a:solidFill>
          <a:srgbClr val="C0C0C0"/>
        </a:solidFill>
        <a:latin typeface="Times New Roman" pitchFamily="18" charset="0"/>
        <a:ea typeface="+mn-ea"/>
        <a:cs typeface="+mn-cs"/>
      </a:defRPr>
    </a:lvl1pPr>
    <a:lvl2pPr marL="457200" algn="ctr" rtl="0" fontAlgn="base">
      <a:spcBef>
        <a:spcPct val="0"/>
      </a:spcBef>
      <a:spcAft>
        <a:spcPct val="0"/>
      </a:spcAft>
      <a:defRPr sz="2400" kern="1200">
        <a:solidFill>
          <a:srgbClr val="C0C0C0"/>
        </a:solidFill>
        <a:latin typeface="Times New Roman" pitchFamily="18" charset="0"/>
        <a:ea typeface="+mn-ea"/>
        <a:cs typeface="+mn-cs"/>
      </a:defRPr>
    </a:lvl2pPr>
    <a:lvl3pPr marL="914400" algn="ctr" rtl="0" fontAlgn="base">
      <a:spcBef>
        <a:spcPct val="0"/>
      </a:spcBef>
      <a:spcAft>
        <a:spcPct val="0"/>
      </a:spcAft>
      <a:defRPr sz="2400" kern="1200">
        <a:solidFill>
          <a:srgbClr val="C0C0C0"/>
        </a:solidFill>
        <a:latin typeface="Times New Roman" pitchFamily="18" charset="0"/>
        <a:ea typeface="+mn-ea"/>
        <a:cs typeface="+mn-cs"/>
      </a:defRPr>
    </a:lvl3pPr>
    <a:lvl4pPr marL="1371600" algn="ctr" rtl="0" fontAlgn="base">
      <a:spcBef>
        <a:spcPct val="0"/>
      </a:spcBef>
      <a:spcAft>
        <a:spcPct val="0"/>
      </a:spcAft>
      <a:defRPr sz="2400" kern="1200">
        <a:solidFill>
          <a:srgbClr val="C0C0C0"/>
        </a:solidFill>
        <a:latin typeface="Times New Roman" pitchFamily="18" charset="0"/>
        <a:ea typeface="+mn-ea"/>
        <a:cs typeface="+mn-cs"/>
      </a:defRPr>
    </a:lvl4pPr>
    <a:lvl5pPr marL="1828800" algn="ctr" rtl="0" fontAlgn="base">
      <a:spcBef>
        <a:spcPct val="0"/>
      </a:spcBef>
      <a:spcAft>
        <a:spcPct val="0"/>
      </a:spcAft>
      <a:defRPr sz="2400" kern="1200">
        <a:solidFill>
          <a:srgbClr val="C0C0C0"/>
        </a:solidFill>
        <a:latin typeface="Times New Roman" pitchFamily="18" charset="0"/>
        <a:ea typeface="+mn-ea"/>
        <a:cs typeface="+mn-cs"/>
      </a:defRPr>
    </a:lvl5pPr>
    <a:lvl6pPr marL="2286000" algn="l" defTabSz="914400" rtl="0" eaLnBrk="1" latinLnBrk="0" hangingPunct="1">
      <a:defRPr sz="2400" kern="1200">
        <a:solidFill>
          <a:srgbClr val="C0C0C0"/>
        </a:solidFill>
        <a:latin typeface="Times New Roman" pitchFamily="18" charset="0"/>
        <a:ea typeface="+mn-ea"/>
        <a:cs typeface="+mn-cs"/>
      </a:defRPr>
    </a:lvl6pPr>
    <a:lvl7pPr marL="2743200" algn="l" defTabSz="914400" rtl="0" eaLnBrk="1" latinLnBrk="0" hangingPunct="1">
      <a:defRPr sz="2400" kern="1200">
        <a:solidFill>
          <a:srgbClr val="C0C0C0"/>
        </a:solidFill>
        <a:latin typeface="Times New Roman" pitchFamily="18" charset="0"/>
        <a:ea typeface="+mn-ea"/>
        <a:cs typeface="+mn-cs"/>
      </a:defRPr>
    </a:lvl7pPr>
    <a:lvl8pPr marL="3200400" algn="l" defTabSz="914400" rtl="0" eaLnBrk="1" latinLnBrk="0" hangingPunct="1">
      <a:defRPr sz="2400" kern="1200">
        <a:solidFill>
          <a:srgbClr val="C0C0C0"/>
        </a:solidFill>
        <a:latin typeface="Times New Roman" pitchFamily="18" charset="0"/>
        <a:ea typeface="+mn-ea"/>
        <a:cs typeface="+mn-cs"/>
      </a:defRPr>
    </a:lvl8pPr>
    <a:lvl9pPr marL="3657600" algn="l" defTabSz="914400" rtl="0" eaLnBrk="1" latinLnBrk="0" hangingPunct="1">
      <a:defRPr sz="2400" kern="1200">
        <a:solidFill>
          <a:srgbClr val="C0C0C0"/>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a:srgbClr val="21FF4B"/>
    <a:srgbClr val="FF1515"/>
    <a:srgbClr val="B00000"/>
    <a:srgbClr val="FFFF00"/>
    <a:srgbClr val="FF66FF"/>
    <a:srgbClr val="D34817"/>
    <a:srgbClr val="0033CC"/>
    <a:srgbClr val="CC00CC"/>
    <a:srgbClr val="FF00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30" autoAdjust="0"/>
    <p:restoredTop sz="96353" autoAdjust="0"/>
  </p:normalViewPr>
  <p:slideViewPr>
    <p:cSldViewPr snapToGrid="0">
      <p:cViewPr>
        <p:scale>
          <a:sx n="100" d="100"/>
          <a:sy n="100" d="100"/>
        </p:scale>
        <p:origin x="-2556" y="-210"/>
      </p:cViewPr>
      <p:guideLst>
        <p:guide orient="horz" pos="48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44"/>
    </p:cViewPr>
  </p:sorterViewPr>
  <p:notesViewPr>
    <p:cSldViewPr snapToGrid="0">
      <p:cViewPr>
        <p:scale>
          <a:sx n="100" d="100"/>
          <a:sy n="100" d="100"/>
        </p:scale>
        <p:origin x="-894" y="678"/>
      </p:cViewPr>
      <p:guideLst>
        <p:guide orient="horz" pos="3108"/>
        <p:guide pos="2128"/>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defRPr>
            </a:lvl1pPr>
          </a:lstStyle>
          <a:p>
            <a:endParaRPr lang="es-ES"/>
          </a:p>
        </p:txBody>
      </p:sp>
      <p:sp>
        <p:nvSpPr>
          <p:cNvPr id="161795" name="Rectangle 3"/>
          <p:cNvSpPr>
            <a:spLocks noGrp="1" noChangeArrowheads="1"/>
          </p:cNvSpPr>
          <p:nvPr>
            <p:ph type="dt" sz="quarter" idx="1"/>
          </p:nvPr>
        </p:nvSpPr>
        <p:spPr bwMode="auto">
          <a:xfrm>
            <a:off x="3825875"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defRPr>
            </a:lvl1pPr>
          </a:lstStyle>
          <a:p>
            <a:endParaRPr lang="es-ES"/>
          </a:p>
        </p:txBody>
      </p:sp>
      <p:sp>
        <p:nvSpPr>
          <p:cNvPr id="161796" name="Rectangle 4"/>
          <p:cNvSpPr>
            <a:spLocks noGrp="1" noChangeArrowheads="1"/>
          </p:cNvSpPr>
          <p:nvPr>
            <p:ph type="ftr" sz="quarter" idx="2"/>
          </p:nvPr>
        </p:nvSpPr>
        <p:spPr bwMode="auto">
          <a:xfrm>
            <a:off x="0"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defRPr>
            </a:lvl1pPr>
          </a:lstStyle>
          <a:p>
            <a:endParaRPr lang="es-ES"/>
          </a:p>
        </p:txBody>
      </p:sp>
      <p:sp>
        <p:nvSpPr>
          <p:cNvPr id="161797" name="Rectangle 5"/>
          <p:cNvSpPr>
            <a:spLocks noGrp="1" noChangeArrowheads="1"/>
          </p:cNvSpPr>
          <p:nvPr>
            <p:ph type="sldNum" sz="quarter" idx="3"/>
          </p:nvPr>
        </p:nvSpPr>
        <p:spPr bwMode="auto">
          <a:xfrm>
            <a:off x="3825875"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defRPr>
            </a:lvl1pPr>
          </a:lstStyle>
          <a:p>
            <a:fld id="{9CE37C41-A159-4594-91F3-888775DD85B5}" type="slidenum">
              <a:rPr lang="es-ES"/>
              <a:pPr/>
              <a:t>‹Nº›</a:t>
            </a:fld>
            <a:endParaRPr lang="es-E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39" name="Rectangle 3"/>
          <p:cNvSpPr>
            <a:spLocks noGrp="1" noChangeArrowheads="1"/>
          </p:cNvSpPr>
          <p:nvPr>
            <p:ph type="dt" idx="1"/>
          </p:nvPr>
        </p:nvSpPr>
        <p:spPr bwMode="auto">
          <a:xfrm>
            <a:off x="3827463"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latin typeface="Helvetica" pitchFamily="2" charset="0"/>
              </a:defRPr>
            </a:lvl1pPr>
          </a:lstStyle>
          <a:p>
            <a:endParaRPr lang="es-AR"/>
          </a:p>
        </p:txBody>
      </p:sp>
      <p:sp>
        <p:nvSpPr>
          <p:cNvPr id="65540" name="Rectangle 4"/>
          <p:cNvSpPr>
            <a:spLocks noGrp="1" noRot="1" noChangeAspect="1" noChangeArrowheads="1" noTextEdit="1"/>
          </p:cNvSpPr>
          <p:nvPr>
            <p:ph type="sldImg" idx="2"/>
          </p:nvPr>
        </p:nvSpPr>
        <p:spPr bwMode="auto">
          <a:xfrm>
            <a:off x="911225" y="739775"/>
            <a:ext cx="4933950" cy="3700463"/>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01700" y="4687888"/>
            <a:ext cx="4951413" cy="4438650"/>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9942" name="Rectangle 6"/>
          <p:cNvSpPr>
            <a:spLocks noGrp="1" noChangeArrowheads="1"/>
          </p:cNvSpPr>
          <p:nvPr>
            <p:ph type="ftr" sz="quarter" idx="4"/>
          </p:nvPr>
        </p:nvSpPr>
        <p:spPr bwMode="auto">
          <a:xfrm>
            <a:off x="0"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43" name="Rectangle 7"/>
          <p:cNvSpPr>
            <a:spLocks noGrp="1" noChangeArrowheads="1"/>
          </p:cNvSpPr>
          <p:nvPr>
            <p:ph type="sldNum" sz="quarter" idx="5"/>
          </p:nvPr>
        </p:nvSpPr>
        <p:spPr bwMode="auto">
          <a:xfrm>
            <a:off x="3827463"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latin typeface="Helvetica" pitchFamily="2" charset="0"/>
              </a:defRPr>
            </a:lvl1pPr>
          </a:lstStyle>
          <a:p>
            <a:fld id="{98A73CF5-616C-4868-81A9-4AC3700A2DB9}" type="slidenum">
              <a:rPr lang="en-US"/>
              <a:pPr/>
              <a:t>‹Nº›</a:t>
            </a:fld>
            <a:endParaRPr 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4A3DAAAE-BB77-4FBD-80CD-8806CBC61BD7}"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7C01F3A6-EE0E-4D54-B51D-BEF7C6505C79}"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71067C7A-EA67-4BE9-B0DB-B07E46B014F5}"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pPr>
              <a:defRPr/>
            </a:pPr>
            <a:endParaRPr lang="en-US"/>
          </a:p>
        </p:txBody>
      </p:sp>
      <p:sp>
        <p:nvSpPr>
          <p:cNvPr id="8" name="7 Marcador de pie de página"/>
          <p:cNvSpPr>
            <a:spLocks noGrp="1"/>
          </p:cNvSpPr>
          <p:nvPr>
            <p:ph type="ftr" sz="quarter" idx="11"/>
          </p:nvPr>
        </p:nvSpPr>
        <p:spPr/>
        <p:txBody>
          <a:bodyPr/>
          <a:lstStyle/>
          <a:p>
            <a:pPr>
              <a:defRPr/>
            </a:pPr>
            <a:endParaRPr lang="en-US"/>
          </a:p>
        </p:txBody>
      </p:sp>
      <p:sp>
        <p:nvSpPr>
          <p:cNvPr id="9" name="8 Marcador de número de diapositiva"/>
          <p:cNvSpPr>
            <a:spLocks noGrp="1"/>
          </p:cNvSpPr>
          <p:nvPr>
            <p:ph type="sldNum" sz="quarter" idx="12"/>
          </p:nvPr>
        </p:nvSpPr>
        <p:spPr/>
        <p:txBody>
          <a:bodyPr/>
          <a:lstStyle/>
          <a:p>
            <a:fld id="{48CF61DD-4B4E-4120-8426-714380EE5029}"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pPr>
              <a:defRPr/>
            </a:pPr>
            <a:endParaRPr lang="en-US"/>
          </a:p>
        </p:txBody>
      </p:sp>
      <p:sp>
        <p:nvSpPr>
          <p:cNvPr id="4" name="3 Marcador de pie de página"/>
          <p:cNvSpPr>
            <a:spLocks noGrp="1"/>
          </p:cNvSpPr>
          <p:nvPr>
            <p:ph type="ftr" sz="quarter" idx="11"/>
          </p:nvPr>
        </p:nvSpPr>
        <p:spPr/>
        <p:txBody>
          <a:bodyPr/>
          <a:lstStyle/>
          <a:p>
            <a:pPr>
              <a:defRPr/>
            </a:pPr>
            <a:endParaRPr lang="en-US"/>
          </a:p>
        </p:txBody>
      </p:sp>
      <p:sp>
        <p:nvSpPr>
          <p:cNvPr id="5" name="4 Marcador de número de diapositiva"/>
          <p:cNvSpPr>
            <a:spLocks noGrp="1"/>
          </p:cNvSpPr>
          <p:nvPr>
            <p:ph type="sldNum" sz="quarter" idx="12"/>
          </p:nvPr>
        </p:nvSpPr>
        <p:spPr/>
        <p:txBody>
          <a:bodyPr/>
          <a:lstStyle/>
          <a:p>
            <a:fld id="{15DC7E45-CE50-45F6-AFAF-BBEC857663A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pPr>
              <a:defRPr/>
            </a:pPr>
            <a:endParaRPr lang="en-US"/>
          </a:p>
        </p:txBody>
      </p:sp>
      <p:sp>
        <p:nvSpPr>
          <p:cNvPr id="3" name="2 Marcador de pie de página"/>
          <p:cNvSpPr>
            <a:spLocks noGrp="1"/>
          </p:cNvSpPr>
          <p:nvPr>
            <p:ph type="ftr" sz="quarter" idx="11"/>
          </p:nvPr>
        </p:nvSpPr>
        <p:spPr/>
        <p:txBody>
          <a:bodyPr/>
          <a:lstStyle/>
          <a:p>
            <a:pPr>
              <a:defRPr/>
            </a:pPr>
            <a:endParaRPr lang="en-US"/>
          </a:p>
        </p:txBody>
      </p:sp>
      <p:sp>
        <p:nvSpPr>
          <p:cNvPr id="4" name="3 Marcador de número de diapositiva"/>
          <p:cNvSpPr>
            <a:spLocks noGrp="1"/>
          </p:cNvSpPr>
          <p:nvPr>
            <p:ph type="sldNum" sz="quarter" idx="12"/>
          </p:nvPr>
        </p:nvSpPr>
        <p:spPr/>
        <p:txBody>
          <a:bodyPr/>
          <a:lstStyle/>
          <a:p>
            <a:fld id="{B759D250-4BD8-4A02-9BB7-6F58C7E277CE}"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C34C138-3AA1-47A5-94C5-74E44E949D75}"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2F53A78-FB7A-473A-B37B-537E71F8FD32}"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24E17C3E-6F24-490F-B5A6-302494F4F6F6}"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C90A54AD-D593-41AF-9419-80BAB15846A4}"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773113" y="0"/>
            <a:ext cx="7772400" cy="952500"/>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6858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2CDFD1E-D31C-4027-98FC-BCB6935708C6}" type="slidenum">
              <a:rPr lang="en-US"/>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alphaModFix amt="29000"/>
            <a:lum/>
          </a:blip>
          <a:srcRect/>
          <a:stretch>
            <a:fillRect l="-27000" r="-27000"/>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C601D-D1AA-400D-878E-9B5C6DECE3A0}" type="slidenum">
              <a:rPr lang="en-US" smtClean="0"/>
              <a:pPr/>
              <a:t>‹Nº›</a:t>
            </a:fld>
            <a:endParaRPr lang="en-US"/>
          </a:p>
        </p:txBody>
      </p:sp>
      <p:sp>
        <p:nvSpPr>
          <p:cNvPr id="7" name="Line 8"/>
          <p:cNvSpPr>
            <a:spLocks noChangeShapeType="1"/>
          </p:cNvSpPr>
          <p:nvPr/>
        </p:nvSpPr>
        <p:spPr bwMode="auto">
          <a:xfrm>
            <a:off x="0" y="952500"/>
            <a:ext cx="9144000" cy="0"/>
          </a:xfrm>
          <a:prstGeom prst="line">
            <a:avLst/>
          </a:prstGeom>
          <a:noFill/>
          <a:ln w="9525">
            <a:solidFill>
              <a:srgbClr val="FF3300"/>
            </a:solidFill>
            <a:round/>
            <a:headEnd/>
            <a:tailEnd/>
          </a:ln>
          <a:effectLst/>
        </p:spPr>
        <p:txBody>
          <a:bodyPr anchor="ctr"/>
          <a:lstStyle/>
          <a:p>
            <a:pPr>
              <a:defRPr/>
            </a:pPr>
            <a:endParaRPr lang="es-E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Repasando…..</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6" name="5 CuadroTexto"/>
          <p:cNvSpPr txBox="1"/>
          <p:nvPr/>
        </p:nvSpPr>
        <p:spPr>
          <a:xfrm>
            <a:off x="205946" y="1013941"/>
            <a:ext cx="8707395" cy="5786199"/>
          </a:xfrm>
          <a:prstGeom prst="rect">
            <a:avLst/>
          </a:prstGeom>
          <a:noFill/>
        </p:spPr>
        <p:txBody>
          <a:bodyPr wrap="square" rtlCol="0">
            <a:spAutoFit/>
          </a:bodyPr>
          <a:lstStyle/>
          <a:p>
            <a:pPr marL="177800" indent="-177800" algn="l">
              <a:buFont typeface="Arial" pitchFamily="34" charset="0"/>
              <a:buChar char="•"/>
            </a:pPr>
            <a:r>
              <a:rPr lang="es-AR" sz="1800" dirty="0" smtClean="0">
                <a:solidFill>
                  <a:schemeClr val="tx1"/>
                </a:solidFill>
                <a:latin typeface="Arial" pitchFamily="34" charset="0"/>
                <a:cs typeface="Arial" pitchFamily="34" charset="0"/>
              </a:rPr>
              <a:t>La interacción entre los programas de usuario y el sistema operativo se hace a través de </a:t>
            </a:r>
            <a:r>
              <a:rPr lang="es-AR" sz="1800" dirty="0" smtClean="0">
                <a:solidFill>
                  <a:srgbClr val="FF0000"/>
                </a:solidFill>
                <a:latin typeface="Arial" pitchFamily="34" charset="0"/>
                <a:cs typeface="Arial" pitchFamily="34" charset="0"/>
              </a:rPr>
              <a:t>llamadas al sistema. </a:t>
            </a:r>
            <a:r>
              <a:rPr lang="es-AR" sz="1800" dirty="0" smtClean="0">
                <a:solidFill>
                  <a:schemeClr val="tx1"/>
                </a:solidFill>
                <a:latin typeface="Arial" pitchFamily="34" charset="0"/>
                <a:cs typeface="Arial" pitchFamily="34" charset="0"/>
              </a:rPr>
              <a:t>Son necesarias ya que un usuario no puede acceder o no tiene privilegios directos sobre los recursos que gestiona el sistema operativo y mediante las mismas puede solicitar al núcleo del sistema el uso de los recursos.</a:t>
            </a:r>
          </a:p>
          <a:p>
            <a:pPr marL="177800" indent="-177800" algn="l">
              <a:buFont typeface="Arial" pitchFamily="34" charset="0"/>
              <a:buChar char="•"/>
            </a:pPr>
            <a:r>
              <a:rPr lang="es-AR" sz="1800" dirty="0" smtClean="0">
                <a:solidFill>
                  <a:schemeClr val="tx1"/>
                </a:solidFill>
                <a:latin typeface="Arial" pitchFamily="34" charset="0"/>
                <a:cs typeface="Arial" pitchFamily="34" charset="0"/>
              </a:rPr>
              <a:t>Un </a:t>
            </a:r>
            <a:r>
              <a:rPr lang="es-AR" sz="1800" dirty="0" smtClean="0">
                <a:solidFill>
                  <a:srgbClr val="FF0000"/>
                </a:solidFill>
                <a:latin typeface="Arial" pitchFamily="34" charset="0"/>
                <a:cs typeface="Arial" pitchFamily="34" charset="0"/>
              </a:rPr>
              <a:t>proceso</a:t>
            </a:r>
            <a:r>
              <a:rPr lang="es-AR" sz="1800" dirty="0" smtClean="0">
                <a:solidFill>
                  <a:schemeClr val="tx1"/>
                </a:solidFill>
                <a:latin typeface="Arial" pitchFamily="34" charset="0"/>
                <a:cs typeface="Arial" pitchFamily="34" charset="0"/>
              </a:rPr>
              <a:t> es un programa en ejecución.  Un proceso necesita recursos para poder ejecutarse: memoria, dispositivos de E/S, la CPU, etc.</a:t>
            </a:r>
          </a:p>
          <a:p>
            <a:pPr marL="177800" indent="-177800" algn="l">
              <a:buFont typeface="Arial" pitchFamily="34" charset="0"/>
              <a:buChar char="•"/>
            </a:pPr>
            <a:r>
              <a:rPr lang="es-AR" sz="1800" dirty="0" smtClean="0">
                <a:solidFill>
                  <a:schemeClr val="tx1"/>
                </a:solidFill>
                <a:latin typeface="Arial" pitchFamily="34" charset="0"/>
                <a:cs typeface="Arial" pitchFamily="34" charset="0"/>
              </a:rPr>
              <a:t>En la organización de un proceso, sus áreas típicas de la memoria son: código, datos y pila.</a:t>
            </a:r>
          </a:p>
          <a:p>
            <a:pPr marL="177800" indent="-177800" algn="l"/>
            <a:r>
              <a:rPr lang="es-AR" sz="1800" dirty="0" smtClean="0">
                <a:solidFill>
                  <a:schemeClr val="tx1"/>
                </a:solidFill>
                <a:latin typeface="Arial" pitchFamily="34" charset="0"/>
                <a:cs typeface="Arial" pitchFamily="34" charset="0"/>
              </a:rPr>
              <a:t>Los estados de un proceso pueden ser:</a:t>
            </a:r>
          </a:p>
          <a:p>
            <a:pPr marL="812800" lvl="1" indent="-355600" algn="l">
              <a:spcBef>
                <a:spcPts val="0"/>
              </a:spcBef>
              <a:buFont typeface="Arial" pitchFamily="34" charset="0"/>
              <a:buChar char="•"/>
            </a:pPr>
            <a:r>
              <a:rPr lang="es-AR" sz="1800" b="1" dirty="0" smtClean="0">
                <a:solidFill>
                  <a:srgbClr val="7030A0"/>
                </a:solidFill>
                <a:latin typeface="Arial" pitchFamily="34" charset="0"/>
                <a:cs typeface="Arial" pitchFamily="34" charset="0"/>
              </a:rPr>
              <a:t>nuevo</a:t>
            </a:r>
          </a:p>
          <a:p>
            <a:pPr marL="812800" lvl="1" indent="-355600" algn="l">
              <a:spcBef>
                <a:spcPts val="0"/>
              </a:spcBef>
              <a:buFont typeface="Arial" pitchFamily="34" charset="0"/>
              <a:buChar char="•"/>
            </a:pPr>
            <a:r>
              <a:rPr lang="es-AR" sz="1800" b="1" dirty="0" smtClean="0">
                <a:solidFill>
                  <a:srgbClr val="7030A0"/>
                </a:solidFill>
                <a:latin typeface="Arial" pitchFamily="34" charset="0"/>
                <a:cs typeface="Arial" pitchFamily="34" charset="0"/>
              </a:rPr>
              <a:t>ejecutando</a:t>
            </a:r>
            <a:endParaRPr lang="es-AR" sz="1800" dirty="0" smtClean="0">
              <a:solidFill>
                <a:schemeClr val="tx1"/>
              </a:solidFill>
              <a:latin typeface="Arial" pitchFamily="34" charset="0"/>
              <a:cs typeface="Arial" pitchFamily="34" charset="0"/>
            </a:endParaRPr>
          </a:p>
          <a:p>
            <a:pPr marL="812800" lvl="1" indent="-355600" algn="l">
              <a:spcBef>
                <a:spcPts val="0"/>
              </a:spcBef>
              <a:buFont typeface="Arial" pitchFamily="34" charset="0"/>
              <a:buChar char="•"/>
            </a:pPr>
            <a:r>
              <a:rPr lang="es-AR" sz="1800" b="1" dirty="0" smtClean="0">
                <a:solidFill>
                  <a:srgbClr val="7030A0"/>
                </a:solidFill>
                <a:latin typeface="Arial" pitchFamily="34" charset="0"/>
                <a:cs typeface="Arial" pitchFamily="34" charset="0"/>
              </a:rPr>
              <a:t>bloqueado</a:t>
            </a:r>
            <a:endParaRPr lang="es-AR" sz="1800" dirty="0" smtClean="0">
              <a:solidFill>
                <a:schemeClr val="tx1"/>
              </a:solidFill>
              <a:latin typeface="Arial" pitchFamily="34" charset="0"/>
              <a:cs typeface="Arial" pitchFamily="34" charset="0"/>
            </a:endParaRPr>
          </a:p>
          <a:p>
            <a:pPr marL="812800" lvl="1" indent="-355600" algn="l">
              <a:spcBef>
                <a:spcPts val="0"/>
              </a:spcBef>
              <a:buFont typeface="Arial" pitchFamily="34" charset="0"/>
              <a:buChar char="•"/>
            </a:pPr>
            <a:r>
              <a:rPr lang="es-AR" sz="1800" b="1" dirty="0" smtClean="0">
                <a:solidFill>
                  <a:srgbClr val="7030A0"/>
                </a:solidFill>
                <a:latin typeface="Arial" pitchFamily="34" charset="0"/>
                <a:cs typeface="Arial" pitchFamily="34" charset="0"/>
              </a:rPr>
              <a:t>listo</a:t>
            </a:r>
            <a:endParaRPr lang="es-AR" sz="1800" dirty="0" smtClean="0">
              <a:solidFill>
                <a:schemeClr val="tx1"/>
              </a:solidFill>
              <a:latin typeface="Arial" pitchFamily="34" charset="0"/>
              <a:cs typeface="Arial" pitchFamily="34" charset="0"/>
            </a:endParaRPr>
          </a:p>
          <a:p>
            <a:pPr marL="812800" lvl="1" indent="-355600" algn="l">
              <a:spcBef>
                <a:spcPts val="0"/>
              </a:spcBef>
              <a:buFont typeface="Arial" pitchFamily="34" charset="0"/>
              <a:buChar char="•"/>
            </a:pPr>
            <a:r>
              <a:rPr lang="es-AR" sz="1800" b="1" dirty="0" smtClean="0">
                <a:solidFill>
                  <a:srgbClr val="7030A0"/>
                </a:solidFill>
                <a:latin typeface="Arial" pitchFamily="34" charset="0"/>
                <a:cs typeface="Arial" pitchFamily="34" charset="0"/>
              </a:rPr>
              <a:t>Terminado</a:t>
            </a:r>
          </a:p>
          <a:p>
            <a:pPr marL="355600" indent="-355600" algn="l">
              <a:spcBef>
                <a:spcPts val="600"/>
              </a:spcBef>
            </a:pPr>
            <a:r>
              <a:rPr lang="es-AR" sz="1800" dirty="0" smtClean="0">
                <a:solidFill>
                  <a:schemeClr val="tx1"/>
                </a:solidFill>
                <a:latin typeface="Arial" pitchFamily="34" charset="0"/>
                <a:cs typeface="Arial" pitchFamily="34" charset="0"/>
              </a:rPr>
              <a:t>Cada proceso tiene un Bloque de Control de Proceso (PCB) que almacena el estado e información de control, de memoria, registros, planificador, etc.</a:t>
            </a:r>
          </a:p>
          <a:p>
            <a:pPr marL="355600" indent="-355600" algn="l">
              <a:spcBef>
                <a:spcPts val="600"/>
              </a:spcBef>
            </a:pPr>
            <a:r>
              <a:rPr lang="es-AR" sz="1800" dirty="0" smtClean="0">
                <a:solidFill>
                  <a:schemeClr val="tx1"/>
                </a:solidFill>
                <a:latin typeface="Arial" pitchFamily="34" charset="0"/>
                <a:cs typeface="Arial" pitchFamily="34" charset="0"/>
              </a:rPr>
              <a:t>El </a:t>
            </a:r>
            <a:r>
              <a:rPr lang="es-AR" sz="1800" dirty="0" smtClean="0">
                <a:solidFill>
                  <a:srgbClr val="FF0000"/>
                </a:solidFill>
                <a:latin typeface="Arial" pitchFamily="34" charset="0"/>
                <a:cs typeface="Arial" pitchFamily="34" charset="0"/>
              </a:rPr>
              <a:t>contexto de un proceso </a:t>
            </a:r>
            <a:r>
              <a:rPr lang="es-AR" sz="1800" dirty="0" smtClean="0">
                <a:solidFill>
                  <a:schemeClr val="tx1"/>
                </a:solidFill>
                <a:latin typeface="Arial" pitchFamily="34" charset="0"/>
                <a:cs typeface="Arial" pitchFamily="34" charset="0"/>
              </a:rPr>
              <a:t>en un cierto instante de tiempo es la información relativa al proceso que el núcleo debe conocer para poder iniciar o continuar su ejecución.</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27100"/>
            <a:ext cx="8699499" cy="5262979"/>
          </a:xfrm>
          <a:prstGeom prst="rect">
            <a:avLst/>
          </a:prstGeom>
          <a:noFill/>
        </p:spPr>
        <p:txBody>
          <a:bodyPr wrap="square" rtlCol="0">
            <a:spAutoFit/>
          </a:bodyPr>
          <a:lstStyle/>
          <a:p>
            <a:pPr algn="just"/>
            <a:r>
              <a:rPr lang="es-AR" sz="2000" dirty="0" smtClean="0">
                <a:solidFill>
                  <a:schemeClr val="tx1"/>
                </a:solidFill>
                <a:latin typeface="Arial" pitchFamily="34" charset="0"/>
                <a:cs typeface="Arial" pitchFamily="34" charset="0"/>
              </a:rPr>
              <a:t>La planificación es la base para lograr la multiprogramación.</a:t>
            </a:r>
          </a:p>
          <a:p>
            <a:pPr algn="just"/>
            <a:endParaRPr lang="es-AR" sz="2000" dirty="0" smtClean="0">
              <a:solidFill>
                <a:schemeClr val="tx1"/>
              </a:solidFill>
              <a:latin typeface="Arial" pitchFamily="34" charset="0"/>
              <a:cs typeface="Arial" pitchFamily="34" charset="0"/>
            </a:endParaRPr>
          </a:p>
          <a:p>
            <a:pPr algn="just"/>
            <a:r>
              <a:rPr lang="es-AR" sz="2000" dirty="0" smtClean="0">
                <a:solidFill>
                  <a:schemeClr val="tx1"/>
                </a:solidFill>
                <a:latin typeface="Arial" pitchFamily="34" charset="0"/>
                <a:cs typeface="Arial" pitchFamily="34" charset="0"/>
              </a:rPr>
              <a:t>En un sistema </a:t>
            </a:r>
            <a:r>
              <a:rPr lang="es-AR" sz="2000" dirty="0" err="1" smtClean="0">
                <a:solidFill>
                  <a:schemeClr val="tx1"/>
                </a:solidFill>
                <a:latin typeface="Arial" pitchFamily="34" charset="0"/>
                <a:cs typeface="Arial" pitchFamily="34" charset="0"/>
              </a:rPr>
              <a:t>multiprogramado</a:t>
            </a:r>
            <a:r>
              <a:rPr lang="es-AR" sz="2000" dirty="0" smtClean="0">
                <a:solidFill>
                  <a:schemeClr val="tx1"/>
                </a:solidFill>
                <a:latin typeface="Arial" pitchFamily="34" charset="0"/>
                <a:cs typeface="Arial" pitchFamily="34" charset="0"/>
              </a:rPr>
              <a:t>, generalmente en un determinado instante existirán varios procesos que requieren el procesador a la vez (aquellos que están en estado listo). Entonces, cuando el proceso esté disponible, ¿Cómo se elige cuándo y qué proceso se ejecutará a continuación? El componente del SO que realiza esta tarea es el </a:t>
            </a:r>
            <a:r>
              <a:rPr lang="es-AR" sz="2000" b="1" dirty="0" smtClean="0">
                <a:solidFill>
                  <a:schemeClr val="tx1"/>
                </a:solidFill>
                <a:latin typeface="Arial" pitchFamily="34" charset="0"/>
                <a:cs typeface="Arial" pitchFamily="34" charset="0"/>
              </a:rPr>
              <a:t>planificador (</a:t>
            </a:r>
            <a:r>
              <a:rPr lang="es-AR" sz="2000" b="1" dirty="0" err="1" smtClean="0">
                <a:solidFill>
                  <a:schemeClr val="tx1"/>
                </a:solidFill>
                <a:latin typeface="Arial" pitchFamily="34" charset="0"/>
                <a:cs typeface="Arial" pitchFamily="34" charset="0"/>
              </a:rPr>
              <a:t>scheduler</a:t>
            </a:r>
            <a:r>
              <a:rPr lang="es-AR" sz="2000" b="1" dirty="0" smtClean="0">
                <a:solidFill>
                  <a:schemeClr val="tx1"/>
                </a:solidFill>
                <a:latin typeface="Arial" pitchFamily="34" charset="0"/>
                <a:cs typeface="Arial" pitchFamily="34" charset="0"/>
              </a:rPr>
              <a:t>)</a:t>
            </a:r>
            <a:r>
              <a:rPr lang="es-AR" sz="2000" dirty="0" smtClean="0">
                <a:solidFill>
                  <a:schemeClr val="tx1"/>
                </a:solidFill>
                <a:latin typeface="Arial" pitchFamily="34" charset="0"/>
                <a:cs typeface="Arial" pitchFamily="34" charset="0"/>
              </a:rPr>
              <a:t>.</a:t>
            </a:r>
          </a:p>
          <a:p>
            <a:pPr algn="just"/>
            <a:endParaRPr lang="es-AR" sz="2000" dirty="0" smtClean="0">
              <a:solidFill>
                <a:schemeClr val="tx1"/>
              </a:solidFill>
              <a:latin typeface="Arial" pitchFamily="34" charset="0"/>
              <a:cs typeface="Arial" pitchFamily="34" charset="0"/>
            </a:endParaRPr>
          </a:p>
          <a:p>
            <a:pPr algn="just"/>
            <a:r>
              <a:rPr lang="es-AR" sz="2000" dirty="0" smtClean="0">
                <a:solidFill>
                  <a:schemeClr val="tx1"/>
                </a:solidFill>
                <a:latin typeface="Arial" pitchFamily="34" charset="0"/>
                <a:cs typeface="Arial" pitchFamily="34" charset="0"/>
              </a:rPr>
              <a:t>El </a:t>
            </a:r>
            <a:r>
              <a:rPr lang="es-AR" sz="2000" b="1" dirty="0" err="1" smtClean="0">
                <a:solidFill>
                  <a:schemeClr val="tx1"/>
                </a:solidFill>
                <a:latin typeface="Arial" pitchFamily="34" charset="0"/>
                <a:cs typeface="Arial" pitchFamily="34" charset="0"/>
              </a:rPr>
              <a:t>dispatcher</a:t>
            </a:r>
            <a:r>
              <a:rPr lang="es-AR" sz="2000" b="1" dirty="0" smtClean="0">
                <a:solidFill>
                  <a:schemeClr val="tx1"/>
                </a:solidFill>
                <a:latin typeface="Arial" pitchFamily="34" charset="0"/>
                <a:cs typeface="Arial" pitchFamily="34" charset="0"/>
              </a:rPr>
              <a:t> (</a:t>
            </a:r>
            <a:r>
              <a:rPr lang="es-AR" sz="2000" dirty="0" smtClean="0">
                <a:solidFill>
                  <a:schemeClr val="tx1"/>
                </a:solidFill>
                <a:latin typeface="Arial" pitchFamily="34" charset="0"/>
                <a:cs typeface="Arial" pitchFamily="34" charset="0"/>
              </a:rPr>
              <a:t>despachador) es el módulo del SO que da el control de la CPU al proceso seleccionado por el </a:t>
            </a:r>
            <a:r>
              <a:rPr lang="es-AR" sz="2000" b="1" dirty="0" err="1" smtClean="0">
                <a:solidFill>
                  <a:schemeClr val="tx1"/>
                </a:solidFill>
                <a:latin typeface="Arial" pitchFamily="34" charset="0"/>
                <a:cs typeface="Arial" pitchFamily="34" charset="0"/>
              </a:rPr>
              <a:t>Scheduler</a:t>
            </a:r>
            <a:r>
              <a:rPr lang="es-AR" sz="2000" dirty="0" smtClean="0">
                <a:solidFill>
                  <a:schemeClr val="tx1"/>
                </a:solidFill>
                <a:latin typeface="Arial" pitchFamily="34" charset="0"/>
                <a:cs typeface="Arial" pitchFamily="34" charset="0"/>
              </a:rPr>
              <a:t> (Planificador). Esto implica:</a:t>
            </a:r>
          </a:p>
          <a:p>
            <a:pPr marL="266700" indent="-266700" algn="just">
              <a:buFont typeface="Arial" pitchFamily="34" charset="0"/>
              <a:buChar char="•"/>
              <a:tabLst>
                <a:tab pos="266700" algn="l"/>
              </a:tabLst>
            </a:pPr>
            <a:r>
              <a:rPr lang="es-AR" sz="2000" dirty="0" smtClean="0">
                <a:solidFill>
                  <a:schemeClr val="tx1"/>
                </a:solidFill>
                <a:latin typeface="Arial" pitchFamily="34" charset="0"/>
                <a:cs typeface="Arial" pitchFamily="34" charset="0"/>
              </a:rPr>
              <a:t>Cambio de contexto: Guardar los registros del procesador en PCB del proceso saliente. Cargar los registros con los datos del PCB del proceso entrante.</a:t>
            </a:r>
          </a:p>
          <a:p>
            <a:pPr marL="266700" indent="-266700" algn="just">
              <a:buFont typeface="Arial" pitchFamily="34" charset="0"/>
              <a:buChar char="•"/>
              <a:tabLst>
                <a:tab pos="266700" algn="l"/>
              </a:tabLst>
            </a:pPr>
            <a:r>
              <a:rPr lang="es-AR" sz="2000" dirty="0" smtClean="0">
                <a:solidFill>
                  <a:schemeClr val="tx1"/>
                </a:solidFill>
                <a:latin typeface="Arial" pitchFamily="34" charset="0"/>
                <a:cs typeface="Arial" pitchFamily="34" charset="0"/>
              </a:rPr>
              <a:t>Cambiar el bit de modo a usuario.</a:t>
            </a:r>
          </a:p>
          <a:p>
            <a:pPr marL="266700" indent="-266700" algn="just">
              <a:buFont typeface="Arial" pitchFamily="34" charset="0"/>
              <a:buChar char="•"/>
              <a:tabLst>
                <a:tab pos="266700" algn="l"/>
              </a:tabLst>
            </a:pPr>
            <a:r>
              <a:rPr lang="es-AR" sz="2000" dirty="0" smtClean="0">
                <a:solidFill>
                  <a:schemeClr val="tx1"/>
                </a:solidFill>
                <a:latin typeface="Arial" pitchFamily="34" charset="0"/>
                <a:cs typeface="Arial" pitchFamily="34" charset="0"/>
              </a:rPr>
              <a:t>Saltar a la instrucción adecuada que había quedado el proceso que se asignó a la CPU (registro </a:t>
            </a:r>
            <a:r>
              <a:rPr lang="es-AR" sz="2000" dirty="0" err="1" smtClean="0">
                <a:solidFill>
                  <a:schemeClr val="tx1"/>
                </a:solidFill>
                <a:latin typeface="Arial" pitchFamily="34" charset="0"/>
                <a:cs typeface="Arial" pitchFamily="34" charset="0"/>
              </a:rPr>
              <a:t>program</a:t>
            </a:r>
            <a:r>
              <a:rPr lang="es-AR" sz="2000" dirty="0" smtClean="0">
                <a:solidFill>
                  <a:schemeClr val="tx1"/>
                </a:solidFill>
                <a:latin typeface="Arial" pitchFamily="34" charset="0"/>
                <a:cs typeface="Arial" pitchFamily="34" charset="0"/>
              </a:rPr>
              <a:t> </a:t>
            </a:r>
            <a:r>
              <a:rPr lang="es-AR" sz="2000" dirty="0" err="1" smtClean="0">
                <a:solidFill>
                  <a:schemeClr val="tx1"/>
                </a:solidFill>
                <a:latin typeface="Arial" pitchFamily="34" charset="0"/>
                <a:cs typeface="Arial" pitchFamily="34" charset="0"/>
              </a:rPr>
              <a:t>counter</a:t>
            </a:r>
            <a:r>
              <a:rPr lang="es-AR" sz="2000" dirty="0" smtClean="0">
                <a:solidFill>
                  <a:schemeClr val="tx1"/>
                </a:solidFill>
                <a:latin typeface="Arial" pitchFamily="34" charset="0"/>
                <a:cs typeface="Arial" pitchFamily="34" charset="0"/>
              </a:rPr>
              <a:t>).</a:t>
            </a:r>
          </a:p>
          <a:p>
            <a:pPr marL="266700" indent="-266700" algn="just">
              <a:tabLst>
                <a:tab pos="266700" algn="l"/>
              </a:tabLst>
            </a:pPr>
            <a:endParaRPr lang="es-AR" sz="16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391887" y="999670"/>
            <a:ext cx="8447314" cy="5401479"/>
          </a:xfrm>
          <a:prstGeom prst="rect">
            <a:avLst/>
          </a:prstGeom>
          <a:noFill/>
        </p:spPr>
        <p:txBody>
          <a:bodyPr wrap="square" rtlCol="0">
            <a:spAutoFit/>
          </a:bodyPr>
          <a:lstStyle/>
          <a:p>
            <a:pPr marL="0" lvl="1" algn="just"/>
            <a:r>
              <a:rPr lang="es-AR" sz="2000" dirty="0" smtClean="0">
                <a:solidFill>
                  <a:schemeClr val="tx1"/>
                </a:solidFill>
                <a:latin typeface="Arial" pitchFamily="34" charset="0"/>
                <a:cs typeface="Arial" pitchFamily="34" charset="0"/>
              </a:rPr>
              <a:t>Cabe destacar que cuanto menos se llame al </a:t>
            </a:r>
            <a:r>
              <a:rPr lang="es-AR" sz="2000" dirty="0" err="1" smtClean="0">
                <a:solidFill>
                  <a:schemeClr val="tx1"/>
                </a:solidFill>
                <a:latin typeface="Arial" pitchFamily="34" charset="0"/>
                <a:cs typeface="Arial" pitchFamily="34" charset="0"/>
              </a:rPr>
              <a:t>dispatcher</a:t>
            </a:r>
            <a:r>
              <a:rPr lang="es-AR" sz="2000" dirty="0" smtClean="0">
                <a:solidFill>
                  <a:schemeClr val="tx1"/>
                </a:solidFill>
                <a:latin typeface="Arial" pitchFamily="34" charset="0"/>
                <a:cs typeface="Arial" pitchFamily="34" charset="0"/>
              </a:rPr>
              <a:t>,  le dedicará menos CPU al SO y más tiempo los procesos del usuario (el cambio de contexto consume tiempo).</a:t>
            </a:r>
          </a:p>
          <a:p>
            <a:pPr marL="0" lvl="1" algn="just"/>
            <a:endParaRPr lang="es-AR" sz="2000" dirty="0" smtClean="0">
              <a:solidFill>
                <a:schemeClr val="tx1"/>
              </a:solidFill>
              <a:latin typeface="Arial" pitchFamily="34" charset="0"/>
              <a:cs typeface="Arial" pitchFamily="34" charset="0"/>
            </a:endParaRPr>
          </a:p>
          <a:p>
            <a:pPr marL="0" lvl="1" algn="just"/>
            <a:r>
              <a:rPr lang="es-AR" sz="2000" dirty="0" smtClean="0">
                <a:solidFill>
                  <a:schemeClr val="tx1"/>
                </a:solidFill>
                <a:latin typeface="Arial" pitchFamily="34" charset="0"/>
                <a:cs typeface="Arial" pitchFamily="34" charset="0"/>
              </a:rPr>
              <a:t>Se puede definir el </a:t>
            </a:r>
            <a:r>
              <a:rPr lang="es-AR" sz="2000" b="1" dirty="0" err="1" smtClean="0">
                <a:solidFill>
                  <a:schemeClr val="tx1"/>
                </a:solidFill>
                <a:latin typeface="Arial" pitchFamily="34" charset="0"/>
                <a:cs typeface="Arial" pitchFamily="34" charset="0"/>
              </a:rPr>
              <a:t>scheduling</a:t>
            </a:r>
            <a:r>
              <a:rPr lang="es-AR" sz="2000" dirty="0" smtClean="0">
                <a:solidFill>
                  <a:schemeClr val="tx1"/>
                </a:solidFill>
                <a:latin typeface="Arial" pitchFamily="34" charset="0"/>
                <a:cs typeface="Arial" pitchFamily="34" charset="0"/>
              </a:rPr>
              <a:t> (traducido como </a:t>
            </a:r>
            <a:r>
              <a:rPr lang="es-AR" sz="2000" b="1" dirty="0" smtClean="0">
                <a:solidFill>
                  <a:schemeClr val="tx1"/>
                </a:solidFill>
                <a:latin typeface="Arial" pitchFamily="34" charset="0"/>
                <a:cs typeface="Arial" pitchFamily="34" charset="0"/>
              </a:rPr>
              <a:t>planificación</a:t>
            </a:r>
            <a:r>
              <a:rPr lang="es-AR" sz="2000" dirty="0" smtClean="0">
                <a:solidFill>
                  <a:schemeClr val="tx1"/>
                </a:solidFill>
                <a:latin typeface="Arial" pitchFamily="34" charset="0"/>
                <a:cs typeface="Arial" pitchFamily="34" charset="0"/>
              </a:rPr>
              <a:t>) como el conjunto de políticas y mecanismos construidos dentro del sistema operativo que gobiernan la forma de conseguir que los procesos a ejecutar lleguen a ejecutarse.</a:t>
            </a:r>
          </a:p>
          <a:p>
            <a:pPr marL="0" lvl="1" algn="just"/>
            <a:endParaRPr lang="es-AR" sz="2000" dirty="0" smtClean="0">
              <a:solidFill>
                <a:schemeClr val="tx1"/>
              </a:solidFill>
              <a:latin typeface="Arial" pitchFamily="34" charset="0"/>
              <a:cs typeface="Arial" pitchFamily="34" charset="0"/>
            </a:endParaRPr>
          </a:p>
          <a:p>
            <a:pPr marL="0" lvl="1" algn="just"/>
            <a:r>
              <a:rPr lang="es-AR" sz="2000" dirty="0" smtClean="0">
                <a:solidFill>
                  <a:schemeClr val="tx1"/>
                </a:solidFill>
                <a:latin typeface="Arial" pitchFamily="34" charset="0"/>
                <a:cs typeface="Arial" pitchFamily="34" charset="0"/>
              </a:rPr>
              <a:t>El </a:t>
            </a:r>
            <a:r>
              <a:rPr lang="es-AR" sz="2000" dirty="0" err="1" smtClean="0">
                <a:solidFill>
                  <a:schemeClr val="tx1"/>
                </a:solidFill>
                <a:latin typeface="Arial" pitchFamily="34" charset="0"/>
                <a:cs typeface="Arial" pitchFamily="34" charset="0"/>
              </a:rPr>
              <a:t>scheduling</a:t>
            </a:r>
            <a:r>
              <a:rPr lang="es-AR" sz="2000" dirty="0" smtClean="0">
                <a:solidFill>
                  <a:schemeClr val="tx1"/>
                </a:solidFill>
                <a:latin typeface="Arial" pitchFamily="34" charset="0"/>
                <a:cs typeface="Arial" pitchFamily="34" charset="0"/>
              </a:rPr>
              <a:t> está muy relacionado con la gestión de los recursos.</a:t>
            </a:r>
          </a:p>
          <a:p>
            <a:pPr marL="0" lvl="1" algn="just"/>
            <a:r>
              <a:rPr lang="es-AR" sz="2000" dirty="0" smtClean="0">
                <a:solidFill>
                  <a:schemeClr val="tx1"/>
                </a:solidFill>
                <a:latin typeface="Arial" pitchFamily="34" charset="0"/>
                <a:cs typeface="Arial" pitchFamily="34" charset="0"/>
              </a:rPr>
              <a:t>Existen tres niveles de planificación:</a:t>
            </a:r>
          </a:p>
          <a:p>
            <a:pPr marL="177800" lvl="1" indent="-177800" algn="just">
              <a:spcBef>
                <a:spcPts val="600"/>
              </a:spcBef>
              <a:buFont typeface="Arial" pitchFamily="34" charset="0"/>
              <a:buChar char="•"/>
            </a:pPr>
            <a:r>
              <a:rPr lang="es-AR" sz="2000" b="1" dirty="0" smtClean="0">
                <a:solidFill>
                  <a:schemeClr val="tx1"/>
                </a:solidFill>
                <a:latin typeface="Arial" pitchFamily="34" charset="0"/>
                <a:cs typeface="Arial" pitchFamily="34" charset="0"/>
              </a:rPr>
              <a:t>Planificador a largo plazo. </a:t>
            </a:r>
            <a:r>
              <a:rPr lang="es-AR" sz="2000" dirty="0" smtClean="0">
                <a:solidFill>
                  <a:schemeClr val="tx1"/>
                </a:solidFill>
                <a:latin typeface="Arial" pitchFamily="34" charset="0"/>
                <a:cs typeface="Arial" pitchFamily="34" charset="0"/>
              </a:rPr>
              <a:t>(nivel de multiprogramación (planificador de trabajo))</a:t>
            </a:r>
            <a:endParaRPr lang="es-AR" sz="2000" b="1" dirty="0" smtClean="0">
              <a:solidFill>
                <a:schemeClr val="tx1"/>
              </a:solidFill>
              <a:latin typeface="Arial" pitchFamily="34" charset="0"/>
              <a:cs typeface="Arial" pitchFamily="34" charset="0"/>
            </a:endParaRPr>
          </a:p>
          <a:p>
            <a:pPr marL="177800" lvl="1" indent="-177800" algn="just">
              <a:buFont typeface="Arial" pitchFamily="34" charset="0"/>
              <a:buChar char="•"/>
            </a:pPr>
            <a:r>
              <a:rPr lang="es-AR" sz="2000" b="1" dirty="0" smtClean="0">
                <a:solidFill>
                  <a:schemeClr val="tx1"/>
                </a:solidFill>
                <a:latin typeface="Arial" pitchFamily="34" charset="0"/>
                <a:cs typeface="Arial" pitchFamily="34" charset="0"/>
              </a:rPr>
              <a:t>Planificador a medio plazo. </a:t>
            </a:r>
            <a:r>
              <a:rPr lang="es-AR" sz="2000" dirty="0" smtClean="0">
                <a:solidFill>
                  <a:schemeClr val="tx1"/>
                </a:solidFill>
                <a:latin typeface="Arial" pitchFamily="34" charset="0"/>
                <a:cs typeface="Arial" pitchFamily="34" charset="0"/>
              </a:rPr>
              <a:t>(procesos en memoria – planificador de </a:t>
            </a:r>
            <a:r>
              <a:rPr lang="es-AR" sz="2000" dirty="0" err="1" smtClean="0">
                <a:solidFill>
                  <a:schemeClr val="tx1"/>
                </a:solidFill>
                <a:latin typeface="Arial" pitchFamily="34" charset="0"/>
                <a:cs typeface="Arial" pitchFamily="34" charset="0"/>
              </a:rPr>
              <a:t>swapping</a:t>
            </a:r>
            <a:r>
              <a:rPr lang="es-AR" sz="2000" dirty="0" smtClean="0">
                <a:solidFill>
                  <a:schemeClr val="tx1"/>
                </a:solidFill>
                <a:latin typeface="Arial" pitchFamily="34" charset="0"/>
                <a:cs typeface="Arial" pitchFamily="34" charset="0"/>
              </a:rPr>
              <a:t>)</a:t>
            </a:r>
            <a:endParaRPr lang="es-AR" sz="2000" b="1" dirty="0" smtClean="0">
              <a:solidFill>
                <a:schemeClr val="tx1"/>
              </a:solidFill>
              <a:latin typeface="Arial" pitchFamily="34" charset="0"/>
              <a:cs typeface="Arial" pitchFamily="34" charset="0"/>
            </a:endParaRPr>
          </a:p>
          <a:p>
            <a:pPr marL="177800" lvl="1" indent="-177800" algn="just">
              <a:buFont typeface="Arial" pitchFamily="34" charset="0"/>
              <a:buChar char="•"/>
            </a:pPr>
            <a:r>
              <a:rPr lang="es-AR" sz="2000" b="1" dirty="0" smtClean="0">
                <a:solidFill>
                  <a:schemeClr val="tx1"/>
                </a:solidFill>
                <a:latin typeface="Arial" pitchFamily="34" charset="0"/>
                <a:cs typeface="Arial" pitchFamily="34" charset="0"/>
              </a:rPr>
              <a:t>Planificador de la CPU o a corto plazo. </a:t>
            </a:r>
            <a:r>
              <a:rPr lang="es-AR" sz="2000" dirty="0" smtClean="0">
                <a:solidFill>
                  <a:schemeClr val="tx1"/>
                </a:solidFill>
                <a:latin typeface="Arial" pitchFamily="34" charset="0"/>
                <a:cs typeface="Arial" pitchFamily="34" charset="0"/>
              </a:rPr>
              <a:t>(planificador del procesador (selección del próximo proceso listo a ejecutar))</a:t>
            </a: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  </a:t>
            </a:r>
            <a:r>
              <a:rPr lang="es-AR" sz="1000" dirty="0" smtClean="0">
                <a:solidFill>
                  <a:schemeClr val="tx1"/>
                </a:solidFill>
                <a:latin typeface="+mj-lt"/>
                <a:ea typeface="+mj-ea"/>
                <a:cs typeface="+mj-cs"/>
              </a:rPr>
              <a:t>(</a:t>
            </a:r>
            <a:r>
              <a:rPr lang="es-AR" sz="1000" dirty="0" err="1" smtClean="0">
                <a:solidFill>
                  <a:schemeClr val="tx1"/>
                </a:solidFill>
                <a:latin typeface="+mj-lt"/>
                <a:ea typeface="+mj-ea"/>
                <a:cs typeface="+mj-cs"/>
              </a:rPr>
              <a:t>Stallings</a:t>
            </a:r>
            <a:r>
              <a:rPr lang="es-AR" sz="1000" dirty="0" smtClean="0">
                <a:solidFill>
                  <a:schemeClr val="tx1"/>
                </a:solidFill>
                <a:latin typeface="+mj-lt"/>
                <a:ea typeface="+mj-ea"/>
                <a:cs typeface="+mj-cs"/>
              </a:rPr>
              <a:t> 9.1)</a:t>
            </a:r>
            <a:endParaRPr kumimoji="0" lang="es-AR" sz="10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5" name="4 CuadroTexto"/>
          <p:cNvSpPr txBox="1"/>
          <p:nvPr/>
        </p:nvSpPr>
        <p:spPr>
          <a:xfrm>
            <a:off x="323849" y="985308"/>
            <a:ext cx="8467726" cy="5509200"/>
          </a:xfrm>
          <a:prstGeom prst="rect">
            <a:avLst/>
          </a:prstGeom>
          <a:noFill/>
        </p:spPr>
        <p:txBody>
          <a:bodyPr wrap="square" rtlCol="0">
            <a:spAutoFit/>
          </a:bodyPr>
          <a:lstStyle/>
          <a:p>
            <a:pPr marL="0" lvl="1" algn="just"/>
            <a:r>
              <a:rPr lang="es-ES" sz="1800" b="1" dirty="0" smtClean="0">
                <a:solidFill>
                  <a:schemeClr val="tx1"/>
                </a:solidFill>
                <a:latin typeface="Arial" pitchFamily="34" charset="0"/>
                <a:cs typeface="Arial" pitchFamily="34" charset="0"/>
              </a:rPr>
              <a:t>Niveles de planificación</a:t>
            </a:r>
          </a:p>
          <a:p>
            <a:pPr marL="342900" lvl="1" indent="-342900" algn="just">
              <a:buAutoNum type="arabicPeriod"/>
            </a:pPr>
            <a:endParaRPr lang="es-ES" sz="1600" b="1" dirty="0" smtClean="0">
              <a:solidFill>
                <a:schemeClr val="tx1"/>
              </a:solidFill>
              <a:latin typeface="Arial" pitchFamily="34" charset="0"/>
              <a:cs typeface="Arial" pitchFamily="34" charset="0"/>
            </a:endParaRPr>
          </a:p>
          <a:p>
            <a:pPr marL="342900" lvl="1" indent="-342900" algn="just">
              <a:buAutoNum type="arabicPeriod"/>
            </a:pPr>
            <a:r>
              <a:rPr lang="es-ES" sz="1600" b="1" dirty="0" smtClean="0">
                <a:solidFill>
                  <a:schemeClr val="tx1"/>
                </a:solidFill>
                <a:latin typeface="Arial" pitchFamily="34" charset="0"/>
                <a:cs typeface="Arial" pitchFamily="34" charset="0"/>
              </a:rPr>
              <a:t>Planificación a Largo Plazo (Planificación de Admisión)</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Decide qué procesos pueden entrar al sistema y cuáles deben esperar.</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Se encarga de controlar la carga del sistema y la multiprogramación.</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No se ejecuta con frecuencia; solo cuando un nuevo proceso solicita ingreso.</a:t>
            </a:r>
          </a:p>
          <a:p>
            <a:pPr marL="342900" lvl="1" indent="-342900" algn="just">
              <a:buFont typeface="Arial" pitchFamily="34" charset="0"/>
              <a:buChar char="•"/>
            </a:pPr>
            <a:r>
              <a:rPr lang="es-ES" sz="1600" b="1" dirty="0" smtClean="0">
                <a:solidFill>
                  <a:schemeClr val="tx1"/>
                </a:solidFill>
                <a:latin typeface="Arial" pitchFamily="34" charset="0"/>
                <a:cs typeface="Arial" pitchFamily="34" charset="0"/>
              </a:rPr>
              <a:t>Ejemplo</a:t>
            </a:r>
            <a:r>
              <a:rPr lang="es-ES" sz="1600" dirty="0" smtClean="0">
                <a:solidFill>
                  <a:schemeClr val="tx1"/>
                </a:solidFill>
                <a:latin typeface="Arial" pitchFamily="34" charset="0"/>
                <a:cs typeface="Arial" pitchFamily="34" charset="0"/>
              </a:rPr>
              <a:t>: Un sistema </a:t>
            </a:r>
            <a:r>
              <a:rPr lang="es-ES" sz="1600" dirty="0" err="1" smtClean="0">
                <a:solidFill>
                  <a:schemeClr val="tx1"/>
                </a:solidFill>
                <a:latin typeface="Arial" pitchFamily="34" charset="0"/>
                <a:cs typeface="Arial" pitchFamily="34" charset="0"/>
              </a:rPr>
              <a:t>batch</a:t>
            </a:r>
            <a:r>
              <a:rPr lang="es-ES" sz="1600" dirty="0" smtClean="0">
                <a:solidFill>
                  <a:schemeClr val="tx1"/>
                </a:solidFill>
                <a:latin typeface="Arial" pitchFamily="34" charset="0"/>
                <a:cs typeface="Arial" pitchFamily="34" charset="0"/>
              </a:rPr>
              <a:t> que limita la cantidad de trabajos en cola para evitar sobrecarga.</a:t>
            </a:r>
          </a:p>
          <a:p>
            <a:pPr marL="342900" lvl="1" indent="-342900" algn="just">
              <a:buAutoNum type="arabicPeriod"/>
            </a:pPr>
            <a:endParaRPr lang="es-AR" sz="1600" dirty="0" smtClean="0">
              <a:solidFill>
                <a:schemeClr val="tx1"/>
              </a:solidFill>
              <a:latin typeface="Arial" pitchFamily="34" charset="0"/>
              <a:cs typeface="Arial" pitchFamily="34" charset="0"/>
            </a:endParaRPr>
          </a:p>
          <a:p>
            <a:pPr marL="0" lvl="1" algn="just"/>
            <a:r>
              <a:rPr lang="es-ES" sz="1600" b="1" dirty="0" smtClean="0">
                <a:solidFill>
                  <a:schemeClr val="tx1"/>
                </a:solidFill>
                <a:latin typeface="Arial" pitchFamily="34" charset="0"/>
                <a:cs typeface="Arial" pitchFamily="34" charset="0"/>
              </a:rPr>
              <a:t>2. Planificación a Mediano Plazo (Planificación de Suspensión)</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Controla la cantidad de procesos en memoria principal.</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Permite suspender y reanudar procesos para optimizar el SO de la RAM.</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Se usa en sistemas con memoria virtual y </a:t>
            </a:r>
            <a:r>
              <a:rPr lang="es-ES" sz="1600" dirty="0" err="1" smtClean="0">
                <a:solidFill>
                  <a:schemeClr val="tx1"/>
                </a:solidFill>
                <a:latin typeface="Arial" pitchFamily="34" charset="0"/>
                <a:cs typeface="Arial" pitchFamily="34" charset="0"/>
              </a:rPr>
              <a:t>swapping</a:t>
            </a:r>
            <a:r>
              <a:rPr lang="es-ES" sz="1600" dirty="0" smtClean="0">
                <a:solidFill>
                  <a:schemeClr val="tx1"/>
                </a:solidFill>
                <a:latin typeface="Arial" pitchFamily="34" charset="0"/>
                <a:cs typeface="Arial" pitchFamily="34" charset="0"/>
              </a:rPr>
              <a:t>.</a:t>
            </a:r>
          </a:p>
          <a:p>
            <a:pPr marL="342900" lvl="1" indent="-342900" algn="just">
              <a:buFont typeface="Arial" pitchFamily="34" charset="0"/>
              <a:buChar char="•"/>
            </a:pPr>
            <a:r>
              <a:rPr lang="es-ES" sz="1600" b="1" dirty="0" smtClean="0">
                <a:solidFill>
                  <a:schemeClr val="tx1"/>
                </a:solidFill>
                <a:latin typeface="Arial" pitchFamily="34" charset="0"/>
                <a:cs typeface="Arial" pitchFamily="34" charset="0"/>
              </a:rPr>
              <a:t>Ejemplo</a:t>
            </a:r>
            <a:r>
              <a:rPr lang="es-ES" sz="1600" dirty="0" smtClean="0">
                <a:solidFill>
                  <a:schemeClr val="tx1"/>
                </a:solidFill>
                <a:latin typeface="Arial" pitchFamily="34" charset="0"/>
                <a:cs typeface="Arial" pitchFamily="34" charset="0"/>
              </a:rPr>
              <a:t>: Un sistema que envía procesos inactivos a memoria secundaria para liberar RAM.</a:t>
            </a:r>
          </a:p>
          <a:p>
            <a:pPr marL="0" lvl="1" algn="just"/>
            <a:endParaRPr lang="es-AR" sz="1600" dirty="0" smtClean="0">
              <a:solidFill>
                <a:schemeClr val="tx1"/>
              </a:solidFill>
              <a:latin typeface="Arial" pitchFamily="34" charset="0"/>
              <a:cs typeface="Arial" pitchFamily="34" charset="0"/>
            </a:endParaRPr>
          </a:p>
          <a:p>
            <a:pPr marL="0" lvl="1" algn="just"/>
            <a:r>
              <a:rPr lang="es-ES" sz="1600" b="1" dirty="0" smtClean="0">
                <a:solidFill>
                  <a:schemeClr val="tx1"/>
                </a:solidFill>
                <a:latin typeface="Arial" pitchFamily="34" charset="0"/>
                <a:cs typeface="Arial" pitchFamily="34" charset="0"/>
              </a:rPr>
              <a:t>3. Planificación a Corto Plazo (Planificación del CPU)</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Decide qué proceso en estado listo obtiene el CPU.</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Se ejecuta con mucha frecuencia (cada pocos milisegundos).</a:t>
            </a:r>
          </a:p>
          <a:p>
            <a:pPr marL="342900" lvl="1" indent="-342900" algn="just">
              <a:buFont typeface="Arial" pitchFamily="34" charset="0"/>
              <a:buChar char="•"/>
            </a:pPr>
            <a:r>
              <a:rPr lang="es-ES" sz="1600" dirty="0" smtClean="0">
                <a:solidFill>
                  <a:schemeClr val="tx1"/>
                </a:solidFill>
                <a:latin typeface="Arial" pitchFamily="34" charset="0"/>
                <a:cs typeface="Arial" pitchFamily="34" charset="0"/>
              </a:rPr>
              <a:t>Depende de algoritmos como FCFS, SJF, Round </a:t>
            </a:r>
            <a:r>
              <a:rPr lang="es-ES" sz="1600" dirty="0" err="1" smtClean="0">
                <a:solidFill>
                  <a:schemeClr val="tx1"/>
                </a:solidFill>
                <a:latin typeface="Arial" pitchFamily="34" charset="0"/>
                <a:cs typeface="Arial" pitchFamily="34" charset="0"/>
              </a:rPr>
              <a:t>Robin</a:t>
            </a:r>
            <a:r>
              <a:rPr lang="es-ES" sz="1600" dirty="0" smtClean="0">
                <a:solidFill>
                  <a:schemeClr val="tx1"/>
                </a:solidFill>
                <a:latin typeface="Arial" pitchFamily="34" charset="0"/>
                <a:cs typeface="Arial" pitchFamily="34" charset="0"/>
              </a:rPr>
              <a:t>, y Prioridades.</a:t>
            </a:r>
          </a:p>
          <a:p>
            <a:pPr marL="342900" lvl="1" indent="-342900" algn="just">
              <a:buFont typeface="Arial" pitchFamily="34" charset="0"/>
              <a:buChar char="•"/>
            </a:pPr>
            <a:r>
              <a:rPr lang="es-ES" sz="1600" b="1" dirty="0" smtClean="0">
                <a:solidFill>
                  <a:schemeClr val="tx1"/>
                </a:solidFill>
                <a:latin typeface="Arial" pitchFamily="34" charset="0"/>
                <a:cs typeface="Arial" pitchFamily="34" charset="0"/>
              </a:rPr>
              <a:t>Ejemplo</a:t>
            </a:r>
            <a:r>
              <a:rPr lang="es-ES" sz="1600" dirty="0" smtClean="0">
                <a:solidFill>
                  <a:schemeClr val="tx1"/>
                </a:solidFill>
                <a:latin typeface="Arial" pitchFamily="34" charset="0"/>
                <a:cs typeface="Arial" pitchFamily="34" charset="0"/>
              </a:rPr>
              <a:t>: Un sistema multitarea que cambia de proceso cada 10 ms para dar la sensación de simultaneidad.</a:t>
            </a:r>
            <a:endParaRPr lang="es-AR" sz="1600" dirty="0" smtClean="0">
              <a:solidFill>
                <a:schemeClr val="tx1"/>
              </a:solidFill>
              <a:latin typeface="Arial" pitchFamily="34" charset="0"/>
              <a:cs typeface="Arial" pitchFamily="34" charset="0"/>
            </a:endParaRPr>
          </a:p>
        </p:txBody>
      </p:sp>
      <p:pic>
        <p:nvPicPr>
          <p:cNvPr id="6" name="Picture 2"/>
          <p:cNvPicPr>
            <a:picLocks noChangeAspect="1" noChangeArrowheads="1"/>
          </p:cNvPicPr>
          <p:nvPr/>
        </p:nvPicPr>
        <p:blipFill>
          <a:blip r:embed="rId3" cstate="print"/>
          <a:srcRect/>
          <a:stretch>
            <a:fillRect/>
          </a:stretch>
        </p:blipFill>
        <p:spPr bwMode="auto">
          <a:xfrm>
            <a:off x="869645" y="2085975"/>
            <a:ext cx="4810430" cy="27304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1" name="10 Grupo"/>
          <p:cNvGrpSpPr/>
          <p:nvPr/>
        </p:nvGrpSpPr>
        <p:grpSpPr>
          <a:xfrm>
            <a:off x="5770918" y="800958"/>
            <a:ext cx="3170939" cy="5637942"/>
            <a:chOff x="8837968" y="848583"/>
            <a:chExt cx="3170939" cy="5637942"/>
          </a:xfrm>
        </p:grpSpPr>
        <p:grpSp>
          <p:nvGrpSpPr>
            <p:cNvPr id="9" name="8 Grupo"/>
            <p:cNvGrpSpPr/>
            <p:nvPr/>
          </p:nvGrpSpPr>
          <p:grpSpPr>
            <a:xfrm>
              <a:off x="8837968" y="848583"/>
              <a:ext cx="3170939" cy="5637942"/>
              <a:chOff x="5618518" y="997808"/>
              <a:chExt cx="3170939" cy="5637942"/>
            </a:xfrm>
          </p:grpSpPr>
          <p:pic>
            <p:nvPicPr>
              <p:cNvPr id="1027" name="Picture 3"/>
              <p:cNvPicPr>
                <a:picLocks noChangeAspect="1" noChangeArrowheads="1"/>
              </p:cNvPicPr>
              <p:nvPr/>
            </p:nvPicPr>
            <p:blipFill>
              <a:blip r:embed="rId4" cstate="print"/>
              <a:srcRect/>
              <a:stretch>
                <a:fillRect/>
              </a:stretch>
            </p:blipFill>
            <p:spPr bwMode="auto">
              <a:xfrm>
                <a:off x="5618518" y="997808"/>
                <a:ext cx="3170939" cy="5637942"/>
              </a:xfrm>
              <a:prstGeom prst="rect">
                <a:avLst/>
              </a:prstGeom>
              <a:noFill/>
              <a:ln w="9525">
                <a:noFill/>
                <a:miter lim="800000"/>
                <a:headEnd/>
                <a:tailEnd/>
              </a:ln>
              <a:effectLst/>
            </p:spPr>
          </p:pic>
          <p:sp>
            <p:nvSpPr>
              <p:cNvPr id="7" name="6 Rectángulo"/>
              <p:cNvSpPr/>
              <p:nvPr/>
            </p:nvSpPr>
            <p:spPr>
              <a:xfrm>
                <a:off x="6057900" y="1247775"/>
                <a:ext cx="2276475" cy="4102100"/>
              </a:xfrm>
              <a:prstGeom prst="rect">
                <a:avLst/>
              </a:prstGeom>
              <a:solidFill>
                <a:srgbClr val="FF1515">
                  <a:alpha val="2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Rectángulo"/>
              <p:cNvSpPr/>
              <p:nvPr/>
            </p:nvSpPr>
            <p:spPr>
              <a:xfrm>
                <a:off x="6543675" y="1390650"/>
                <a:ext cx="1247776" cy="1990725"/>
              </a:xfrm>
              <a:prstGeom prst="rect">
                <a:avLst/>
              </a:prstGeom>
              <a:solidFill>
                <a:srgbClr val="21FF4B">
                  <a:alpha val="2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0" name="9 Rectángulo"/>
            <p:cNvSpPr/>
            <p:nvPr/>
          </p:nvSpPr>
          <p:spPr>
            <a:xfrm>
              <a:off x="8943975" y="942975"/>
              <a:ext cx="2962275" cy="5200649"/>
            </a:xfrm>
            <a:prstGeom prst="rect">
              <a:avLst/>
            </a:prstGeom>
            <a:solidFill>
              <a:srgbClr val="66FFFF">
                <a:alpha val="156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07433" y="908047"/>
            <a:ext cx="8737600" cy="5663089"/>
          </a:xfrm>
          <a:prstGeom prst="rect">
            <a:avLst/>
          </a:prstGeom>
          <a:noFill/>
        </p:spPr>
        <p:txBody>
          <a:bodyPr wrap="square" rtlCol="0">
            <a:spAutoFit/>
          </a:bodyPr>
          <a:lstStyle/>
          <a:p>
            <a:pPr marL="0" lvl="1" algn="just"/>
            <a:r>
              <a:rPr lang="es-AR" sz="1800" dirty="0" smtClean="0">
                <a:solidFill>
                  <a:schemeClr val="tx1"/>
                </a:solidFill>
                <a:latin typeface="Arial" pitchFamily="34" charset="0"/>
                <a:cs typeface="Arial" pitchFamily="34" charset="0"/>
              </a:rPr>
              <a:t>El </a:t>
            </a:r>
            <a:r>
              <a:rPr lang="es-AR" sz="1800" dirty="0" smtClean="0">
                <a:solidFill>
                  <a:srgbClr val="CC00CC"/>
                </a:solidFill>
                <a:latin typeface="Arial" pitchFamily="34" charset="0"/>
                <a:cs typeface="Arial" pitchFamily="34" charset="0"/>
              </a:rPr>
              <a:t>objetivo principal </a:t>
            </a:r>
            <a:r>
              <a:rPr lang="es-AR" sz="1800" dirty="0" smtClean="0">
                <a:solidFill>
                  <a:schemeClr val="tx1"/>
                </a:solidFill>
                <a:latin typeface="Arial" pitchFamily="34" charset="0"/>
                <a:cs typeface="Arial" pitchFamily="34" charset="0"/>
              </a:rPr>
              <a:t>de la planificación es optimizar el rendimiento del sistema y proporcionar un buen servicio a todos los procesos que se encuentren en él. </a:t>
            </a:r>
          </a:p>
          <a:p>
            <a:pPr algn="just">
              <a:spcBef>
                <a:spcPts val="600"/>
              </a:spcBef>
            </a:pPr>
            <a:r>
              <a:rPr lang="es-AR" sz="1800" dirty="0" smtClean="0">
                <a:solidFill>
                  <a:schemeClr val="tx1"/>
                </a:solidFill>
                <a:latin typeface="Arial" pitchFamily="34" charset="0"/>
                <a:cs typeface="Arial" pitchFamily="34" charset="0"/>
              </a:rPr>
              <a:t>Hay </a:t>
            </a:r>
            <a:r>
              <a:rPr lang="es-ES" sz="1800" dirty="0" smtClean="0">
                <a:solidFill>
                  <a:schemeClr val="tx1"/>
                </a:solidFill>
                <a:latin typeface="Arial" pitchFamily="34" charset="0"/>
                <a:cs typeface="Arial" pitchFamily="34" charset="0"/>
              </a:rPr>
              <a:t>criterios orientados al usuario y criterios orientados al sistema. Los criterios orientados al usuario están relacionados con el comportamiento del sistema tal y como lo percibe un usuario individual o un proceso. Los relacionados con el sistema, centran la atención en el uso efectivo y eficiente del procesador.</a:t>
            </a:r>
          </a:p>
          <a:p>
            <a:pPr algn="just"/>
            <a:r>
              <a:rPr lang="es-AR" sz="1800" dirty="0" smtClean="0">
                <a:solidFill>
                  <a:schemeClr val="tx1"/>
                </a:solidFill>
                <a:latin typeface="Arial" pitchFamily="34" charset="0"/>
                <a:cs typeface="Arial" pitchFamily="34" charset="0"/>
              </a:rPr>
              <a:t>Hay muchos criterios y es imposible optimizarlos simultáneamente:</a:t>
            </a:r>
          </a:p>
          <a:p>
            <a:pPr marL="0" lvl="1" algn="just">
              <a:spcAft>
                <a:spcPts val="600"/>
              </a:spcAft>
            </a:pPr>
            <a:r>
              <a:rPr lang="es-AR" sz="1800" dirty="0" smtClean="0">
                <a:solidFill>
                  <a:schemeClr val="tx1"/>
                </a:solidFill>
                <a:latin typeface="Arial" pitchFamily="34" charset="0"/>
                <a:cs typeface="Arial" pitchFamily="34" charset="0"/>
              </a:rPr>
              <a:t>Algunos son:</a:t>
            </a:r>
          </a:p>
          <a:p>
            <a:pPr marL="0" lvl="1"/>
            <a:r>
              <a:rPr lang="es-ES" sz="1800" b="1" dirty="0" smtClean="0">
                <a:solidFill>
                  <a:srgbClr val="0033CC"/>
                </a:solidFill>
                <a:latin typeface="Arial" pitchFamily="34" charset="0"/>
                <a:cs typeface="Arial" pitchFamily="34" charset="0"/>
              </a:rPr>
              <a:t>Orientados al usuario, relacionados con las prestaciones</a:t>
            </a:r>
            <a:endParaRPr lang="es-AR" sz="1800" dirty="0" smtClean="0">
              <a:solidFill>
                <a:srgbClr val="0033CC"/>
              </a:solidFill>
              <a:latin typeface="Arial" pitchFamily="34" charset="0"/>
              <a:cs typeface="Arial" pitchFamily="34" charset="0"/>
            </a:endParaRPr>
          </a:p>
          <a:p>
            <a:pPr marL="342900" lvl="1" indent="-342900" algn="just"/>
            <a:r>
              <a:rPr lang="es-AR" sz="1800" dirty="0" smtClean="0">
                <a:solidFill>
                  <a:srgbClr val="CC00CC"/>
                </a:solidFill>
                <a:latin typeface="Arial" pitchFamily="34" charset="0"/>
                <a:cs typeface="Arial" pitchFamily="34" charset="0"/>
              </a:rPr>
              <a:t>Tiempo de estancia (</a:t>
            </a:r>
            <a:r>
              <a:rPr lang="es-AR" sz="1800" dirty="0" err="1" smtClean="0">
                <a:solidFill>
                  <a:srgbClr val="CC00CC"/>
                </a:solidFill>
                <a:latin typeface="Arial" pitchFamily="34" charset="0"/>
                <a:cs typeface="Arial" pitchFamily="34" charset="0"/>
              </a:rPr>
              <a:t>turnaround</a:t>
            </a:r>
            <a:r>
              <a:rPr lang="es-AR" sz="1800" dirty="0" smtClean="0">
                <a:solidFill>
                  <a:srgbClr val="CC00CC"/>
                </a:solidFill>
                <a:latin typeface="Arial" pitchFamily="34" charset="0"/>
                <a:cs typeface="Arial" pitchFamily="34" charset="0"/>
              </a:rPr>
              <a:t> time).</a:t>
            </a:r>
            <a:r>
              <a:rPr lang="es-AR" sz="1800" dirty="0" smtClean="0">
                <a:solidFill>
                  <a:schemeClr val="tx1"/>
                </a:solidFill>
                <a:latin typeface="Arial" pitchFamily="34" charset="0"/>
                <a:cs typeface="Arial" pitchFamily="34" charset="0"/>
              </a:rPr>
              <a:t> Tiempo total transcurrido entre que se lanza un proceso y finaliza.</a:t>
            </a:r>
          </a:p>
          <a:p>
            <a:pPr marL="342900" lvl="1" indent="-342900" algn="just"/>
            <a:r>
              <a:rPr lang="es-AR" sz="1800" dirty="0" smtClean="0">
                <a:solidFill>
                  <a:srgbClr val="CC00CC"/>
                </a:solidFill>
                <a:latin typeface="Arial" pitchFamily="34" charset="0"/>
                <a:cs typeface="Arial" pitchFamily="34" charset="0"/>
              </a:rPr>
              <a:t>Tiempo de respuesta (</a:t>
            </a:r>
            <a:r>
              <a:rPr lang="es-AR" sz="1800" dirty="0" err="1" smtClean="0">
                <a:solidFill>
                  <a:srgbClr val="CC00CC"/>
                </a:solidFill>
                <a:latin typeface="Arial" pitchFamily="34" charset="0"/>
                <a:cs typeface="Arial" pitchFamily="34" charset="0"/>
              </a:rPr>
              <a:t>responce</a:t>
            </a:r>
            <a:r>
              <a:rPr lang="es-AR" sz="1800" dirty="0" smtClean="0">
                <a:solidFill>
                  <a:srgbClr val="CC00CC"/>
                </a:solidFill>
                <a:latin typeface="Arial" pitchFamily="34" charset="0"/>
                <a:cs typeface="Arial" pitchFamily="34" charset="0"/>
              </a:rPr>
              <a:t> time) </a:t>
            </a:r>
            <a:r>
              <a:rPr lang="es-AR" sz="1800" dirty="0" smtClean="0">
                <a:solidFill>
                  <a:schemeClr val="tx1"/>
                </a:solidFill>
                <a:latin typeface="Arial" pitchFamily="34" charset="0"/>
                <a:cs typeface="Arial" pitchFamily="34" charset="0"/>
              </a:rPr>
              <a:t>Tiempo que trascurre desde que se realiza una petición hasta que se comienza a recibir respuesta.</a:t>
            </a:r>
          </a:p>
          <a:p>
            <a:pPr marL="342900" lvl="1" indent="-342900" algn="just">
              <a:spcAft>
                <a:spcPts val="1200"/>
              </a:spcAft>
            </a:pPr>
            <a:r>
              <a:rPr lang="es-AR" sz="1800" dirty="0" smtClean="0">
                <a:solidFill>
                  <a:srgbClr val="CC00CC"/>
                </a:solidFill>
                <a:latin typeface="Arial" pitchFamily="34" charset="0"/>
                <a:cs typeface="Arial" pitchFamily="34" charset="0"/>
              </a:rPr>
              <a:t>Fecha Tope (</a:t>
            </a:r>
            <a:r>
              <a:rPr lang="es-AR" sz="1800" dirty="0" err="1" smtClean="0">
                <a:solidFill>
                  <a:srgbClr val="CC00CC"/>
                </a:solidFill>
                <a:latin typeface="Arial" pitchFamily="34" charset="0"/>
                <a:cs typeface="Arial" pitchFamily="34" charset="0"/>
              </a:rPr>
              <a:t>deadlines</a:t>
            </a:r>
            <a:r>
              <a:rPr lang="es-AR" sz="1800" dirty="0" smtClean="0">
                <a:solidFill>
                  <a:srgbClr val="CC00CC"/>
                </a:solidFill>
                <a:latin typeface="Arial" pitchFamily="34" charset="0"/>
                <a:cs typeface="Arial" pitchFamily="34" charset="0"/>
              </a:rPr>
              <a:t> o plazo límite) </a:t>
            </a:r>
            <a:r>
              <a:rPr lang="es-AR" sz="1800" dirty="0" smtClean="0">
                <a:solidFill>
                  <a:schemeClr val="tx1"/>
                </a:solidFill>
                <a:latin typeface="Arial" pitchFamily="34" charset="0"/>
                <a:cs typeface="Arial" pitchFamily="34" charset="0"/>
              </a:rPr>
              <a:t>Cuando se puede especificar una fecha tope de un proceso, el planificador debe maximizar el porcentaje de fechas topes conseguidas para cumplir con los plazos establecidos</a:t>
            </a:r>
          </a:p>
          <a:p>
            <a:pPr marL="342900" lvl="1" indent="-342900">
              <a:spcAft>
                <a:spcPts val="0"/>
              </a:spcAft>
            </a:pPr>
            <a:r>
              <a:rPr lang="es-ES" sz="1800" b="1" dirty="0" smtClean="0">
                <a:solidFill>
                  <a:srgbClr val="0033CC"/>
                </a:solidFill>
                <a:latin typeface="Arial" pitchFamily="34" charset="0"/>
                <a:cs typeface="Arial" pitchFamily="34" charset="0"/>
              </a:rPr>
              <a:t>Orientados al usuario, otros</a:t>
            </a:r>
            <a:endParaRPr lang="es-AR" sz="1800" dirty="0" smtClean="0">
              <a:solidFill>
                <a:srgbClr val="0033CC"/>
              </a:solidFill>
              <a:latin typeface="Arial" pitchFamily="34" charset="0"/>
              <a:cs typeface="Arial" pitchFamily="34" charset="0"/>
            </a:endParaRPr>
          </a:p>
          <a:p>
            <a:pPr marL="342900" lvl="1" indent="-342900" algn="just">
              <a:spcAft>
                <a:spcPts val="1200"/>
              </a:spcAft>
            </a:pPr>
            <a:r>
              <a:rPr lang="es-AR" sz="1800" dirty="0" smtClean="0">
                <a:solidFill>
                  <a:srgbClr val="CC00CC"/>
                </a:solidFill>
                <a:latin typeface="Arial" pitchFamily="34" charset="0"/>
                <a:cs typeface="Arial" pitchFamily="34" charset="0"/>
              </a:rPr>
              <a:t>Previsibilidad. </a:t>
            </a:r>
            <a:r>
              <a:rPr lang="es-AR" sz="1800" dirty="0" smtClean="0">
                <a:solidFill>
                  <a:schemeClr val="tx1"/>
                </a:solidFill>
                <a:latin typeface="Arial" pitchFamily="34" charset="0"/>
                <a:cs typeface="Arial" pitchFamily="34" charset="0"/>
              </a:rPr>
              <a:t>Un trabajo debería ejecutarse aproximadamente con el mismo coste y tiempo a pesar del al carga del sistema.</a:t>
            </a: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Rectángulo"/>
          <p:cNvSpPr/>
          <p:nvPr/>
        </p:nvSpPr>
        <p:spPr>
          <a:xfrm>
            <a:off x="9296400" y="3290559"/>
            <a:ext cx="4572000" cy="3485570"/>
          </a:xfrm>
          <a:prstGeom prst="rect">
            <a:avLst/>
          </a:prstGeom>
          <a:solidFill>
            <a:schemeClr val="bg1">
              <a:lumMod val="95000"/>
            </a:schemeClr>
          </a:solidFill>
        </p:spPr>
        <p:txBody>
          <a:bodyPr wrap="square">
            <a:spAutoFit/>
          </a:bodyPr>
          <a:lstStyle/>
          <a:p>
            <a:pPr algn="l"/>
            <a:r>
              <a:rPr lang="es-ES" sz="1050" b="1" dirty="0" smtClean="0">
                <a:solidFill>
                  <a:schemeClr val="tx1"/>
                </a:solidFill>
                <a:latin typeface="Arial" pitchFamily="34" charset="0"/>
                <a:cs typeface="Arial" pitchFamily="34" charset="0"/>
              </a:rPr>
              <a:t>Fecha tope</a:t>
            </a:r>
          </a:p>
          <a:p>
            <a:pPr algn="l"/>
            <a:r>
              <a:rPr lang="es-ES" sz="1050" b="1" dirty="0" smtClean="0">
                <a:solidFill>
                  <a:schemeClr val="tx1"/>
                </a:solidFill>
                <a:latin typeface="Arial" pitchFamily="34" charset="0"/>
                <a:cs typeface="Arial" pitchFamily="34" charset="0"/>
              </a:rPr>
              <a:t>🔹 Definición:</a:t>
            </a:r>
            <a:br>
              <a:rPr lang="es-ES" sz="1050" b="1" dirty="0" smtClean="0">
                <a:solidFill>
                  <a:schemeClr val="tx1"/>
                </a:solidFill>
                <a:latin typeface="Arial" pitchFamily="34" charset="0"/>
                <a:cs typeface="Arial" pitchFamily="34" charset="0"/>
              </a:rPr>
            </a:br>
            <a:r>
              <a:rPr lang="es-ES" sz="1050" b="1" dirty="0" smtClean="0">
                <a:solidFill>
                  <a:schemeClr val="tx1"/>
                </a:solidFill>
                <a:latin typeface="Arial" pitchFamily="34" charset="0"/>
                <a:cs typeface="Arial" pitchFamily="34" charset="0"/>
              </a:rPr>
              <a:t>Una fecha tope es el momento límite en el que un proceso debe haber finalizado su ejecución.</a:t>
            </a:r>
          </a:p>
          <a:p>
            <a:pPr algn="l"/>
            <a:r>
              <a:rPr lang="es-ES" sz="1050" b="1" dirty="0" smtClean="0">
                <a:solidFill>
                  <a:schemeClr val="tx1"/>
                </a:solidFill>
                <a:latin typeface="Arial" pitchFamily="34" charset="0"/>
                <a:cs typeface="Arial" pitchFamily="34" charset="0"/>
              </a:rPr>
              <a:t>🔹 Importancia en la planificación:</a:t>
            </a:r>
          </a:p>
          <a:p>
            <a:pPr algn="l"/>
            <a:r>
              <a:rPr lang="es-ES" sz="1050" b="1" dirty="0" smtClean="0">
                <a:solidFill>
                  <a:schemeClr val="tx1"/>
                </a:solidFill>
                <a:latin typeface="Arial" pitchFamily="34" charset="0"/>
                <a:cs typeface="Arial" pitchFamily="34" charset="0"/>
              </a:rPr>
              <a:t>En sistemas tiempo real, los procesos deben completarse antes de su </a:t>
            </a:r>
            <a:r>
              <a:rPr lang="es-ES" sz="1050" b="1" dirty="0" err="1" smtClean="0">
                <a:solidFill>
                  <a:schemeClr val="tx1"/>
                </a:solidFill>
                <a:latin typeface="Arial" pitchFamily="34" charset="0"/>
                <a:cs typeface="Arial" pitchFamily="34" charset="0"/>
              </a:rPr>
              <a:t>deadline</a:t>
            </a:r>
            <a:r>
              <a:rPr lang="es-ES" sz="1050" b="1" dirty="0" smtClean="0">
                <a:solidFill>
                  <a:schemeClr val="tx1"/>
                </a:solidFill>
                <a:latin typeface="Arial" pitchFamily="34" charset="0"/>
                <a:cs typeface="Arial" pitchFamily="34" charset="0"/>
              </a:rPr>
              <a:t>.</a:t>
            </a:r>
          </a:p>
          <a:p>
            <a:pPr algn="l"/>
            <a:r>
              <a:rPr lang="es-ES" sz="1050" b="1" dirty="0" smtClean="0">
                <a:solidFill>
                  <a:schemeClr val="tx1"/>
                </a:solidFill>
                <a:latin typeface="Arial" pitchFamily="34" charset="0"/>
                <a:cs typeface="Arial" pitchFamily="34" charset="0"/>
              </a:rPr>
              <a:t>El planificador debe maximizar el número de procesos que cumplen su </a:t>
            </a:r>
            <a:r>
              <a:rPr lang="es-ES" sz="1050" b="1" dirty="0" err="1" smtClean="0">
                <a:solidFill>
                  <a:schemeClr val="tx1"/>
                </a:solidFill>
                <a:latin typeface="Arial" pitchFamily="34" charset="0"/>
                <a:cs typeface="Arial" pitchFamily="34" charset="0"/>
              </a:rPr>
              <a:t>deadline</a:t>
            </a:r>
            <a:r>
              <a:rPr lang="es-ES" sz="1050" b="1" dirty="0" smtClean="0">
                <a:solidFill>
                  <a:schemeClr val="tx1"/>
                </a:solidFill>
                <a:latin typeface="Arial" pitchFamily="34" charset="0"/>
                <a:cs typeface="Arial" pitchFamily="34" charset="0"/>
              </a:rPr>
              <a:t>.</a:t>
            </a:r>
          </a:p>
          <a:p>
            <a:pPr algn="l"/>
            <a:r>
              <a:rPr lang="es-ES" sz="1050" b="1" dirty="0" smtClean="0">
                <a:solidFill>
                  <a:schemeClr val="tx1"/>
                </a:solidFill>
                <a:latin typeface="Arial" pitchFamily="34" charset="0"/>
                <a:cs typeface="Arial" pitchFamily="34" charset="0"/>
              </a:rPr>
              <a:t>🔹 Tipos de </a:t>
            </a:r>
            <a:r>
              <a:rPr lang="es-ES" sz="1050" b="1" dirty="0" err="1" smtClean="0">
                <a:solidFill>
                  <a:schemeClr val="tx1"/>
                </a:solidFill>
                <a:latin typeface="Arial" pitchFamily="34" charset="0"/>
                <a:cs typeface="Arial" pitchFamily="34" charset="0"/>
              </a:rPr>
              <a:t>deadlines</a:t>
            </a:r>
            <a:r>
              <a:rPr lang="es-ES" sz="1050" b="1" dirty="0" smtClean="0">
                <a:solidFill>
                  <a:schemeClr val="tx1"/>
                </a:solidFill>
                <a:latin typeface="Arial" pitchFamily="34" charset="0"/>
                <a:cs typeface="Arial" pitchFamily="34" charset="0"/>
              </a:rPr>
              <a:t>:</a:t>
            </a:r>
          </a:p>
          <a:p>
            <a:pPr algn="l"/>
            <a:r>
              <a:rPr lang="es-ES" sz="1050" b="1" dirty="0" smtClean="0">
                <a:solidFill>
                  <a:schemeClr val="tx1"/>
                </a:solidFill>
                <a:latin typeface="Arial" pitchFamily="34" charset="0"/>
                <a:cs typeface="Arial" pitchFamily="34" charset="0"/>
              </a:rPr>
              <a:t>Firmes: Si el proceso no se completa a tiempo, su resultado es inútil.</a:t>
            </a:r>
          </a:p>
          <a:p>
            <a:pPr algn="l"/>
            <a:r>
              <a:rPr lang="es-ES" sz="1050" b="1" dirty="0" smtClean="0">
                <a:solidFill>
                  <a:schemeClr val="tx1"/>
                </a:solidFill>
                <a:latin typeface="Arial" pitchFamily="34" charset="0"/>
                <a:cs typeface="Arial" pitchFamily="34" charset="0"/>
              </a:rPr>
              <a:t>Suaves: Se permite cierta flexibilidad, pero se busca cumplir el </a:t>
            </a:r>
            <a:r>
              <a:rPr lang="es-ES" sz="1050" b="1" dirty="0" err="1" smtClean="0">
                <a:solidFill>
                  <a:schemeClr val="tx1"/>
                </a:solidFill>
                <a:latin typeface="Arial" pitchFamily="34" charset="0"/>
                <a:cs typeface="Arial" pitchFamily="34" charset="0"/>
              </a:rPr>
              <a:t>deadline</a:t>
            </a:r>
            <a:r>
              <a:rPr lang="es-ES" sz="1050" b="1" dirty="0" smtClean="0">
                <a:solidFill>
                  <a:schemeClr val="tx1"/>
                </a:solidFill>
                <a:latin typeface="Arial" pitchFamily="34" charset="0"/>
                <a:cs typeface="Arial" pitchFamily="34" charset="0"/>
              </a:rPr>
              <a:t>.</a:t>
            </a:r>
          </a:p>
          <a:p>
            <a:pPr algn="l"/>
            <a:r>
              <a:rPr lang="es-ES" sz="1050" b="1" dirty="0" smtClean="0">
                <a:solidFill>
                  <a:schemeClr val="tx1"/>
                </a:solidFill>
                <a:latin typeface="Arial" pitchFamily="34" charset="0"/>
                <a:cs typeface="Arial" pitchFamily="34" charset="0"/>
              </a:rPr>
              <a:t>📌 Ejemplo:</a:t>
            </a:r>
            <a:br>
              <a:rPr lang="es-ES" sz="1050" b="1" dirty="0" smtClean="0">
                <a:solidFill>
                  <a:schemeClr val="tx1"/>
                </a:solidFill>
                <a:latin typeface="Arial" pitchFamily="34" charset="0"/>
                <a:cs typeface="Arial" pitchFamily="34" charset="0"/>
              </a:rPr>
            </a:br>
            <a:r>
              <a:rPr lang="es-ES" sz="1050" b="1" dirty="0" smtClean="0">
                <a:solidFill>
                  <a:schemeClr val="tx1"/>
                </a:solidFill>
                <a:latin typeface="Arial" pitchFamily="34" charset="0"/>
                <a:cs typeface="Arial" pitchFamily="34" charset="0"/>
              </a:rPr>
              <a:t>Un sistema de control de tráfico aéreo debe procesar datos en tiempo real. Si no cumple su </a:t>
            </a:r>
            <a:r>
              <a:rPr lang="es-ES" sz="1050" b="1" dirty="0" err="1" smtClean="0">
                <a:solidFill>
                  <a:schemeClr val="tx1"/>
                </a:solidFill>
                <a:latin typeface="Arial" pitchFamily="34" charset="0"/>
                <a:cs typeface="Arial" pitchFamily="34" charset="0"/>
              </a:rPr>
              <a:t>deadline</a:t>
            </a:r>
            <a:r>
              <a:rPr lang="es-ES" sz="1050" b="1" dirty="0" smtClean="0">
                <a:solidFill>
                  <a:schemeClr val="tx1"/>
                </a:solidFill>
                <a:latin typeface="Arial" pitchFamily="34" charset="0"/>
                <a:cs typeface="Arial" pitchFamily="34" charset="0"/>
              </a:rPr>
              <a:t>, puede generar fallos críticos</a:t>
            </a:r>
          </a:p>
          <a:p>
            <a:pPr algn="l"/>
            <a:endParaRPr lang="es-ES" sz="1050" b="1" dirty="0" smtClean="0">
              <a:solidFill>
                <a:schemeClr val="tx1"/>
              </a:solidFill>
              <a:latin typeface="Arial" pitchFamily="34" charset="0"/>
              <a:cs typeface="Arial" pitchFamily="34" charset="0"/>
            </a:endParaRPr>
          </a:p>
          <a:p>
            <a:pPr algn="l"/>
            <a:r>
              <a:rPr lang="es-ES" sz="1050" b="1" dirty="0" smtClean="0">
                <a:solidFill>
                  <a:schemeClr val="tx1"/>
                </a:solidFill>
                <a:latin typeface="Arial" pitchFamily="34" charset="0"/>
                <a:cs typeface="Arial" pitchFamily="34" charset="0"/>
              </a:rPr>
              <a:t>Ejemplo de algoritmo: EDF (</a:t>
            </a:r>
            <a:r>
              <a:rPr lang="es-ES" sz="1050" b="1" dirty="0" err="1" smtClean="0">
                <a:solidFill>
                  <a:schemeClr val="tx1"/>
                </a:solidFill>
                <a:latin typeface="Arial" pitchFamily="34" charset="0"/>
                <a:cs typeface="Arial" pitchFamily="34" charset="0"/>
              </a:rPr>
              <a:t>Earliest</a:t>
            </a:r>
            <a:r>
              <a:rPr lang="es-ES" sz="1050" b="1" dirty="0" smtClean="0">
                <a:solidFill>
                  <a:schemeClr val="tx1"/>
                </a:solidFill>
                <a:latin typeface="Arial" pitchFamily="34" charset="0"/>
                <a:cs typeface="Arial" pitchFamily="34" charset="0"/>
              </a:rPr>
              <a:t> </a:t>
            </a:r>
            <a:r>
              <a:rPr lang="es-ES" sz="1050" b="1" dirty="0" err="1" smtClean="0">
                <a:solidFill>
                  <a:schemeClr val="tx1"/>
                </a:solidFill>
                <a:latin typeface="Arial" pitchFamily="34" charset="0"/>
                <a:cs typeface="Arial" pitchFamily="34" charset="0"/>
              </a:rPr>
              <a:t>Deadline</a:t>
            </a:r>
            <a:r>
              <a:rPr lang="es-ES" sz="1050" b="1" dirty="0" smtClean="0">
                <a:solidFill>
                  <a:schemeClr val="tx1"/>
                </a:solidFill>
                <a:latin typeface="Arial" pitchFamily="34" charset="0"/>
                <a:cs typeface="Arial" pitchFamily="34" charset="0"/>
              </a:rPr>
              <a:t> </a:t>
            </a:r>
            <a:r>
              <a:rPr lang="es-ES" sz="1050" b="1" dirty="0" err="1" smtClean="0">
                <a:solidFill>
                  <a:schemeClr val="tx1"/>
                </a:solidFill>
                <a:latin typeface="Arial" pitchFamily="34" charset="0"/>
                <a:cs typeface="Arial" pitchFamily="34" charset="0"/>
              </a:rPr>
              <a:t>First</a:t>
            </a:r>
            <a:r>
              <a:rPr lang="es-ES" sz="1050" b="1" dirty="0" smtClean="0">
                <a:solidFill>
                  <a:schemeClr val="tx1"/>
                </a:solidFill>
                <a:latin typeface="Arial" pitchFamily="34" charset="0"/>
                <a:cs typeface="Arial" pitchFamily="34" charset="0"/>
              </a:rPr>
              <a:t>): Asigna prioridad al proceso cuyo </a:t>
            </a:r>
            <a:r>
              <a:rPr lang="es-ES" sz="1050" b="1" dirty="0" err="1" smtClean="0">
                <a:solidFill>
                  <a:schemeClr val="tx1"/>
                </a:solidFill>
                <a:latin typeface="Arial" pitchFamily="34" charset="0"/>
                <a:cs typeface="Arial" pitchFamily="34" charset="0"/>
              </a:rPr>
              <a:t>deadline</a:t>
            </a:r>
            <a:r>
              <a:rPr lang="es-ES" sz="1050" b="1" dirty="0" smtClean="0">
                <a:solidFill>
                  <a:schemeClr val="tx1"/>
                </a:solidFill>
                <a:latin typeface="Arial" pitchFamily="34" charset="0"/>
                <a:cs typeface="Arial" pitchFamily="34" charset="0"/>
              </a:rPr>
              <a:t> esté más próximo. Si un proceso tiene un </a:t>
            </a:r>
            <a:r>
              <a:rPr lang="es-ES" sz="1050" b="1" dirty="0" err="1" smtClean="0">
                <a:solidFill>
                  <a:schemeClr val="tx1"/>
                </a:solidFill>
                <a:latin typeface="Arial" pitchFamily="34" charset="0"/>
                <a:cs typeface="Arial" pitchFamily="34" charset="0"/>
              </a:rPr>
              <a:t>deadline</a:t>
            </a:r>
            <a:r>
              <a:rPr lang="es-ES" sz="1050" b="1" dirty="0" smtClean="0">
                <a:solidFill>
                  <a:schemeClr val="tx1"/>
                </a:solidFill>
                <a:latin typeface="Arial" pitchFamily="34" charset="0"/>
                <a:cs typeface="Arial" pitchFamily="34" charset="0"/>
              </a:rPr>
              <a:t> a los 10 ms y otro a los 15 ms, el primero se ejecuta primero.</a:t>
            </a:r>
            <a:endParaRPr lang="es-ES" sz="1050" b="1"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492839" y="958535"/>
            <a:ext cx="8130461" cy="5078313"/>
          </a:xfrm>
          <a:prstGeom prst="rect">
            <a:avLst/>
          </a:prstGeom>
          <a:noFill/>
        </p:spPr>
        <p:txBody>
          <a:bodyPr wrap="square" rtlCol="0">
            <a:spAutoFit/>
          </a:bodyPr>
          <a:lstStyle/>
          <a:p>
            <a:pPr marL="342900" lvl="1" indent="-342900">
              <a:spcAft>
                <a:spcPts val="0"/>
              </a:spcAft>
            </a:pPr>
            <a:r>
              <a:rPr lang="es-ES" sz="1800" b="1" dirty="0" smtClean="0">
                <a:solidFill>
                  <a:srgbClr val="0033CC"/>
                </a:solidFill>
                <a:latin typeface="Arial" pitchFamily="34" charset="0"/>
                <a:cs typeface="Arial" pitchFamily="34" charset="0"/>
              </a:rPr>
              <a:t>Orientados al sistema, relacionados con las prestaciones</a:t>
            </a:r>
          </a:p>
          <a:p>
            <a:pPr marL="342900" lvl="1" indent="-342900" algn="just"/>
            <a:r>
              <a:rPr lang="es-AR" sz="1800" dirty="0" smtClean="0">
                <a:solidFill>
                  <a:srgbClr val="CC00CC"/>
                </a:solidFill>
                <a:latin typeface="Arial" pitchFamily="34" charset="0"/>
                <a:cs typeface="Arial" pitchFamily="34" charset="0"/>
              </a:rPr>
              <a:t>Rendimiento (productividad). </a:t>
            </a:r>
            <a:r>
              <a:rPr lang="es-AR" sz="1800" dirty="0" smtClean="0">
                <a:solidFill>
                  <a:schemeClr val="tx1"/>
                </a:solidFill>
                <a:latin typeface="Arial" pitchFamily="34" charset="0"/>
                <a:cs typeface="Arial" pitchFamily="34" charset="0"/>
              </a:rPr>
              <a:t>Se debe maximizar el número de procesos completados por unidad de tiempo</a:t>
            </a:r>
          </a:p>
          <a:p>
            <a:pPr marL="342900" lvl="1" indent="-342900" algn="just"/>
            <a:r>
              <a:rPr lang="es-AR" sz="1800" dirty="0" smtClean="0">
                <a:solidFill>
                  <a:srgbClr val="CC00CC"/>
                </a:solidFill>
                <a:latin typeface="Arial" pitchFamily="34" charset="0"/>
                <a:cs typeface="Arial" pitchFamily="34" charset="0"/>
              </a:rPr>
              <a:t>Utilización de la CPU (eficiencia). </a:t>
            </a:r>
            <a:r>
              <a:rPr lang="es-AR" sz="1800" dirty="0" smtClean="0">
                <a:solidFill>
                  <a:schemeClr val="tx1"/>
                </a:solidFill>
                <a:latin typeface="Arial" pitchFamily="34" charset="0"/>
                <a:cs typeface="Arial" pitchFamily="34" charset="0"/>
              </a:rPr>
              <a:t>Es el porcentaje de tiempo que el procesador está ocupado (tratar que esté al 100%) Es importante para sistemas compartidos.</a:t>
            </a:r>
          </a:p>
          <a:p>
            <a:pPr marL="342900" lvl="1" indent="-342900" algn="just">
              <a:buFont typeface="+mj-lt"/>
              <a:buAutoNum type="arabicPeriod" startAt="7"/>
            </a:pPr>
            <a:endParaRPr lang="es-AR" sz="1800" dirty="0" smtClean="0">
              <a:solidFill>
                <a:srgbClr val="CC00CC"/>
              </a:solidFill>
              <a:latin typeface="Arial" pitchFamily="34" charset="0"/>
              <a:cs typeface="Arial" pitchFamily="34" charset="0"/>
            </a:endParaRPr>
          </a:p>
          <a:p>
            <a:pPr marL="342900" lvl="1" indent="-342900">
              <a:spcAft>
                <a:spcPts val="0"/>
              </a:spcAft>
            </a:pPr>
            <a:r>
              <a:rPr lang="es-ES" sz="1800" b="1" dirty="0" smtClean="0">
                <a:solidFill>
                  <a:srgbClr val="0033CC"/>
                </a:solidFill>
                <a:latin typeface="Arial" pitchFamily="34" charset="0"/>
                <a:cs typeface="Arial" pitchFamily="34" charset="0"/>
              </a:rPr>
              <a:t>Orientados al sistema, otros</a:t>
            </a:r>
          </a:p>
          <a:p>
            <a:pPr marL="342900" lvl="1" indent="-342900" algn="just"/>
            <a:r>
              <a:rPr lang="es-AR" sz="1800" dirty="0" smtClean="0">
                <a:solidFill>
                  <a:srgbClr val="CC00CC"/>
                </a:solidFill>
                <a:latin typeface="Arial" pitchFamily="34" charset="0"/>
                <a:cs typeface="Arial" pitchFamily="34" charset="0"/>
              </a:rPr>
              <a:t>Equidad. </a:t>
            </a:r>
            <a:r>
              <a:rPr lang="es-AR" sz="1800" dirty="0" smtClean="0">
                <a:solidFill>
                  <a:schemeClr val="tx1"/>
                </a:solidFill>
                <a:latin typeface="Arial" pitchFamily="34" charset="0"/>
                <a:cs typeface="Arial" pitchFamily="34" charset="0"/>
              </a:rPr>
              <a:t>Si no hay orientación de los usuarios o de otros sistemas, todos los procesos deben ser tratados de la misma manera sin que ninguno sufra inanición.</a:t>
            </a:r>
          </a:p>
          <a:p>
            <a:pPr marL="342900" lvl="1" indent="-342900" algn="just"/>
            <a:r>
              <a:rPr lang="es-AR" sz="1800" dirty="0" smtClean="0">
                <a:solidFill>
                  <a:srgbClr val="CC00CC"/>
                </a:solidFill>
                <a:latin typeface="Arial" pitchFamily="34" charset="0"/>
                <a:cs typeface="Arial" pitchFamily="34" charset="0"/>
              </a:rPr>
              <a:t>Imposición prioridades. </a:t>
            </a:r>
            <a:r>
              <a:rPr lang="es-AR" sz="1800" dirty="0" smtClean="0">
                <a:solidFill>
                  <a:schemeClr val="tx1"/>
                </a:solidFill>
                <a:latin typeface="Arial" pitchFamily="34" charset="0"/>
                <a:cs typeface="Arial" pitchFamily="34" charset="0"/>
              </a:rPr>
              <a:t>Cuando hay prioridades, si un proceso tiene mayor prioridad que otro, éste debe ejecutarse más rápidamente.</a:t>
            </a:r>
          </a:p>
          <a:p>
            <a:pPr marL="342900" lvl="1" indent="-342900" algn="just"/>
            <a:r>
              <a:rPr lang="es-AR" sz="1800" dirty="0" smtClean="0">
                <a:solidFill>
                  <a:srgbClr val="CC00CC"/>
                </a:solidFill>
                <a:latin typeface="Arial" pitchFamily="34" charset="0"/>
                <a:cs typeface="Arial" pitchFamily="34" charset="0"/>
              </a:rPr>
              <a:t>Equilibrio en el uso de recursos</a:t>
            </a:r>
            <a:r>
              <a:rPr lang="es-AR" sz="1800" dirty="0" smtClean="0">
                <a:solidFill>
                  <a:schemeClr val="tx1"/>
                </a:solidFill>
                <a:latin typeface="Arial" pitchFamily="34" charset="0"/>
                <a:cs typeface="Arial" pitchFamily="34" charset="0"/>
              </a:rPr>
              <a:t>. Para obtener un mayor rendimiento en el uso de los recursos y que estos estén ocupados equitativamente el mayor tiempo posible (</a:t>
            </a:r>
            <a:r>
              <a:rPr lang="es-ES" sz="1800" dirty="0" smtClean="0">
                <a:solidFill>
                  <a:schemeClr val="tx1"/>
                </a:solidFill>
                <a:latin typeface="Arial" pitchFamily="34" charset="0"/>
                <a:cs typeface="Arial" pitchFamily="34" charset="0"/>
              </a:rPr>
              <a:t>Los procesos que utilicen poco los recursos que en un determinado momento están </a:t>
            </a:r>
            <a:r>
              <a:rPr lang="es-ES" sz="1800" dirty="0" err="1" smtClean="0">
                <a:solidFill>
                  <a:schemeClr val="tx1"/>
                </a:solidFill>
                <a:latin typeface="Arial" pitchFamily="34" charset="0"/>
                <a:cs typeface="Arial" pitchFamily="34" charset="0"/>
              </a:rPr>
              <a:t>sobreutilizados</a:t>
            </a:r>
            <a:r>
              <a:rPr lang="es-ES" sz="1800" dirty="0" smtClean="0">
                <a:solidFill>
                  <a:schemeClr val="tx1"/>
                </a:solidFill>
                <a:latin typeface="Arial" pitchFamily="34" charset="0"/>
                <a:cs typeface="Arial" pitchFamily="34" charset="0"/>
              </a:rPr>
              <a:t>, deberían ser favorecidos)</a:t>
            </a:r>
            <a:endParaRPr lang="es-AR" sz="1800" dirty="0" smtClean="0">
              <a:solidFill>
                <a:schemeClr val="tx1"/>
              </a:solidFill>
              <a:latin typeface="Arial" pitchFamily="34" charset="0"/>
              <a:cs typeface="Arial" pitchFamily="34" charset="0"/>
            </a:endParaRPr>
          </a:p>
          <a:p>
            <a:pPr marL="342900" lvl="1" indent="-342900" algn="just">
              <a:buFont typeface="+mj-lt"/>
              <a:buAutoNum type="arabicPeriod"/>
            </a:pPr>
            <a:endParaRPr lang="es-AR" sz="18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Rectángulo"/>
          <p:cNvSpPr/>
          <p:nvPr/>
        </p:nvSpPr>
        <p:spPr>
          <a:xfrm>
            <a:off x="9315450" y="557391"/>
            <a:ext cx="4572000" cy="6186309"/>
          </a:xfrm>
          <a:prstGeom prst="rect">
            <a:avLst/>
          </a:prstGeom>
          <a:solidFill>
            <a:schemeClr val="bg1"/>
          </a:solidFill>
        </p:spPr>
        <p:txBody>
          <a:bodyPr>
            <a:spAutoFit/>
          </a:bodyPr>
          <a:lstStyle/>
          <a:p>
            <a:pPr algn="just"/>
            <a:r>
              <a:rPr lang="es-ES" sz="1200" b="1" dirty="0" smtClean="0">
                <a:solidFill>
                  <a:schemeClr val="tx1"/>
                </a:solidFill>
                <a:latin typeface="Arial" pitchFamily="34" charset="0"/>
                <a:cs typeface="Arial" pitchFamily="34" charset="0"/>
              </a:rPr>
              <a:t>Equilibrio en la carga de recursos</a:t>
            </a:r>
            <a:r>
              <a:rPr lang="es-ES" sz="1200" dirty="0" smtClean="0">
                <a:solidFill>
                  <a:schemeClr val="tx1"/>
                </a:solidFill>
                <a:latin typeface="Arial" pitchFamily="34" charset="0"/>
                <a:cs typeface="Arial" pitchFamily="34" charset="0"/>
              </a:rPr>
              <a:t> como objetivo de un planificador de procesos, donde:</a:t>
            </a:r>
          </a:p>
          <a:p>
            <a:pPr algn="just"/>
            <a:r>
              <a:rPr lang="es-ES" sz="1200" b="1" dirty="0" smtClean="0">
                <a:solidFill>
                  <a:schemeClr val="tx1"/>
                </a:solidFill>
                <a:latin typeface="Arial" pitchFamily="34" charset="0"/>
                <a:cs typeface="Arial" pitchFamily="34" charset="0"/>
              </a:rPr>
              <a:t>Objetivo principal</a:t>
            </a:r>
            <a:r>
              <a:rPr lang="es-ES" sz="1200" dirty="0" smtClean="0">
                <a:solidFill>
                  <a:schemeClr val="tx1"/>
                </a:solidFill>
                <a:latin typeface="Arial" pitchFamily="34" charset="0"/>
                <a:cs typeface="Arial" pitchFamily="34" charset="0"/>
              </a:rPr>
              <a:t>:</a:t>
            </a:r>
          </a:p>
          <a:p>
            <a:pPr lvl="1" algn="just"/>
            <a:r>
              <a:rPr lang="es-ES" sz="1200" dirty="0" smtClean="0">
                <a:solidFill>
                  <a:schemeClr val="tx1"/>
                </a:solidFill>
                <a:latin typeface="Arial" pitchFamily="34" charset="0"/>
                <a:cs typeface="Arial" pitchFamily="34" charset="0"/>
              </a:rPr>
              <a:t>Evitar que ciertos recursos (CPU, disco, GPU, ancho de banda, etc.) estén </a:t>
            </a:r>
            <a:r>
              <a:rPr lang="es-ES" sz="1200" b="1" dirty="0" err="1" smtClean="0">
                <a:solidFill>
                  <a:schemeClr val="tx1"/>
                </a:solidFill>
                <a:latin typeface="Arial" pitchFamily="34" charset="0"/>
                <a:cs typeface="Arial" pitchFamily="34" charset="0"/>
              </a:rPr>
              <a:t>sobreutilizados</a:t>
            </a:r>
            <a:r>
              <a:rPr lang="es-ES" sz="1200" dirty="0" smtClean="0">
                <a:solidFill>
                  <a:schemeClr val="tx1"/>
                </a:solidFill>
                <a:latin typeface="Arial" pitchFamily="34" charset="0"/>
                <a:cs typeface="Arial" pitchFamily="34" charset="0"/>
              </a:rPr>
              <a:t> mientras otros permanecen </a:t>
            </a:r>
            <a:r>
              <a:rPr lang="es-ES" sz="1200" b="1" dirty="0" smtClean="0">
                <a:solidFill>
                  <a:schemeClr val="tx1"/>
                </a:solidFill>
                <a:latin typeface="Arial" pitchFamily="34" charset="0"/>
                <a:cs typeface="Arial" pitchFamily="34" charset="0"/>
              </a:rPr>
              <a:t>ociosos</a:t>
            </a:r>
            <a:r>
              <a:rPr lang="es-ES" sz="1200" dirty="0" smtClean="0">
                <a:solidFill>
                  <a:schemeClr val="tx1"/>
                </a:solidFill>
                <a:latin typeface="Arial" pitchFamily="34" charset="0"/>
                <a:cs typeface="Arial" pitchFamily="34" charset="0"/>
              </a:rPr>
              <a:t>.</a:t>
            </a:r>
          </a:p>
          <a:p>
            <a:pPr lvl="1" algn="just"/>
            <a:r>
              <a:rPr lang="es-ES" sz="1200" dirty="0" smtClean="0">
                <a:solidFill>
                  <a:schemeClr val="tx1"/>
                </a:solidFill>
                <a:latin typeface="Arial" pitchFamily="34" charset="0"/>
                <a:cs typeface="Arial" pitchFamily="34" charset="0"/>
              </a:rPr>
              <a:t>Favorecer procesos que usen recursos infrautilizados para mejorar el </a:t>
            </a:r>
            <a:r>
              <a:rPr lang="es-ES" sz="1200" b="1" dirty="0" smtClean="0">
                <a:solidFill>
                  <a:schemeClr val="tx1"/>
                </a:solidFill>
                <a:latin typeface="Arial" pitchFamily="34" charset="0"/>
                <a:cs typeface="Arial" pitchFamily="34" charset="0"/>
              </a:rPr>
              <a:t>rendimiento global del sistema</a:t>
            </a:r>
            <a:r>
              <a:rPr lang="es-ES" sz="1200" dirty="0" smtClean="0">
                <a:solidFill>
                  <a:schemeClr val="tx1"/>
                </a:solidFill>
                <a:latin typeface="Arial" pitchFamily="34" charset="0"/>
                <a:cs typeface="Arial" pitchFamily="34" charset="0"/>
              </a:rPr>
              <a:t>.</a:t>
            </a:r>
          </a:p>
          <a:p>
            <a:pPr algn="just"/>
            <a:r>
              <a:rPr lang="es-ES" sz="1200" b="1" dirty="0" smtClean="0">
                <a:solidFill>
                  <a:schemeClr val="tx1"/>
                </a:solidFill>
                <a:latin typeface="Arial" pitchFamily="34" charset="0"/>
                <a:cs typeface="Arial" pitchFamily="34" charset="0"/>
              </a:rPr>
              <a:t>¿Cómo se logra?</a:t>
            </a:r>
            <a:endParaRPr lang="es-ES" sz="1200" dirty="0" smtClean="0">
              <a:solidFill>
                <a:schemeClr val="tx1"/>
              </a:solidFill>
              <a:latin typeface="Arial" pitchFamily="34" charset="0"/>
              <a:cs typeface="Arial" pitchFamily="34" charset="0"/>
            </a:endParaRPr>
          </a:p>
          <a:p>
            <a:pPr lvl="1" algn="just"/>
            <a:r>
              <a:rPr lang="es-ES" sz="1200" b="1" dirty="0" smtClean="0">
                <a:solidFill>
                  <a:schemeClr val="tx1"/>
                </a:solidFill>
                <a:latin typeface="Arial" pitchFamily="34" charset="0"/>
                <a:cs typeface="Arial" pitchFamily="34" charset="0"/>
              </a:rPr>
              <a:t>Balanceo de carga</a:t>
            </a:r>
            <a:r>
              <a:rPr lang="es-ES" sz="1200" dirty="0" smtClean="0">
                <a:solidFill>
                  <a:schemeClr val="tx1"/>
                </a:solidFill>
                <a:latin typeface="Arial" pitchFamily="34" charset="0"/>
                <a:cs typeface="Arial" pitchFamily="34" charset="0"/>
              </a:rPr>
              <a:t>: Distribuir procesos entre núcleos de CPU, nodos en </a:t>
            </a:r>
            <a:r>
              <a:rPr lang="es-ES" sz="1200" dirty="0" err="1" smtClean="0">
                <a:solidFill>
                  <a:schemeClr val="tx1"/>
                </a:solidFill>
                <a:latin typeface="Arial" pitchFamily="34" charset="0"/>
                <a:cs typeface="Arial" pitchFamily="34" charset="0"/>
              </a:rPr>
              <a:t>clusters</a:t>
            </a:r>
            <a:r>
              <a:rPr lang="es-ES" sz="1200" dirty="0" smtClean="0">
                <a:solidFill>
                  <a:schemeClr val="tx1"/>
                </a:solidFill>
                <a:latin typeface="Arial" pitchFamily="34" charset="0"/>
                <a:cs typeface="Arial" pitchFamily="34" charset="0"/>
              </a:rPr>
              <a:t>, o discos para evitar cuellos de botella.</a:t>
            </a:r>
          </a:p>
          <a:p>
            <a:pPr lvl="1" algn="just"/>
            <a:r>
              <a:rPr lang="es-ES" sz="1200" b="1" dirty="0" smtClean="0">
                <a:solidFill>
                  <a:schemeClr val="tx1"/>
                </a:solidFill>
                <a:latin typeface="Arial" pitchFamily="34" charset="0"/>
                <a:cs typeface="Arial" pitchFamily="34" charset="0"/>
              </a:rPr>
              <a:t>Priorización dinámica</a:t>
            </a:r>
            <a:r>
              <a:rPr lang="es-ES" sz="1200" dirty="0" smtClean="0">
                <a:solidFill>
                  <a:schemeClr val="tx1"/>
                </a:solidFill>
                <a:latin typeface="Arial" pitchFamily="34" charset="0"/>
                <a:cs typeface="Arial" pitchFamily="34" charset="0"/>
              </a:rPr>
              <a:t>: Dar preferencia a procesos que usen recursos actualmente poco demandados (ej.: si la GPU está saturada pero la CPU libre, priorizar tareas intensivas en CPU).</a:t>
            </a:r>
          </a:p>
          <a:p>
            <a:pPr lvl="1" algn="just"/>
            <a:r>
              <a:rPr lang="es-ES" sz="1200" b="1" dirty="0" err="1" smtClean="0">
                <a:solidFill>
                  <a:schemeClr val="tx1"/>
                </a:solidFill>
                <a:latin typeface="Arial" pitchFamily="34" charset="0"/>
                <a:cs typeface="Arial" pitchFamily="34" charset="0"/>
              </a:rPr>
              <a:t>Fairness</a:t>
            </a:r>
            <a:r>
              <a:rPr lang="es-ES" sz="1200" b="1" dirty="0" smtClean="0">
                <a:solidFill>
                  <a:schemeClr val="tx1"/>
                </a:solidFill>
                <a:latin typeface="Arial" pitchFamily="34" charset="0"/>
                <a:cs typeface="Arial" pitchFamily="34" charset="0"/>
              </a:rPr>
              <a:t> (equidad)</a:t>
            </a:r>
            <a:r>
              <a:rPr lang="es-ES" sz="1200" dirty="0" smtClean="0">
                <a:solidFill>
                  <a:schemeClr val="tx1"/>
                </a:solidFill>
                <a:latin typeface="Arial" pitchFamily="34" charset="0"/>
                <a:cs typeface="Arial" pitchFamily="34" charset="0"/>
              </a:rPr>
              <a:t>: Evitar que un proceso monopolice un recurso (ej.: algoritmos como </a:t>
            </a:r>
            <a:r>
              <a:rPr lang="es-ES" sz="1200" b="1" dirty="0" smtClean="0">
                <a:solidFill>
                  <a:schemeClr val="tx1"/>
                </a:solidFill>
                <a:latin typeface="Arial" pitchFamily="34" charset="0"/>
                <a:cs typeface="Arial" pitchFamily="34" charset="0"/>
              </a:rPr>
              <a:t>CFS</a:t>
            </a:r>
            <a:r>
              <a:rPr lang="es-ES" sz="1200" dirty="0" smtClean="0">
                <a:solidFill>
                  <a:schemeClr val="tx1"/>
                </a:solidFill>
                <a:latin typeface="Arial" pitchFamily="34" charset="0"/>
                <a:cs typeface="Arial" pitchFamily="34" charset="0"/>
              </a:rPr>
              <a:t> en Linux).</a:t>
            </a:r>
          </a:p>
          <a:p>
            <a:pPr algn="just"/>
            <a:r>
              <a:rPr lang="es-ES" sz="1200" b="1" dirty="0" smtClean="0">
                <a:solidFill>
                  <a:schemeClr val="tx1"/>
                </a:solidFill>
                <a:latin typeface="Arial" pitchFamily="34" charset="0"/>
                <a:cs typeface="Arial" pitchFamily="34" charset="0"/>
              </a:rPr>
              <a:t>Ejemplos prácticos</a:t>
            </a:r>
            <a:r>
              <a:rPr lang="es-ES" sz="1200" dirty="0" smtClean="0">
                <a:solidFill>
                  <a:schemeClr val="tx1"/>
                </a:solidFill>
                <a:latin typeface="Arial" pitchFamily="34" charset="0"/>
                <a:cs typeface="Arial" pitchFamily="34" charset="0"/>
              </a:rPr>
              <a:t>:</a:t>
            </a:r>
          </a:p>
          <a:p>
            <a:pPr lvl="1" algn="just"/>
            <a:r>
              <a:rPr lang="es-ES" sz="1200" i="1" dirty="0" smtClean="0">
                <a:solidFill>
                  <a:schemeClr val="tx1"/>
                </a:solidFill>
                <a:latin typeface="Arial" pitchFamily="34" charset="0"/>
                <a:cs typeface="Arial" pitchFamily="34" charset="0"/>
              </a:rPr>
              <a:t>CPU-</a:t>
            </a:r>
            <a:r>
              <a:rPr lang="es-ES" sz="1200" i="1" dirty="0" err="1" smtClean="0">
                <a:solidFill>
                  <a:schemeClr val="tx1"/>
                </a:solidFill>
                <a:latin typeface="Arial" pitchFamily="34" charset="0"/>
                <a:cs typeface="Arial" pitchFamily="34" charset="0"/>
              </a:rPr>
              <a:t>Bound</a:t>
            </a:r>
            <a:r>
              <a:rPr lang="es-ES" sz="1200" i="1" dirty="0" smtClean="0">
                <a:solidFill>
                  <a:schemeClr val="tx1"/>
                </a:solidFill>
                <a:latin typeface="Arial" pitchFamily="34" charset="0"/>
                <a:cs typeface="Arial" pitchFamily="34" charset="0"/>
              </a:rPr>
              <a:t> vs I/O-</a:t>
            </a:r>
            <a:r>
              <a:rPr lang="es-ES" sz="1200" i="1" dirty="0" err="1" smtClean="0">
                <a:solidFill>
                  <a:schemeClr val="tx1"/>
                </a:solidFill>
                <a:latin typeface="Arial" pitchFamily="34" charset="0"/>
                <a:cs typeface="Arial" pitchFamily="34" charset="0"/>
              </a:rPr>
              <a:t>Bound</a:t>
            </a:r>
            <a:r>
              <a:rPr lang="es-ES" sz="1200" dirty="0" smtClean="0">
                <a:solidFill>
                  <a:schemeClr val="tx1"/>
                </a:solidFill>
                <a:latin typeface="Arial" pitchFamily="34" charset="0"/>
                <a:cs typeface="Arial" pitchFamily="34" charset="0"/>
              </a:rPr>
              <a:t>: Si la CPU está al 100% pero el disco está inactivo, el planificador podría favorecer un proceso que lea/escriba en disco (I/O-</a:t>
            </a:r>
            <a:r>
              <a:rPr lang="es-ES" sz="1200" dirty="0" err="1" smtClean="0">
                <a:solidFill>
                  <a:schemeClr val="tx1"/>
                </a:solidFill>
                <a:latin typeface="Arial" pitchFamily="34" charset="0"/>
                <a:cs typeface="Arial" pitchFamily="34" charset="0"/>
              </a:rPr>
              <a:t>Bound</a:t>
            </a:r>
            <a:r>
              <a:rPr lang="es-ES" sz="1200" dirty="0" smtClean="0">
                <a:solidFill>
                  <a:schemeClr val="tx1"/>
                </a:solidFill>
                <a:latin typeface="Arial" pitchFamily="34" charset="0"/>
                <a:cs typeface="Arial" pitchFamily="34" charset="0"/>
              </a:rPr>
              <a:t>) para equilibrar el uso.</a:t>
            </a:r>
          </a:p>
          <a:p>
            <a:pPr lvl="1" algn="just"/>
            <a:r>
              <a:rPr lang="es-ES" sz="1200" i="1" dirty="0" smtClean="0">
                <a:solidFill>
                  <a:schemeClr val="tx1"/>
                </a:solidFill>
                <a:latin typeface="Arial" pitchFamily="34" charset="0"/>
                <a:cs typeface="Arial" pitchFamily="34" charset="0"/>
              </a:rPr>
              <a:t>Sistemas heterogéneos</a:t>
            </a:r>
            <a:r>
              <a:rPr lang="es-ES" sz="1200" dirty="0" smtClean="0">
                <a:solidFill>
                  <a:schemeClr val="tx1"/>
                </a:solidFill>
                <a:latin typeface="Arial" pitchFamily="34" charset="0"/>
                <a:cs typeface="Arial" pitchFamily="34" charset="0"/>
              </a:rPr>
              <a:t>: En CPUs con núcleos grandes y pequeños (ARM </a:t>
            </a:r>
            <a:r>
              <a:rPr lang="es-ES" sz="1200" dirty="0" err="1" smtClean="0">
                <a:solidFill>
                  <a:schemeClr val="tx1"/>
                </a:solidFill>
                <a:latin typeface="Arial" pitchFamily="34" charset="0"/>
                <a:cs typeface="Arial" pitchFamily="34" charset="0"/>
              </a:rPr>
              <a:t>big.LITTLE</a:t>
            </a:r>
            <a:r>
              <a:rPr lang="es-ES" sz="1200" dirty="0" smtClean="0">
                <a:solidFill>
                  <a:schemeClr val="tx1"/>
                </a:solidFill>
                <a:latin typeface="Arial" pitchFamily="34" charset="0"/>
                <a:cs typeface="Arial" pitchFamily="34" charset="0"/>
              </a:rPr>
              <a:t>), asignar tareas intensivas a núcleos grandes y tareas ligeras a núcleos pequeños.</a:t>
            </a:r>
          </a:p>
          <a:p>
            <a:pPr algn="just"/>
            <a:r>
              <a:rPr lang="es-ES" sz="1200" b="1" dirty="0" smtClean="0">
                <a:solidFill>
                  <a:schemeClr val="tx1"/>
                </a:solidFill>
                <a:latin typeface="Arial" pitchFamily="34" charset="0"/>
                <a:cs typeface="Arial" pitchFamily="34" charset="0"/>
              </a:rPr>
              <a:t>Beneficios</a:t>
            </a:r>
            <a:r>
              <a:rPr lang="es-ES" sz="1200" dirty="0" smtClean="0">
                <a:solidFill>
                  <a:schemeClr val="tx1"/>
                </a:solidFill>
                <a:latin typeface="Arial" pitchFamily="34" charset="0"/>
                <a:cs typeface="Arial" pitchFamily="34" charset="0"/>
              </a:rPr>
              <a:t>:</a:t>
            </a:r>
          </a:p>
          <a:p>
            <a:pPr lvl="1" algn="just"/>
            <a:r>
              <a:rPr lang="es-ES" sz="1200" b="1" dirty="0" smtClean="0">
                <a:solidFill>
                  <a:schemeClr val="tx1"/>
                </a:solidFill>
                <a:latin typeface="Arial" pitchFamily="34" charset="0"/>
                <a:cs typeface="Arial" pitchFamily="34" charset="0"/>
              </a:rPr>
              <a:t>Mayor </a:t>
            </a:r>
            <a:r>
              <a:rPr lang="es-ES" sz="1200" b="1" dirty="0" err="1" smtClean="0">
                <a:solidFill>
                  <a:schemeClr val="tx1"/>
                </a:solidFill>
                <a:latin typeface="Arial" pitchFamily="34" charset="0"/>
                <a:cs typeface="Arial" pitchFamily="34" charset="0"/>
              </a:rPr>
              <a:t>throughput</a:t>
            </a:r>
            <a:r>
              <a:rPr lang="es-ES" sz="1200" dirty="0" smtClean="0">
                <a:solidFill>
                  <a:schemeClr val="tx1"/>
                </a:solidFill>
                <a:latin typeface="Arial" pitchFamily="34" charset="0"/>
                <a:cs typeface="Arial" pitchFamily="34" charset="0"/>
              </a:rPr>
              <a:t>: Se aprovechan mejor todos los recursos.</a:t>
            </a:r>
          </a:p>
          <a:p>
            <a:pPr lvl="1" algn="just"/>
            <a:r>
              <a:rPr lang="es-ES" sz="1200" b="1" dirty="0" smtClean="0">
                <a:solidFill>
                  <a:schemeClr val="tx1"/>
                </a:solidFill>
                <a:latin typeface="Arial" pitchFamily="34" charset="0"/>
                <a:cs typeface="Arial" pitchFamily="34" charset="0"/>
              </a:rPr>
              <a:t>Menos inanición</a:t>
            </a:r>
            <a:r>
              <a:rPr lang="es-ES" sz="1200" dirty="0" smtClean="0">
                <a:solidFill>
                  <a:schemeClr val="tx1"/>
                </a:solidFill>
                <a:latin typeface="Arial" pitchFamily="34" charset="0"/>
                <a:cs typeface="Arial" pitchFamily="34" charset="0"/>
              </a:rPr>
              <a:t>: Ningún recurso queda bloqueado indefinidamente.</a:t>
            </a:r>
          </a:p>
          <a:p>
            <a:pPr lvl="1" algn="just"/>
            <a:r>
              <a:rPr lang="es-ES" sz="1200" b="1" dirty="0" smtClean="0">
                <a:solidFill>
                  <a:schemeClr val="tx1"/>
                </a:solidFill>
                <a:latin typeface="Arial" pitchFamily="34" charset="0"/>
                <a:cs typeface="Arial" pitchFamily="34" charset="0"/>
              </a:rPr>
              <a:t>Eficiencia energética</a:t>
            </a:r>
            <a:r>
              <a:rPr lang="es-ES" sz="1200" dirty="0" smtClean="0">
                <a:solidFill>
                  <a:schemeClr val="tx1"/>
                </a:solidFill>
                <a:latin typeface="Arial" pitchFamily="34" charset="0"/>
                <a:cs typeface="Arial" pitchFamily="34" charset="0"/>
              </a:rPr>
              <a:t>: En sistemas móviles, equilibrar carga puede reducir el consumo.</a:t>
            </a:r>
            <a:endParaRPr lang="es-ES" sz="12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5" y="970642"/>
            <a:ext cx="6973660" cy="3031599"/>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CPU </a:t>
            </a:r>
            <a:r>
              <a:rPr lang="es-AR" sz="1600" b="1" dirty="0" err="1" smtClean="0">
                <a:solidFill>
                  <a:schemeClr val="tx1"/>
                </a:solidFill>
                <a:latin typeface="Arial" pitchFamily="34" charset="0"/>
                <a:cs typeface="Arial" pitchFamily="34" charset="0"/>
              </a:rPr>
              <a:t>Burst</a:t>
            </a:r>
            <a:r>
              <a:rPr lang="es-AR" sz="1600" b="1" dirty="0" smtClean="0">
                <a:solidFill>
                  <a:schemeClr val="tx1"/>
                </a:solidFill>
                <a:latin typeface="Arial" pitchFamily="34" charset="0"/>
                <a:cs typeface="Arial" pitchFamily="34" charset="0"/>
              </a:rPr>
              <a:t> (intervalo o ráfaga de CPU) </a:t>
            </a:r>
            <a:r>
              <a:rPr lang="es-AR" sz="1000" b="1" dirty="0" smtClean="0">
                <a:solidFill>
                  <a:schemeClr val="tx1"/>
                </a:solidFill>
                <a:latin typeface="Arial" pitchFamily="34" charset="0"/>
                <a:cs typeface="Arial" pitchFamily="34" charset="0"/>
              </a:rPr>
              <a:t>(</a:t>
            </a:r>
            <a:r>
              <a:rPr lang="es-AR" sz="1000" b="1" dirty="0" err="1" smtClean="0">
                <a:solidFill>
                  <a:schemeClr val="tx1"/>
                </a:solidFill>
                <a:latin typeface="Arial" pitchFamily="34" charset="0"/>
                <a:cs typeface="Arial" pitchFamily="34" charset="0"/>
              </a:rPr>
              <a:t>Silberchatz</a:t>
            </a:r>
            <a:r>
              <a:rPr lang="es-AR" sz="1000" b="1" dirty="0" smtClean="0">
                <a:solidFill>
                  <a:schemeClr val="tx1"/>
                </a:solidFill>
                <a:latin typeface="Arial" pitchFamily="34" charset="0"/>
                <a:cs typeface="Arial" pitchFamily="34" charset="0"/>
              </a:rPr>
              <a:t> 5.1.1)</a:t>
            </a:r>
          </a:p>
          <a:p>
            <a:pPr marL="0" lvl="1" algn="just"/>
            <a:endParaRPr lang="es-AR" sz="1000" b="1" dirty="0" smtClean="0">
              <a:solidFill>
                <a:schemeClr val="tx1"/>
              </a:solidFill>
              <a:latin typeface="Arial" pitchFamily="34" charset="0"/>
              <a:cs typeface="Arial" pitchFamily="34" charset="0"/>
            </a:endParaRP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Los procesos alternan entre estos dos estados: ciclo de </a:t>
            </a:r>
            <a:r>
              <a:rPr lang="es-AR" sz="1600" dirty="0" smtClean="0">
                <a:solidFill>
                  <a:srgbClr val="CC00CC"/>
                </a:solidFill>
                <a:latin typeface="Arial" pitchFamily="34" charset="0"/>
                <a:cs typeface="Arial" pitchFamily="34" charset="0"/>
              </a:rPr>
              <a:t>ráfagas de CPU (CPU </a:t>
            </a:r>
            <a:r>
              <a:rPr lang="es-AR" sz="1600" dirty="0" err="1" smtClean="0">
                <a:solidFill>
                  <a:srgbClr val="CC00CC"/>
                </a:solidFill>
                <a:latin typeface="Arial" pitchFamily="34" charset="0"/>
                <a:cs typeface="Arial" pitchFamily="34" charset="0"/>
              </a:rPr>
              <a:t>Burst</a:t>
            </a:r>
            <a:r>
              <a:rPr lang="es-AR" sz="1600" dirty="0" smtClean="0">
                <a:solidFill>
                  <a:srgbClr val="CC00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y  </a:t>
            </a:r>
            <a:r>
              <a:rPr lang="es-AR" sz="1600" dirty="0" smtClean="0">
                <a:solidFill>
                  <a:srgbClr val="CC00CC"/>
                </a:solidFill>
                <a:latin typeface="Arial" pitchFamily="34" charset="0"/>
                <a:cs typeface="Arial" pitchFamily="34" charset="0"/>
              </a:rPr>
              <a:t>ráfagas de E/S (I/O </a:t>
            </a:r>
            <a:r>
              <a:rPr lang="es-AR" sz="1600" dirty="0" err="1" smtClean="0">
                <a:solidFill>
                  <a:srgbClr val="CC00CC"/>
                </a:solidFill>
                <a:latin typeface="Arial" pitchFamily="34" charset="0"/>
                <a:cs typeface="Arial" pitchFamily="34" charset="0"/>
              </a:rPr>
              <a:t>Burst</a:t>
            </a:r>
            <a:r>
              <a:rPr lang="es-AR" sz="1600" dirty="0" smtClean="0">
                <a:solidFill>
                  <a:srgbClr val="CC00CC"/>
                </a:solidFill>
                <a:latin typeface="Arial" pitchFamily="34" charset="0"/>
                <a:cs typeface="Arial" pitchFamily="34" charset="0"/>
              </a:rPr>
              <a:t>)</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La ejecución del proceso comienza con una ráfaga de CPU</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Esta va seguida de una ráfaga de E/S</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A la cual sigue otra ráfaga de CPU, luego otra ráfaga de E/S, etc.</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Finalmente, la ráfaga final de CPU concluye con una solicitud al sistema para terminar la ejecución.</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La duración de las ráfagas de CPU varían enormemente de un proceso a otro y de una computadora a otra.</a:t>
            </a:r>
          </a:p>
          <a:p>
            <a:pPr marL="0" lvl="1" algn="just">
              <a:spcBef>
                <a:spcPts val="600"/>
              </a:spcBef>
            </a:pPr>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3074" name="Picture 2"/>
          <p:cNvPicPr>
            <a:picLocks noChangeAspect="1" noChangeArrowheads="1"/>
          </p:cNvPicPr>
          <p:nvPr/>
        </p:nvPicPr>
        <p:blipFill>
          <a:blip r:embed="rId3" cstate="print"/>
          <a:srcRect/>
          <a:stretch>
            <a:fillRect/>
          </a:stretch>
        </p:blipFill>
        <p:spPr bwMode="auto">
          <a:xfrm>
            <a:off x="7177940" y="1052515"/>
            <a:ext cx="1632686" cy="2870462"/>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481014" y="4143375"/>
            <a:ext cx="4583359" cy="1828800"/>
          </a:xfrm>
          <a:prstGeom prst="rect">
            <a:avLst/>
          </a:prstGeom>
          <a:noFill/>
          <a:ln w="9525">
            <a:noFill/>
            <a:miter lim="800000"/>
            <a:headEnd/>
            <a:tailEnd/>
          </a:ln>
        </p:spPr>
      </p:pic>
      <p:sp>
        <p:nvSpPr>
          <p:cNvPr id="31" name="30 CuadroTexto"/>
          <p:cNvSpPr txBox="1"/>
          <p:nvPr/>
        </p:nvSpPr>
        <p:spPr>
          <a:xfrm>
            <a:off x="5076825" y="3959751"/>
            <a:ext cx="3952875" cy="2139047"/>
          </a:xfrm>
          <a:prstGeom prst="rect">
            <a:avLst/>
          </a:prstGeom>
          <a:noFill/>
        </p:spPr>
        <p:txBody>
          <a:bodyPr wrap="square" rtlCol="0">
            <a:spAutoFit/>
          </a:bodyPr>
          <a:lstStyle/>
          <a:p>
            <a:pPr marL="0" lvl="1" algn="just">
              <a:spcBef>
                <a:spcPts val="600"/>
              </a:spcBef>
            </a:pPr>
            <a:r>
              <a:rPr lang="es-AR" sz="1600" dirty="0" smtClean="0">
                <a:solidFill>
                  <a:schemeClr val="tx1"/>
                </a:solidFill>
                <a:latin typeface="Arial" pitchFamily="34" charset="0"/>
                <a:cs typeface="Arial" pitchFamily="34" charset="0"/>
              </a:rPr>
              <a:t>El proceso (a), invierte la mayor parte de su tiempo computando. se dice que es </a:t>
            </a:r>
            <a:r>
              <a:rPr lang="es-AR" sz="1600" dirty="0" smtClean="0">
                <a:solidFill>
                  <a:srgbClr val="CC00CC"/>
                </a:solidFill>
                <a:latin typeface="Arial" pitchFamily="34" charset="0"/>
                <a:cs typeface="Arial" pitchFamily="34" charset="0"/>
              </a:rPr>
              <a:t>intensivo en computación </a:t>
            </a:r>
            <a:r>
              <a:rPr lang="es-AR" sz="1600" dirty="0" smtClean="0">
                <a:solidFill>
                  <a:schemeClr val="tx1"/>
                </a:solidFill>
                <a:latin typeface="Arial" pitchFamily="34" charset="0"/>
                <a:cs typeface="Arial" pitchFamily="34" charset="0"/>
              </a:rPr>
              <a:t>(</a:t>
            </a:r>
            <a:r>
              <a:rPr lang="es-AR" sz="1600" dirty="0" smtClean="0">
                <a:solidFill>
                  <a:srgbClr val="CC00CC"/>
                </a:solidFill>
                <a:latin typeface="Arial" pitchFamily="34" charset="0"/>
                <a:cs typeface="Arial" pitchFamily="34" charset="0"/>
              </a:rPr>
              <a:t>procesos CPU-</a:t>
            </a:r>
            <a:r>
              <a:rPr lang="es-AR" sz="1600" dirty="0" err="1" smtClean="0">
                <a:solidFill>
                  <a:srgbClr val="CC00CC"/>
                </a:solidFill>
                <a:latin typeface="Arial" pitchFamily="34" charset="0"/>
                <a:cs typeface="Arial" pitchFamily="34" charset="0"/>
              </a:rPr>
              <a:t>bound</a:t>
            </a:r>
            <a:r>
              <a:rPr lang="es-AR" sz="1600" dirty="0" smtClean="0">
                <a:solidFill>
                  <a:schemeClr val="tx1"/>
                </a:solidFill>
                <a:latin typeface="Arial" pitchFamily="34" charset="0"/>
                <a:cs typeface="Arial" pitchFamily="34" charset="0"/>
              </a:rPr>
              <a:t>).</a:t>
            </a:r>
          </a:p>
          <a:p>
            <a:pPr marL="0" lvl="1" algn="just">
              <a:spcBef>
                <a:spcPts val="600"/>
              </a:spcBef>
            </a:pPr>
            <a:r>
              <a:rPr lang="es-AR" sz="1600" dirty="0" smtClean="0">
                <a:solidFill>
                  <a:schemeClr val="tx1"/>
                </a:solidFill>
                <a:latin typeface="Arial" pitchFamily="34" charset="0"/>
                <a:cs typeface="Arial" pitchFamily="34" charset="0"/>
              </a:rPr>
              <a:t>El proceso (b), invierte la mayor parte de su tiempo en operaciones de E/S. Se dice que es </a:t>
            </a:r>
            <a:r>
              <a:rPr lang="es-AR" sz="1600" dirty="0" smtClean="0">
                <a:solidFill>
                  <a:srgbClr val="CC00CC"/>
                </a:solidFill>
                <a:latin typeface="Arial" pitchFamily="34" charset="0"/>
                <a:cs typeface="Arial" pitchFamily="34" charset="0"/>
              </a:rPr>
              <a:t>intensivo en E/S </a:t>
            </a:r>
            <a:r>
              <a:rPr lang="es-AR" sz="1600" dirty="0" smtClean="0">
                <a:solidFill>
                  <a:schemeClr val="tx1"/>
                </a:solidFill>
                <a:latin typeface="Arial" pitchFamily="34" charset="0"/>
                <a:cs typeface="Arial" pitchFamily="34" charset="0"/>
              </a:rPr>
              <a:t>(</a:t>
            </a:r>
            <a:r>
              <a:rPr lang="es-AR" sz="1600" dirty="0" smtClean="0">
                <a:solidFill>
                  <a:srgbClr val="CC00CC"/>
                </a:solidFill>
                <a:latin typeface="Arial" pitchFamily="34" charset="0"/>
                <a:cs typeface="Arial" pitchFamily="34" charset="0"/>
              </a:rPr>
              <a:t>procesos I/O-</a:t>
            </a:r>
            <a:r>
              <a:rPr lang="es-AR" sz="1600" dirty="0" err="1" smtClean="0">
                <a:solidFill>
                  <a:srgbClr val="CC00CC"/>
                </a:solidFill>
                <a:latin typeface="Arial" pitchFamily="34" charset="0"/>
                <a:cs typeface="Arial" pitchFamily="34" charset="0"/>
              </a:rPr>
              <a:t>bound</a:t>
            </a:r>
            <a:r>
              <a:rPr lang="es-AR" sz="1600" dirty="0" smtClean="0">
                <a:solidFill>
                  <a:schemeClr val="tx1"/>
                </a:solidFill>
                <a:latin typeface="Arial" pitchFamily="34" charset="0"/>
                <a:cs typeface="Arial" pitchFamily="34" charset="0"/>
              </a:rPr>
              <a:t>).</a:t>
            </a:r>
          </a:p>
        </p:txBody>
      </p:sp>
      <p:sp>
        <p:nvSpPr>
          <p:cNvPr id="32" name="31 CuadroTexto"/>
          <p:cNvSpPr txBox="1"/>
          <p:nvPr/>
        </p:nvSpPr>
        <p:spPr>
          <a:xfrm>
            <a:off x="133350" y="3740676"/>
            <a:ext cx="1181100" cy="1954381"/>
          </a:xfrm>
          <a:prstGeom prst="rect">
            <a:avLst/>
          </a:prstGeom>
          <a:noFill/>
        </p:spPr>
        <p:txBody>
          <a:bodyPr wrap="square" rtlCol="0">
            <a:spAutoFit/>
          </a:bodyPr>
          <a:lstStyle/>
          <a:p>
            <a:pPr marL="0" lvl="1" algn="just">
              <a:spcBef>
                <a:spcPts val="600"/>
              </a:spcBef>
            </a:pPr>
            <a:r>
              <a:rPr lang="es-AR" sz="1400" dirty="0" smtClean="0">
                <a:solidFill>
                  <a:schemeClr val="tx1"/>
                </a:solidFill>
                <a:latin typeface="Arial" pitchFamily="34" charset="0"/>
                <a:cs typeface="Arial" pitchFamily="34" charset="0"/>
              </a:rPr>
              <a:t>Procesos</a:t>
            </a:r>
          </a:p>
          <a:p>
            <a:pPr marL="0" lvl="1" algn="just">
              <a:spcBef>
                <a:spcPts val="600"/>
              </a:spcBef>
            </a:pPr>
            <a:r>
              <a:rPr lang="es-AR" sz="1600" dirty="0" smtClean="0">
                <a:solidFill>
                  <a:schemeClr val="tx1"/>
                </a:solidFill>
                <a:latin typeface="Arial" pitchFamily="34" charset="0"/>
                <a:cs typeface="Arial" pitchFamily="34" charset="0"/>
              </a:rPr>
              <a:t>a)</a:t>
            </a:r>
          </a:p>
          <a:p>
            <a:pPr marL="0" lvl="1" algn="just">
              <a:spcBef>
                <a:spcPts val="600"/>
              </a:spcBef>
            </a:pPr>
            <a:endParaRPr lang="es-AR" sz="1600" dirty="0" smtClean="0">
              <a:solidFill>
                <a:schemeClr val="tx1"/>
              </a:solidFill>
              <a:latin typeface="Arial" pitchFamily="34" charset="0"/>
              <a:cs typeface="Arial" pitchFamily="34" charset="0"/>
            </a:endParaRPr>
          </a:p>
          <a:p>
            <a:pPr marL="0" lvl="1" algn="just">
              <a:spcBef>
                <a:spcPts val="600"/>
              </a:spcBef>
            </a:pPr>
            <a:endParaRPr lang="es-AR" sz="1600" dirty="0" smtClean="0">
              <a:solidFill>
                <a:schemeClr val="tx1"/>
              </a:solidFill>
              <a:latin typeface="Arial" pitchFamily="34" charset="0"/>
              <a:cs typeface="Arial" pitchFamily="34" charset="0"/>
            </a:endParaRPr>
          </a:p>
          <a:p>
            <a:pPr marL="0" lvl="1" algn="just">
              <a:spcBef>
                <a:spcPts val="600"/>
              </a:spcBef>
            </a:pPr>
            <a:endParaRPr lang="es-AR" sz="1600" dirty="0" smtClean="0">
              <a:solidFill>
                <a:schemeClr val="tx1"/>
              </a:solidFill>
              <a:latin typeface="Arial" pitchFamily="34" charset="0"/>
              <a:cs typeface="Arial" pitchFamily="34" charset="0"/>
            </a:endParaRPr>
          </a:p>
          <a:p>
            <a:pPr marL="0" lvl="1" algn="just">
              <a:spcBef>
                <a:spcPts val="600"/>
              </a:spcBef>
            </a:pPr>
            <a:r>
              <a:rPr lang="es-AR" sz="1600" dirty="0" smtClean="0">
                <a:solidFill>
                  <a:schemeClr val="tx1"/>
                </a:solidFill>
                <a:latin typeface="Arial" pitchFamily="34" charset="0"/>
                <a:cs typeface="Arial" pitchFamily="34" charset="0"/>
              </a:rPr>
              <a:t>b)</a:t>
            </a:r>
          </a:p>
        </p:txBody>
      </p:sp>
      <p:sp>
        <p:nvSpPr>
          <p:cNvPr id="37" name="36 CuadroTexto"/>
          <p:cNvSpPr txBox="1"/>
          <p:nvPr/>
        </p:nvSpPr>
        <p:spPr>
          <a:xfrm>
            <a:off x="9143999" y="4438651"/>
            <a:ext cx="1876425" cy="1938992"/>
          </a:xfrm>
          <a:prstGeom prst="rect">
            <a:avLst/>
          </a:prstGeom>
          <a:noFill/>
        </p:spPr>
        <p:txBody>
          <a:bodyPr wrap="square" rtlCol="0">
            <a:spAutoFit/>
          </a:bodyPr>
          <a:lstStyle/>
          <a:p>
            <a:pPr algn="just"/>
            <a:r>
              <a:rPr lang="es-AR" sz="1200" dirty="0" smtClean="0">
                <a:solidFill>
                  <a:schemeClr val="tx1"/>
                </a:solidFill>
                <a:latin typeface="Arial" pitchFamily="34" charset="0"/>
                <a:cs typeface="Arial" pitchFamily="34" charset="0"/>
              </a:rPr>
              <a:t>A medida que las CPUs se hacen más rápidas, los procesos tienden a ser más intensivos en E/S. </a:t>
            </a:r>
          </a:p>
          <a:p>
            <a:pPr algn="just"/>
            <a:r>
              <a:rPr lang="es-AR" sz="1200" dirty="0" smtClean="0">
                <a:solidFill>
                  <a:schemeClr val="tx1"/>
                </a:solidFill>
                <a:latin typeface="Arial" pitchFamily="34" charset="0"/>
                <a:cs typeface="Arial" pitchFamily="34" charset="0"/>
              </a:rPr>
              <a:t>Este efecto se produce debido a que las CPUs se están mejorando mucho más rápido que los discos.</a:t>
            </a:r>
            <a:endParaRPr lang="es-AR" sz="1200" dirty="0">
              <a:solidFill>
                <a:schemeClr val="tx1"/>
              </a:solidFill>
              <a:latin typeface="Arial" pitchFamily="34" charset="0"/>
              <a:cs typeface="Arial" pitchFamily="34" charset="0"/>
            </a:endParaRPr>
          </a:p>
        </p:txBody>
      </p:sp>
      <p:sp>
        <p:nvSpPr>
          <p:cNvPr id="39" name="38 CuadroTexto"/>
          <p:cNvSpPr txBox="1"/>
          <p:nvPr/>
        </p:nvSpPr>
        <p:spPr>
          <a:xfrm>
            <a:off x="133350" y="6191776"/>
            <a:ext cx="8858250" cy="523220"/>
          </a:xfrm>
          <a:prstGeom prst="rect">
            <a:avLst/>
          </a:prstGeom>
          <a:noFill/>
        </p:spPr>
        <p:txBody>
          <a:bodyPr wrap="square" rtlCol="0">
            <a:spAutoFit/>
          </a:bodyPr>
          <a:lstStyle/>
          <a:p>
            <a:pPr marL="0" lvl="1" algn="just">
              <a:spcBef>
                <a:spcPts val="600"/>
              </a:spcBef>
            </a:pPr>
            <a:r>
              <a:rPr lang="es-AR" sz="1400" dirty="0" smtClean="0">
                <a:solidFill>
                  <a:schemeClr val="tx1"/>
                </a:solidFill>
                <a:latin typeface="Arial" pitchFamily="34" charset="0"/>
                <a:cs typeface="Arial" pitchFamily="34" charset="0"/>
              </a:rPr>
              <a:t>La prioridad de un proceso para obtener un recurso será inversamente proporcional al uso que haga del mismo. Es decir, si un proceso es CPU-</a:t>
            </a:r>
            <a:r>
              <a:rPr lang="es-AR" sz="1400" dirty="0" err="1" smtClean="0">
                <a:solidFill>
                  <a:schemeClr val="tx1"/>
                </a:solidFill>
                <a:latin typeface="Arial" pitchFamily="34" charset="0"/>
                <a:cs typeface="Arial" pitchFamily="34" charset="0"/>
              </a:rPr>
              <a:t>bound</a:t>
            </a:r>
            <a:r>
              <a:rPr lang="es-AR" sz="1400" dirty="0" smtClean="0">
                <a:solidFill>
                  <a:schemeClr val="tx1"/>
                </a:solidFill>
                <a:latin typeface="Arial" pitchFamily="34" charset="0"/>
                <a:cs typeface="Arial" pitchFamily="34" charset="0"/>
              </a:rPr>
              <a:t>, entonces su prioridad para hacer uso de la CPU será baja.</a:t>
            </a:r>
            <a:endParaRPr lang="es-AR" sz="16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5" y="970642"/>
            <a:ext cx="8752114" cy="5663089"/>
          </a:xfrm>
          <a:prstGeom prst="rect">
            <a:avLst/>
          </a:prstGeom>
          <a:noFill/>
        </p:spPr>
        <p:txBody>
          <a:bodyPr wrap="square" rtlCol="0">
            <a:spAutoFit/>
          </a:bodyPr>
          <a:lstStyle/>
          <a:p>
            <a:pPr marL="0" lvl="1" algn="just"/>
            <a:r>
              <a:rPr lang="es-AR" sz="1800" dirty="0" smtClean="0">
                <a:solidFill>
                  <a:schemeClr val="tx1"/>
                </a:solidFill>
                <a:latin typeface="Arial" pitchFamily="34" charset="0"/>
                <a:cs typeface="Arial" pitchFamily="34" charset="0"/>
              </a:rPr>
              <a:t>Puede ser necesario tomar decisiones sobre planificación de la CPU en las siguientes 4 circunstancias:</a:t>
            </a:r>
          </a:p>
          <a:p>
            <a:pPr marL="342900" lvl="1" indent="-342900" algn="just">
              <a:spcBef>
                <a:spcPts val="600"/>
              </a:spcBef>
              <a:buFont typeface="+mj-lt"/>
              <a:buAutoNum type="arabicPeriod"/>
            </a:pPr>
            <a:r>
              <a:rPr lang="es-AR" sz="1800" dirty="0" smtClean="0">
                <a:solidFill>
                  <a:schemeClr val="tx1"/>
                </a:solidFill>
                <a:latin typeface="Arial" pitchFamily="34" charset="0"/>
                <a:cs typeface="Arial" pitchFamily="34" charset="0"/>
              </a:rPr>
              <a:t>Cuando un proceso cambia del estado de Ejecución al estado Bloqueado (Por ejemplo, como resultado de una solicitud de E/S)</a:t>
            </a:r>
          </a:p>
          <a:p>
            <a:pPr marL="342900" lvl="1" indent="-342900" algn="just">
              <a:buFont typeface="+mj-lt"/>
              <a:buAutoNum type="arabicPeriod"/>
            </a:pPr>
            <a:r>
              <a:rPr lang="es-AR" sz="1800" dirty="0" smtClean="0">
                <a:solidFill>
                  <a:schemeClr val="tx1"/>
                </a:solidFill>
                <a:latin typeface="Arial" pitchFamily="34" charset="0"/>
                <a:cs typeface="Arial" pitchFamily="34" charset="0"/>
              </a:rPr>
              <a:t>Cuando un proceso cambia del estado de Ejecución al estado Listo (Por ejemplo, cuando se produce una interrupción o terminó su quantum de tiempo )</a:t>
            </a:r>
          </a:p>
          <a:p>
            <a:pPr marL="342900" lvl="1" indent="-342900" algn="just">
              <a:buFont typeface="+mj-lt"/>
              <a:buAutoNum type="arabicPeriod"/>
            </a:pPr>
            <a:r>
              <a:rPr lang="es-AR" sz="1800" dirty="0" smtClean="0">
                <a:solidFill>
                  <a:schemeClr val="tx1"/>
                </a:solidFill>
                <a:latin typeface="Arial" pitchFamily="34" charset="0"/>
                <a:cs typeface="Arial" pitchFamily="34" charset="0"/>
              </a:rPr>
              <a:t>Cuando un proceso cambia del estado Bloqueado al estado Listo. (Por ejemplo, al completarse una operación de E/S).</a:t>
            </a:r>
          </a:p>
          <a:p>
            <a:pPr marL="342900" lvl="1" indent="-342900" algn="just">
              <a:buFont typeface="+mj-lt"/>
              <a:buAutoNum type="arabicPeriod"/>
            </a:pPr>
            <a:r>
              <a:rPr lang="es-AR" sz="1800" dirty="0" smtClean="0">
                <a:solidFill>
                  <a:schemeClr val="tx1"/>
                </a:solidFill>
                <a:latin typeface="Arial" pitchFamily="34" charset="0"/>
                <a:cs typeface="Arial" pitchFamily="34" charset="0"/>
              </a:rPr>
              <a:t>Cuando un proceso termina.</a:t>
            </a:r>
          </a:p>
          <a:p>
            <a:pPr marL="342900" lvl="1" indent="-342900" algn="just">
              <a:buFont typeface="+mj-lt"/>
              <a:buAutoNum type="arabicPeriod"/>
            </a:pPr>
            <a:endParaRPr lang="es-AR" sz="1800" dirty="0" smtClean="0">
              <a:solidFill>
                <a:schemeClr val="tx1"/>
              </a:solidFill>
              <a:latin typeface="Arial" pitchFamily="34" charset="0"/>
              <a:cs typeface="Arial" pitchFamily="34" charset="0"/>
            </a:endParaRPr>
          </a:p>
          <a:p>
            <a:pPr marL="0" lvl="1" algn="just">
              <a:spcBef>
                <a:spcPts val="600"/>
              </a:spcBef>
            </a:pPr>
            <a:r>
              <a:rPr lang="es-AR" sz="1800" dirty="0" smtClean="0">
                <a:solidFill>
                  <a:schemeClr val="tx1"/>
                </a:solidFill>
                <a:latin typeface="Arial" pitchFamily="34" charset="0"/>
                <a:cs typeface="Arial" pitchFamily="34" charset="0"/>
              </a:rPr>
              <a:t>En las situaciones 1 y 4, la única opción es seleccionar un nuevo proceso para su ejecución (si existen procesos en la cola de listos)</a:t>
            </a:r>
          </a:p>
          <a:p>
            <a:pPr marL="0" lvl="1" algn="just">
              <a:spcBef>
                <a:spcPts val="600"/>
              </a:spcBef>
            </a:pPr>
            <a:r>
              <a:rPr lang="es-AR" sz="1800" dirty="0" smtClean="0">
                <a:solidFill>
                  <a:schemeClr val="tx1"/>
                </a:solidFill>
                <a:latin typeface="Arial" pitchFamily="34" charset="0"/>
                <a:cs typeface="Arial" pitchFamily="34" charset="0"/>
              </a:rPr>
              <a:t>En las situaciones 2 y 3 existe la opción de planificar un nuevo proceso o no.</a:t>
            </a:r>
          </a:p>
          <a:p>
            <a:pPr marL="0" lvl="1" algn="just">
              <a:spcBef>
                <a:spcPts val="600"/>
              </a:spcBef>
            </a:pPr>
            <a:r>
              <a:rPr lang="es-AR" sz="1800" dirty="0" smtClean="0">
                <a:solidFill>
                  <a:schemeClr val="tx1"/>
                </a:solidFill>
                <a:latin typeface="Arial" pitchFamily="34" charset="0"/>
                <a:cs typeface="Arial" pitchFamily="34" charset="0"/>
              </a:rPr>
              <a:t>Cuando las decisiones de planificación sólo se dan en las circunstancias 1 y 4, se dice que el esquema de planificación es sin desalojo o cooperativo; en caso contrario, se trata de un esquema </a:t>
            </a:r>
            <a:r>
              <a:rPr lang="es-AR" sz="1800" dirty="0" err="1" smtClean="0">
                <a:solidFill>
                  <a:schemeClr val="tx1"/>
                </a:solidFill>
                <a:latin typeface="Arial" pitchFamily="34" charset="0"/>
                <a:cs typeface="Arial" pitchFamily="34" charset="0"/>
              </a:rPr>
              <a:t>apropiativo</a:t>
            </a:r>
            <a:r>
              <a:rPr lang="es-AR" sz="1800" dirty="0" smtClean="0">
                <a:solidFill>
                  <a:schemeClr val="tx1"/>
                </a:solidFill>
                <a:latin typeface="Arial" pitchFamily="34" charset="0"/>
                <a:cs typeface="Arial" pitchFamily="34" charset="0"/>
              </a:rPr>
              <a:t> (es decir que el proceso en ejecución fue desalojado).</a:t>
            </a:r>
          </a:p>
          <a:p>
            <a:pPr marL="174625" lvl="1" indent="-174625" algn="just"/>
            <a:endParaRPr lang="es-AR" sz="1800" dirty="0" smtClean="0">
              <a:solidFill>
                <a:schemeClr val="tx1"/>
              </a:solidFill>
              <a:latin typeface="Arial" pitchFamily="34" charset="0"/>
              <a:cs typeface="Arial" pitchFamily="34" charset="0"/>
            </a:endParaRPr>
          </a:p>
          <a:p>
            <a:pPr marL="174625" lvl="1" indent="-174625" algn="just"/>
            <a:endParaRPr lang="es-AR" sz="18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 a corto plazo</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5" y="970642"/>
            <a:ext cx="8405586" cy="5909310"/>
          </a:xfrm>
          <a:prstGeom prst="rect">
            <a:avLst/>
          </a:prstGeom>
          <a:noFill/>
        </p:spPr>
        <p:txBody>
          <a:bodyPr wrap="square" rtlCol="0">
            <a:spAutoFit/>
          </a:bodyPr>
          <a:lstStyle/>
          <a:p>
            <a:pPr marL="0" lvl="1" algn="just"/>
            <a:r>
              <a:rPr lang="es-AR" sz="1800" b="1" dirty="0" smtClean="0">
                <a:solidFill>
                  <a:schemeClr val="tx1"/>
                </a:solidFill>
                <a:latin typeface="Arial" pitchFamily="34" charset="0"/>
                <a:cs typeface="Arial" pitchFamily="34" charset="0"/>
              </a:rPr>
              <a:t>Planificación No </a:t>
            </a:r>
            <a:r>
              <a:rPr lang="es-AR" sz="1800" b="1" dirty="0" err="1" smtClean="0">
                <a:solidFill>
                  <a:schemeClr val="tx1"/>
                </a:solidFill>
                <a:latin typeface="Arial" pitchFamily="34" charset="0"/>
                <a:cs typeface="Arial" pitchFamily="34" charset="0"/>
              </a:rPr>
              <a:t>Apropiativa</a:t>
            </a:r>
            <a:r>
              <a:rPr lang="es-AR" sz="1800" b="1" dirty="0" smtClean="0">
                <a:solidFill>
                  <a:schemeClr val="tx1"/>
                </a:solidFill>
                <a:latin typeface="Arial" pitchFamily="34" charset="0"/>
                <a:cs typeface="Arial" pitchFamily="34" charset="0"/>
              </a:rPr>
              <a:t> (non-</a:t>
            </a:r>
            <a:r>
              <a:rPr lang="es-AR" sz="1800" b="1" dirty="0" err="1" smtClean="0">
                <a:solidFill>
                  <a:schemeClr val="tx1"/>
                </a:solidFill>
                <a:latin typeface="Arial" pitchFamily="34" charset="0"/>
                <a:cs typeface="Arial" pitchFamily="34" charset="0"/>
              </a:rPr>
              <a:t>preemptive</a:t>
            </a:r>
            <a:r>
              <a:rPr lang="es-AR" sz="1800" b="1" dirty="0" smtClean="0">
                <a:solidFill>
                  <a:schemeClr val="tx1"/>
                </a:solidFill>
                <a:latin typeface="Arial" pitchFamily="34" charset="0"/>
                <a:cs typeface="Arial" pitchFamily="34" charset="0"/>
              </a:rPr>
              <a:t>) (no </a:t>
            </a:r>
            <a:r>
              <a:rPr lang="es-AR" sz="1800" b="1" dirty="0" err="1" smtClean="0">
                <a:solidFill>
                  <a:schemeClr val="tx1"/>
                </a:solidFill>
                <a:latin typeface="Arial" pitchFamily="34" charset="0"/>
                <a:cs typeface="Arial" pitchFamily="34" charset="0"/>
              </a:rPr>
              <a:t>expropiativo</a:t>
            </a:r>
            <a:r>
              <a:rPr lang="es-AR" sz="1800" b="1" dirty="0" smtClean="0">
                <a:solidFill>
                  <a:schemeClr val="tx1"/>
                </a:solidFill>
                <a:latin typeface="Arial" pitchFamily="34" charset="0"/>
                <a:cs typeface="Arial" pitchFamily="34" charset="0"/>
              </a:rPr>
              <a:t>): </a:t>
            </a:r>
          </a:p>
          <a:p>
            <a:pPr marL="0" lvl="1" algn="just"/>
            <a:endParaRPr lang="es-AR" sz="1800" b="1" dirty="0" smtClean="0">
              <a:solidFill>
                <a:schemeClr val="tx1"/>
              </a:solidFill>
              <a:latin typeface="Arial" pitchFamily="34" charset="0"/>
              <a:cs typeface="Arial" pitchFamily="34" charset="0"/>
            </a:endParaRPr>
          </a:p>
          <a:p>
            <a:pPr marL="0" lvl="1" algn="just"/>
            <a:r>
              <a:rPr lang="es-AR" sz="1800" dirty="0" smtClean="0">
                <a:solidFill>
                  <a:schemeClr val="tx1"/>
                </a:solidFill>
                <a:latin typeface="Arial" pitchFamily="34" charset="0"/>
                <a:cs typeface="Arial" pitchFamily="34" charset="0"/>
              </a:rPr>
              <a:t>Una vez que se le ha otorgado la CPU a un proceso </a:t>
            </a:r>
            <a:r>
              <a:rPr lang="es-AR" sz="1800" b="1" dirty="0" smtClean="0">
                <a:solidFill>
                  <a:srgbClr val="FF0000"/>
                </a:solidFill>
                <a:latin typeface="Arial" pitchFamily="34" charset="0"/>
                <a:cs typeface="Arial" pitchFamily="34" charset="0"/>
              </a:rPr>
              <a:t>NO</a:t>
            </a:r>
            <a:r>
              <a:rPr lang="es-AR" sz="1800" dirty="0" smtClean="0">
                <a:solidFill>
                  <a:schemeClr val="tx1"/>
                </a:solidFill>
                <a:latin typeface="Arial" pitchFamily="34" charset="0"/>
                <a:cs typeface="Arial" pitchFamily="34" charset="0"/>
              </a:rPr>
              <a:t> le puede ser retirada</a:t>
            </a:r>
          </a:p>
          <a:p>
            <a:pPr marL="0" lvl="1" algn="just"/>
            <a:endParaRPr lang="es-AR" sz="1800" dirty="0" smtClean="0">
              <a:solidFill>
                <a:schemeClr val="tx1"/>
              </a:solidFill>
              <a:latin typeface="Arial" pitchFamily="34" charset="0"/>
              <a:cs typeface="Arial" pitchFamily="34" charset="0"/>
            </a:endParaRPr>
          </a:p>
          <a:p>
            <a:pPr marL="0" lvl="1" algn="just"/>
            <a:r>
              <a:rPr lang="es-AR" sz="1800" dirty="0" smtClean="0">
                <a:solidFill>
                  <a:schemeClr val="tx1"/>
                </a:solidFill>
                <a:latin typeface="Arial" pitchFamily="34" charset="0"/>
                <a:cs typeface="Arial" pitchFamily="34" charset="0"/>
              </a:rPr>
              <a:t>También conocido como </a:t>
            </a:r>
            <a:r>
              <a:rPr lang="es-AR" sz="1800" dirty="0" err="1" smtClean="0">
                <a:solidFill>
                  <a:schemeClr val="tx1"/>
                </a:solidFill>
                <a:latin typeface="Arial" pitchFamily="34" charset="0"/>
                <a:cs typeface="Arial" pitchFamily="34" charset="0"/>
              </a:rPr>
              <a:t>cooperative</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multitasking</a:t>
            </a:r>
            <a:r>
              <a:rPr lang="es-AR" sz="1800" dirty="0" smtClean="0">
                <a:solidFill>
                  <a:schemeClr val="tx1"/>
                </a:solidFill>
                <a:latin typeface="Arial" pitchFamily="34" charset="0"/>
                <a:cs typeface="Arial" pitchFamily="34" charset="0"/>
              </a:rPr>
              <a:t> o sin desalojo. Una vez que el proceso pasa al estado de ejecución, </a:t>
            </a:r>
            <a:r>
              <a:rPr lang="es-AR" sz="1800" u="sng" dirty="0" smtClean="0">
                <a:solidFill>
                  <a:schemeClr val="tx1"/>
                </a:solidFill>
                <a:latin typeface="Arial" pitchFamily="34" charset="0"/>
                <a:cs typeface="Arial" pitchFamily="34" charset="0"/>
              </a:rPr>
              <a:t>continúa ejecutando hasta que termina </a:t>
            </a:r>
            <a:r>
              <a:rPr lang="es-ES" sz="1800" dirty="0" smtClean="0">
                <a:solidFill>
                  <a:schemeClr val="tx1"/>
                </a:solidFill>
                <a:latin typeface="Arial" pitchFamily="34" charset="0"/>
                <a:cs typeface="Arial" pitchFamily="34" charset="0"/>
              </a:rPr>
              <a:t>pero sí se bloquea automáticamente al solicitar E/S (ya que la CPU no puede esperar)</a:t>
            </a:r>
            <a:r>
              <a:rPr lang="es-AR" sz="1800" dirty="0" smtClean="0">
                <a:solidFill>
                  <a:schemeClr val="tx1"/>
                </a:solidFill>
                <a:latin typeface="Arial" pitchFamily="34" charset="0"/>
                <a:cs typeface="Arial" pitchFamily="34" charset="0"/>
              </a:rPr>
              <a:t> o al solicitar algún servicio del sistema. Esta política de ejecución para terminación fue implementada en los primeros sistemas de lote (</a:t>
            </a:r>
            <a:r>
              <a:rPr lang="es-AR" sz="1800" dirty="0" err="1" smtClean="0">
                <a:solidFill>
                  <a:schemeClr val="tx1"/>
                </a:solidFill>
                <a:latin typeface="Arial" pitchFamily="34" charset="0"/>
                <a:cs typeface="Arial" pitchFamily="34" charset="0"/>
              </a:rPr>
              <a:t>batch</a:t>
            </a:r>
            <a:r>
              <a:rPr lang="es-AR" sz="1800" dirty="0" smtClean="0">
                <a:solidFill>
                  <a:schemeClr val="tx1"/>
                </a:solidFill>
                <a:latin typeface="Arial" pitchFamily="34" charset="0"/>
                <a:cs typeface="Arial" pitchFamily="34" charset="0"/>
              </a:rPr>
              <a:t>). </a:t>
            </a:r>
          </a:p>
          <a:p>
            <a:pPr marL="0" lvl="1" algn="just"/>
            <a:endParaRPr lang="es-AR" sz="1800" dirty="0" smtClean="0">
              <a:solidFill>
                <a:schemeClr val="tx1"/>
              </a:solidFill>
              <a:latin typeface="Arial" pitchFamily="34" charset="0"/>
              <a:cs typeface="Arial" pitchFamily="34" charset="0"/>
            </a:endParaRPr>
          </a:p>
          <a:p>
            <a:pPr marL="0" lvl="1" algn="just"/>
            <a:r>
              <a:rPr lang="es-AR" sz="1800" u="sng" dirty="0" smtClean="0">
                <a:solidFill>
                  <a:schemeClr val="tx1"/>
                </a:solidFill>
                <a:latin typeface="Arial" pitchFamily="34" charset="0"/>
                <a:cs typeface="Arial" pitchFamily="34" charset="0"/>
              </a:rPr>
              <a:t>Características: </a:t>
            </a:r>
          </a:p>
          <a:p>
            <a:pPr marL="174625" lvl="1" indent="-174625" algn="just">
              <a:buFont typeface="Arial" pitchFamily="34" charset="0"/>
              <a:buChar char="•"/>
            </a:pPr>
            <a:r>
              <a:rPr lang="es-AR" sz="1800" dirty="0" smtClean="0">
                <a:solidFill>
                  <a:schemeClr val="tx1"/>
                </a:solidFill>
                <a:latin typeface="Arial" pitchFamily="34" charset="0"/>
                <a:cs typeface="Arial" pitchFamily="34" charset="0"/>
              </a:rPr>
              <a:t>Significa que los trabajos “largos” hacen esperar a los trabajos “cortos”.</a:t>
            </a:r>
          </a:p>
          <a:p>
            <a:pPr marL="174625" lvl="1" indent="-174625" algn="just">
              <a:buFont typeface="Arial" pitchFamily="34" charset="0"/>
              <a:buChar char="•"/>
            </a:pPr>
            <a:r>
              <a:rPr lang="es-AR" sz="1800" dirty="0" smtClean="0">
                <a:solidFill>
                  <a:schemeClr val="tx1"/>
                </a:solidFill>
                <a:latin typeface="Arial" pitchFamily="34" charset="0"/>
                <a:cs typeface="Arial" pitchFamily="34" charset="0"/>
              </a:rPr>
              <a:t>Logra más equidad en el tratamiento de los procesos.</a:t>
            </a:r>
          </a:p>
          <a:p>
            <a:pPr marL="174625" lvl="1" indent="-174625" algn="just">
              <a:buFont typeface="Arial" pitchFamily="34" charset="0"/>
              <a:buChar char="•"/>
            </a:pPr>
            <a:r>
              <a:rPr lang="es-AR" sz="1800" dirty="0" smtClean="0">
                <a:solidFill>
                  <a:schemeClr val="tx1"/>
                </a:solidFill>
                <a:latin typeface="Arial" pitchFamily="34" charset="0"/>
                <a:cs typeface="Arial" pitchFamily="34" charset="0"/>
              </a:rPr>
              <a:t>Logra hacer más predecibles los tiempos de respuesta puesto que los trabajos nuevos de prioridad alta no pueden desplazar a los trabajos en espera.</a:t>
            </a:r>
          </a:p>
          <a:p>
            <a:pPr marL="174625" lvl="1" indent="-174625" algn="just">
              <a:buFont typeface="Arial" pitchFamily="34" charset="0"/>
              <a:buChar char="•"/>
            </a:pPr>
            <a:endParaRPr lang="es-AR" sz="1800" dirty="0" smtClean="0">
              <a:solidFill>
                <a:schemeClr val="tx1"/>
              </a:solidFill>
              <a:latin typeface="Arial" pitchFamily="34" charset="0"/>
              <a:cs typeface="Arial" pitchFamily="34" charset="0"/>
            </a:endParaRPr>
          </a:p>
          <a:p>
            <a:pPr marL="0" lvl="1" algn="just"/>
            <a:r>
              <a:rPr lang="es-AR" sz="1800" dirty="0" smtClean="0">
                <a:solidFill>
                  <a:schemeClr val="tx1"/>
                </a:solidFill>
                <a:latin typeface="Arial" pitchFamily="34" charset="0"/>
                <a:cs typeface="Arial" pitchFamily="34" charset="0"/>
              </a:rPr>
              <a:t>Se utiliza generalmente en procesos por lotes (</a:t>
            </a:r>
            <a:r>
              <a:rPr lang="es-AR" sz="1800" dirty="0" err="1" smtClean="0">
                <a:solidFill>
                  <a:schemeClr val="tx1"/>
                </a:solidFill>
                <a:latin typeface="Arial" pitchFamily="34" charset="0"/>
                <a:cs typeface="Arial" pitchFamily="34" charset="0"/>
              </a:rPr>
              <a:t>batch</a:t>
            </a:r>
            <a:r>
              <a:rPr lang="es-AR" sz="1800" dirty="0" smtClean="0">
                <a:solidFill>
                  <a:schemeClr val="tx1"/>
                </a:solidFill>
                <a:latin typeface="Arial" pitchFamily="34" charset="0"/>
                <a:cs typeface="Arial" pitchFamily="34" charset="0"/>
              </a:rPr>
              <a:t>) (planificación a largo plazo)   como  por ej., inventarios, cálculo de nóminas, impresión de listados, etc. Si se llega a utilizar </a:t>
            </a:r>
            <a:r>
              <a:rPr lang="es-AR" sz="1800" dirty="0" err="1" smtClean="0">
                <a:solidFill>
                  <a:schemeClr val="tx1"/>
                </a:solidFill>
                <a:latin typeface="Arial" pitchFamily="34" charset="0"/>
                <a:cs typeface="Arial" pitchFamily="34" charset="0"/>
              </a:rPr>
              <a:t>apropiativa</a:t>
            </a:r>
            <a:r>
              <a:rPr lang="es-AR" sz="1800" dirty="0" smtClean="0">
                <a:solidFill>
                  <a:schemeClr val="tx1"/>
                </a:solidFill>
                <a:latin typeface="Arial" pitchFamily="34" charset="0"/>
                <a:cs typeface="Arial" pitchFamily="34" charset="0"/>
              </a:rPr>
              <a:t>, es con un quantum muy largo y mayormente decide el orden de los trabajos</a:t>
            </a:r>
          </a:p>
          <a:p>
            <a:pPr marL="174625" lvl="1" indent="-174625" algn="just"/>
            <a:endParaRPr lang="es-AR" sz="18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Rectángulo"/>
          <p:cNvSpPr/>
          <p:nvPr/>
        </p:nvSpPr>
        <p:spPr>
          <a:xfrm>
            <a:off x="9144000" y="0"/>
            <a:ext cx="4572000" cy="5632311"/>
          </a:xfrm>
          <a:prstGeom prst="rect">
            <a:avLst/>
          </a:prstGeom>
          <a:solidFill>
            <a:schemeClr val="bg1"/>
          </a:solidFill>
        </p:spPr>
        <p:txBody>
          <a:bodyPr>
            <a:spAutoFit/>
          </a:bodyPr>
          <a:lstStyle/>
          <a:p>
            <a:pPr algn="just"/>
            <a:r>
              <a:rPr lang="es-ES" sz="1200" b="1" dirty="0" smtClean="0">
                <a:solidFill>
                  <a:schemeClr val="tx1"/>
                </a:solidFill>
                <a:latin typeface="Arial" pitchFamily="34" charset="0"/>
                <a:cs typeface="Arial" pitchFamily="34" charset="0"/>
              </a:rPr>
              <a:t>Explicación detallada</a:t>
            </a:r>
          </a:p>
          <a:p>
            <a:pPr algn="just"/>
            <a:r>
              <a:rPr lang="es-ES" sz="1200" b="1" dirty="0" smtClean="0">
                <a:solidFill>
                  <a:schemeClr val="tx1"/>
                </a:solidFill>
                <a:latin typeface="Arial" pitchFamily="34" charset="0"/>
                <a:cs typeface="Arial" pitchFamily="34" charset="0"/>
              </a:rPr>
              <a:t>Comportamiento en planificación no </a:t>
            </a:r>
            <a:r>
              <a:rPr lang="es-ES" sz="1200" b="1" dirty="0" err="1" smtClean="0">
                <a:solidFill>
                  <a:schemeClr val="tx1"/>
                </a:solidFill>
                <a:latin typeface="Arial" pitchFamily="34" charset="0"/>
                <a:cs typeface="Arial" pitchFamily="34" charset="0"/>
              </a:rPr>
              <a:t>apropiativa</a:t>
            </a:r>
            <a:r>
              <a:rPr lang="es-ES" sz="1200" dirty="0" smtClean="0">
                <a:solidFill>
                  <a:schemeClr val="tx1"/>
                </a:solidFill>
                <a:latin typeface="Arial" pitchFamily="34" charset="0"/>
                <a:cs typeface="Arial" pitchFamily="34" charset="0"/>
              </a:rPr>
              <a:t>:</a:t>
            </a:r>
          </a:p>
          <a:p>
            <a:pPr algn="just"/>
            <a:r>
              <a:rPr lang="es-ES" sz="1200" dirty="0" smtClean="0">
                <a:solidFill>
                  <a:schemeClr val="tx1"/>
                </a:solidFill>
                <a:latin typeface="Arial" pitchFamily="34" charset="0"/>
                <a:cs typeface="Arial" pitchFamily="34" charset="0"/>
              </a:rPr>
              <a:t>  Un proceso en ejecución </a:t>
            </a:r>
            <a:r>
              <a:rPr lang="es-ES" sz="1200" b="1" dirty="0" smtClean="0">
                <a:solidFill>
                  <a:schemeClr val="tx1"/>
                </a:solidFill>
                <a:latin typeface="Arial" pitchFamily="34" charset="0"/>
                <a:cs typeface="Arial" pitchFamily="34" charset="0"/>
              </a:rPr>
              <a:t>conserva la CPU</a:t>
            </a:r>
            <a:r>
              <a:rPr lang="es-ES" sz="1200" dirty="0" smtClean="0">
                <a:solidFill>
                  <a:schemeClr val="tx1"/>
                </a:solidFill>
                <a:latin typeface="Arial" pitchFamily="34" charset="0"/>
                <a:cs typeface="Arial" pitchFamily="34" charset="0"/>
              </a:rPr>
              <a:t> hasta que:  </a:t>
            </a:r>
          </a:p>
          <a:p>
            <a:pPr algn="just"/>
            <a:r>
              <a:rPr lang="es-ES" sz="1200" dirty="0" smtClean="0">
                <a:solidFill>
                  <a:schemeClr val="tx1"/>
                </a:solidFill>
                <a:latin typeface="Arial" pitchFamily="34" charset="0"/>
                <a:cs typeface="Arial" pitchFamily="34" charset="0"/>
              </a:rPr>
              <a:t>       Termina por sí mismo.  </a:t>
            </a:r>
          </a:p>
          <a:p>
            <a:pPr algn="just"/>
            <a:r>
              <a:rPr lang="es-ES" sz="1200" dirty="0" smtClean="0">
                <a:solidFill>
                  <a:schemeClr val="tx1"/>
                </a:solidFill>
                <a:latin typeface="Arial" pitchFamily="34" charset="0"/>
                <a:cs typeface="Arial" pitchFamily="34" charset="0"/>
              </a:rPr>
              <a:t>       Realiza una llamada al sistema (como E/S).</a:t>
            </a:r>
          </a:p>
          <a:p>
            <a:pPr algn="just"/>
            <a:r>
              <a:rPr lang="es-ES" sz="1200" b="1" dirty="0" smtClean="0">
                <a:solidFill>
                  <a:schemeClr val="tx1"/>
                </a:solidFill>
                <a:latin typeface="Arial" pitchFamily="34" charset="0"/>
                <a:cs typeface="Arial" pitchFamily="34" charset="0"/>
              </a:rPr>
              <a:t>       Cede explícitamente</a:t>
            </a:r>
            <a:r>
              <a:rPr lang="es-ES" sz="1200" dirty="0" smtClean="0">
                <a:solidFill>
                  <a:schemeClr val="tx1"/>
                </a:solidFill>
                <a:latin typeface="Arial" pitchFamily="34" charset="0"/>
                <a:cs typeface="Arial" pitchFamily="34" charset="0"/>
              </a:rPr>
              <a:t> el control (ej.: llamando a </a:t>
            </a:r>
            <a:r>
              <a:rPr lang="es-ES" sz="1200" dirty="0" err="1" smtClean="0">
                <a:solidFill>
                  <a:schemeClr val="tx1"/>
                </a:solidFill>
                <a:latin typeface="Arial" pitchFamily="34" charset="0"/>
                <a:cs typeface="Arial" pitchFamily="34" charset="0"/>
              </a:rPr>
              <a:t>yield</a:t>
            </a:r>
            <a:r>
              <a:rPr lang="es-ES" sz="1200" dirty="0" smtClean="0">
                <a:solidFill>
                  <a:schemeClr val="tx1"/>
                </a:solidFill>
                <a:latin typeface="Arial" pitchFamily="34" charset="0"/>
                <a:cs typeface="Arial" pitchFamily="34" charset="0"/>
              </a:rPr>
              <a:t>()).</a:t>
            </a:r>
          </a:p>
          <a:p>
            <a:pPr algn="just"/>
            <a:r>
              <a:rPr lang="es-ES" sz="1200" dirty="0" smtClean="0">
                <a:solidFill>
                  <a:schemeClr val="tx1"/>
                </a:solidFill>
                <a:latin typeface="Arial" pitchFamily="34" charset="0"/>
                <a:cs typeface="Arial" pitchFamily="34" charset="0"/>
              </a:rPr>
              <a:t>  Al solicitar E/S (ej.: </a:t>
            </a:r>
            <a:r>
              <a:rPr lang="es-ES" sz="1200" dirty="0" err="1" smtClean="0">
                <a:solidFill>
                  <a:schemeClr val="tx1"/>
                </a:solidFill>
                <a:latin typeface="Arial" pitchFamily="34" charset="0"/>
                <a:cs typeface="Arial" pitchFamily="34" charset="0"/>
              </a:rPr>
              <a:t>read</a:t>
            </a:r>
            <a:r>
              <a:rPr lang="es-ES" sz="1200" dirty="0" smtClean="0">
                <a:solidFill>
                  <a:schemeClr val="tx1"/>
                </a:solidFill>
                <a:latin typeface="Arial" pitchFamily="34" charset="0"/>
                <a:cs typeface="Arial" pitchFamily="34" charset="0"/>
              </a:rPr>
              <a:t>() de un archivo), el proceso se bloquea porque debe esperar un recurso externo (disco, red, etc.).</a:t>
            </a:r>
          </a:p>
          <a:p>
            <a:pPr algn="l"/>
            <a:endParaRPr lang="es-ES" sz="1200" b="1" dirty="0" smtClean="0">
              <a:solidFill>
                <a:schemeClr val="tx1"/>
              </a:solidFill>
              <a:latin typeface="Arial" pitchFamily="34" charset="0"/>
              <a:cs typeface="Arial" pitchFamily="34" charset="0"/>
            </a:endParaRPr>
          </a:p>
          <a:p>
            <a:pPr algn="l"/>
            <a:r>
              <a:rPr lang="es-ES" sz="1200" b="1" dirty="0" smtClean="0">
                <a:solidFill>
                  <a:schemeClr val="tx1"/>
                </a:solidFill>
                <a:latin typeface="Arial" pitchFamily="34" charset="0"/>
                <a:cs typeface="Arial" pitchFamily="34" charset="0"/>
              </a:rPr>
              <a:t>Transición a "bloqueado"</a:t>
            </a:r>
            <a:r>
              <a:rPr lang="es-ES" sz="1200" dirty="0" smtClean="0">
                <a:solidFill>
                  <a:schemeClr val="tx1"/>
                </a:solidFill>
                <a:latin typeface="Arial" pitchFamily="34" charset="0"/>
                <a:cs typeface="Arial" pitchFamily="34" charset="0"/>
              </a:rPr>
              <a:t>:	</a:t>
            </a:r>
          </a:p>
          <a:p>
            <a:pPr algn="l"/>
            <a:r>
              <a:rPr lang="es-ES" sz="1200" dirty="0" smtClean="0">
                <a:solidFill>
                  <a:schemeClr val="tx1"/>
                </a:solidFill>
                <a:latin typeface="Arial" pitchFamily="34" charset="0"/>
                <a:cs typeface="Arial" pitchFamily="34" charset="0"/>
              </a:rPr>
              <a:t>   El sistema operativo detecta que el proceso debe esperar E/S</a:t>
            </a:r>
          </a:p>
          <a:p>
            <a:pPr algn="l"/>
            <a:r>
              <a:rPr lang="es-ES" sz="1200" dirty="0" smtClean="0">
                <a:solidFill>
                  <a:schemeClr val="tx1"/>
                </a:solidFill>
                <a:latin typeface="Arial" pitchFamily="34" charset="0"/>
                <a:cs typeface="Arial" pitchFamily="34" charset="0"/>
              </a:rPr>
              <a:t>   Lo mueve de </a:t>
            </a:r>
            <a:r>
              <a:rPr lang="es-ES" sz="1200" b="1" dirty="0" smtClean="0">
                <a:solidFill>
                  <a:schemeClr val="tx1"/>
                </a:solidFill>
                <a:latin typeface="Arial" pitchFamily="34" charset="0"/>
                <a:cs typeface="Arial" pitchFamily="34" charset="0"/>
              </a:rPr>
              <a:t>ejecución</a:t>
            </a:r>
            <a:r>
              <a:rPr lang="es-ES" sz="1200" dirty="0" smtClean="0">
                <a:solidFill>
                  <a:schemeClr val="tx1"/>
                </a:solidFill>
                <a:latin typeface="Arial" pitchFamily="34" charset="0"/>
                <a:cs typeface="Arial" pitchFamily="34" charset="0"/>
              </a:rPr>
              <a:t> a la cola de </a:t>
            </a:r>
            <a:r>
              <a:rPr lang="es-ES" sz="1200" b="1" dirty="0" smtClean="0">
                <a:solidFill>
                  <a:schemeClr val="tx1"/>
                </a:solidFill>
                <a:latin typeface="Arial" pitchFamily="34" charset="0"/>
                <a:cs typeface="Arial" pitchFamily="34" charset="0"/>
              </a:rPr>
              <a:t>bloqueados</a:t>
            </a:r>
            <a:r>
              <a:rPr lang="es-ES" sz="1200" dirty="0" smtClean="0">
                <a:solidFill>
                  <a:schemeClr val="tx1"/>
                </a:solidFill>
                <a:latin typeface="Arial" pitchFamily="34" charset="0"/>
                <a:cs typeface="Arial" pitchFamily="34" charset="0"/>
              </a:rPr>
              <a:t>.</a:t>
            </a:r>
          </a:p>
          <a:p>
            <a:pPr algn="l"/>
            <a:r>
              <a:rPr lang="es-ES" sz="1200" b="1" dirty="0" smtClean="0">
                <a:solidFill>
                  <a:schemeClr val="tx1"/>
                </a:solidFill>
                <a:latin typeface="Arial" pitchFamily="34" charset="0"/>
                <a:cs typeface="Arial" pitchFamily="34" charset="0"/>
              </a:rPr>
              <a:t>   La CPU se asigna a otro proceso</a:t>
            </a:r>
            <a:r>
              <a:rPr lang="es-ES" sz="1200" dirty="0" smtClean="0">
                <a:solidFill>
                  <a:schemeClr val="tx1"/>
                </a:solidFill>
                <a:latin typeface="Arial" pitchFamily="34" charset="0"/>
                <a:cs typeface="Arial" pitchFamily="34" charset="0"/>
              </a:rPr>
              <a:t> (si hay alguno listo).</a:t>
            </a:r>
          </a:p>
          <a:p>
            <a:pPr algn="l"/>
            <a:endParaRPr lang="es-ES" sz="1200" b="1" dirty="0" smtClean="0">
              <a:solidFill>
                <a:schemeClr val="tx1"/>
              </a:solidFill>
              <a:latin typeface="Arial" pitchFamily="34" charset="0"/>
              <a:cs typeface="Arial" pitchFamily="34" charset="0"/>
            </a:endParaRPr>
          </a:p>
          <a:p>
            <a:pPr algn="l"/>
            <a:r>
              <a:rPr lang="es-ES" sz="1200" b="1" dirty="0" smtClean="0">
                <a:solidFill>
                  <a:schemeClr val="tx1"/>
                </a:solidFill>
                <a:latin typeface="Arial" pitchFamily="34" charset="0"/>
                <a:cs typeface="Arial" pitchFamily="34" charset="0"/>
              </a:rPr>
              <a:t>¿Qué pasa cuando la E/S termina?</a:t>
            </a:r>
            <a:r>
              <a:rPr lang="es-ES" sz="1200" dirty="0" smtClean="0">
                <a:solidFill>
                  <a:schemeClr val="tx1"/>
                </a:solidFill>
                <a:latin typeface="Arial" pitchFamily="34" charset="0"/>
                <a:cs typeface="Arial" pitchFamily="34" charset="0"/>
              </a:rPr>
              <a:t>:</a:t>
            </a:r>
          </a:p>
          <a:p>
            <a:pPr algn="l"/>
            <a:r>
              <a:rPr lang="es-ES" sz="1200" dirty="0" smtClean="0">
                <a:solidFill>
                  <a:schemeClr val="tx1"/>
                </a:solidFill>
                <a:latin typeface="Arial" pitchFamily="34" charset="0"/>
                <a:cs typeface="Arial" pitchFamily="34" charset="0"/>
              </a:rPr>
              <a:t>El hardware genera una </a:t>
            </a:r>
            <a:r>
              <a:rPr lang="es-ES" sz="1200" b="1" dirty="0" smtClean="0">
                <a:solidFill>
                  <a:schemeClr val="tx1"/>
                </a:solidFill>
                <a:latin typeface="Arial" pitchFamily="34" charset="0"/>
                <a:cs typeface="Arial" pitchFamily="34" charset="0"/>
              </a:rPr>
              <a:t>interrupción</a:t>
            </a:r>
            <a:r>
              <a:rPr lang="es-ES" sz="1200" dirty="0" smtClean="0">
                <a:solidFill>
                  <a:schemeClr val="tx1"/>
                </a:solidFill>
                <a:latin typeface="Arial" pitchFamily="34" charset="0"/>
                <a:cs typeface="Arial" pitchFamily="34" charset="0"/>
              </a:rPr>
              <a:t>.</a:t>
            </a:r>
          </a:p>
          <a:p>
            <a:pPr algn="l"/>
            <a:r>
              <a:rPr lang="es-ES" sz="1200" dirty="0" smtClean="0">
                <a:solidFill>
                  <a:schemeClr val="tx1"/>
                </a:solidFill>
                <a:latin typeface="Arial" pitchFamily="34" charset="0"/>
                <a:cs typeface="Arial" pitchFamily="34" charset="0"/>
              </a:rPr>
              <a:t>El sistema operativo marca el proceso como </a:t>
            </a:r>
            <a:r>
              <a:rPr lang="es-ES" sz="1200" b="1" dirty="0" smtClean="0">
                <a:solidFill>
                  <a:schemeClr val="tx1"/>
                </a:solidFill>
                <a:latin typeface="Arial" pitchFamily="34" charset="0"/>
                <a:cs typeface="Arial" pitchFamily="34" charset="0"/>
              </a:rPr>
              <a:t>listo</a:t>
            </a:r>
            <a:r>
              <a:rPr lang="es-ES" sz="1200" dirty="0" smtClean="0">
                <a:solidFill>
                  <a:schemeClr val="tx1"/>
                </a:solidFill>
                <a:latin typeface="Arial" pitchFamily="34" charset="0"/>
                <a:cs typeface="Arial" pitchFamily="34" charset="0"/>
              </a:rPr>
              <a:t> y lo reubica en la cola de planificación.</a:t>
            </a:r>
          </a:p>
          <a:p>
            <a:pPr algn="l"/>
            <a:r>
              <a:rPr lang="es-ES" sz="1200" dirty="0" smtClean="0">
                <a:solidFill>
                  <a:schemeClr val="tx1"/>
                </a:solidFill>
                <a:latin typeface="Arial" pitchFamily="34" charset="0"/>
                <a:cs typeface="Arial" pitchFamily="34" charset="0"/>
              </a:rPr>
              <a:t>En sistemas no </a:t>
            </a:r>
            <a:r>
              <a:rPr lang="es-ES" sz="1200" dirty="0" err="1" smtClean="0">
                <a:solidFill>
                  <a:schemeClr val="tx1"/>
                </a:solidFill>
                <a:latin typeface="Arial" pitchFamily="34" charset="0"/>
                <a:cs typeface="Arial" pitchFamily="34" charset="0"/>
              </a:rPr>
              <a:t>apropiativos</a:t>
            </a:r>
            <a:r>
              <a:rPr lang="es-ES" sz="1200" dirty="0" smtClean="0">
                <a:solidFill>
                  <a:schemeClr val="tx1"/>
                </a:solidFill>
                <a:latin typeface="Arial" pitchFamily="34" charset="0"/>
                <a:cs typeface="Arial" pitchFamily="34" charset="0"/>
              </a:rPr>
              <a:t>, el proceso </a:t>
            </a:r>
            <a:r>
              <a:rPr lang="es-ES" sz="1200" b="1" dirty="0" smtClean="0">
                <a:solidFill>
                  <a:schemeClr val="tx1"/>
                </a:solidFill>
                <a:latin typeface="Arial" pitchFamily="34" charset="0"/>
                <a:cs typeface="Arial" pitchFamily="34" charset="0"/>
              </a:rPr>
              <a:t>no recupera la CPU inmediatamente</a:t>
            </a:r>
            <a:r>
              <a:rPr lang="es-ES" sz="1200" dirty="0" smtClean="0">
                <a:solidFill>
                  <a:schemeClr val="tx1"/>
                </a:solidFill>
                <a:latin typeface="Arial" pitchFamily="34" charset="0"/>
                <a:cs typeface="Arial" pitchFamily="34" charset="0"/>
              </a:rPr>
              <a:t>; esperará hasta que el proceso actual en ejecución la libere.</a:t>
            </a:r>
          </a:p>
          <a:p>
            <a:pPr algn="l"/>
            <a:endParaRPr lang="es-ES" sz="1200" b="1" dirty="0" smtClean="0">
              <a:solidFill>
                <a:schemeClr val="tx1"/>
              </a:solidFill>
              <a:latin typeface="Arial" pitchFamily="34" charset="0"/>
              <a:cs typeface="Arial" pitchFamily="34" charset="0"/>
            </a:endParaRPr>
          </a:p>
          <a:p>
            <a:pPr algn="l"/>
            <a:r>
              <a:rPr lang="es-ES" sz="1200" b="1" dirty="0" smtClean="0">
                <a:solidFill>
                  <a:schemeClr val="tx1"/>
                </a:solidFill>
                <a:latin typeface="Arial" pitchFamily="34" charset="0"/>
                <a:cs typeface="Arial" pitchFamily="34" charset="0"/>
              </a:rPr>
              <a:t>Ejemplo práctico</a:t>
            </a:r>
          </a:p>
          <a:p>
            <a:pPr algn="l"/>
            <a:r>
              <a:rPr lang="es-ES" sz="1200" b="1" dirty="0" smtClean="0">
                <a:solidFill>
                  <a:schemeClr val="tx1"/>
                </a:solidFill>
                <a:latin typeface="Arial" pitchFamily="34" charset="0"/>
                <a:cs typeface="Arial" pitchFamily="34" charset="0"/>
              </a:rPr>
              <a:t>Proceso A</a:t>
            </a:r>
            <a:r>
              <a:rPr lang="es-ES" sz="1200" dirty="0" smtClean="0">
                <a:solidFill>
                  <a:schemeClr val="tx1"/>
                </a:solidFill>
                <a:latin typeface="Arial" pitchFamily="34" charset="0"/>
                <a:cs typeface="Arial" pitchFamily="34" charset="0"/>
              </a:rPr>
              <a:t> (no </a:t>
            </a:r>
            <a:r>
              <a:rPr lang="es-ES" sz="1200" dirty="0" err="1" smtClean="0">
                <a:solidFill>
                  <a:schemeClr val="tx1"/>
                </a:solidFill>
                <a:latin typeface="Arial" pitchFamily="34" charset="0"/>
                <a:cs typeface="Arial" pitchFamily="34" charset="0"/>
              </a:rPr>
              <a:t>apropiativo</a:t>
            </a:r>
            <a:r>
              <a:rPr lang="es-ES" sz="1200" dirty="0" smtClean="0">
                <a:solidFill>
                  <a:schemeClr val="tx1"/>
                </a:solidFill>
                <a:latin typeface="Arial" pitchFamily="34" charset="0"/>
                <a:cs typeface="Arial" pitchFamily="34" charset="0"/>
              </a:rPr>
              <a:t>):</a:t>
            </a:r>
          </a:p>
          <a:p>
            <a:pPr algn="l"/>
            <a:r>
              <a:rPr lang="es-ES" sz="1200" dirty="0" smtClean="0">
                <a:solidFill>
                  <a:schemeClr val="tx1"/>
                </a:solidFill>
                <a:latin typeface="Arial" pitchFamily="34" charset="0"/>
                <a:cs typeface="Arial" pitchFamily="34" charset="0"/>
              </a:rPr>
              <a:t>Ejecuta cálculos en CPU.</a:t>
            </a:r>
          </a:p>
          <a:p>
            <a:pPr algn="l"/>
            <a:r>
              <a:rPr lang="es-ES" sz="1200" dirty="0" smtClean="0">
                <a:solidFill>
                  <a:schemeClr val="tx1"/>
                </a:solidFill>
                <a:latin typeface="Arial" pitchFamily="34" charset="0"/>
                <a:cs typeface="Arial" pitchFamily="34" charset="0"/>
              </a:rPr>
              <a:t>Solicita leer un archivo del disco → </a:t>
            </a:r>
            <a:r>
              <a:rPr lang="es-ES" sz="1200" b="1" dirty="0" smtClean="0">
                <a:solidFill>
                  <a:schemeClr val="tx1"/>
                </a:solidFill>
                <a:latin typeface="Arial" pitchFamily="34" charset="0"/>
                <a:cs typeface="Arial" pitchFamily="34" charset="0"/>
              </a:rPr>
              <a:t>bloqueado</a:t>
            </a:r>
            <a:r>
              <a:rPr lang="es-ES" sz="1200" dirty="0" smtClean="0">
                <a:solidFill>
                  <a:schemeClr val="tx1"/>
                </a:solidFill>
                <a:latin typeface="Arial" pitchFamily="34" charset="0"/>
                <a:cs typeface="Arial" pitchFamily="34" charset="0"/>
              </a:rPr>
              <a:t>.</a:t>
            </a:r>
          </a:p>
          <a:p>
            <a:pPr algn="l"/>
            <a:r>
              <a:rPr lang="es-ES" sz="1200" dirty="0" smtClean="0">
                <a:solidFill>
                  <a:schemeClr val="tx1"/>
                </a:solidFill>
                <a:latin typeface="Arial" pitchFamily="34" charset="0"/>
                <a:cs typeface="Arial" pitchFamily="34" charset="0"/>
              </a:rPr>
              <a:t>El sistema operativo asigna la CPU al </a:t>
            </a:r>
            <a:r>
              <a:rPr lang="es-ES" sz="1200" b="1" dirty="0" smtClean="0">
                <a:solidFill>
                  <a:schemeClr val="tx1"/>
                </a:solidFill>
                <a:latin typeface="Arial" pitchFamily="34" charset="0"/>
                <a:cs typeface="Arial" pitchFamily="34" charset="0"/>
              </a:rPr>
              <a:t>Proceso B</a:t>
            </a:r>
            <a:r>
              <a:rPr lang="es-ES" sz="1200" dirty="0" smtClean="0">
                <a:solidFill>
                  <a:schemeClr val="tx1"/>
                </a:solidFill>
                <a:latin typeface="Arial" pitchFamily="34" charset="0"/>
                <a:cs typeface="Arial" pitchFamily="34" charset="0"/>
              </a:rPr>
              <a:t>.</a:t>
            </a:r>
          </a:p>
          <a:p>
            <a:pPr algn="l"/>
            <a:r>
              <a:rPr lang="es-ES" sz="1200" dirty="0" smtClean="0">
                <a:solidFill>
                  <a:schemeClr val="tx1"/>
                </a:solidFill>
                <a:latin typeface="Arial" pitchFamily="34" charset="0"/>
                <a:cs typeface="Arial" pitchFamily="34" charset="0"/>
              </a:rPr>
              <a:t>Cuando el disco termina la lectura, el </a:t>
            </a:r>
            <a:r>
              <a:rPr lang="es-ES" sz="1200" b="1" dirty="0" smtClean="0">
                <a:solidFill>
                  <a:schemeClr val="tx1"/>
                </a:solidFill>
                <a:latin typeface="Arial" pitchFamily="34" charset="0"/>
                <a:cs typeface="Arial" pitchFamily="34" charset="0"/>
              </a:rPr>
              <a:t>Proceso A</a:t>
            </a:r>
            <a:r>
              <a:rPr lang="es-ES" sz="1200" dirty="0" smtClean="0">
                <a:solidFill>
                  <a:schemeClr val="tx1"/>
                </a:solidFill>
                <a:latin typeface="Arial" pitchFamily="34" charset="0"/>
                <a:cs typeface="Arial" pitchFamily="34" charset="0"/>
              </a:rPr>
              <a:t> vuelve a la cola de listos, pero </a:t>
            </a:r>
            <a:r>
              <a:rPr lang="es-ES" sz="1200" b="1" dirty="0" smtClean="0">
                <a:solidFill>
                  <a:schemeClr val="tx1"/>
                </a:solidFill>
                <a:latin typeface="Arial" pitchFamily="34" charset="0"/>
                <a:cs typeface="Arial" pitchFamily="34" charset="0"/>
              </a:rPr>
              <a:t>no interrumpe a B</a:t>
            </a:r>
            <a:r>
              <a:rPr lang="es-ES" sz="1200" dirty="0" smtClean="0">
                <a:solidFill>
                  <a:schemeClr val="tx1"/>
                </a:solidFill>
                <a:latin typeface="Arial" pitchFamily="34" charset="0"/>
                <a:cs typeface="Arial" pitchFamily="34" charset="0"/>
              </a:rPr>
              <a:t> (a menos que B ceda la CPU o se bloquee).</a:t>
            </a:r>
            <a:endParaRPr lang="es-ES" sz="12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5" y="970642"/>
            <a:ext cx="8752114" cy="5909310"/>
          </a:xfrm>
          <a:prstGeom prst="rect">
            <a:avLst/>
          </a:prstGeom>
          <a:noFill/>
        </p:spPr>
        <p:txBody>
          <a:bodyPr wrap="square" rtlCol="0">
            <a:spAutoFit/>
          </a:bodyPr>
          <a:lstStyle/>
          <a:p>
            <a:pPr marL="0" lvl="1" algn="just"/>
            <a:r>
              <a:rPr lang="es-AR" sz="1800" b="1" dirty="0" smtClean="0">
                <a:solidFill>
                  <a:schemeClr val="tx1"/>
                </a:solidFill>
                <a:latin typeface="Arial" pitchFamily="34" charset="0"/>
                <a:cs typeface="Arial" pitchFamily="34" charset="0"/>
              </a:rPr>
              <a:t>Planificación </a:t>
            </a:r>
            <a:r>
              <a:rPr lang="es-AR" sz="1800" b="1" dirty="0" err="1" smtClean="0">
                <a:solidFill>
                  <a:schemeClr val="tx1"/>
                </a:solidFill>
                <a:latin typeface="Arial" pitchFamily="34" charset="0"/>
                <a:cs typeface="Arial" pitchFamily="34" charset="0"/>
              </a:rPr>
              <a:t>Apropiativa</a:t>
            </a:r>
            <a:r>
              <a:rPr lang="es-AR" sz="1800" b="1" dirty="0" smtClean="0">
                <a:solidFill>
                  <a:schemeClr val="tx1"/>
                </a:solidFill>
                <a:latin typeface="Arial" pitchFamily="34" charset="0"/>
                <a:cs typeface="Arial" pitchFamily="34" charset="0"/>
              </a:rPr>
              <a:t> (</a:t>
            </a:r>
            <a:r>
              <a:rPr lang="es-AR" sz="1800" b="1" dirty="0" err="1" smtClean="0">
                <a:solidFill>
                  <a:schemeClr val="tx1"/>
                </a:solidFill>
                <a:latin typeface="Arial" pitchFamily="34" charset="0"/>
                <a:cs typeface="Arial" pitchFamily="34" charset="0"/>
              </a:rPr>
              <a:t>preemptive</a:t>
            </a:r>
            <a:r>
              <a:rPr lang="es-AR" sz="1800" b="1" dirty="0" smtClean="0">
                <a:solidFill>
                  <a:schemeClr val="tx1"/>
                </a:solidFill>
                <a:latin typeface="Arial" pitchFamily="34" charset="0"/>
                <a:cs typeface="Arial" pitchFamily="34" charset="0"/>
              </a:rPr>
              <a:t>) (</a:t>
            </a:r>
            <a:r>
              <a:rPr lang="es-AR" sz="1800" b="1" dirty="0" err="1" smtClean="0">
                <a:solidFill>
                  <a:schemeClr val="tx1"/>
                </a:solidFill>
                <a:latin typeface="Arial" pitchFamily="34" charset="0"/>
                <a:cs typeface="Arial" pitchFamily="34" charset="0"/>
              </a:rPr>
              <a:t>expropiativo</a:t>
            </a:r>
            <a:r>
              <a:rPr lang="es-AR" sz="1800" b="1" dirty="0" smtClean="0">
                <a:solidFill>
                  <a:schemeClr val="tx1"/>
                </a:solidFill>
                <a:latin typeface="Arial" pitchFamily="34" charset="0"/>
                <a:cs typeface="Arial" pitchFamily="34" charset="0"/>
              </a:rPr>
              <a:t>): </a:t>
            </a:r>
          </a:p>
          <a:p>
            <a:pPr marL="0" lvl="1" algn="just"/>
            <a:endParaRPr lang="es-AR" sz="1800" dirty="0" smtClean="0">
              <a:solidFill>
                <a:schemeClr val="tx1"/>
              </a:solidFill>
              <a:latin typeface="Arial" pitchFamily="34" charset="0"/>
              <a:cs typeface="Arial" pitchFamily="34" charset="0"/>
            </a:endParaRPr>
          </a:p>
          <a:p>
            <a:pPr marL="0" lvl="1" algn="just"/>
            <a:r>
              <a:rPr lang="es-AR" sz="1800" dirty="0" smtClean="0">
                <a:solidFill>
                  <a:schemeClr val="tx1"/>
                </a:solidFill>
                <a:latin typeface="Arial" pitchFamily="34" charset="0"/>
                <a:cs typeface="Arial" pitchFamily="34" charset="0"/>
              </a:rPr>
              <a:t>Una vez que se le ha otorgado la CPU a un proceso, </a:t>
            </a:r>
            <a:r>
              <a:rPr lang="es-AR" sz="1800" b="1" dirty="0" smtClean="0">
                <a:solidFill>
                  <a:srgbClr val="FF0000"/>
                </a:solidFill>
                <a:latin typeface="Arial" pitchFamily="34" charset="0"/>
                <a:cs typeface="Arial" pitchFamily="34" charset="0"/>
              </a:rPr>
              <a:t>SI</a:t>
            </a:r>
            <a:r>
              <a:rPr lang="es-AR" sz="1800" dirty="0" smtClean="0">
                <a:solidFill>
                  <a:schemeClr val="tx1"/>
                </a:solidFill>
                <a:latin typeface="Arial" pitchFamily="34" charset="0"/>
                <a:cs typeface="Arial" pitchFamily="34" charset="0"/>
              </a:rPr>
              <a:t> puede ser retirada </a:t>
            </a:r>
          </a:p>
          <a:p>
            <a:pPr marL="0" lvl="1" algn="just"/>
            <a:endParaRPr lang="es-AR" sz="1800" dirty="0" smtClean="0">
              <a:solidFill>
                <a:schemeClr val="tx1"/>
              </a:solidFill>
              <a:latin typeface="Arial" pitchFamily="34" charset="0"/>
              <a:cs typeface="Arial" pitchFamily="34" charset="0"/>
            </a:endParaRPr>
          </a:p>
          <a:p>
            <a:pPr marL="0" lvl="1" algn="just"/>
            <a:r>
              <a:rPr lang="es-AR" sz="1800" dirty="0" smtClean="0">
                <a:solidFill>
                  <a:schemeClr val="tx1"/>
                </a:solidFill>
                <a:latin typeface="Arial" pitchFamily="34" charset="0"/>
                <a:cs typeface="Arial" pitchFamily="34" charset="0"/>
              </a:rPr>
              <a:t>Generalmente conocida como política de planificación por torneo. El proceso que se está ejecutando actualmente </a:t>
            </a:r>
            <a:r>
              <a:rPr lang="es-AR" sz="1800" u="sng" dirty="0" smtClean="0">
                <a:solidFill>
                  <a:schemeClr val="tx1"/>
                </a:solidFill>
                <a:latin typeface="Arial" pitchFamily="34" charset="0"/>
                <a:cs typeface="Arial" pitchFamily="34" charset="0"/>
              </a:rPr>
              <a:t>puede ser interrumpido</a:t>
            </a:r>
            <a:r>
              <a:rPr lang="es-AR" sz="1800" dirty="0" smtClean="0">
                <a:solidFill>
                  <a:schemeClr val="tx1"/>
                </a:solidFill>
                <a:latin typeface="Arial" pitchFamily="34" charset="0"/>
                <a:cs typeface="Arial" pitchFamily="34" charset="0"/>
              </a:rPr>
              <a:t> y pasado a la cola de listos por  el sistema operativo. </a:t>
            </a:r>
          </a:p>
          <a:p>
            <a:pPr marL="0" lvl="1" algn="just"/>
            <a:r>
              <a:rPr lang="es-AR" sz="1800" dirty="0" smtClean="0">
                <a:solidFill>
                  <a:schemeClr val="tx1"/>
                </a:solidFill>
                <a:latin typeface="Arial" pitchFamily="34" charset="0"/>
                <a:cs typeface="Arial" pitchFamily="34" charset="0"/>
              </a:rPr>
              <a:t>La decisión de sustituirlos por otro proceso puede llevarse a cabo cuando llega un nuevo proceso, cuando se produce una interrupción que lleva a un proceso bloqueado al estado listo o periódicamente, en función de una interrupción del reloj. </a:t>
            </a:r>
          </a:p>
          <a:p>
            <a:pPr marL="0" lvl="1" algn="just"/>
            <a:endParaRPr lang="es-AR" sz="1800" dirty="0" smtClean="0">
              <a:solidFill>
                <a:schemeClr val="tx1"/>
              </a:solidFill>
              <a:latin typeface="Arial" pitchFamily="34" charset="0"/>
              <a:cs typeface="Arial" pitchFamily="34" charset="0"/>
            </a:endParaRPr>
          </a:p>
          <a:p>
            <a:pPr marL="0" lvl="1" algn="just"/>
            <a:r>
              <a:rPr lang="es-AR" sz="1800" u="sng" dirty="0" smtClean="0">
                <a:solidFill>
                  <a:schemeClr val="tx1"/>
                </a:solidFill>
                <a:latin typeface="Arial" pitchFamily="34" charset="0"/>
                <a:cs typeface="Arial" pitchFamily="34" charset="0"/>
              </a:rPr>
              <a:t>Características</a:t>
            </a:r>
            <a:r>
              <a:rPr lang="es-AR" sz="1800" dirty="0" smtClean="0">
                <a:solidFill>
                  <a:schemeClr val="tx1"/>
                </a:solidFill>
                <a:latin typeface="Arial" pitchFamily="34" charset="0"/>
                <a:cs typeface="Arial" pitchFamily="34" charset="0"/>
              </a:rPr>
              <a:t>:</a:t>
            </a:r>
          </a:p>
          <a:p>
            <a:pPr marL="174625" lvl="1" indent="-174625" algn="just">
              <a:buFont typeface="Arial" pitchFamily="34" charset="0"/>
              <a:buChar char="•"/>
            </a:pPr>
            <a:r>
              <a:rPr lang="es-AR" sz="1800" dirty="0" smtClean="0">
                <a:solidFill>
                  <a:schemeClr val="tx1"/>
                </a:solidFill>
                <a:latin typeface="Arial" pitchFamily="34" charset="0"/>
                <a:cs typeface="Arial" pitchFamily="34" charset="0"/>
              </a:rPr>
              <a:t>Es útil cuando los procesos de alta prioridad requieren atención rápida.</a:t>
            </a:r>
          </a:p>
          <a:p>
            <a:pPr marL="174625" lvl="1" indent="-174625" algn="just">
              <a:buFont typeface="Arial" pitchFamily="34" charset="0"/>
              <a:buChar char="•"/>
            </a:pPr>
            <a:r>
              <a:rPr lang="es-AR" sz="1800" dirty="0" smtClean="0">
                <a:solidFill>
                  <a:schemeClr val="tx1"/>
                </a:solidFill>
                <a:latin typeface="Arial" pitchFamily="34" charset="0"/>
                <a:cs typeface="Arial" pitchFamily="34" charset="0"/>
              </a:rPr>
              <a:t>Es importante para garantizar buenos tiempos de respuesta en sistemas interactivos de tiempo compartido.</a:t>
            </a:r>
          </a:p>
          <a:p>
            <a:pPr marL="174625" lvl="1" indent="-174625" algn="just">
              <a:buFont typeface="Arial" pitchFamily="34" charset="0"/>
              <a:buChar char="•"/>
            </a:pPr>
            <a:r>
              <a:rPr lang="es-AR" sz="1800" dirty="0" smtClean="0">
                <a:solidFill>
                  <a:schemeClr val="tx1"/>
                </a:solidFill>
                <a:latin typeface="Arial" pitchFamily="34" charset="0"/>
                <a:cs typeface="Arial" pitchFamily="34" charset="0"/>
              </a:rPr>
              <a:t>Tiene su costo en recursos, ya que el intercambio de contexto implica sobrecarga y además requiere mantener muchos procesos en el almacenamiento principal, en espera de la CPU, lo que también implica sobrecarga.</a:t>
            </a:r>
          </a:p>
          <a:p>
            <a:pPr marL="174625" lvl="1" indent="-174625" algn="just">
              <a:buFont typeface="Arial" pitchFamily="34" charset="0"/>
              <a:buChar char="•"/>
            </a:pPr>
            <a:endParaRPr lang="es-AR" sz="1800" dirty="0" smtClean="0">
              <a:solidFill>
                <a:schemeClr val="tx1"/>
              </a:solidFill>
              <a:latin typeface="Arial" pitchFamily="34" charset="0"/>
              <a:cs typeface="Arial" pitchFamily="34" charset="0"/>
            </a:endParaRPr>
          </a:p>
          <a:p>
            <a:pPr marL="0" lvl="1" algn="just"/>
            <a:r>
              <a:rPr lang="es-AR" sz="1800" dirty="0" smtClean="0">
                <a:solidFill>
                  <a:schemeClr val="tx1"/>
                </a:solidFill>
                <a:latin typeface="Arial" pitchFamily="34" charset="0"/>
                <a:cs typeface="Arial" pitchFamily="34" charset="0"/>
              </a:rPr>
              <a:t>Se suele utilizar en entornos interactivos como entornos gráficos, servidores, </a:t>
            </a:r>
            <a:r>
              <a:rPr lang="es-AR" sz="1800" dirty="0" err="1" smtClean="0">
                <a:solidFill>
                  <a:schemeClr val="tx1"/>
                </a:solidFill>
                <a:latin typeface="Arial" pitchFamily="34" charset="0"/>
                <a:cs typeface="Arial" pitchFamily="34" charset="0"/>
              </a:rPr>
              <a:t>etc</a:t>
            </a:r>
            <a:r>
              <a:rPr lang="es-AR" sz="1800" dirty="0" smtClean="0">
                <a:solidFill>
                  <a:schemeClr val="tx1"/>
                </a:solidFill>
                <a:latin typeface="Arial" pitchFamily="34" charset="0"/>
                <a:cs typeface="Arial" pitchFamily="34" charset="0"/>
              </a:rPr>
              <a:t>, en donde se atienden diversos recursos concurrentemente (</a:t>
            </a:r>
            <a:r>
              <a:rPr lang="es-AR" sz="1800" dirty="0" err="1" smtClean="0">
                <a:solidFill>
                  <a:schemeClr val="tx1"/>
                </a:solidFill>
                <a:latin typeface="Arial" pitchFamily="34" charset="0"/>
                <a:cs typeface="Arial" pitchFamily="34" charset="0"/>
              </a:rPr>
              <a:t>planif</a:t>
            </a:r>
            <a:r>
              <a:rPr lang="es-AR" sz="1800" dirty="0" smtClean="0">
                <a:solidFill>
                  <a:schemeClr val="tx1"/>
                </a:solidFill>
                <a:latin typeface="Arial" pitchFamily="34" charset="0"/>
                <a:cs typeface="Arial" pitchFamily="34" charset="0"/>
              </a:rPr>
              <a:t>. a mediano plazo).</a:t>
            </a: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graphicFrame>
        <p:nvGraphicFramePr>
          <p:cNvPr id="7" name="6 Tabla"/>
          <p:cNvGraphicFramePr>
            <a:graphicFrameLocks noGrp="1"/>
          </p:cNvGraphicFramePr>
          <p:nvPr/>
        </p:nvGraphicFramePr>
        <p:xfrm>
          <a:off x="9144000" y="4023360"/>
          <a:ext cx="6096000" cy="2834640"/>
        </p:xfrm>
        <a:graphic>
          <a:graphicData uri="http://schemas.openxmlformats.org/drawingml/2006/table">
            <a:tbl>
              <a:tblPr/>
              <a:tblGrid>
                <a:gridCol w="2032000"/>
                <a:gridCol w="2032000"/>
                <a:gridCol w="2032000"/>
              </a:tblGrid>
              <a:tr h="0">
                <a:tc>
                  <a:txBody>
                    <a:bodyPr/>
                    <a:lstStyle/>
                    <a:p>
                      <a:pPr algn="l"/>
                      <a:r>
                        <a:rPr lang="es-ES" b="1" dirty="0" smtClean="0"/>
                        <a:t>Aspecto</a:t>
                      </a:r>
                      <a:endParaRPr lang="es-ES" b="1" dirty="0"/>
                    </a:p>
                  </a:txBody>
                  <a:tcPr anchor="ctr">
                    <a:lnL>
                      <a:noFill/>
                    </a:lnL>
                    <a:lnR>
                      <a:noFill/>
                    </a:lnR>
                    <a:lnT>
                      <a:noFill/>
                    </a:lnT>
                    <a:lnB>
                      <a:noFill/>
                    </a:lnB>
                    <a:solidFill>
                      <a:schemeClr val="bg1"/>
                    </a:solidFill>
                  </a:tcPr>
                </a:tc>
                <a:tc>
                  <a:txBody>
                    <a:bodyPr/>
                    <a:lstStyle/>
                    <a:p>
                      <a:pPr algn="l"/>
                      <a:r>
                        <a:rPr lang="es-ES" b="1"/>
                        <a:t>No apropiativa</a:t>
                      </a:r>
                    </a:p>
                  </a:txBody>
                  <a:tcPr anchor="ctr">
                    <a:lnL>
                      <a:noFill/>
                    </a:lnL>
                    <a:lnR>
                      <a:noFill/>
                    </a:lnR>
                    <a:lnT>
                      <a:noFill/>
                    </a:lnT>
                    <a:lnB>
                      <a:noFill/>
                    </a:lnB>
                    <a:solidFill>
                      <a:schemeClr val="bg1"/>
                    </a:solidFill>
                  </a:tcPr>
                </a:tc>
                <a:tc>
                  <a:txBody>
                    <a:bodyPr/>
                    <a:lstStyle/>
                    <a:p>
                      <a:pPr algn="l"/>
                      <a:r>
                        <a:rPr lang="es-ES" b="1"/>
                        <a:t>Apropiativa</a:t>
                      </a:r>
                    </a:p>
                  </a:txBody>
                  <a:tcPr anchor="ctr">
                    <a:lnL>
                      <a:noFill/>
                    </a:lnL>
                    <a:lnR>
                      <a:noFill/>
                    </a:lnR>
                    <a:lnT>
                      <a:noFill/>
                    </a:lnT>
                    <a:lnB>
                      <a:noFill/>
                    </a:lnB>
                    <a:solidFill>
                      <a:schemeClr val="bg1"/>
                    </a:solidFill>
                  </a:tcPr>
                </a:tc>
              </a:tr>
              <a:tr h="0">
                <a:tc>
                  <a:txBody>
                    <a:bodyPr/>
                    <a:lstStyle/>
                    <a:p>
                      <a:r>
                        <a:rPr lang="es-ES" b="1"/>
                        <a:t>Liberación por E/S</a:t>
                      </a:r>
                      <a:endParaRPr lang="es-ES"/>
                    </a:p>
                  </a:txBody>
                  <a:tcPr anchor="ctr">
                    <a:lnL>
                      <a:noFill/>
                    </a:lnL>
                    <a:lnR>
                      <a:noFill/>
                    </a:lnR>
                    <a:lnT>
                      <a:noFill/>
                    </a:lnT>
                    <a:lnB>
                      <a:noFill/>
                    </a:lnB>
                    <a:solidFill>
                      <a:schemeClr val="bg1"/>
                    </a:solidFill>
                  </a:tcPr>
                </a:tc>
                <a:tc>
                  <a:txBody>
                    <a:bodyPr/>
                    <a:lstStyle/>
                    <a:p>
                      <a:r>
                        <a:rPr lang="es-ES"/>
                        <a:t>Sí (el proceso se bloquea)</a:t>
                      </a:r>
                    </a:p>
                  </a:txBody>
                  <a:tcPr anchor="ctr">
                    <a:lnL>
                      <a:noFill/>
                    </a:lnL>
                    <a:lnR>
                      <a:noFill/>
                    </a:lnR>
                    <a:lnT>
                      <a:noFill/>
                    </a:lnT>
                    <a:lnB>
                      <a:noFill/>
                    </a:lnB>
                    <a:solidFill>
                      <a:schemeClr val="bg1"/>
                    </a:solidFill>
                  </a:tcPr>
                </a:tc>
                <a:tc>
                  <a:txBody>
                    <a:bodyPr/>
                    <a:lstStyle/>
                    <a:p>
                      <a:r>
                        <a:rPr lang="es-ES"/>
                        <a:t>Sí (el proceso se bloquea)</a:t>
                      </a:r>
                    </a:p>
                  </a:txBody>
                  <a:tcPr anchor="ctr">
                    <a:lnL>
                      <a:noFill/>
                    </a:lnL>
                    <a:lnR>
                      <a:noFill/>
                    </a:lnR>
                    <a:lnT>
                      <a:noFill/>
                    </a:lnT>
                    <a:lnB>
                      <a:noFill/>
                    </a:lnB>
                    <a:solidFill>
                      <a:schemeClr val="bg1"/>
                    </a:solidFill>
                  </a:tcPr>
                </a:tc>
              </a:tr>
              <a:tr h="0">
                <a:tc>
                  <a:txBody>
                    <a:bodyPr/>
                    <a:lstStyle/>
                    <a:p>
                      <a:r>
                        <a:rPr lang="es-ES" b="1"/>
                        <a:t>Interrupción por tiempo</a:t>
                      </a:r>
                      <a:endParaRPr lang="es-ES"/>
                    </a:p>
                  </a:txBody>
                  <a:tcPr anchor="ctr">
                    <a:lnL>
                      <a:noFill/>
                    </a:lnL>
                    <a:lnR>
                      <a:noFill/>
                    </a:lnR>
                    <a:lnT>
                      <a:noFill/>
                    </a:lnT>
                    <a:lnB>
                      <a:noFill/>
                    </a:lnB>
                    <a:solidFill>
                      <a:schemeClr val="bg1"/>
                    </a:solidFill>
                  </a:tcPr>
                </a:tc>
                <a:tc>
                  <a:txBody>
                    <a:bodyPr/>
                    <a:lstStyle/>
                    <a:p>
                      <a:r>
                        <a:rPr lang="es-ES"/>
                        <a:t>No (solo cede al terminar o bloquearse)</a:t>
                      </a:r>
                    </a:p>
                  </a:txBody>
                  <a:tcPr anchor="ctr">
                    <a:lnL>
                      <a:noFill/>
                    </a:lnL>
                    <a:lnR>
                      <a:noFill/>
                    </a:lnR>
                    <a:lnT>
                      <a:noFill/>
                    </a:lnT>
                    <a:lnB>
                      <a:noFill/>
                    </a:lnB>
                    <a:solidFill>
                      <a:schemeClr val="bg1"/>
                    </a:solidFill>
                  </a:tcPr>
                </a:tc>
                <a:tc>
                  <a:txBody>
                    <a:bodyPr/>
                    <a:lstStyle/>
                    <a:p>
                      <a:r>
                        <a:rPr lang="es-ES"/>
                        <a:t>Sí (el SO fuerza el cambio)</a:t>
                      </a:r>
                    </a:p>
                  </a:txBody>
                  <a:tcPr anchor="ctr">
                    <a:lnL>
                      <a:noFill/>
                    </a:lnL>
                    <a:lnR>
                      <a:noFill/>
                    </a:lnR>
                    <a:lnT>
                      <a:noFill/>
                    </a:lnT>
                    <a:lnB>
                      <a:noFill/>
                    </a:lnB>
                    <a:solidFill>
                      <a:schemeClr val="bg1"/>
                    </a:solidFill>
                  </a:tcPr>
                </a:tc>
              </a:tr>
              <a:tr h="0">
                <a:tc>
                  <a:txBody>
                    <a:bodyPr/>
                    <a:lstStyle/>
                    <a:p>
                      <a:r>
                        <a:rPr lang="es-ES" b="1"/>
                        <a:t>Riesgo</a:t>
                      </a:r>
                      <a:endParaRPr lang="es-ES"/>
                    </a:p>
                  </a:txBody>
                  <a:tcPr anchor="ctr">
                    <a:lnL>
                      <a:noFill/>
                    </a:lnL>
                    <a:lnR>
                      <a:noFill/>
                    </a:lnR>
                    <a:lnT>
                      <a:noFill/>
                    </a:lnT>
                    <a:lnB>
                      <a:noFill/>
                    </a:lnB>
                    <a:solidFill>
                      <a:schemeClr val="bg1"/>
                    </a:solidFill>
                  </a:tcPr>
                </a:tc>
                <a:tc>
                  <a:txBody>
                    <a:bodyPr/>
                    <a:lstStyle/>
                    <a:p>
                      <a:r>
                        <a:rPr lang="es-ES"/>
                        <a:t>Inanición si un proceso no cede la CPU</a:t>
                      </a:r>
                    </a:p>
                  </a:txBody>
                  <a:tcPr anchor="ctr">
                    <a:lnL>
                      <a:noFill/>
                    </a:lnL>
                    <a:lnR>
                      <a:noFill/>
                    </a:lnR>
                    <a:lnT>
                      <a:noFill/>
                    </a:lnT>
                    <a:lnB>
                      <a:noFill/>
                    </a:lnB>
                    <a:solidFill>
                      <a:schemeClr val="bg1"/>
                    </a:solidFill>
                  </a:tcPr>
                </a:tc>
                <a:tc>
                  <a:txBody>
                    <a:bodyPr/>
                    <a:lstStyle/>
                    <a:p>
                      <a:r>
                        <a:rPr lang="es-ES" dirty="0"/>
                        <a:t>Más justo, pero con </a:t>
                      </a:r>
                      <a:r>
                        <a:rPr lang="es-ES" dirty="0" err="1"/>
                        <a:t>overhead</a:t>
                      </a:r>
                      <a:r>
                        <a:rPr lang="es-ES" dirty="0"/>
                        <a:t> de cambios</a:t>
                      </a:r>
                    </a:p>
                  </a:txBody>
                  <a:tcPr anchor="ctr">
                    <a:lnL>
                      <a:noFill/>
                    </a:lnL>
                    <a:lnR>
                      <a:noFill/>
                    </a:lnR>
                    <a:lnT>
                      <a:noFill/>
                    </a:lnT>
                    <a:lnB>
                      <a:noFill/>
                    </a:lnB>
                    <a:solidFill>
                      <a:schemeClr val="bg1"/>
                    </a:solidFill>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161925" y="961876"/>
            <a:ext cx="8753475" cy="6478697"/>
          </a:xfrm>
          <a:prstGeom prst="rect">
            <a:avLst/>
          </a:prstGeom>
          <a:noFill/>
        </p:spPr>
        <p:txBody>
          <a:bodyPr wrap="square" rtlCol="0">
            <a:spAutoFit/>
          </a:bodyPr>
          <a:lstStyle/>
          <a:p>
            <a:pPr marL="0" lvl="1" algn="just"/>
            <a:r>
              <a:rPr lang="es-AR" sz="1800" b="1" dirty="0" smtClean="0">
                <a:solidFill>
                  <a:schemeClr val="tx1"/>
                </a:solidFill>
                <a:latin typeface="Arial" pitchFamily="34" charset="0"/>
                <a:cs typeface="Arial" pitchFamily="34" charset="0"/>
              </a:rPr>
              <a:t>Algunas definiciones:</a:t>
            </a:r>
          </a:p>
          <a:p>
            <a:pPr marL="0" lvl="1" algn="just"/>
            <a:endParaRPr lang="es-AR" sz="1800" b="1" dirty="0" smtClean="0">
              <a:solidFill>
                <a:schemeClr val="tx1"/>
              </a:solidFill>
              <a:latin typeface="Arial" pitchFamily="34" charset="0"/>
              <a:cs typeface="Arial" pitchFamily="34" charset="0"/>
            </a:endParaRPr>
          </a:p>
          <a:p>
            <a:pPr marL="0" lvl="1" algn="just">
              <a:spcBef>
                <a:spcPts val="600"/>
              </a:spcBef>
            </a:pPr>
            <a:r>
              <a:rPr lang="es-AR" sz="1800" dirty="0" smtClean="0">
                <a:solidFill>
                  <a:srgbClr val="CC00CC"/>
                </a:solidFill>
                <a:latin typeface="Arial" pitchFamily="34" charset="0"/>
                <a:cs typeface="Arial" pitchFamily="34" charset="0"/>
              </a:rPr>
              <a:t>Mecanismo</a:t>
            </a:r>
            <a:r>
              <a:rPr lang="es-AR" sz="1800" b="1" dirty="0" smtClean="0">
                <a:solidFill>
                  <a:schemeClr val="tx1"/>
                </a:solidFill>
                <a:latin typeface="Arial" pitchFamily="34" charset="0"/>
                <a:cs typeface="Arial" pitchFamily="34" charset="0"/>
              </a:rPr>
              <a:t>:</a:t>
            </a:r>
            <a:r>
              <a:rPr lang="es-AR" sz="1800" dirty="0" smtClean="0">
                <a:solidFill>
                  <a:schemeClr val="tx1"/>
                </a:solidFill>
                <a:latin typeface="Arial" pitchFamily="34" charset="0"/>
                <a:cs typeface="Arial" pitchFamily="34" charset="0"/>
              </a:rPr>
              <a:t> técnica para lograr un resultado</a:t>
            </a:r>
          </a:p>
          <a:p>
            <a:pPr marL="0" lvl="1" algn="just">
              <a:spcBef>
                <a:spcPts val="600"/>
              </a:spcBef>
            </a:pPr>
            <a:r>
              <a:rPr lang="es-AR" sz="1800" dirty="0" smtClean="0">
                <a:solidFill>
                  <a:srgbClr val="CC00CC"/>
                </a:solidFill>
                <a:latin typeface="Arial" pitchFamily="34" charset="0"/>
                <a:cs typeface="Arial" pitchFamily="34" charset="0"/>
              </a:rPr>
              <a:t>Política</a:t>
            </a:r>
            <a:r>
              <a:rPr lang="es-AR" sz="1800" b="1" dirty="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uso particular de mecanismos que satisfaga ciertos criterios (ej. prioridades).</a:t>
            </a:r>
          </a:p>
          <a:p>
            <a:pPr marL="0" lvl="1" algn="just">
              <a:spcBef>
                <a:spcPts val="600"/>
              </a:spcBef>
            </a:pPr>
            <a:r>
              <a:rPr lang="es-AR" sz="1800" dirty="0" smtClean="0">
                <a:solidFill>
                  <a:srgbClr val="CC00CC"/>
                </a:solidFill>
                <a:latin typeface="Arial" pitchFamily="34" charset="0"/>
                <a:cs typeface="Arial" pitchFamily="34" charset="0"/>
              </a:rPr>
              <a:t>Productividad o rendimiento (</a:t>
            </a:r>
            <a:r>
              <a:rPr lang="es-AR" sz="1800" dirty="0" err="1" smtClean="0">
                <a:solidFill>
                  <a:srgbClr val="CC00CC"/>
                </a:solidFill>
                <a:latin typeface="Arial" pitchFamily="34" charset="0"/>
                <a:cs typeface="Arial" pitchFamily="34" charset="0"/>
              </a:rPr>
              <a:t>throughput</a:t>
            </a:r>
            <a:r>
              <a:rPr lang="es-AR" sz="1800" dirty="0" smtClean="0">
                <a:solidFill>
                  <a:srgbClr val="CC00CC"/>
                </a:solidFill>
                <a:latin typeface="Arial" pitchFamily="34" charset="0"/>
                <a:cs typeface="Arial" pitchFamily="34" charset="0"/>
              </a:rPr>
              <a:t>) </a:t>
            </a:r>
            <a:r>
              <a:rPr lang="es-AR" sz="1800" b="1" dirty="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número de trabajos / unidad de tiempo.  Se intenta maximizarlo.</a:t>
            </a:r>
          </a:p>
          <a:p>
            <a:pPr marL="0" lvl="1" algn="just">
              <a:spcBef>
                <a:spcPts val="600"/>
              </a:spcBef>
            </a:pPr>
            <a:r>
              <a:rPr lang="es-AR" sz="1800" dirty="0" smtClean="0">
                <a:solidFill>
                  <a:srgbClr val="CC00CC"/>
                </a:solidFill>
                <a:latin typeface="Arial" pitchFamily="34" charset="0"/>
                <a:cs typeface="Arial" pitchFamily="34" charset="0"/>
              </a:rPr>
              <a:t>Tiempo de paso o de retorno (</a:t>
            </a:r>
            <a:r>
              <a:rPr lang="es-AR" sz="1800" dirty="0" err="1" smtClean="0">
                <a:solidFill>
                  <a:srgbClr val="CC00CC"/>
                </a:solidFill>
                <a:latin typeface="Arial" pitchFamily="34" charset="0"/>
                <a:cs typeface="Arial" pitchFamily="34" charset="0"/>
              </a:rPr>
              <a:t>turnaround</a:t>
            </a:r>
            <a:r>
              <a:rPr lang="es-AR" sz="1800" dirty="0" smtClean="0">
                <a:solidFill>
                  <a:srgbClr val="CC00CC"/>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tiempo transcurrido entre que se lanza un proceso y termina. Se intenta minimizarlo.</a:t>
            </a:r>
          </a:p>
          <a:p>
            <a:pPr marL="0" lvl="1" algn="just">
              <a:spcBef>
                <a:spcPts val="600"/>
              </a:spcBef>
            </a:pPr>
            <a:r>
              <a:rPr lang="es-AR" sz="1800" dirty="0" smtClean="0">
                <a:solidFill>
                  <a:srgbClr val="CC00CC"/>
                </a:solidFill>
                <a:latin typeface="Arial" pitchFamily="34" charset="0"/>
                <a:cs typeface="Arial" pitchFamily="34" charset="0"/>
              </a:rPr>
              <a:t>Capacidad de ejecución</a:t>
            </a:r>
            <a:r>
              <a:rPr lang="es-AR" sz="1800" b="1" dirty="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mantener la CPU ocupada todo el rato.</a:t>
            </a:r>
          </a:p>
          <a:p>
            <a:pPr marL="0" lvl="1" algn="just">
              <a:spcBef>
                <a:spcPts val="600"/>
              </a:spcBef>
            </a:pPr>
            <a:r>
              <a:rPr lang="es-AR" sz="1800" dirty="0" smtClean="0">
                <a:solidFill>
                  <a:srgbClr val="CC00CC"/>
                </a:solidFill>
                <a:latin typeface="Arial" pitchFamily="34" charset="0"/>
                <a:cs typeface="Arial" pitchFamily="34" charset="0"/>
              </a:rPr>
              <a:t>Justicia (</a:t>
            </a:r>
            <a:r>
              <a:rPr lang="es-AR" sz="1800" dirty="0" err="1" smtClean="0">
                <a:solidFill>
                  <a:srgbClr val="CC00CC"/>
                </a:solidFill>
                <a:latin typeface="Arial" pitchFamily="34" charset="0"/>
                <a:cs typeface="Arial" pitchFamily="34" charset="0"/>
              </a:rPr>
              <a:t>fairness</a:t>
            </a:r>
            <a:r>
              <a:rPr lang="es-AR" sz="1800" dirty="0" smtClean="0">
                <a:solidFill>
                  <a:srgbClr val="CC00CC"/>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que el proceso obtenga una porción de CPU  “justa” o razonable.</a:t>
            </a:r>
          </a:p>
          <a:p>
            <a:pPr marL="0" lvl="1" algn="just">
              <a:spcBef>
                <a:spcPts val="600"/>
              </a:spcBef>
            </a:pPr>
            <a:r>
              <a:rPr lang="es-AR" sz="1800" dirty="0" smtClean="0">
                <a:solidFill>
                  <a:srgbClr val="CC00CC"/>
                </a:solidFill>
                <a:latin typeface="Arial" pitchFamily="34" charset="0"/>
                <a:cs typeface="Arial" pitchFamily="34" charset="0"/>
              </a:rPr>
              <a:t>Equilibrio</a:t>
            </a:r>
            <a:r>
              <a:rPr lang="es-AR" sz="1800" dirty="0" smtClean="0">
                <a:solidFill>
                  <a:schemeClr val="tx1"/>
                </a:solidFill>
                <a:latin typeface="Arial" pitchFamily="34" charset="0"/>
                <a:cs typeface="Arial" pitchFamily="34" charset="0"/>
              </a:rPr>
              <a:t>: que todas las partes del sistema estén ocupadas haciendo algo.</a:t>
            </a:r>
          </a:p>
          <a:p>
            <a:pPr marL="0" lvl="1" algn="just">
              <a:spcBef>
                <a:spcPts val="600"/>
              </a:spcBef>
            </a:pPr>
            <a:r>
              <a:rPr lang="es-AR" sz="1800" dirty="0" smtClean="0">
                <a:solidFill>
                  <a:srgbClr val="CC00CC"/>
                </a:solidFill>
                <a:latin typeface="Arial" pitchFamily="34" charset="0"/>
                <a:cs typeface="Arial" pitchFamily="34" charset="0"/>
              </a:rPr>
              <a:t>Tiempo de respuesta: </a:t>
            </a:r>
            <a:r>
              <a:rPr lang="es-AR" sz="1800" dirty="0" smtClean="0">
                <a:solidFill>
                  <a:schemeClr val="tx1"/>
                </a:solidFill>
                <a:latin typeface="Arial" pitchFamily="34" charset="0"/>
                <a:cs typeface="Arial" pitchFamily="34" charset="0"/>
              </a:rPr>
              <a:t>tiempo que transcurre entre que el usuario da una orden y se obtiene alguna respuesta.</a:t>
            </a:r>
          </a:p>
          <a:p>
            <a:pPr marL="0" lvl="1" algn="just">
              <a:spcBef>
                <a:spcPts val="600"/>
              </a:spcBef>
            </a:pPr>
            <a:r>
              <a:rPr lang="es-AR" sz="1800" dirty="0" smtClean="0">
                <a:solidFill>
                  <a:srgbClr val="CC00CC"/>
                </a:solidFill>
                <a:latin typeface="Arial" pitchFamily="34" charset="0"/>
                <a:cs typeface="Arial" pitchFamily="34" charset="0"/>
              </a:rPr>
              <a:t>Proporcionalidad: </a:t>
            </a:r>
            <a:r>
              <a:rPr lang="es-AR" sz="1800" dirty="0" smtClean="0">
                <a:solidFill>
                  <a:schemeClr val="tx1"/>
                </a:solidFill>
                <a:latin typeface="Arial" pitchFamily="34" charset="0"/>
                <a:cs typeface="Arial" pitchFamily="34" charset="0"/>
              </a:rPr>
              <a:t>cumplir expectativas de usuario (tareas sencillas =&gt; poco tiempo de respuesta).</a:t>
            </a:r>
          </a:p>
          <a:p>
            <a:pPr marL="0" lvl="1" algn="just">
              <a:spcBef>
                <a:spcPts val="600"/>
              </a:spcBef>
            </a:pPr>
            <a:r>
              <a:rPr lang="es-AR" sz="1800" dirty="0" smtClean="0">
                <a:solidFill>
                  <a:srgbClr val="CC00CC"/>
                </a:solidFill>
                <a:latin typeface="Arial" pitchFamily="34" charset="0"/>
                <a:cs typeface="Arial" pitchFamily="34" charset="0"/>
              </a:rPr>
              <a:t>Fiabilidad: </a:t>
            </a:r>
            <a:r>
              <a:rPr lang="es-AR" sz="1800" dirty="0" smtClean="0">
                <a:solidFill>
                  <a:schemeClr val="tx1"/>
                </a:solidFill>
                <a:latin typeface="Arial" pitchFamily="34" charset="0"/>
                <a:cs typeface="Arial" pitchFamily="34" charset="0"/>
              </a:rPr>
              <a:t>evitar perder datos; reaccionar en tiempo límite, etc.</a:t>
            </a:r>
          </a:p>
          <a:p>
            <a:pPr marL="0" lvl="1" algn="just">
              <a:spcBef>
                <a:spcPts val="600"/>
              </a:spcBef>
            </a:pPr>
            <a:endParaRPr lang="es-AR" sz="1800" dirty="0" smtClean="0">
              <a:solidFill>
                <a:schemeClr val="tx1"/>
              </a:solidFill>
              <a:latin typeface="Arial" pitchFamily="34" charset="0"/>
              <a:cs typeface="Arial" pitchFamily="34" charset="0"/>
            </a:endParaRPr>
          </a:p>
          <a:p>
            <a:pPr marL="0" lvl="1" algn="just"/>
            <a:endParaRPr lang="es-AR" sz="1800" dirty="0" smtClean="0">
              <a:solidFill>
                <a:schemeClr val="tx1"/>
              </a:solidFill>
              <a:latin typeface="Arial" pitchFamily="34" charset="0"/>
              <a:cs typeface="Arial" pitchFamily="34" charset="0"/>
            </a:endParaRPr>
          </a:p>
          <a:p>
            <a:pPr marL="0" lvl="1" algn="just"/>
            <a:endParaRPr lang="es-AR" sz="18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9277350" y="328722"/>
            <a:ext cx="3494594" cy="2900253"/>
          </a:xfrm>
          <a:prstGeom prst="rect">
            <a:avLst/>
          </a:prstGeom>
          <a:noFill/>
          <a:ln w="9525">
            <a:noFill/>
            <a:miter lim="800000"/>
            <a:headEnd/>
            <a:tailEnd/>
          </a:ln>
          <a:effectLst/>
        </p:spPr>
      </p:pic>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5" y="961117"/>
            <a:ext cx="8405586" cy="5970865"/>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Criterios de planificación</a:t>
            </a:r>
            <a:r>
              <a:rPr lang="es-AR" sz="1600" dirty="0" smtClean="0">
                <a:solidFill>
                  <a:schemeClr val="tx1"/>
                </a:solidFill>
                <a:latin typeface="Arial" pitchFamily="34" charset="0"/>
                <a:cs typeface="Arial" pitchFamily="34" charset="0"/>
              </a:rPr>
              <a:t>:</a:t>
            </a:r>
          </a:p>
          <a:p>
            <a:pPr marL="0" lvl="1" algn="just"/>
            <a:r>
              <a:rPr lang="es-AR" sz="1600" dirty="0" smtClean="0">
                <a:solidFill>
                  <a:schemeClr val="tx1"/>
                </a:solidFill>
                <a:latin typeface="Arial" pitchFamily="34" charset="0"/>
                <a:cs typeface="Arial" pitchFamily="34" charset="0"/>
              </a:rPr>
              <a:t>Hay distintos algoritmos de planificación de CPU los cuales al tener diferentes características pueden favorecer a algunos procesos sobre otros. De acuerdo a los criterios que se utilizasen para comparar unos de otros, puede afectar enormemente en la decisión de cual es el mejor algoritmo. </a:t>
            </a:r>
          </a:p>
          <a:p>
            <a:pPr marL="0" lvl="1" algn="just">
              <a:spcBef>
                <a:spcPts val="600"/>
              </a:spcBef>
            </a:pPr>
            <a:r>
              <a:rPr lang="es-AR" sz="1600" dirty="0" smtClean="0">
                <a:solidFill>
                  <a:schemeClr val="tx1"/>
                </a:solidFill>
                <a:latin typeface="Arial" pitchFamily="34" charset="0"/>
                <a:cs typeface="Arial" pitchFamily="34" charset="0"/>
              </a:rPr>
              <a:t>Algunos de estos criterios son:</a:t>
            </a:r>
          </a:p>
          <a:p>
            <a:pPr marL="174625" lvl="1" indent="-174625" algn="just">
              <a:spcBef>
                <a:spcPts val="600"/>
              </a:spcBef>
              <a:buFont typeface="Arial" pitchFamily="34" charset="0"/>
              <a:buChar char="•"/>
            </a:pPr>
            <a:r>
              <a:rPr lang="es-AR" sz="1600" dirty="0" smtClean="0">
                <a:solidFill>
                  <a:srgbClr val="CC00CC"/>
                </a:solidFill>
                <a:latin typeface="Arial" pitchFamily="34" charset="0"/>
                <a:cs typeface="Arial" pitchFamily="34" charset="0"/>
              </a:rPr>
              <a:t>Utilización de la CPU: </a:t>
            </a:r>
            <a:r>
              <a:rPr lang="es-AR" sz="1600" dirty="0" smtClean="0">
                <a:solidFill>
                  <a:schemeClr val="tx1"/>
                </a:solidFill>
                <a:latin typeface="Arial" pitchFamily="34" charset="0"/>
                <a:cs typeface="Arial" pitchFamily="34" charset="0"/>
              </a:rPr>
              <a:t>es debe tener la CPU tan ocupada como sea posible (por lo general en un sistema real varía entre 40% y 90%)</a:t>
            </a:r>
          </a:p>
          <a:p>
            <a:pPr marL="174625" lvl="1" indent="-174625" algn="just">
              <a:spcBef>
                <a:spcPts val="600"/>
              </a:spcBef>
              <a:buFont typeface="Arial" pitchFamily="34" charset="0"/>
              <a:buChar char="•"/>
            </a:pPr>
            <a:r>
              <a:rPr lang="es-AR" sz="1600" dirty="0" smtClean="0">
                <a:solidFill>
                  <a:srgbClr val="CC00CC"/>
                </a:solidFill>
                <a:latin typeface="Arial" pitchFamily="34" charset="0"/>
                <a:cs typeface="Arial" pitchFamily="34" charset="0"/>
              </a:rPr>
              <a:t>Tasa de procesamiento (</a:t>
            </a:r>
            <a:r>
              <a:rPr lang="es-AR" sz="1600" dirty="0" err="1" smtClean="0">
                <a:solidFill>
                  <a:srgbClr val="CC00CC"/>
                </a:solidFill>
                <a:latin typeface="Arial" pitchFamily="34" charset="0"/>
                <a:cs typeface="Arial" pitchFamily="34" charset="0"/>
              </a:rPr>
              <a:t>Throughput</a:t>
            </a:r>
            <a:r>
              <a:rPr lang="es-AR" sz="1600" dirty="0" smtClean="0">
                <a:solidFill>
                  <a:srgbClr val="CC00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corresponde al número de procesos que se completan por unidad de tiempo (</a:t>
            </a:r>
            <a:r>
              <a:rPr lang="es-AR" sz="1600" dirty="0" err="1" smtClean="0">
                <a:solidFill>
                  <a:schemeClr val="tx1"/>
                </a:solidFill>
                <a:latin typeface="Arial" pitchFamily="34" charset="0"/>
                <a:cs typeface="Arial" pitchFamily="34" charset="0"/>
              </a:rPr>
              <a:t>ej</a:t>
            </a:r>
            <a:r>
              <a:rPr lang="es-AR" sz="1600" dirty="0" smtClean="0">
                <a:solidFill>
                  <a:schemeClr val="tx1"/>
                </a:solidFill>
                <a:latin typeface="Arial" pitchFamily="34" charset="0"/>
                <a:cs typeface="Arial" pitchFamily="34" charset="0"/>
              </a:rPr>
              <a:t> 1 proceso x hora o 10 procesos x </a:t>
            </a:r>
            <a:r>
              <a:rPr lang="es-AR" sz="1600" dirty="0" err="1" smtClean="0">
                <a:solidFill>
                  <a:schemeClr val="tx1"/>
                </a:solidFill>
                <a:latin typeface="Arial" pitchFamily="34" charset="0"/>
                <a:cs typeface="Arial" pitchFamily="34" charset="0"/>
              </a:rPr>
              <a:t>seg</a:t>
            </a:r>
            <a:r>
              <a:rPr lang="es-AR" sz="1600" dirty="0" smtClean="0">
                <a:solidFill>
                  <a:schemeClr val="tx1"/>
                </a:solidFill>
                <a:latin typeface="Arial" pitchFamily="34" charset="0"/>
                <a:cs typeface="Arial" pitchFamily="34" charset="0"/>
              </a:rPr>
              <a:t>)</a:t>
            </a:r>
          </a:p>
          <a:p>
            <a:pPr marL="174625" lvl="1" indent="-174625" algn="just">
              <a:spcBef>
                <a:spcPts val="600"/>
              </a:spcBef>
              <a:buFont typeface="Arial" pitchFamily="34" charset="0"/>
              <a:buChar char="•"/>
            </a:pPr>
            <a:r>
              <a:rPr lang="es-AR" sz="1600" dirty="0" smtClean="0">
                <a:solidFill>
                  <a:srgbClr val="CC00CC"/>
                </a:solidFill>
                <a:latin typeface="Arial" pitchFamily="34" charset="0"/>
                <a:cs typeface="Arial" pitchFamily="34" charset="0"/>
              </a:rPr>
              <a:t>Tiempo de ejecución</a:t>
            </a:r>
            <a:r>
              <a:rPr lang="es-AR" sz="1600" b="1" dirty="0" smtClean="0">
                <a:solidFill>
                  <a:srgbClr val="CC00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es el tiempo en que se da la orden de ejecución hasta que se completa el proceso (tiempo de carga +E/</a:t>
            </a:r>
            <a:r>
              <a:rPr lang="es-AR" sz="1600" dirty="0" err="1" smtClean="0">
                <a:solidFill>
                  <a:schemeClr val="tx1"/>
                </a:solidFill>
                <a:latin typeface="Arial" pitchFamily="34" charset="0"/>
                <a:cs typeface="Arial" pitchFamily="34" charset="0"/>
              </a:rPr>
              <a:t>S+CPU+espera</a:t>
            </a:r>
            <a:r>
              <a:rPr lang="es-AR" sz="1600" dirty="0" smtClean="0">
                <a:solidFill>
                  <a:schemeClr val="tx1"/>
                </a:solidFill>
                <a:latin typeface="Arial" pitchFamily="34" charset="0"/>
                <a:cs typeface="Arial" pitchFamily="34" charset="0"/>
              </a:rPr>
              <a:t>).</a:t>
            </a:r>
          </a:p>
          <a:p>
            <a:pPr marL="174625" lvl="1" indent="-174625" algn="just">
              <a:spcBef>
                <a:spcPts val="600"/>
              </a:spcBef>
              <a:buFont typeface="Arial" pitchFamily="34" charset="0"/>
              <a:buChar char="•"/>
            </a:pPr>
            <a:r>
              <a:rPr lang="es-AR" sz="1600" dirty="0" smtClean="0">
                <a:solidFill>
                  <a:srgbClr val="CC00CC"/>
                </a:solidFill>
                <a:latin typeface="Arial" pitchFamily="34" charset="0"/>
                <a:cs typeface="Arial" pitchFamily="34" charset="0"/>
              </a:rPr>
              <a:t>Tiempo de espera (</a:t>
            </a:r>
            <a:r>
              <a:rPr lang="es-AR" sz="1600" dirty="0" err="1" smtClean="0">
                <a:solidFill>
                  <a:srgbClr val="CC00CC"/>
                </a:solidFill>
                <a:latin typeface="Arial" pitchFamily="34" charset="0"/>
                <a:cs typeface="Arial" pitchFamily="34" charset="0"/>
              </a:rPr>
              <a:t>Waiting</a:t>
            </a:r>
            <a:r>
              <a:rPr lang="es-AR" sz="1600" dirty="0" smtClean="0">
                <a:solidFill>
                  <a:srgbClr val="CC00CC"/>
                </a:solidFill>
                <a:latin typeface="Arial" pitchFamily="34" charset="0"/>
                <a:cs typeface="Arial" pitchFamily="34" charset="0"/>
              </a:rPr>
              <a:t> time): </a:t>
            </a:r>
            <a:r>
              <a:rPr lang="es-AR" sz="1600" dirty="0" smtClean="0">
                <a:solidFill>
                  <a:schemeClr val="tx1"/>
                </a:solidFill>
                <a:latin typeface="Arial" pitchFamily="34" charset="0"/>
                <a:cs typeface="Arial" pitchFamily="34" charset="0"/>
              </a:rPr>
              <a:t>es la suma de tiempos que el proceso estuvo en la cola de procesos listos (o preparados)</a:t>
            </a:r>
          </a:p>
          <a:p>
            <a:pPr marL="174625" lvl="1" indent="-174625" algn="just">
              <a:spcBef>
                <a:spcPts val="600"/>
              </a:spcBef>
              <a:buFont typeface="Arial" pitchFamily="34" charset="0"/>
              <a:buChar char="•"/>
            </a:pPr>
            <a:r>
              <a:rPr lang="es-AR" sz="1600" dirty="0" smtClean="0">
                <a:solidFill>
                  <a:srgbClr val="CC00CC"/>
                </a:solidFill>
                <a:latin typeface="Arial" pitchFamily="34" charset="0"/>
                <a:cs typeface="Arial" pitchFamily="34" charset="0"/>
              </a:rPr>
              <a:t>Tiempo de respuesta (</a:t>
            </a:r>
            <a:r>
              <a:rPr lang="es-AR" sz="1600" dirty="0" err="1" smtClean="0">
                <a:solidFill>
                  <a:srgbClr val="CC00CC"/>
                </a:solidFill>
                <a:latin typeface="Arial" pitchFamily="34" charset="0"/>
                <a:cs typeface="Arial" pitchFamily="34" charset="0"/>
              </a:rPr>
              <a:t>Latency</a:t>
            </a:r>
            <a:r>
              <a:rPr lang="es-AR" sz="1600" dirty="0" smtClean="0">
                <a:solidFill>
                  <a:srgbClr val="CC00CC"/>
                </a:solidFill>
                <a:latin typeface="Arial" pitchFamily="34" charset="0"/>
                <a:cs typeface="Arial" pitchFamily="34" charset="0"/>
              </a:rPr>
              <a:t> / response time): </a:t>
            </a:r>
            <a:r>
              <a:rPr lang="es-AR" sz="1600" dirty="0" smtClean="0">
                <a:solidFill>
                  <a:schemeClr val="tx1"/>
                </a:solidFill>
                <a:latin typeface="Arial" pitchFamily="34" charset="0"/>
                <a:cs typeface="Arial" pitchFamily="34" charset="0"/>
              </a:rPr>
              <a:t>es el tiempo que el proceso </a:t>
            </a:r>
            <a:r>
              <a:rPr lang="es-AR" sz="1600" u="sng" dirty="0" smtClean="0">
                <a:solidFill>
                  <a:schemeClr val="tx1"/>
                </a:solidFill>
                <a:latin typeface="Arial" pitchFamily="34" charset="0"/>
                <a:cs typeface="Arial" pitchFamily="34" charset="0"/>
              </a:rPr>
              <a:t>comienza </a:t>
            </a:r>
            <a:r>
              <a:rPr lang="es-AR" sz="1600" dirty="0" smtClean="0">
                <a:solidFill>
                  <a:schemeClr val="tx1"/>
                </a:solidFill>
                <a:latin typeface="Arial" pitchFamily="34" charset="0"/>
                <a:cs typeface="Arial" pitchFamily="34" charset="0"/>
              </a:rPr>
              <a:t>a responder, </a:t>
            </a:r>
            <a:r>
              <a:rPr lang="es-AR" sz="1600" b="1" dirty="0" smtClean="0">
                <a:solidFill>
                  <a:schemeClr val="tx1"/>
                </a:solidFill>
                <a:latin typeface="Arial" pitchFamily="34" charset="0"/>
                <a:cs typeface="Arial" pitchFamily="34" charset="0"/>
              </a:rPr>
              <a:t>no </a:t>
            </a:r>
            <a:r>
              <a:rPr lang="es-AR" sz="1600" dirty="0" smtClean="0">
                <a:solidFill>
                  <a:schemeClr val="tx1"/>
                </a:solidFill>
                <a:latin typeface="Arial" pitchFamily="34" charset="0"/>
                <a:cs typeface="Arial" pitchFamily="34" charset="0"/>
              </a:rPr>
              <a:t>el tiempo que tarda en enviar a la salida toda la información de respuesta.</a:t>
            </a:r>
          </a:p>
          <a:p>
            <a:pPr marL="174625" lvl="1" indent="-174625" algn="just">
              <a:buFont typeface="Arial" pitchFamily="34" charset="0"/>
              <a:buChar char="•"/>
            </a:pPr>
            <a:endParaRPr lang="es-AR" sz="1600" dirty="0" smtClean="0">
              <a:solidFill>
                <a:schemeClr val="tx1"/>
              </a:solidFill>
              <a:latin typeface="Arial" pitchFamily="34" charset="0"/>
              <a:cs typeface="Arial" pitchFamily="34" charset="0"/>
            </a:endParaRPr>
          </a:p>
          <a:p>
            <a:pPr marL="174625" lvl="1" indent="-174625" algn="just"/>
            <a:r>
              <a:rPr lang="es-AR" sz="1600" b="1" dirty="0" smtClean="0">
                <a:solidFill>
                  <a:schemeClr val="tx1"/>
                </a:solidFill>
                <a:latin typeface="Arial" pitchFamily="34" charset="0"/>
                <a:cs typeface="Arial" pitchFamily="34" charset="0"/>
              </a:rPr>
              <a:t>El objetivo es: </a:t>
            </a:r>
          </a:p>
          <a:p>
            <a:pPr marL="174625" lvl="1" indent="-174625" algn="just"/>
            <a:r>
              <a:rPr lang="es-AR" sz="1600" b="1" dirty="0" smtClean="0">
                <a:solidFill>
                  <a:srgbClr val="0070C0"/>
                </a:solidFill>
                <a:latin typeface="Arial" pitchFamily="34" charset="0"/>
                <a:cs typeface="Arial" pitchFamily="34" charset="0"/>
              </a:rPr>
              <a:t>Maximizar</a:t>
            </a:r>
            <a:r>
              <a:rPr lang="es-AR" sz="1600" dirty="0" smtClean="0">
                <a:solidFill>
                  <a:schemeClr val="tx1"/>
                </a:solidFill>
                <a:latin typeface="Arial" pitchFamily="34" charset="0"/>
                <a:cs typeface="Arial" pitchFamily="34" charset="0"/>
              </a:rPr>
              <a:t>: Utilización de CPU y Tasa de procesamiento</a:t>
            </a:r>
          </a:p>
          <a:p>
            <a:pPr marL="174625" lvl="1" indent="-174625" algn="just"/>
            <a:r>
              <a:rPr lang="es-AR" sz="1600" b="1" dirty="0" smtClean="0">
                <a:solidFill>
                  <a:srgbClr val="0070C0"/>
                </a:solidFill>
                <a:latin typeface="Arial" pitchFamily="34" charset="0"/>
                <a:cs typeface="Arial" pitchFamily="34" charset="0"/>
              </a:rPr>
              <a:t>Minimizar: </a:t>
            </a:r>
            <a:r>
              <a:rPr lang="es-AR" sz="1600" dirty="0" smtClean="0">
                <a:solidFill>
                  <a:schemeClr val="tx1"/>
                </a:solidFill>
                <a:latin typeface="Arial" pitchFamily="34" charset="0"/>
                <a:cs typeface="Arial" pitchFamily="34" charset="0"/>
              </a:rPr>
              <a:t>Tiempo de ejecución, Tiempo de espera y Tiempo de respuesta y que haya equidad (cada proceso espere la misma cantidad de tiempo)</a:t>
            </a:r>
          </a:p>
          <a:p>
            <a:pPr marL="0" lvl="1"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 name="Picture 2"/>
          <p:cNvPicPr>
            <a:picLocks noChangeAspect="1" noChangeArrowheads="1"/>
          </p:cNvPicPr>
          <p:nvPr/>
        </p:nvPicPr>
        <p:blipFill>
          <a:blip r:embed="rId4" cstate="print"/>
          <a:srcRect/>
          <a:stretch>
            <a:fillRect/>
          </a:stretch>
        </p:blipFill>
        <p:spPr bwMode="auto">
          <a:xfrm>
            <a:off x="9144000" y="3295272"/>
            <a:ext cx="3786431" cy="26864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5" y="911373"/>
            <a:ext cx="8405586" cy="6124754"/>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Medidas de Tiempo</a:t>
            </a:r>
            <a:r>
              <a:rPr lang="es-AR" sz="1600" dirty="0" smtClean="0">
                <a:solidFill>
                  <a:schemeClr val="tx1"/>
                </a:solidFill>
                <a:latin typeface="Arial" pitchFamily="34" charset="0"/>
                <a:cs typeface="Arial" pitchFamily="34" charset="0"/>
              </a:rPr>
              <a:t>:</a:t>
            </a:r>
          </a:p>
          <a:p>
            <a:pPr marL="0" lvl="1" algn="just">
              <a:spcBef>
                <a:spcPts val="600"/>
              </a:spcBef>
            </a:pPr>
            <a:r>
              <a:rPr lang="es-AR" sz="1600" dirty="0" smtClean="0">
                <a:solidFill>
                  <a:srgbClr val="CC00CC"/>
                </a:solidFill>
                <a:latin typeface="Arial" pitchFamily="34" charset="0"/>
                <a:cs typeface="Arial" pitchFamily="34" charset="0"/>
              </a:rPr>
              <a:t>Tiempo de servicio o tiempo de ejecución o ráfaga de CPU: </a:t>
            </a:r>
            <a:r>
              <a:rPr lang="es-AR" sz="1600" dirty="0" smtClean="0">
                <a:solidFill>
                  <a:schemeClr val="tx1"/>
                </a:solidFill>
                <a:latin typeface="Arial" pitchFamily="34" charset="0"/>
                <a:cs typeface="Arial" pitchFamily="34" charset="0"/>
              </a:rPr>
              <a:t>es el tiempo que consumiría si fuese el único proceso existente (y no precisase carga). Es decir, el tiempo de retorno menos el tiempo de espera.</a:t>
            </a:r>
          </a:p>
          <a:p>
            <a:pPr marL="0" lvl="1" algn="just">
              <a:spcBef>
                <a:spcPts val="600"/>
              </a:spcBef>
            </a:pPr>
            <a:r>
              <a:rPr lang="es-AR" sz="1600" dirty="0" smtClean="0">
                <a:solidFill>
                  <a:srgbClr val="CC00CC"/>
                </a:solidFill>
                <a:latin typeface="Arial" pitchFamily="34" charset="0"/>
                <a:cs typeface="Arial" pitchFamily="34" charset="0"/>
              </a:rPr>
              <a:t>Tiempo de paso, de estancia o de retorno (</a:t>
            </a:r>
            <a:r>
              <a:rPr lang="es-AR" sz="1600" dirty="0" err="1" smtClean="0">
                <a:solidFill>
                  <a:srgbClr val="CC00CC"/>
                </a:solidFill>
                <a:latin typeface="Arial" pitchFamily="34" charset="0"/>
                <a:cs typeface="Arial" pitchFamily="34" charset="0"/>
              </a:rPr>
              <a:t>turnaround</a:t>
            </a:r>
            <a:r>
              <a:rPr lang="es-AR" sz="1600" dirty="0" smtClean="0">
                <a:solidFill>
                  <a:srgbClr val="CC00CC"/>
                </a:solidFill>
                <a:latin typeface="Arial" pitchFamily="34" charset="0"/>
                <a:cs typeface="Arial" pitchFamily="34" charset="0"/>
              </a:rPr>
              <a:t>) (</a:t>
            </a:r>
            <a:r>
              <a:rPr lang="es-AR" sz="1600" dirty="0" err="1" smtClean="0">
                <a:solidFill>
                  <a:srgbClr val="CC00CC"/>
                </a:solidFill>
                <a:latin typeface="Arial" pitchFamily="34" charset="0"/>
                <a:cs typeface="Arial" pitchFamily="34" charset="0"/>
              </a:rPr>
              <a:t>t</a:t>
            </a:r>
            <a:r>
              <a:rPr lang="es-AR" sz="1600" baseline="-25000" dirty="0" err="1" smtClean="0">
                <a:solidFill>
                  <a:srgbClr val="CC00CC"/>
                </a:solidFill>
                <a:latin typeface="Arial" pitchFamily="34" charset="0"/>
                <a:cs typeface="Arial" pitchFamily="34" charset="0"/>
              </a:rPr>
              <a:t>R</a:t>
            </a:r>
            <a:r>
              <a:rPr lang="es-AR" sz="1600" dirty="0" smtClean="0">
                <a:solidFill>
                  <a:srgbClr val="CC00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 el total transcurrido desde que se inicia (Ti) hasta que finaliza (</a:t>
            </a:r>
            <a:r>
              <a:rPr lang="es-AR" sz="1600" dirty="0" err="1" smtClean="0">
                <a:solidFill>
                  <a:schemeClr val="tx1"/>
                </a:solidFill>
                <a:latin typeface="Arial" pitchFamily="34" charset="0"/>
                <a:cs typeface="Arial" pitchFamily="34" charset="0"/>
              </a:rPr>
              <a:t>Tf</a:t>
            </a:r>
            <a:r>
              <a:rPr lang="es-AR" sz="1600" dirty="0" smtClean="0">
                <a:solidFill>
                  <a:schemeClr val="tx1"/>
                </a:solidFill>
                <a:latin typeface="Arial" pitchFamily="34" charset="0"/>
                <a:cs typeface="Arial" pitchFamily="34" charset="0"/>
              </a:rPr>
              <a:t>). Incluye: Tiempo de carga en memoria, Tiempo en la cola de preparados, Tiempo de ejecución en CPU y Tiempo en operaciones E/S (bloqueado) </a:t>
            </a:r>
          </a:p>
          <a:p>
            <a:pPr marL="0" lvl="1" algn="just">
              <a:spcBef>
                <a:spcPts val="600"/>
              </a:spcBef>
            </a:pPr>
            <a:r>
              <a:rPr lang="es-AR" sz="1600" dirty="0" smtClean="0">
                <a:solidFill>
                  <a:srgbClr val="CC00CC"/>
                </a:solidFill>
                <a:latin typeface="Arial" pitchFamily="34" charset="0"/>
                <a:cs typeface="Arial" pitchFamily="34" charset="0"/>
              </a:rPr>
              <a:t>Tiempo de espera (</a:t>
            </a:r>
            <a:r>
              <a:rPr lang="es-AR" sz="1600" dirty="0" err="1" smtClean="0">
                <a:solidFill>
                  <a:srgbClr val="CC00CC"/>
                </a:solidFill>
                <a:latin typeface="Arial" pitchFamily="34" charset="0"/>
                <a:cs typeface="Arial" pitchFamily="34" charset="0"/>
              </a:rPr>
              <a:t>t</a:t>
            </a:r>
            <a:r>
              <a:rPr lang="es-AR" sz="1600" baseline="-25000" dirty="0" err="1" smtClean="0">
                <a:solidFill>
                  <a:srgbClr val="CC00CC"/>
                </a:solidFill>
                <a:latin typeface="Arial" pitchFamily="34" charset="0"/>
                <a:cs typeface="Arial" pitchFamily="34" charset="0"/>
              </a:rPr>
              <a:t>E</a:t>
            </a:r>
            <a:r>
              <a:rPr lang="es-AR" sz="1600" dirty="0" smtClean="0">
                <a:solidFill>
                  <a:srgbClr val="CC00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es el tiempo de retorno quitando CPU y E/S.   </a:t>
            </a:r>
            <a:r>
              <a:rPr lang="es-AR" sz="1600" dirty="0" err="1" smtClean="0">
                <a:solidFill>
                  <a:schemeClr val="tx1"/>
                </a:solidFill>
                <a:latin typeface="Arial" pitchFamily="34" charset="0"/>
                <a:cs typeface="Arial" pitchFamily="34" charset="0"/>
              </a:rPr>
              <a:t>t</a:t>
            </a:r>
            <a:r>
              <a:rPr lang="es-AR" sz="1600" baseline="-25000" dirty="0" err="1" smtClean="0">
                <a:solidFill>
                  <a:schemeClr val="tx1"/>
                </a:solidFill>
                <a:latin typeface="Arial" pitchFamily="34" charset="0"/>
                <a:cs typeface="Arial" pitchFamily="34" charset="0"/>
              </a:rPr>
              <a:t>E</a:t>
            </a:r>
            <a:r>
              <a:rPr lang="es-AR" sz="1600" dirty="0" smtClean="0">
                <a:solidFill>
                  <a:schemeClr val="tx1"/>
                </a:solidFill>
                <a:latin typeface="Arial" pitchFamily="34" charset="0"/>
                <a:cs typeface="Arial" pitchFamily="34" charset="0"/>
              </a:rPr>
              <a:t> = </a:t>
            </a:r>
            <a:r>
              <a:rPr lang="es-AR" sz="1600" dirty="0" err="1" smtClean="0">
                <a:solidFill>
                  <a:schemeClr val="tx1"/>
                </a:solidFill>
                <a:latin typeface="Arial" pitchFamily="34" charset="0"/>
                <a:cs typeface="Arial" pitchFamily="34" charset="0"/>
              </a:rPr>
              <a:t>t</a:t>
            </a:r>
            <a:r>
              <a:rPr lang="es-AR" sz="1600" baseline="-25000" dirty="0" err="1" smtClean="0">
                <a:solidFill>
                  <a:schemeClr val="tx1"/>
                </a:solidFill>
                <a:latin typeface="Arial" pitchFamily="34" charset="0"/>
                <a:cs typeface="Arial" pitchFamily="34" charset="0"/>
              </a:rPr>
              <a:t>R</a:t>
            </a:r>
            <a:r>
              <a:rPr lang="es-AR" sz="1600" dirty="0" smtClean="0">
                <a:solidFill>
                  <a:schemeClr val="tx1"/>
                </a:solidFill>
                <a:latin typeface="Arial" pitchFamily="34" charset="0"/>
                <a:cs typeface="Arial" pitchFamily="34" charset="0"/>
              </a:rPr>
              <a:t> − </a:t>
            </a:r>
            <a:r>
              <a:rPr lang="es-AR" sz="1600" dirty="0" err="1" smtClean="0">
                <a:solidFill>
                  <a:schemeClr val="tx1"/>
                </a:solidFill>
                <a:latin typeface="Arial" pitchFamily="34" charset="0"/>
                <a:cs typeface="Arial" pitchFamily="34" charset="0"/>
              </a:rPr>
              <a:t>t</a:t>
            </a:r>
            <a:r>
              <a:rPr lang="es-AR" sz="1600" baseline="-25000" dirty="0" err="1" smtClean="0">
                <a:solidFill>
                  <a:schemeClr val="tx1"/>
                </a:solidFill>
                <a:latin typeface="Arial" pitchFamily="34" charset="0"/>
                <a:cs typeface="Arial" pitchFamily="34" charset="0"/>
              </a:rPr>
              <a:t>CPU</a:t>
            </a:r>
            <a:r>
              <a:rPr lang="es-AR" sz="1600" dirty="0" smtClean="0">
                <a:solidFill>
                  <a:schemeClr val="tx1"/>
                </a:solidFill>
                <a:latin typeface="Arial" pitchFamily="34" charset="0"/>
                <a:cs typeface="Arial" pitchFamily="34" charset="0"/>
              </a:rPr>
              <a:t> − </a:t>
            </a:r>
            <a:r>
              <a:rPr lang="es-AR" sz="1600" dirty="0" err="1" smtClean="0">
                <a:solidFill>
                  <a:schemeClr val="tx1"/>
                </a:solidFill>
                <a:latin typeface="Arial" pitchFamily="34" charset="0"/>
                <a:cs typeface="Arial" pitchFamily="34" charset="0"/>
              </a:rPr>
              <a:t>t</a:t>
            </a:r>
            <a:r>
              <a:rPr lang="es-AR" sz="1600" baseline="-25000" dirty="0" err="1" smtClean="0">
                <a:solidFill>
                  <a:schemeClr val="tx1"/>
                </a:solidFill>
                <a:latin typeface="Arial" pitchFamily="34" charset="0"/>
                <a:cs typeface="Arial" pitchFamily="34" charset="0"/>
              </a:rPr>
              <a:t>E</a:t>
            </a:r>
            <a:r>
              <a:rPr lang="es-AR" sz="1600" baseline="-25000" dirty="0" smtClean="0">
                <a:solidFill>
                  <a:schemeClr val="tx1"/>
                </a:solidFill>
                <a:latin typeface="Arial" pitchFamily="34" charset="0"/>
                <a:cs typeface="Arial" pitchFamily="34" charset="0"/>
              </a:rPr>
              <a:t>/S</a:t>
            </a:r>
            <a:endParaRPr lang="es-AR" sz="1600" dirty="0" smtClean="0">
              <a:solidFill>
                <a:schemeClr val="tx1"/>
              </a:solidFill>
              <a:latin typeface="Arial" pitchFamily="34" charset="0"/>
              <a:cs typeface="Arial" pitchFamily="34" charset="0"/>
            </a:endParaRPr>
          </a:p>
          <a:p>
            <a:pPr marL="0" lvl="1" algn="just"/>
            <a:r>
              <a:rPr lang="es-AR" sz="1600" dirty="0" smtClean="0">
                <a:solidFill>
                  <a:srgbClr val="CC00CC"/>
                </a:solidFill>
                <a:latin typeface="Arial" pitchFamily="34" charset="0"/>
                <a:cs typeface="Arial" pitchFamily="34" charset="0"/>
              </a:rPr>
              <a:t>Índice de servicio (I</a:t>
            </a:r>
            <a:r>
              <a:rPr lang="es-AR" sz="1600" baseline="-25000" dirty="0" smtClean="0">
                <a:solidFill>
                  <a:srgbClr val="CC00CC"/>
                </a:solidFill>
                <a:latin typeface="Arial" pitchFamily="34" charset="0"/>
                <a:cs typeface="Arial" pitchFamily="34" charset="0"/>
              </a:rPr>
              <a:t>S</a:t>
            </a:r>
            <a:r>
              <a:rPr lang="es-AR" sz="1600" dirty="0" smtClean="0">
                <a:solidFill>
                  <a:srgbClr val="CC00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es la relación entre el tiempo de servicio y el tiempo de retorno.</a:t>
            </a:r>
          </a:p>
          <a:p>
            <a:pPr marL="0" lvl="1" algn="just"/>
            <a:r>
              <a:rPr lang="es-AR" sz="1600" dirty="0" err="1" smtClean="0">
                <a:solidFill>
                  <a:srgbClr val="CC00CC"/>
                </a:solidFill>
                <a:latin typeface="Arial" pitchFamily="34" charset="0"/>
                <a:cs typeface="Arial" pitchFamily="34" charset="0"/>
              </a:rPr>
              <a:t>Fairness</a:t>
            </a:r>
            <a:r>
              <a:rPr lang="es-AR" sz="1600" dirty="0" smtClean="0">
                <a:solidFill>
                  <a:srgbClr val="CC00CC"/>
                </a:solidFill>
                <a:latin typeface="Arial" pitchFamily="34" charset="0"/>
                <a:cs typeface="Arial" pitchFamily="34" charset="0"/>
              </a:rPr>
              <a:t> (justicia): </a:t>
            </a:r>
            <a:r>
              <a:rPr lang="es-AR" sz="1600" dirty="0" smtClean="0">
                <a:solidFill>
                  <a:schemeClr val="tx1"/>
                </a:solidFill>
                <a:latin typeface="Arial" pitchFamily="34" charset="0"/>
                <a:cs typeface="Arial" pitchFamily="34" charset="0"/>
              </a:rPr>
              <a:t>tiempo de espera / tiempo de CPU</a:t>
            </a:r>
          </a:p>
          <a:p>
            <a:pPr marL="0" lvl="1" algn="just">
              <a:spcBef>
                <a:spcPts val="600"/>
              </a:spcBef>
            </a:pPr>
            <a:r>
              <a:rPr lang="es-AR" sz="1600" dirty="0" smtClean="0">
                <a:solidFill>
                  <a:schemeClr val="tx1"/>
                </a:solidFill>
                <a:latin typeface="Arial" pitchFamily="34" charset="0"/>
                <a:cs typeface="Arial" pitchFamily="34" charset="0"/>
              </a:rPr>
              <a:t>Por ejemplo: Un proceso que llega en Ti=0 y tiene un tiempo de CPU=21</a:t>
            </a: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spcBef>
                <a:spcPts val="2400"/>
              </a:spcBef>
            </a:pPr>
            <a:r>
              <a:rPr lang="es-AR" sz="1600" dirty="0" smtClean="0">
                <a:solidFill>
                  <a:schemeClr val="tx1"/>
                </a:solidFill>
                <a:latin typeface="Arial" pitchFamily="34" charset="0"/>
                <a:cs typeface="Arial" pitchFamily="34" charset="0"/>
              </a:rPr>
              <a:t>Tiempo de retorno</a:t>
            </a:r>
            <a:r>
              <a:rPr lang="es-AR" sz="1600" dirty="0" smtClean="0">
                <a:solidFill>
                  <a:srgbClr val="0033CC"/>
                </a:solidFill>
                <a:latin typeface="Arial" pitchFamily="34" charset="0"/>
                <a:cs typeface="Arial" pitchFamily="34" charset="0"/>
              </a:rPr>
              <a:t>:</a:t>
            </a:r>
            <a:r>
              <a:rPr lang="es-AR" sz="1600" b="1" dirty="0" smtClean="0">
                <a:solidFill>
                  <a:srgbClr val="0033CC"/>
                </a:solidFill>
                <a:latin typeface="Arial" pitchFamily="34" charset="0"/>
                <a:cs typeface="Arial" pitchFamily="34" charset="0"/>
              </a:rPr>
              <a:t>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R</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Tf</a:t>
            </a:r>
            <a:r>
              <a:rPr lang="es-AR" sz="1600" b="1" dirty="0" smtClean="0">
                <a:solidFill>
                  <a:srgbClr val="0033CC"/>
                </a:solidFill>
                <a:latin typeface="Arial" pitchFamily="34" charset="0"/>
                <a:cs typeface="Arial" pitchFamily="34" charset="0"/>
              </a:rPr>
              <a:t> − Ti </a:t>
            </a:r>
            <a:r>
              <a:rPr lang="es-AR" sz="1600" dirty="0" smtClean="0">
                <a:solidFill>
                  <a:schemeClr val="tx1"/>
                </a:solidFill>
                <a:latin typeface="Arial" pitchFamily="34" charset="0"/>
                <a:cs typeface="Arial" pitchFamily="34" charset="0"/>
              </a:rPr>
              <a:t>= 52 − 0 = 52</a:t>
            </a:r>
          </a:p>
          <a:p>
            <a:pPr marL="0" lvl="1" algn="just"/>
            <a:r>
              <a:rPr lang="es-AR" sz="1600" dirty="0" smtClean="0">
                <a:solidFill>
                  <a:schemeClr val="tx1"/>
                </a:solidFill>
                <a:latin typeface="Arial" pitchFamily="34" charset="0"/>
                <a:cs typeface="Arial" pitchFamily="34" charset="0"/>
              </a:rPr>
              <a:t>Tiempo de CPU: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CPU</a:t>
            </a:r>
            <a:r>
              <a:rPr lang="es-AR" sz="1600" b="1" dirty="0" smtClean="0">
                <a:solidFill>
                  <a:schemeClr val="tx1"/>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 10 + 5 + 6 = 21   (se denomina a veces tiempo de servicio)</a:t>
            </a:r>
          </a:p>
          <a:p>
            <a:pPr marL="0" lvl="1" algn="just"/>
            <a:r>
              <a:rPr lang="es-AR" sz="1600" dirty="0" smtClean="0">
                <a:solidFill>
                  <a:schemeClr val="tx1"/>
                </a:solidFill>
                <a:latin typeface="Arial" pitchFamily="34" charset="0"/>
                <a:cs typeface="Arial" pitchFamily="34" charset="0"/>
              </a:rPr>
              <a:t>Tiempo de E/S:</a:t>
            </a:r>
            <a:r>
              <a:rPr lang="es-AR" sz="1600" dirty="0" smtClean="0">
                <a:solidFill>
                  <a:srgbClr val="0033CC"/>
                </a:solidFill>
                <a:latin typeface="Arial" pitchFamily="34" charset="0"/>
                <a:cs typeface="Arial" pitchFamily="34" charset="0"/>
              </a:rPr>
              <a:t>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E</a:t>
            </a:r>
            <a:r>
              <a:rPr lang="es-AR" sz="1600" b="1" baseline="-25000" dirty="0" smtClean="0">
                <a:solidFill>
                  <a:srgbClr val="0033CC"/>
                </a:solidFill>
                <a:latin typeface="Arial" pitchFamily="34" charset="0"/>
                <a:cs typeface="Arial" pitchFamily="34" charset="0"/>
              </a:rPr>
              <a:t>/S</a:t>
            </a:r>
            <a:r>
              <a:rPr lang="es-AR" sz="1600" dirty="0" smtClean="0">
                <a:solidFill>
                  <a:srgbClr val="0033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 7 + 4 = 11</a:t>
            </a:r>
          </a:p>
          <a:p>
            <a:pPr marL="0" lvl="1" algn="just"/>
            <a:r>
              <a:rPr lang="es-AR" sz="1600" dirty="0" smtClean="0">
                <a:solidFill>
                  <a:schemeClr val="tx1"/>
                </a:solidFill>
                <a:latin typeface="Arial" pitchFamily="34" charset="0"/>
                <a:cs typeface="Arial" pitchFamily="34" charset="0"/>
              </a:rPr>
              <a:t>Tiempo de espera</a:t>
            </a:r>
            <a:r>
              <a:rPr lang="es-AR" sz="1600" dirty="0" smtClean="0">
                <a:solidFill>
                  <a:srgbClr val="0033CC"/>
                </a:solidFill>
                <a:latin typeface="Arial" pitchFamily="34" charset="0"/>
                <a:cs typeface="Arial" pitchFamily="34" charset="0"/>
              </a:rPr>
              <a:t>: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E</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R</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CPU</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E</a:t>
            </a:r>
            <a:r>
              <a:rPr lang="es-AR" sz="1600" b="1" baseline="-25000" dirty="0" smtClean="0">
                <a:solidFill>
                  <a:srgbClr val="0033CC"/>
                </a:solidFill>
                <a:latin typeface="Arial" pitchFamily="34" charset="0"/>
                <a:cs typeface="Arial" pitchFamily="34" charset="0"/>
              </a:rPr>
              <a:t>/S</a:t>
            </a:r>
            <a:r>
              <a:rPr lang="es-AR" sz="1600" b="1" dirty="0" smtClean="0">
                <a:solidFill>
                  <a:srgbClr val="0033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 52 − 21 − 11 = 20  </a:t>
            </a:r>
            <a:r>
              <a:rPr lang="es-AR" sz="1200" dirty="0" smtClean="0">
                <a:solidFill>
                  <a:schemeClr val="tx1"/>
                </a:solidFill>
                <a:latin typeface="Arial" pitchFamily="34" charset="0"/>
                <a:cs typeface="Arial" pitchFamily="34" charset="0"/>
              </a:rPr>
              <a:t>(da 20 porque esta considerando la carga)</a:t>
            </a:r>
          </a:p>
          <a:p>
            <a:pPr marL="0" lvl="1" algn="just"/>
            <a:r>
              <a:rPr lang="es-AR" sz="1600" dirty="0" smtClean="0">
                <a:solidFill>
                  <a:schemeClr val="tx1"/>
                </a:solidFill>
                <a:latin typeface="Arial" pitchFamily="34" charset="0"/>
                <a:cs typeface="Arial" pitchFamily="34" charset="0"/>
              </a:rPr>
              <a:t>Tiempo de servicio: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S</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R</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E</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CPU</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E</a:t>
            </a:r>
            <a:r>
              <a:rPr lang="es-AR" sz="1600" b="1" baseline="-25000" dirty="0" smtClean="0">
                <a:solidFill>
                  <a:srgbClr val="0033CC"/>
                </a:solidFill>
                <a:latin typeface="Arial" pitchFamily="34" charset="0"/>
                <a:cs typeface="Arial" pitchFamily="34" charset="0"/>
              </a:rPr>
              <a:t>/S</a:t>
            </a:r>
            <a:r>
              <a:rPr lang="es-AR" sz="1600" b="1" dirty="0" smtClean="0">
                <a:solidFill>
                  <a:srgbClr val="0033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 21+11 = 32   (sin considerar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E</a:t>
            </a:r>
            <a:r>
              <a:rPr lang="es-AR" sz="1600" b="1" baseline="-25000" dirty="0" smtClean="0">
                <a:solidFill>
                  <a:srgbClr val="0033CC"/>
                </a:solidFill>
                <a:latin typeface="Arial" pitchFamily="34" charset="0"/>
                <a:cs typeface="Arial" pitchFamily="34" charset="0"/>
              </a:rPr>
              <a:t>/S</a:t>
            </a:r>
            <a:r>
              <a:rPr lang="es-AR" sz="1600" b="1" dirty="0" smtClean="0">
                <a:solidFill>
                  <a:srgbClr val="0033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sería 21) </a:t>
            </a:r>
            <a:endParaRPr lang="es-AR" sz="1100" dirty="0" smtClean="0">
              <a:solidFill>
                <a:schemeClr val="tx1"/>
              </a:solidFill>
              <a:latin typeface="Arial" pitchFamily="34" charset="0"/>
              <a:cs typeface="Arial" pitchFamily="34" charset="0"/>
            </a:endParaRPr>
          </a:p>
          <a:p>
            <a:pPr marL="0" lvl="1" algn="just"/>
            <a:r>
              <a:rPr lang="es-AR" sz="1600" dirty="0" smtClean="0">
                <a:solidFill>
                  <a:schemeClr val="tx1"/>
                </a:solidFill>
                <a:latin typeface="Arial" pitchFamily="34" charset="0"/>
                <a:cs typeface="Arial" pitchFamily="34" charset="0"/>
              </a:rPr>
              <a:t>Tiempo de índice de servicio: </a:t>
            </a:r>
            <a:r>
              <a:rPr lang="es-AR" sz="1600" b="1" dirty="0" err="1" smtClean="0">
                <a:solidFill>
                  <a:srgbClr val="0033CC"/>
                </a:solidFill>
                <a:latin typeface="Arial" pitchFamily="34" charset="0"/>
                <a:cs typeface="Arial" pitchFamily="34" charset="0"/>
              </a:rPr>
              <a:t>i</a:t>
            </a:r>
            <a:r>
              <a:rPr lang="es-AR" sz="1600" b="1" baseline="-25000" dirty="0" err="1" smtClean="0">
                <a:solidFill>
                  <a:srgbClr val="0033CC"/>
                </a:solidFill>
                <a:latin typeface="Arial" pitchFamily="34" charset="0"/>
                <a:cs typeface="Arial" pitchFamily="34" charset="0"/>
              </a:rPr>
              <a:t>S</a:t>
            </a:r>
            <a:r>
              <a:rPr lang="es-AR" sz="1600"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S</a:t>
            </a:r>
            <a:r>
              <a:rPr lang="es-AR" sz="1600" b="1" dirty="0" smtClean="0">
                <a:solidFill>
                  <a:srgbClr val="0033CC"/>
                </a:solidFill>
                <a:latin typeface="Arial" pitchFamily="34" charset="0"/>
                <a:cs typeface="Arial" pitchFamily="34" charset="0"/>
              </a:rPr>
              <a:t> / </a:t>
            </a:r>
            <a:r>
              <a:rPr lang="es-AR" sz="1600" b="1" dirty="0" err="1" smtClean="0">
                <a:solidFill>
                  <a:srgbClr val="0033CC"/>
                </a:solidFill>
                <a:latin typeface="Arial" pitchFamily="34" charset="0"/>
                <a:cs typeface="Arial" pitchFamily="34" charset="0"/>
              </a:rPr>
              <a:t>t</a:t>
            </a:r>
            <a:r>
              <a:rPr lang="es-AR" sz="1600" b="1" baseline="-25000" dirty="0" err="1" smtClean="0">
                <a:solidFill>
                  <a:srgbClr val="0033CC"/>
                </a:solidFill>
                <a:latin typeface="Arial" pitchFamily="34" charset="0"/>
                <a:cs typeface="Arial" pitchFamily="34" charset="0"/>
              </a:rPr>
              <a:t>R</a:t>
            </a:r>
            <a:r>
              <a:rPr lang="es-AR" sz="1600" b="1" baseline="-25000" dirty="0" smtClean="0">
                <a:solidFill>
                  <a:srgbClr val="0033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a:t>
            </a:r>
            <a:r>
              <a:rPr lang="es-AR" sz="1600" b="1" dirty="0" smtClean="0">
                <a:solidFill>
                  <a:schemeClr val="tx1"/>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32/52 = 0,615</a:t>
            </a:r>
          </a:p>
          <a:p>
            <a:pPr marL="0" lvl="1"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grpSp>
        <p:nvGrpSpPr>
          <p:cNvPr id="37" name="36 Grupo"/>
          <p:cNvGrpSpPr/>
          <p:nvPr/>
        </p:nvGrpSpPr>
        <p:grpSpPr>
          <a:xfrm>
            <a:off x="628650" y="4225863"/>
            <a:ext cx="8023816" cy="917467"/>
            <a:chOff x="171445" y="1581149"/>
            <a:chExt cx="8743956" cy="1013038"/>
          </a:xfrm>
        </p:grpSpPr>
        <p:pic>
          <p:nvPicPr>
            <p:cNvPr id="2050" name="Picture 2"/>
            <p:cNvPicPr>
              <a:picLocks noChangeAspect="1" noChangeArrowheads="1"/>
            </p:cNvPicPr>
            <p:nvPr/>
          </p:nvPicPr>
          <p:blipFill>
            <a:blip r:embed="rId3" cstate="print">
              <a:clrChange>
                <a:clrFrom>
                  <a:srgbClr val="FFFFFF"/>
                </a:clrFrom>
                <a:clrTo>
                  <a:srgbClr val="FFFFFF">
                    <a:alpha val="0"/>
                  </a:srgbClr>
                </a:clrTo>
              </a:clrChange>
            </a:blip>
            <a:srcRect b="35040"/>
            <a:stretch>
              <a:fillRect/>
            </a:stretch>
          </p:blipFill>
          <p:spPr bwMode="auto">
            <a:xfrm>
              <a:off x="1611043" y="1581149"/>
              <a:ext cx="7304358" cy="873858"/>
            </a:xfrm>
            <a:prstGeom prst="rect">
              <a:avLst/>
            </a:prstGeom>
            <a:noFill/>
            <a:ln w="9525">
              <a:noFill/>
              <a:miter lim="800000"/>
              <a:headEnd/>
              <a:tailEnd/>
            </a:ln>
          </p:spPr>
        </p:pic>
        <p:cxnSp>
          <p:nvCxnSpPr>
            <p:cNvPr id="8" name="7 Conector recto"/>
            <p:cNvCxnSpPr/>
            <p:nvPr/>
          </p:nvCxnSpPr>
          <p:spPr>
            <a:xfrm>
              <a:off x="1936948" y="2466546"/>
              <a:ext cx="608947"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2544901" y="2466546"/>
              <a:ext cx="61777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5343518" y="2466546"/>
              <a:ext cx="758976"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a:off x="7232133" y="2466546"/>
              <a:ext cx="511868"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4469812" y="2466546"/>
              <a:ext cx="873705" cy="0"/>
            </a:xfrm>
            <a:prstGeom prst="line">
              <a:avLst/>
            </a:prstGeom>
            <a:ln w="7620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a:off x="6737917" y="2466546"/>
              <a:ext cx="511868" cy="0"/>
            </a:xfrm>
            <a:prstGeom prst="line">
              <a:avLst/>
            </a:prstGeom>
            <a:ln w="76200">
              <a:solidFill>
                <a:srgbClr val="0033CC"/>
              </a:solidFill>
            </a:ln>
          </p:spPr>
          <p:style>
            <a:lnRef idx="1">
              <a:schemeClr val="accent1"/>
            </a:lnRef>
            <a:fillRef idx="0">
              <a:schemeClr val="accent1"/>
            </a:fillRef>
            <a:effectRef idx="0">
              <a:schemeClr val="accent1"/>
            </a:effectRef>
            <a:fontRef idx="minor">
              <a:schemeClr val="tx1"/>
            </a:fontRef>
          </p:style>
        </p:cxnSp>
        <p:sp>
          <p:nvSpPr>
            <p:cNvPr id="21" name="20 Rectángulo"/>
            <p:cNvSpPr/>
            <p:nvPr/>
          </p:nvSpPr>
          <p:spPr>
            <a:xfrm>
              <a:off x="3171498" y="2342991"/>
              <a:ext cx="1270844" cy="23828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000" dirty="0" smtClean="0">
                  <a:solidFill>
                    <a:schemeClr val="tx1"/>
                  </a:solidFill>
                  <a:latin typeface="Arial" pitchFamily="34" charset="0"/>
                  <a:cs typeface="Arial" pitchFamily="34" charset="0"/>
                </a:rPr>
                <a:t>10</a:t>
              </a:r>
              <a:endParaRPr lang="es-AR" sz="1000" dirty="0">
                <a:solidFill>
                  <a:schemeClr val="tx1"/>
                </a:solidFill>
                <a:latin typeface="Arial" pitchFamily="34" charset="0"/>
                <a:cs typeface="Arial" pitchFamily="34" charset="0"/>
              </a:endParaRPr>
            </a:p>
          </p:txBody>
        </p:sp>
        <p:grpSp>
          <p:nvGrpSpPr>
            <p:cNvPr id="31" name="30 Grupo"/>
            <p:cNvGrpSpPr/>
            <p:nvPr/>
          </p:nvGrpSpPr>
          <p:grpSpPr>
            <a:xfrm>
              <a:off x="171445" y="1591668"/>
              <a:ext cx="1724826" cy="1002519"/>
              <a:chOff x="209545" y="1772643"/>
              <a:chExt cx="1724826" cy="1002519"/>
            </a:xfrm>
          </p:grpSpPr>
          <p:cxnSp>
            <p:nvCxnSpPr>
              <p:cNvPr id="25" name="24 Conector recto"/>
              <p:cNvCxnSpPr/>
              <p:nvPr/>
            </p:nvCxnSpPr>
            <p:spPr>
              <a:xfrm>
                <a:off x="212065" y="1906669"/>
                <a:ext cx="34991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552450" y="1772643"/>
                <a:ext cx="1381921" cy="1002519"/>
              </a:xfrm>
              <a:prstGeom prst="rect">
                <a:avLst/>
              </a:prstGeom>
              <a:noFill/>
            </p:spPr>
            <p:txBody>
              <a:bodyPr wrap="square" rtlCol="0">
                <a:spAutoFit/>
              </a:bodyPr>
              <a:lstStyle/>
              <a:p>
                <a:pPr algn="l">
                  <a:spcBef>
                    <a:spcPts val="600"/>
                  </a:spcBef>
                </a:pPr>
                <a:r>
                  <a:rPr lang="es-AR" sz="950" dirty="0" smtClean="0">
                    <a:solidFill>
                      <a:schemeClr val="tx1"/>
                    </a:solidFill>
                    <a:latin typeface="Arial" pitchFamily="34" charset="0"/>
                    <a:cs typeface="Arial" pitchFamily="34" charset="0"/>
                  </a:rPr>
                  <a:t>Carga</a:t>
                </a:r>
              </a:p>
              <a:p>
                <a:pPr algn="l">
                  <a:spcBef>
                    <a:spcPts val="600"/>
                  </a:spcBef>
                </a:pPr>
                <a:r>
                  <a:rPr lang="es-AR" sz="950" dirty="0" smtClean="0">
                    <a:solidFill>
                      <a:schemeClr val="tx1"/>
                    </a:solidFill>
                    <a:latin typeface="Arial" pitchFamily="34" charset="0"/>
                    <a:cs typeface="Arial" pitchFamily="34" charset="0"/>
                  </a:rPr>
                  <a:t>Espera (listo)</a:t>
                </a:r>
              </a:p>
              <a:p>
                <a:pPr algn="l">
                  <a:spcBef>
                    <a:spcPts val="600"/>
                  </a:spcBef>
                </a:pPr>
                <a:r>
                  <a:rPr lang="es-AR" sz="950" dirty="0" smtClean="0">
                    <a:solidFill>
                      <a:schemeClr val="tx1"/>
                    </a:solidFill>
                    <a:latin typeface="Arial" pitchFamily="34" charset="0"/>
                    <a:cs typeface="Arial" pitchFamily="34" charset="0"/>
                  </a:rPr>
                  <a:t>E/S (bloqueado)</a:t>
                </a:r>
              </a:p>
              <a:p>
                <a:pPr algn="l">
                  <a:spcBef>
                    <a:spcPts val="600"/>
                  </a:spcBef>
                </a:pPr>
                <a:r>
                  <a:rPr lang="es-AR" sz="950" dirty="0" smtClean="0">
                    <a:solidFill>
                      <a:schemeClr val="tx1"/>
                    </a:solidFill>
                    <a:latin typeface="Arial" pitchFamily="34" charset="0"/>
                    <a:cs typeface="Arial" pitchFamily="34" charset="0"/>
                  </a:rPr>
                  <a:t>CPU</a:t>
                </a:r>
                <a:endParaRPr lang="es-AR" sz="950" dirty="0">
                  <a:solidFill>
                    <a:schemeClr val="tx1"/>
                  </a:solidFill>
                  <a:latin typeface="Arial" pitchFamily="34" charset="0"/>
                  <a:cs typeface="Arial" pitchFamily="34" charset="0"/>
                </a:endParaRPr>
              </a:p>
            </p:txBody>
          </p:sp>
          <p:cxnSp>
            <p:nvCxnSpPr>
              <p:cNvPr id="28" name="27 Conector recto"/>
              <p:cNvCxnSpPr/>
              <p:nvPr/>
            </p:nvCxnSpPr>
            <p:spPr>
              <a:xfrm>
                <a:off x="212065" y="2125744"/>
                <a:ext cx="34991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a:off x="212065" y="2363869"/>
                <a:ext cx="349910" cy="0"/>
              </a:xfrm>
              <a:prstGeom prst="line">
                <a:avLst/>
              </a:prstGeom>
              <a:ln w="76200">
                <a:solidFill>
                  <a:srgbClr val="0033CC"/>
                </a:solidFill>
              </a:ln>
            </p:spPr>
            <p:style>
              <a:lnRef idx="1">
                <a:schemeClr val="accent1"/>
              </a:lnRef>
              <a:fillRef idx="0">
                <a:schemeClr val="accent1"/>
              </a:fillRef>
              <a:effectRef idx="0">
                <a:schemeClr val="accent1"/>
              </a:effectRef>
              <a:fontRef idx="minor">
                <a:schemeClr val="tx1"/>
              </a:fontRef>
            </p:style>
          </p:cxnSp>
          <p:sp>
            <p:nvSpPr>
              <p:cNvPr id="30" name="29 Rectángulo"/>
              <p:cNvSpPr/>
              <p:nvPr/>
            </p:nvSpPr>
            <p:spPr>
              <a:xfrm>
                <a:off x="209545" y="2514600"/>
                <a:ext cx="342905" cy="21774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sp>
          <p:nvSpPr>
            <p:cNvPr id="33" name="32 Rectángulo"/>
            <p:cNvSpPr/>
            <p:nvPr/>
          </p:nvSpPr>
          <p:spPr>
            <a:xfrm>
              <a:off x="6086148" y="2352516"/>
              <a:ext cx="638502" cy="23828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000" dirty="0" smtClean="0">
                  <a:solidFill>
                    <a:schemeClr val="tx1"/>
                  </a:solidFill>
                  <a:latin typeface="Arial" pitchFamily="34" charset="0"/>
                  <a:cs typeface="Arial" pitchFamily="34" charset="0"/>
                </a:rPr>
                <a:t>5</a:t>
              </a:r>
              <a:endParaRPr lang="es-AR" sz="1000" dirty="0">
                <a:solidFill>
                  <a:schemeClr val="tx1"/>
                </a:solidFill>
                <a:latin typeface="Arial" pitchFamily="34" charset="0"/>
                <a:cs typeface="Arial" pitchFamily="34" charset="0"/>
              </a:endParaRPr>
            </a:p>
          </p:txBody>
        </p:sp>
        <p:sp>
          <p:nvSpPr>
            <p:cNvPr id="34" name="33 Rectángulo"/>
            <p:cNvSpPr/>
            <p:nvPr/>
          </p:nvSpPr>
          <p:spPr>
            <a:xfrm>
              <a:off x="7753022" y="2342991"/>
              <a:ext cx="743277" cy="23828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000" dirty="0" smtClean="0">
                  <a:solidFill>
                    <a:schemeClr val="tx1"/>
                  </a:solidFill>
                  <a:latin typeface="Arial" pitchFamily="34" charset="0"/>
                  <a:cs typeface="Arial" pitchFamily="34" charset="0"/>
                </a:rPr>
                <a:t>6</a:t>
              </a:r>
              <a:endParaRPr lang="es-AR" sz="1000" dirty="0">
                <a:solidFill>
                  <a:schemeClr val="tx1"/>
                </a:solidFill>
                <a:latin typeface="Arial" pitchFamily="34" charset="0"/>
                <a:cs typeface="Arial" pitchFamily="34" charset="0"/>
              </a:endParaRPr>
            </a:p>
          </p:txBody>
        </p:sp>
        <p:sp>
          <p:nvSpPr>
            <p:cNvPr id="35" name="34 CuadroTexto"/>
            <p:cNvSpPr txBox="1"/>
            <p:nvPr/>
          </p:nvSpPr>
          <p:spPr>
            <a:xfrm>
              <a:off x="4774891" y="2238375"/>
              <a:ext cx="255199" cy="246221"/>
            </a:xfrm>
            <a:prstGeom prst="rect">
              <a:avLst/>
            </a:prstGeom>
            <a:noFill/>
          </p:spPr>
          <p:txBody>
            <a:bodyPr wrap="none" rtlCol="0">
              <a:spAutoFit/>
            </a:bodyPr>
            <a:lstStyle/>
            <a:p>
              <a:r>
                <a:rPr lang="es-AR" sz="1000" dirty="0" smtClean="0">
                  <a:solidFill>
                    <a:schemeClr val="tx1"/>
                  </a:solidFill>
                  <a:latin typeface="Arial" pitchFamily="34" charset="0"/>
                  <a:cs typeface="Arial" pitchFamily="34" charset="0"/>
                </a:rPr>
                <a:t>7</a:t>
              </a:r>
              <a:endParaRPr lang="es-AR" sz="1000" dirty="0">
                <a:solidFill>
                  <a:schemeClr val="tx1"/>
                </a:solidFill>
                <a:latin typeface="Arial" pitchFamily="34" charset="0"/>
                <a:cs typeface="Arial" pitchFamily="34" charset="0"/>
              </a:endParaRPr>
            </a:p>
          </p:txBody>
        </p:sp>
        <p:sp>
          <p:nvSpPr>
            <p:cNvPr id="36" name="35 CuadroTexto"/>
            <p:cNvSpPr txBox="1"/>
            <p:nvPr/>
          </p:nvSpPr>
          <p:spPr>
            <a:xfrm>
              <a:off x="6879916" y="2238375"/>
              <a:ext cx="255199" cy="246221"/>
            </a:xfrm>
            <a:prstGeom prst="rect">
              <a:avLst/>
            </a:prstGeom>
            <a:noFill/>
          </p:spPr>
          <p:txBody>
            <a:bodyPr wrap="none" rtlCol="0">
              <a:spAutoFit/>
            </a:bodyPr>
            <a:lstStyle/>
            <a:p>
              <a:r>
                <a:rPr lang="es-AR" sz="1000" dirty="0" smtClean="0">
                  <a:solidFill>
                    <a:schemeClr val="tx1"/>
                  </a:solidFill>
                  <a:latin typeface="Arial" pitchFamily="34" charset="0"/>
                  <a:cs typeface="Arial" pitchFamily="34" charset="0"/>
                </a:rPr>
                <a:t>4</a:t>
              </a:r>
              <a:endParaRPr lang="es-AR" sz="1000" dirty="0">
                <a:solidFill>
                  <a:schemeClr val="tx1"/>
                </a:solidFill>
                <a:latin typeface="Arial" pitchFamily="34" charset="0"/>
                <a:cs typeface="Arial" pitchFamily="34" charset="0"/>
              </a:endParaRPr>
            </a:p>
          </p:txBody>
        </p:sp>
        <p:sp>
          <p:nvSpPr>
            <p:cNvPr id="38" name="37 CuadroTexto"/>
            <p:cNvSpPr txBox="1"/>
            <p:nvPr/>
          </p:nvSpPr>
          <p:spPr>
            <a:xfrm>
              <a:off x="2088841" y="2238375"/>
              <a:ext cx="255199" cy="246221"/>
            </a:xfrm>
            <a:prstGeom prst="rect">
              <a:avLst/>
            </a:prstGeom>
            <a:noFill/>
          </p:spPr>
          <p:txBody>
            <a:bodyPr wrap="none" rtlCol="0">
              <a:spAutoFit/>
            </a:bodyPr>
            <a:lstStyle/>
            <a:p>
              <a:r>
                <a:rPr lang="es-AR" sz="1000" dirty="0" smtClean="0">
                  <a:solidFill>
                    <a:schemeClr val="tx1"/>
                  </a:solidFill>
                  <a:latin typeface="Arial" pitchFamily="34" charset="0"/>
                  <a:cs typeface="Arial" pitchFamily="34" charset="0"/>
                </a:rPr>
                <a:t>5</a:t>
              </a:r>
              <a:endParaRPr lang="es-AR" sz="1000" dirty="0">
                <a:solidFill>
                  <a:schemeClr val="tx1"/>
                </a:solidFill>
                <a:latin typeface="Arial" pitchFamily="34" charset="0"/>
                <a:cs typeface="Arial" pitchFamily="34" charset="0"/>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70642"/>
            <a:ext cx="8735785" cy="5539978"/>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Medidas de Tiempo </a:t>
            </a:r>
            <a:r>
              <a:rPr lang="es-AR" sz="1600" dirty="0" smtClean="0">
                <a:solidFill>
                  <a:schemeClr val="tx1"/>
                </a:solidFill>
                <a:latin typeface="Arial" pitchFamily="34" charset="0"/>
                <a:cs typeface="Arial" pitchFamily="34" charset="0"/>
              </a:rPr>
              <a:t>(simplificado para la práctica):</a:t>
            </a:r>
          </a:p>
          <a:p>
            <a:pPr marL="0" lvl="1" algn="just"/>
            <a:endParaRPr lang="es-AR" sz="1600" dirty="0" smtClean="0">
              <a:solidFill>
                <a:schemeClr val="tx1"/>
              </a:solidFill>
              <a:latin typeface="Arial" pitchFamily="34" charset="0"/>
              <a:cs typeface="Arial" pitchFamily="34" charset="0"/>
            </a:endParaRPr>
          </a:p>
          <a:p>
            <a:pPr marL="0" lvl="1" algn="just">
              <a:spcBef>
                <a:spcPts val="600"/>
              </a:spcBef>
            </a:pPr>
            <a:r>
              <a:rPr lang="es-AR" sz="1600" b="1" dirty="0" smtClean="0">
                <a:solidFill>
                  <a:srgbClr val="7030A0"/>
                </a:solidFill>
                <a:latin typeface="Arial" pitchFamily="34" charset="0"/>
                <a:cs typeface="Arial" pitchFamily="34" charset="0"/>
              </a:rPr>
              <a:t>Tiempo de retorno (T</a:t>
            </a:r>
            <a:r>
              <a:rPr lang="es-AR" sz="1600" b="1" baseline="-25000" dirty="0" smtClean="0">
                <a:solidFill>
                  <a:srgbClr val="7030A0"/>
                </a:solidFill>
                <a:latin typeface="Arial" pitchFamily="34" charset="0"/>
                <a:cs typeface="Arial" pitchFamily="34" charset="0"/>
              </a:rPr>
              <a:t>R</a:t>
            </a:r>
            <a:r>
              <a:rPr lang="es-AR" sz="1600" b="1" dirty="0" smtClean="0">
                <a:solidFill>
                  <a:srgbClr val="7030A0"/>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 el total transcurrido desde que se inicia (T</a:t>
            </a:r>
            <a:r>
              <a:rPr lang="es-AR" sz="1600" baseline="-25000" dirty="0" smtClean="0">
                <a:solidFill>
                  <a:schemeClr val="tx1"/>
                </a:solidFill>
                <a:latin typeface="Arial" pitchFamily="34" charset="0"/>
                <a:cs typeface="Arial" pitchFamily="34" charset="0"/>
              </a:rPr>
              <a:t>i</a:t>
            </a:r>
            <a:r>
              <a:rPr lang="es-AR" sz="1600" dirty="0" smtClean="0">
                <a:solidFill>
                  <a:schemeClr val="tx1"/>
                </a:solidFill>
                <a:latin typeface="Arial" pitchFamily="34" charset="0"/>
                <a:cs typeface="Arial" pitchFamily="34" charset="0"/>
              </a:rPr>
              <a:t>) hasta que finaliza (</a:t>
            </a:r>
            <a:r>
              <a:rPr lang="es-AR" sz="1600" dirty="0" err="1" smtClean="0">
                <a:solidFill>
                  <a:schemeClr val="tx1"/>
                </a:solidFill>
                <a:latin typeface="Arial" pitchFamily="34" charset="0"/>
                <a:cs typeface="Arial" pitchFamily="34" charset="0"/>
              </a:rPr>
              <a:t>T</a:t>
            </a:r>
            <a:r>
              <a:rPr lang="es-AR" sz="1600" baseline="-25000" dirty="0" err="1" smtClean="0">
                <a:solidFill>
                  <a:schemeClr val="tx1"/>
                </a:solidFill>
                <a:latin typeface="Arial" pitchFamily="34" charset="0"/>
                <a:cs typeface="Arial" pitchFamily="34" charset="0"/>
              </a:rPr>
              <a:t>f</a:t>
            </a:r>
            <a:r>
              <a:rPr lang="es-AR" sz="1600" dirty="0" smtClean="0">
                <a:solidFill>
                  <a:schemeClr val="tx1"/>
                </a:solidFill>
                <a:latin typeface="Arial" pitchFamily="34" charset="0"/>
                <a:cs typeface="Arial" pitchFamily="34" charset="0"/>
              </a:rPr>
              <a:t>). </a:t>
            </a:r>
          </a:p>
          <a:p>
            <a:pPr marL="0" lvl="1" algn="just">
              <a:spcBef>
                <a:spcPts val="600"/>
              </a:spcBef>
            </a:pPr>
            <a:r>
              <a:rPr lang="es-AR" sz="1600" dirty="0" smtClean="0">
                <a:solidFill>
                  <a:schemeClr val="tx1"/>
                </a:solidFill>
                <a:latin typeface="Arial" pitchFamily="34" charset="0"/>
                <a:cs typeface="Arial" pitchFamily="34" charset="0"/>
              </a:rPr>
              <a:t>			</a:t>
            </a:r>
            <a:r>
              <a:rPr lang="es-AR" sz="1600" b="1" dirty="0" smtClean="0">
                <a:solidFill>
                  <a:schemeClr val="tx1"/>
                </a:solidFill>
                <a:latin typeface="Arial" pitchFamily="34" charset="0"/>
                <a:cs typeface="Arial" pitchFamily="34" charset="0"/>
              </a:rPr>
              <a:t>T</a:t>
            </a:r>
            <a:r>
              <a:rPr lang="es-AR" sz="1600" b="1" baseline="-25000" dirty="0" smtClean="0">
                <a:solidFill>
                  <a:schemeClr val="tx1"/>
                </a:solidFill>
                <a:latin typeface="Arial" pitchFamily="34" charset="0"/>
                <a:cs typeface="Arial" pitchFamily="34" charset="0"/>
              </a:rPr>
              <a:t>R</a:t>
            </a:r>
            <a:r>
              <a:rPr lang="es-AR" sz="1600" b="1" dirty="0" smtClean="0">
                <a:solidFill>
                  <a:schemeClr val="tx1"/>
                </a:solidFill>
                <a:latin typeface="Arial" pitchFamily="34" charset="0"/>
                <a:cs typeface="Arial" pitchFamily="34" charset="0"/>
              </a:rPr>
              <a:t> = </a:t>
            </a:r>
            <a:r>
              <a:rPr lang="es-AR" sz="1600" b="1" dirty="0" err="1" smtClean="0">
                <a:solidFill>
                  <a:schemeClr val="tx1"/>
                </a:solidFill>
                <a:latin typeface="Arial" pitchFamily="34" charset="0"/>
                <a:cs typeface="Arial" pitchFamily="34" charset="0"/>
              </a:rPr>
              <a:t>T</a:t>
            </a:r>
            <a:r>
              <a:rPr lang="es-AR" sz="1600" b="1" baseline="-25000" dirty="0" err="1" smtClean="0">
                <a:solidFill>
                  <a:schemeClr val="tx1"/>
                </a:solidFill>
                <a:latin typeface="Arial" pitchFamily="34" charset="0"/>
                <a:cs typeface="Arial" pitchFamily="34" charset="0"/>
              </a:rPr>
              <a:t>f</a:t>
            </a:r>
            <a:r>
              <a:rPr lang="es-AR" sz="1600" b="1" dirty="0" smtClean="0">
                <a:solidFill>
                  <a:schemeClr val="tx1"/>
                </a:solidFill>
                <a:latin typeface="Arial" pitchFamily="34" charset="0"/>
                <a:cs typeface="Arial" pitchFamily="34" charset="0"/>
              </a:rPr>
              <a:t> – T</a:t>
            </a:r>
            <a:r>
              <a:rPr lang="es-AR" sz="1600" b="1" baseline="-25000" dirty="0" smtClean="0">
                <a:solidFill>
                  <a:schemeClr val="tx1"/>
                </a:solidFill>
                <a:latin typeface="Arial" pitchFamily="34" charset="0"/>
                <a:cs typeface="Arial" pitchFamily="34" charset="0"/>
              </a:rPr>
              <a:t>i</a:t>
            </a:r>
          </a:p>
          <a:p>
            <a:pPr marL="0" lvl="1" algn="just">
              <a:spcBef>
                <a:spcPts val="600"/>
              </a:spcBef>
            </a:pPr>
            <a:endParaRPr lang="es-AR" sz="1600" dirty="0" smtClean="0">
              <a:solidFill>
                <a:schemeClr val="tx1"/>
              </a:solidFill>
              <a:latin typeface="Arial" pitchFamily="34" charset="0"/>
              <a:cs typeface="Arial" pitchFamily="34" charset="0"/>
            </a:endParaRPr>
          </a:p>
          <a:p>
            <a:pPr marL="0" lvl="1" algn="just">
              <a:spcBef>
                <a:spcPts val="600"/>
              </a:spcBef>
            </a:pPr>
            <a:r>
              <a:rPr lang="es-AR" sz="1600" b="1" dirty="0" smtClean="0">
                <a:solidFill>
                  <a:srgbClr val="7030A0"/>
                </a:solidFill>
                <a:latin typeface="Arial" pitchFamily="34" charset="0"/>
                <a:cs typeface="Arial" pitchFamily="34" charset="0"/>
              </a:rPr>
              <a:t>Tiempo de espera (T</a:t>
            </a:r>
            <a:r>
              <a:rPr lang="es-AR" sz="1600" b="1" baseline="-25000" dirty="0" smtClean="0">
                <a:solidFill>
                  <a:srgbClr val="7030A0"/>
                </a:solidFill>
                <a:latin typeface="Arial" pitchFamily="34" charset="0"/>
                <a:cs typeface="Arial" pitchFamily="34" charset="0"/>
              </a:rPr>
              <a:t>E</a:t>
            </a:r>
            <a:r>
              <a:rPr lang="es-AR" sz="1600" b="1" dirty="0" smtClean="0">
                <a:solidFill>
                  <a:srgbClr val="7030A0"/>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tiempo de retorno quitando la ráfaga de CPU (algunos la llaman tiempo de servicio) </a:t>
            </a:r>
          </a:p>
          <a:p>
            <a:pPr marL="0" lvl="1" algn="just">
              <a:spcBef>
                <a:spcPts val="600"/>
              </a:spcBef>
            </a:pPr>
            <a:r>
              <a:rPr lang="es-AR" sz="1600" dirty="0" smtClean="0">
                <a:solidFill>
                  <a:schemeClr val="tx1"/>
                </a:solidFill>
                <a:latin typeface="Arial" pitchFamily="34" charset="0"/>
                <a:cs typeface="Arial" pitchFamily="34" charset="0"/>
              </a:rPr>
              <a:t>			</a:t>
            </a:r>
            <a:r>
              <a:rPr lang="es-AR" sz="1600" b="1" dirty="0" smtClean="0">
                <a:solidFill>
                  <a:schemeClr val="tx1"/>
                </a:solidFill>
                <a:latin typeface="Arial" pitchFamily="34" charset="0"/>
                <a:cs typeface="Arial" pitchFamily="34" charset="0"/>
              </a:rPr>
              <a:t>T</a:t>
            </a:r>
            <a:r>
              <a:rPr lang="es-AR" sz="1600" b="1" baseline="-25000" dirty="0" smtClean="0">
                <a:solidFill>
                  <a:schemeClr val="tx1"/>
                </a:solidFill>
                <a:latin typeface="Arial" pitchFamily="34" charset="0"/>
                <a:cs typeface="Arial" pitchFamily="34" charset="0"/>
              </a:rPr>
              <a:t>E</a:t>
            </a:r>
            <a:r>
              <a:rPr lang="es-AR" sz="1600" b="1" dirty="0" smtClean="0">
                <a:solidFill>
                  <a:schemeClr val="tx1"/>
                </a:solidFill>
                <a:latin typeface="Arial" pitchFamily="34" charset="0"/>
                <a:cs typeface="Arial" pitchFamily="34" charset="0"/>
              </a:rPr>
              <a:t> = T</a:t>
            </a:r>
            <a:r>
              <a:rPr lang="es-AR" sz="1600" b="1" baseline="-25000" dirty="0" smtClean="0">
                <a:solidFill>
                  <a:schemeClr val="tx1"/>
                </a:solidFill>
                <a:latin typeface="Arial" pitchFamily="34" charset="0"/>
                <a:cs typeface="Arial" pitchFamily="34" charset="0"/>
              </a:rPr>
              <a:t>R</a:t>
            </a:r>
            <a:r>
              <a:rPr lang="es-AR" sz="1600" b="1" dirty="0" smtClean="0">
                <a:solidFill>
                  <a:schemeClr val="tx1"/>
                </a:solidFill>
                <a:latin typeface="Arial" pitchFamily="34" charset="0"/>
                <a:cs typeface="Arial" pitchFamily="34" charset="0"/>
              </a:rPr>
              <a:t> – T</a:t>
            </a:r>
            <a:r>
              <a:rPr lang="es-AR" sz="1600" b="1" baseline="-25000" dirty="0" smtClean="0">
                <a:solidFill>
                  <a:schemeClr val="tx1"/>
                </a:solidFill>
                <a:latin typeface="Arial" pitchFamily="34" charset="0"/>
                <a:cs typeface="Arial" pitchFamily="34" charset="0"/>
              </a:rPr>
              <a:t>CPU</a:t>
            </a:r>
            <a:r>
              <a:rPr lang="es-AR" sz="1600" b="1" dirty="0" smtClean="0">
                <a:solidFill>
                  <a:schemeClr val="tx1"/>
                </a:solidFill>
                <a:latin typeface="Arial" pitchFamily="34" charset="0"/>
                <a:cs typeface="Arial" pitchFamily="34" charset="0"/>
              </a:rPr>
              <a:t> </a:t>
            </a:r>
          </a:p>
          <a:p>
            <a:pPr marL="0" lvl="1" algn="just">
              <a:spcBef>
                <a:spcPts val="600"/>
              </a:spcBef>
            </a:pPr>
            <a:endParaRPr lang="es-AR" sz="1600" dirty="0" smtClean="0">
              <a:solidFill>
                <a:schemeClr val="tx1"/>
              </a:solidFill>
              <a:latin typeface="Arial" pitchFamily="34" charset="0"/>
              <a:cs typeface="Arial" pitchFamily="34" charset="0"/>
            </a:endParaRPr>
          </a:p>
          <a:p>
            <a:pPr marL="0" lvl="1" algn="just">
              <a:spcBef>
                <a:spcPts val="600"/>
              </a:spcBef>
            </a:pPr>
            <a:r>
              <a:rPr lang="es-AR" sz="1600" b="1" dirty="0" smtClean="0">
                <a:solidFill>
                  <a:srgbClr val="7030A0"/>
                </a:solidFill>
                <a:latin typeface="Arial" pitchFamily="34" charset="0"/>
                <a:cs typeface="Arial" pitchFamily="34" charset="0"/>
              </a:rPr>
              <a:t>Tiempo de respuesta: </a:t>
            </a:r>
            <a:r>
              <a:rPr lang="es-AR" sz="1600" dirty="0" smtClean="0">
                <a:solidFill>
                  <a:schemeClr val="tx1"/>
                </a:solidFill>
                <a:latin typeface="Arial" pitchFamily="34" charset="0"/>
                <a:cs typeface="Arial" pitchFamily="34" charset="0"/>
              </a:rPr>
              <a:t>es el tiempo que transcurre entre que el proceso entra y comienza a responder.</a:t>
            </a:r>
          </a:p>
          <a:p>
            <a:pPr marL="0" lvl="1" algn="just">
              <a:spcBef>
                <a:spcPts val="600"/>
              </a:spcBef>
            </a:pPr>
            <a:endParaRPr lang="es-AR" sz="1600" dirty="0" smtClean="0">
              <a:solidFill>
                <a:schemeClr val="tx1"/>
              </a:solidFill>
              <a:latin typeface="Arial" pitchFamily="34" charset="0"/>
              <a:cs typeface="Arial" pitchFamily="34" charset="0"/>
            </a:endParaRPr>
          </a:p>
          <a:p>
            <a:pPr marL="0" lvl="1" algn="just">
              <a:spcBef>
                <a:spcPts val="600"/>
              </a:spcBef>
            </a:pPr>
            <a:r>
              <a:rPr lang="es-AR" sz="1600" b="1" dirty="0" smtClean="0">
                <a:solidFill>
                  <a:srgbClr val="7030A0"/>
                </a:solidFill>
                <a:latin typeface="Arial" pitchFamily="34" charset="0"/>
                <a:cs typeface="Arial" pitchFamily="34" charset="0"/>
              </a:rPr>
              <a:t>Tiempo de espera promedio:</a:t>
            </a:r>
            <a:r>
              <a:rPr lang="es-AR" sz="1600" dirty="0" smtClean="0">
                <a:solidFill>
                  <a:srgbClr val="CC00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 es el promedio entre las esperas de los procesos</a:t>
            </a:r>
          </a:p>
          <a:p>
            <a:pPr marL="0" lvl="1" algn="just">
              <a:spcBef>
                <a:spcPts val="600"/>
              </a:spcBef>
            </a:pPr>
            <a:endParaRPr lang="es-AR" sz="1600" dirty="0" smtClean="0">
              <a:solidFill>
                <a:schemeClr val="tx1"/>
              </a:solidFill>
              <a:latin typeface="Arial" pitchFamily="34" charset="0"/>
              <a:cs typeface="Arial" pitchFamily="34" charset="0"/>
            </a:endParaRPr>
          </a:p>
          <a:p>
            <a:pPr marL="0" lvl="1" algn="just"/>
            <a:r>
              <a:rPr lang="es-AR" sz="1600" b="1" dirty="0" smtClean="0">
                <a:solidFill>
                  <a:srgbClr val="7030A0"/>
                </a:solidFill>
                <a:latin typeface="Arial" pitchFamily="34" charset="0"/>
                <a:cs typeface="Arial" pitchFamily="34" charset="0"/>
              </a:rPr>
              <a:t>Índice de servicio (I</a:t>
            </a:r>
            <a:r>
              <a:rPr lang="es-AR" sz="1600" b="1" baseline="-25000" dirty="0" smtClean="0">
                <a:solidFill>
                  <a:srgbClr val="7030A0"/>
                </a:solidFill>
                <a:latin typeface="Arial" pitchFamily="34" charset="0"/>
                <a:cs typeface="Arial" pitchFamily="34" charset="0"/>
              </a:rPr>
              <a:t>S</a:t>
            </a:r>
            <a:r>
              <a:rPr lang="es-AR" sz="1600" b="1" dirty="0" smtClean="0">
                <a:solidFill>
                  <a:srgbClr val="7030A0"/>
                </a:solidFill>
                <a:latin typeface="Arial" pitchFamily="34" charset="0"/>
                <a:cs typeface="Arial" pitchFamily="34" charset="0"/>
              </a:rPr>
              <a:t>)</a:t>
            </a:r>
            <a:r>
              <a:rPr lang="es-AR" sz="1600" dirty="0" smtClean="0">
                <a:solidFill>
                  <a:srgbClr val="CC00CC"/>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es la relación entre el tiempo de servicio y el tiempo de retorno.</a:t>
            </a:r>
          </a:p>
          <a:p>
            <a:pPr marL="0" lvl="1" algn="just"/>
            <a:r>
              <a:rPr lang="es-AR" sz="1600" dirty="0" smtClean="0">
                <a:solidFill>
                  <a:schemeClr val="tx1"/>
                </a:solidFill>
                <a:latin typeface="Arial" pitchFamily="34" charset="0"/>
                <a:cs typeface="Arial" pitchFamily="34" charset="0"/>
              </a:rPr>
              <a:t>			</a:t>
            </a:r>
            <a:r>
              <a:rPr lang="es-AR" sz="1600" b="1" dirty="0" smtClean="0">
                <a:solidFill>
                  <a:schemeClr val="tx1"/>
                </a:solidFill>
                <a:latin typeface="Arial" pitchFamily="34" charset="0"/>
                <a:cs typeface="Arial" pitchFamily="34" charset="0"/>
              </a:rPr>
              <a:t>I</a:t>
            </a:r>
            <a:r>
              <a:rPr lang="es-AR" sz="1600" b="1" baseline="-25000" dirty="0" smtClean="0">
                <a:solidFill>
                  <a:schemeClr val="tx1"/>
                </a:solidFill>
                <a:latin typeface="Arial" pitchFamily="34" charset="0"/>
                <a:cs typeface="Arial" pitchFamily="34" charset="0"/>
              </a:rPr>
              <a:t>S</a:t>
            </a:r>
            <a:r>
              <a:rPr lang="es-AR" sz="1600" b="1" dirty="0" smtClean="0">
                <a:solidFill>
                  <a:schemeClr val="tx1"/>
                </a:solidFill>
                <a:latin typeface="Arial" pitchFamily="34" charset="0"/>
                <a:cs typeface="Arial" pitchFamily="34" charset="0"/>
              </a:rPr>
              <a:t> = T</a:t>
            </a:r>
            <a:r>
              <a:rPr lang="es-AR" sz="1600" b="1" baseline="-25000" dirty="0" smtClean="0">
                <a:solidFill>
                  <a:schemeClr val="tx1"/>
                </a:solidFill>
                <a:latin typeface="Arial" pitchFamily="34" charset="0"/>
                <a:cs typeface="Arial" pitchFamily="34" charset="0"/>
              </a:rPr>
              <a:t>CPU </a:t>
            </a:r>
            <a:r>
              <a:rPr lang="es-AR" sz="1600" b="1" dirty="0" smtClean="0">
                <a:solidFill>
                  <a:schemeClr val="tx1"/>
                </a:solidFill>
                <a:latin typeface="Arial" pitchFamily="34" charset="0"/>
                <a:cs typeface="Arial" pitchFamily="34" charset="0"/>
              </a:rPr>
              <a:t>/ T</a:t>
            </a:r>
            <a:r>
              <a:rPr lang="es-AR" sz="1600" b="1" baseline="-25000" dirty="0" smtClean="0">
                <a:solidFill>
                  <a:schemeClr val="tx1"/>
                </a:solidFill>
                <a:latin typeface="Arial" pitchFamily="34" charset="0"/>
                <a:cs typeface="Arial" pitchFamily="34" charset="0"/>
              </a:rPr>
              <a:t>R</a:t>
            </a: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332015" y="961117"/>
            <a:ext cx="8811985" cy="6709529"/>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Algoritmos de Planificación de la CPU   </a:t>
            </a:r>
            <a:r>
              <a:rPr lang="es-AR" sz="1000" b="1" dirty="0" smtClean="0">
                <a:solidFill>
                  <a:schemeClr val="tx1"/>
                </a:solidFill>
                <a:latin typeface="Arial" pitchFamily="34" charset="0"/>
                <a:cs typeface="Arial" pitchFamily="34" charset="0"/>
              </a:rPr>
              <a:t>(</a:t>
            </a:r>
            <a:r>
              <a:rPr lang="es-AR" sz="1000" b="1" dirty="0" err="1" smtClean="0">
                <a:solidFill>
                  <a:schemeClr val="tx1"/>
                </a:solidFill>
                <a:latin typeface="Arial" pitchFamily="34" charset="0"/>
                <a:cs typeface="Arial" pitchFamily="34" charset="0"/>
              </a:rPr>
              <a:t>Silberchatz</a:t>
            </a:r>
            <a:r>
              <a:rPr lang="es-AR" sz="1000" b="1" dirty="0" smtClean="0">
                <a:solidFill>
                  <a:schemeClr val="tx1"/>
                </a:solidFill>
                <a:latin typeface="Arial" pitchFamily="34" charset="0"/>
                <a:cs typeface="Arial" pitchFamily="34" charset="0"/>
              </a:rPr>
              <a:t> 5.3)</a:t>
            </a:r>
          </a:p>
          <a:p>
            <a:pPr marL="0" lvl="1" algn="just"/>
            <a:r>
              <a:rPr lang="es-AR" sz="1600" dirty="0" smtClean="0">
                <a:solidFill>
                  <a:schemeClr val="tx1"/>
                </a:solidFill>
                <a:latin typeface="Arial" pitchFamily="34" charset="0"/>
                <a:cs typeface="Arial" pitchFamily="34" charset="0"/>
              </a:rPr>
              <a:t>La planificación consiste en decidir qué proceso de la cola de listos debe asignársele la CPU</a:t>
            </a:r>
          </a:p>
          <a:p>
            <a:pPr marL="0" lvl="1" algn="just"/>
            <a:r>
              <a:rPr lang="es-AR" sz="1600" dirty="0" smtClean="0">
                <a:solidFill>
                  <a:schemeClr val="tx1"/>
                </a:solidFill>
                <a:latin typeface="Arial" pitchFamily="34" charset="0"/>
                <a:cs typeface="Arial" pitchFamily="34" charset="0"/>
              </a:rPr>
              <a:t>Algunos algoritmos son:</a:t>
            </a:r>
          </a:p>
          <a:p>
            <a:pPr marL="447675" lvl="1" indent="-447675" algn="just">
              <a:buFont typeface="Arial" pitchFamily="34" charset="0"/>
              <a:buChar char="•"/>
            </a:pPr>
            <a:r>
              <a:rPr lang="es-AR" sz="1600" dirty="0" smtClean="0">
                <a:solidFill>
                  <a:schemeClr val="tx1"/>
                </a:solidFill>
                <a:latin typeface="Arial" pitchFamily="34" charset="0"/>
                <a:cs typeface="Arial" pitchFamily="34" charset="0"/>
              </a:rPr>
              <a:t>FIFO o FCFS</a:t>
            </a:r>
          </a:p>
          <a:p>
            <a:pPr marL="447675" lvl="1" indent="-447675" algn="just">
              <a:buFont typeface="Arial" pitchFamily="34" charset="0"/>
              <a:buChar char="•"/>
            </a:pPr>
            <a:r>
              <a:rPr lang="es-AR" sz="1600" dirty="0" smtClean="0">
                <a:solidFill>
                  <a:schemeClr val="tx1"/>
                </a:solidFill>
                <a:latin typeface="Arial" pitchFamily="34" charset="0"/>
                <a:cs typeface="Arial" pitchFamily="34" charset="0"/>
              </a:rPr>
              <a:t>SJF</a:t>
            </a:r>
          </a:p>
          <a:p>
            <a:pPr marL="447675" lvl="1" indent="-447675" algn="just">
              <a:buFont typeface="Arial" pitchFamily="34" charset="0"/>
              <a:buChar char="•"/>
            </a:pPr>
            <a:r>
              <a:rPr lang="es-AR" sz="1600" dirty="0" smtClean="0">
                <a:solidFill>
                  <a:schemeClr val="tx1"/>
                </a:solidFill>
                <a:latin typeface="Arial" pitchFamily="34" charset="0"/>
                <a:cs typeface="Arial" pitchFamily="34" charset="0"/>
              </a:rPr>
              <a:t>SRTF</a:t>
            </a:r>
          </a:p>
          <a:p>
            <a:pPr marL="447675" lvl="1" indent="-447675" algn="just">
              <a:buFont typeface="Arial" pitchFamily="34" charset="0"/>
              <a:buChar char="•"/>
            </a:pPr>
            <a:r>
              <a:rPr lang="es-AR" sz="1600" dirty="0" smtClean="0">
                <a:solidFill>
                  <a:schemeClr val="tx1"/>
                </a:solidFill>
                <a:latin typeface="Arial" pitchFamily="34" charset="0"/>
                <a:cs typeface="Arial" pitchFamily="34" charset="0"/>
              </a:rPr>
              <a:t>Round </a:t>
            </a:r>
            <a:r>
              <a:rPr lang="es-AR" sz="1600" dirty="0" err="1" smtClean="0">
                <a:solidFill>
                  <a:schemeClr val="tx1"/>
                </a:solidFill>
                <a:latin typeface="Arial" pitchFamily="34" charset="0"/>
                <a:cs typeface="Arial" pitchFamily="34" charset="0"/>
              </a:rPr>
              <a:t>Robin</a:t>
            </a:r>
            <a:endParaRPr lang="es-AR" sz="1600" dirty="0" smtClean="0">
              <a:solidFill>
                <a:schemeClr val="tx1"/>
              </a:solidFill>
              <a:latin typeface="Arial" pitchFamily="34" charset="0"/>
              <a:cs typeface="Arial" pitchFamily="34" charset="0"/>
            </a:endParaRPr>
          </a:p>
          <a:p>
            <a:pPr marL="447675" lvl="1" indent="-447675" algn="just">
              <a:buFont typeface="Arial" pitchFamily="34" charset="0"/>
              <a:buChar char="•"/>
            </a:pPr>
            <a:r>
              <a:rPr lang="es-AR" sz="1600" dirty="0" smtClean="0">
                <a:solidFill>
                  <a:schemeClr val="tx1"/>
                </a:solidFill>
                <a:latin typeface="Arial" pitchFamily="34" charset="0"/>
                <a:cs typeface="Arial" pitchFamily="34" charset="0"/>
              </a:rPr>
              <a:t>Prioridades</a:t>
            </a:r>
          </a:p>
          <a:p>
            <a:pPr marL="447675" lvl="1" indent="-447675" algn="just">
              <a:buFont typeface="Arial" pitchFamily="34" charset="0"/>
              <a:buChar char="•"/>
            </a:pPr>
            <a:r>
              <a:rPr lang="es-AR" sz="1600" dirty="0" smtClean="0">
                <a:solidFill>
                  <a:schemeClr val="tx1"/>
                </a:solidFill>
                <a:latin typeface="Arial" pitchFamily="34" charset="0"/>
                <a:cs typeface="Arial" pitchFamily="34" charset="0"/>
              </a:rPr>
              <a:t>Colas</a:t>
            </a:r>
          </a:p>
          <a:p>
            <a:pPr marL="0" lvl="1" algn="just"/>
            <a:endParaRPr lang="es-AR" sz="1600" dirty="0" smtClean="0">
              <a:solidFill>
                <a:srgbClr val="CC00CC"/>
              </a:solidFill>
              <a:latin typeface="Arial" pitchFamily="34" charset="0"/>
              <a:cs typeface="Arial" pitchFamily="34" charset="0"/>
            </a:endParaRPr>
          </a:p>
          <a:p>
            <a:pPr marL="0" lvl="1" algn="just"/>
            <a:r>
              <a:rPr lang="es-AR" sz="1600" b="1" dirty="0" smtClean="0">
                <a:solidFill>
                  <a:srgbClr val="CC00CC"/>
                </a:solidFill>
                <a:latin typeface="Arial" pitchFamily="34" charset="0"/>
                <a:cs typeface="Arial" pitchFamily="34" charset="0"/>
              </a:rPr>
              <a:t>Planificación FIFO ó FCFS (</a:t>
            </a:r>
            <a:r>
              <a:rPr lang="es-AR" sz="1600" b="1" dirty="0" err="1" smtClean="0">
                <a:solidFill>
                  <a:srgbClr val="CC00CC"/>
                </a:solidFill>
                <a:latin typeface="Arial" pitchFamily="34" charset="0"/>
                <a:cs typeface="Arial" pitchFamily="34" charset="0"/>
              </a:rPr>
              <a:t>First</a:t>
            </a:r>
            <a:r>
              <a:rPr lang="es-AR" sz="1600" b="1" dirty="0" smtClean="0">
                <a:solidFill>
                  <a:srgbClr val="CC00CC"/>
                </a:solidFill>
                <a:latin typeface="Arial" pitchFamily="34" charset="0"/>
                <a:cs typeface="Arial" pitchFamily="34" charset="0"/>
              </a:rPr>
              <a:t>-come </a:t>
            </a:r>
            <a:r>
              <a:rPr lang="es-AR" sz="1600" b="1" dirty="0" err="1" smtClean="0">
                <a:solidFill>
                  <a:srgbClr val="CC00CC"/>
                </a:solidFill>
                <a:latin typeface="Arial" pitchFamily="34" charset="0"/>
                <a:cs typeface="Arial" pitchFamily="34" charset="0"/>
              </a:rPr>
              <a:t>first-served</a:t>
            </a:r>
            <a:r>
              <a:rPr lang="es-AR" sz="1600" b="1" dirty="0" smtClean="0">
                <a:solidFill>
                  <a:srgbClr val="CC00CC"/>
                </a:solidFill>
                <a:latin typeface="Arial" pitchFamily="34" charset="0"/>
                <a:cs typeface="Arial" pitchFamily="34" charset="0"/>
              </a:rPr>
              <a:t>)  (Primero en llegar, primero en ser servido )</a:t>
            </a:r>
          </a:p>
          <a:p>
            <a:pPr marL="180975" lvl="1" indent="-180975" algn="just">
              <a:spcBef>
                <a:spcPts val="600"/>
              </a:spcBef>
              <a:buFont typeface="Arial" pitchFamily="34" charset="0"/>
              <a:buChar char="•"/>
            </a:pPr>
            <a:r>
              <a:rPr lang="es-AR" sz="1600" dirty="0" smtClean="0">
                <a:solidFill>
                  <a:schemeClr val="tx1"/>
                </a:solidFill>
                <a:latin typeface="Arial" pitchFamily="34" charset="0"/>
                <a:cs typeface="Arial" pitchFamily="34" charset="0"/>
              </a:rPr>
              <a:t>Es el algoritmo más simple de planificación de la CPU. </a:t>
            </a:r>
          </a:p>
          <a:p>
            <a:pPr marL="180975" lvl="1" indent="-180975" algn="just">
              <a:spcBef>
                <a:spcPts val="600"/>
              </a:spcBef>
              <a:buFont typeface="Arial" pitchFamily="34" charset="0"/>
              <a:buChar char="•"/>
            </a:pPr>
            <a:r>
              <a:rPr lang="es-AR" sz="1600" dirty="0" smtClean="0">
                <a:solidFill>
                  <a:schemeClr val="tx1"/>
                </a:solidFill>
                <a:latin typeface="Arial" pitchFamily="34" charset="0"/>
                <a:cs typeface="Arial" pitchFamily="34" charset="0"/>
              </a:rPr>
              <a:t>Se asigna la CPU de acuerdo al orden de llegada.</a:t>
            </a:r>
          </a:p>
          <a:p>
            <a:pPr marL="180975" lvl="1" indent="-180975" algn="just">
              <a:spcBef>
                <a:spcPts val="600"/>
              </a:spcBef>
              <a:buFont typeface="Arial" pitchFamily="34" charset="0"/>
              <a:buChar char="•"/>
            </a:pPr>
            <a:r>
              <a:rPr lang="es-AR" sz="1600" dirty="0" smtClean="0">
                <a:solidFill>
                  <a:schemeClr val="tx1"/>
                </a:solidFill>
                <a:latin typeface="Arial" pitchFamily="34" charset="0"/>
                <a:cs typeface="Arial" pitchFamily="34" charset="0"/>
              </a:rPr>
              <a:t>Es No </a:t>
            </a:r>
            <a:r>
              <a:rPr lang="es-AR" sz="1600" dirty="0" err="1" smtClean="0">
                <a:solidFill>
                  <a:schemeClr val="tx1"/>
                </a:solidFill>
                <a:latin typeface="Arial" pitchFamily="34" charset="0"/>
                <a:cs typeface="Arial" pitchFamily="34" charset="0"/>
              </a:rPr>
              <a:t>Apropiativo</a:t>
            </a:r>
            <a:r>
              <a:rPr lang="es-AR" sz="1600" dirty="0" smtClean="0">
                <a:solidFill>
                  <a:schemeClr val="tx1"/>
                </a:solidFill>
                <a:latin typeface="Arial" pitchFamily="34" charset="0"/>
                <a:cs typeface="Arial" pitchFamily="34" charset="0"/>
              </a:rPr>
              <a:t> .</a:t>
            </a:r>
          </a:p>
          <a:p>
            <a:pPr marL="180975" lvl="1" indent="-180975" algn="just">
              <a:spcBef>
                <a:spcPts val="600"/>
              </a:spcBef>
              <a:buFont typeface="Arial" pitchFamily="34" charset="0"/>
              <a:buChar char="•"/>
            </a:pPr>
            <a:r>
              <a:rPr lang="es-AR" sz="1600" dirty="0" smtClean="0">
                <a:solidFill>
                  <a:schemeClr val="tx1"/>
                </a:solidFill>
                <a:latin typeface="Arial" pitchFamily="34" charset="0"/>
                <a:cs typeface="Arial" pitchFamily="34" charset="0"/>
              </a:rPr>
              <a:t>Una vez que la CPU ha sido asignada a un proceso, dicho proceso conserva la CPU hasta que termina su ejecución o éste realiza una E/S</a:t>
            </a:r>
          </a:p>
          <a:p>
            <a:pPr marL="180975" lvl="1" indent="-180975" algn="just">
              <a:spcBef>
                <a:spcPts val="600"/>
              </a:spcBef>
              <a:buFont typeface="Arial" pitchFamily="34" charset="0"/>
              <a:buChar char="•"/>
            </a:pPr>
            <a:r>
              <a:rPr lang="es-AR" sz="1600" dirty="0" smtClean="0">
                <a:solidFill>
                  <a:schemeClr val="tx1"/>
                </a:solidFill>
                <a:latin typeface="Arial" pitchFamily="34" charset="0"/>
                <a:cs typeface="Arial" pitchFamily="34" charset="0"/>
              </a:rPr>
              <a:t>El tiempo medio de espera con el algoritmo FCFS es a menudo bastante largo.</a:t>
            </a:r>
          </a:p>
          <a:p>
            <a:pPr marL="180975" lvl="1" indent="-180975" algn="just">
              <a:spcBef>
                <a:spcPts val="600"/>
              </a:spcBef>
              <a:buFont typeface="Arial" pitchFamily="34" charset="0"/>
              <a:buChar char="•"/>
            </a:pPr>
            <a:r>
              <a:rPr lang="es-AR" sz="1600" dirty="0" smtClean="0">
                <a:solidFill>
                  <a:schemeClr val="tx1"/>
                </a:solidFill>
                <a:latin typeface="Arial" pitchFamily="34" charset="0"/>
                <a:cs typeface="Arial" pitchFamily="34" charset="0"/>
              </a:rPr>
              <a:t>Al alternarse con este algoritmo procesos intensivos en CPU (ráfagas largas de CPU y pocas E/S) con procesos intensivos en E/S (ráfagas cortas de CPU y muchas E/S), puede producirse el llamado “efecto convoy” </a:t>
            </a: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26" name="25 CuadroTexto"/>
          <p:cNvSpPr txBox="1"/>
          <p:nvPr/>
        </p:nvSpPr>
        <p:spPr>
          <a:xfrm>
            <a:off x="9144000" y="2990850"/>
            <a:ext cx="1838325" cy="1754326"/>
          </a:xfrm>
          <a:prstGeom prst="rect">
            <a:avLst/>
          </a:prstGeom>
          <a:noFill/>
        </p:spPr>
        <p:txBody>
          <a:bodyPr wrap="square" rtlCol="0">
            <a:spAutoFit/>
          </a:bodyPr>
          <a:lstStyle/>
          <a:p>
            <a:r>
              <a:rPr lang="es-AR" sz="1200" dirty="0" smtClean="0">
                <a:solidFill>
                  <a:schemeClr val="tx1"/>
                </a:solidFill>
                <a:latin typeface="Arial" pitchFamily="34" charset="0"/>
                <a:cs typeface="Arial" pitchFamily="34" charset="0"/>
              </a:rPr>
              <a:t>Efecto convoy:</a:t>
            </a:r>
          </a:p>
          <a:p>
            <a:pPr algn="just"/>
            <a:r>
              <a:rPr lang="es-AR" sz="1200" dirty="0" smtClean="0">
                <a:solidFill>
                  <a:schemeClr val="tx1"/>
                </a:solidFill>
                <a:latin typeface="Arial" pitchFamily="34" charset="0"/>
                <a:cs typeface="Arial" pitchFamily="34" charset="0"/>
              </a:rPr>
              <a:t> la analogía sería en la cola de un supermercado cuando solamente compramos un producto y estamos después de alguien que compró un </a:t>
            </a:r>
            <a:r>
              <a:rPr lang="es-AR" sz="1200" dirty="0" err="1" smtClean="0">
                <a:solidFill>
                  <a:schemeClr val="tx1"/>
                </a:solidFill>
                <a:latin typeface="Arial" pitchFamily="34" charset="0"/>
                <a:cs typeface="Arial" pitchFamily="34" charset="0"/>
              </a:rPr>
              <a:t>changuito</a:t>
            </a:r>
            <a:r>
              <a:rPr lang="es-AR" sz="1200" dirty="0" smtClean="0">
                <a:solidFill>
                  <a:schemeClr val="tx1"/>
                </a:solidFill>
                <a:latin typeface="Arial" pitchFamily="34" charset="0"/>
                <a:cs typeface="Arial" pitchFamily="34" charset="0"/>
              </a:rPr>
              <a:t> completo</a:t>
            </a:r>
            <a:endParaRPr lang="es-AR" sz="12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70642"/>
            <a:ext cx="8811985" cy="8463855"/>
          </a:xfrm>
          <a:prstGeom prst="rect">
            <a:avLst/>
          </a:prstGeom>
          <a:noFill/>
        </p:spPr>
        <p:txBody>
          <a:bodyPr wrap="square" rtlCol="0">
            <a:spAutoFit/>
          </a:bodyPr>
          <a:lstStyle/>
          <a:p>
            <a:pPr marL="0" lvl="1" algn="just"/>
            <a:r>
              <a:rPr lang="es-AR" sz="1600" b="1" dirty="0" smtClean="0">
                <a:solidFill>
                  <a:srgbClr val="CC00CC"/>
                </a:solidFill>
                <a:latin typeface="Arial" pitchFamily="34" charset="0"/>
                <a:cs typeface="Arial" pitchFamily="34" charset="0"/>
              </a:rPr>
              <a:t>Planificación FCFS…</a:t>
            </a:r>
          </a:p>
          <a:p>
            <a:pPr marL="0" lvl="1"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Ejemplo:  Supongamos  3 procesos que llegan al mismo tiempo en 0 y sus ráfagas de CPU en milisegundos  son los de la tabla:</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El diagrama de </a:t>
            </a:r>
            <a:r>
              <a:rPr lang="es-AR" sz="1600" dirty="0" err="1" smtClean="0">
                <a:solidFill>
                  <a:schemeClr val="tx1"/>
                </a:solidFill>
                <a:latin typeface="Arial" pitchFamily="34" charset="0"/>
                <a:cs typeface="Arial" pitchFamily="34" charset="0"/>
              </a:rPr>
              <a:t>Gant</a:t>
            </a:r>
            <a:r>
              <a:rPr lang="es-AR" sz="1600" dirty="0" smtClean="0">
                <a:solidFill>
                  <a:schemeClr val="tx1"/>
                </a:solidFill>
                <a:latin typeface="Arial" pitchFamily="34" charset="0"/>
                <a:cs typeface="Arial" pitchFamily="34" charset="0"/>
              </a:rPr>
              <a:t> correspondiente es:</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El tiempo de espera de P</a:t>
            </a:r>
            <a:r>
              <a:rPr lang="es-AR" sz="1600" baseline="-25000" dirty="0" smtClean="0">
                <a:solidFill>
                  <a:schemeClr val="tx1"/>
                </a:solidFill>
                <a:latin typeface="Arial" pitchFamily="34" charset="0"/>
                <a:cs typeface="Arial" pitchFamily="34" charset="0"/>
              </a:rPr>
              <a:t>1</a:t>
            </a:r>
            <a:r>
              <a:rPr lang="es-AR" sz="1600" dirty="0" smtClean="0">
                <a:solidFill>
                  <a:schemeClr val="tx1"/>
                </a:solidFill>
                <a:latin typeface="Arial" pitchFamily="34" charset="0"/>
                <a:cs typeface="Arial" pitchFamily="34" charset="0"/>
              </a:rPr>
              <a:t> es de 0ms, de P</a:t>
            </a:r>
            <a:r>
              <a:rPr lang="es-AR" sz="1600" baseline="-25000" dirty="0" smtClean="0">
                <a:solidFill>
                  <a:schemeClr val="tx1"/>
                </a:solidFill>
                <a:latin typeface="Arial" pitchFamily="34" charset="0"/>
                <a:cs typeface="Arial" pitchFamily="34" charset="0"/>
              </a:rPr>
              <a:t>2</a:t>
            </a:r>
            <a:r>
              <a:rPr lang="es-AR" sz="1600" dirty="0" smtClean="0">
                <a:solidFill>
                  <a:schemeClr val="tx1"/>
                </a:solidFill>
                <a:latin typeface="Arial" pitchFamily="34" charset="0"/>
                <a:cs typeface="Arial" pitchFamily="34" charset="0"/>
              </a:rPr>
              <a:t> es de 24ms y de P</a:t>
            </a:r>
            <a:r>
              <a:rPr lang="es-AR" sz="1600" baseline="-25000" dirty="0" smtClean="0">
                <a:solidFill>
                  <a:schemeClr val="tx1"/>
                </a:solidFill>
                <a:latin typeface="Arial" pitchFamily="34" charset="0"/>
                <a:cs typeface="Arial" pitchFamily="34" charset="0"/>
              </a:rPr>
              <a:t>3</a:t>
            </a:r>
            <a:r>
              <a:rPr lang="es-AR" sz="1600" dirty="0" smtClean="0">
                <a:solidFill>
                  <a:schemeClr val="tx1"/>
                </a:solidFill>
                <a:latin typeface="Arial" pitchFamily="34" charset="0"/>
                <a:cs typeface="Arial" pitchFamily="34" charset="0"/>
              </a:rPr>
              <a:t> es de 27ms por lo que el tiempo de espera promedio será de (0+24+27)/3 = 17ms</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Ahora, si el orden de llegada hubiera sido P</a:t>
            </a:r>
            <a:r>
              <a:rPr lang="es-AR" sz="1600" baseline="-25000" dirty="0" smtClean="0">
                <a:solidFill>
                  <a:schemeClr val="tx1"/>
                </a:solidFill>
                <a:latin typeface="Arial" pitchFamily="34" charset="0"/>
                <a:cs typeface="Arial" pitchFamily="34" charset="0"/>
              </a:rPr>
              <a:t>2</a:t>
            </a:r>
            <a:r>
              <a:rPr lang="es-AR" sz="1600" dirty="0" smtClean="0">
                <a:solidFill>
                  <a:schemeClr val="tx1"/>
                </a:solidFill>
                <a:latin typeface="Arial" pitchFamily="34" charset="0"/>
                <a:cs typeface="Arial" pitchFamily="34" charset="0"/>
              </a:rPr>
              <a:t>, P</a:t>
            </a:r>
            <a:r>
              <a:rPr lang="es-AR" sz="1600" baseline="-25000" dirty="0" smtClean="0">
                <a:solidFill>
                  <a:schemeClr val="tx1"/>
                </a:solidFill>
                <a:latin typeface="Arial" pitchFamily="34" charset="0"/>
                <a:cs typeface="Arial" pitchFamily="34" charset="0"/>
              </a:rPr>
              <a:t>3</a:t>
            </a:r>
            <a:r>
              <a:rPr lang="es-AR" sz="1600" dirty="0" smtClean="0">
                <a:solidFill>
                  <a:schemeClr val="tx1"/>
                </a:solidFill>
                <a:latin typeface="Arial" pitchFamily="34" charset="0"/>
                <a:cs typeface="Arial" pitchFamily="34" charset="0"/>
              </a:rPr>
              <a:t> y P</a:t>
            </a:r>
            <a:r>
              <a:rPr lang="es-AR" sz="1600" baseline="-25000" dirty="0" smtClean="0">
                <a:solidFill>
                  <a:schemeClr val="tx1"/>
                </a:solidFill>
                <a:latin typeface="Arial" pitchFamily="34" charset="0"/>
                <a:cs typeface="Arial" pitchFamily="34" charset="0"/>
              </a:rPr>
              <a:t>1</a:t>
            </a:r>
            <a:r>
              <a:rPr lang="es-AR" sz="1600" dirty="0" smtClean="0">
                <a:solidFill>
                  <a:schemeClr val="tx1"/>
                </a:solidFill>
                <a:latin typeface="Arial" pitchFamily="34" charset="0"/>
                <a:cs typeface="Arial" pitchFamily="34" charset="0"/>
              </a:rPr>
              <a:t> el resultado del diagrama de </a:t>
            </a:r>
            <a:r>
              <a:rPr lang="es-AR" sz="1600" dirty="0" err="1" smtClean="0">
                <a:solidFill>
                  <a:schemeClr val="tx1"/>
                </a:solidFill>
                <a:latin typeface="Arial" pitchFamily="34" charset="0"/>
                <a:cs typeface="Arial" pitchFamily="34" charset="0"/>
              </a:rPr>
              <a:t>Gant</a:t>
            </a:r>
            <a:r>
              <a:rPr lang="es-AR" sz="1600" dirty="0" smtClean="0">
                <a:solidFill>
                  <a:schemeClr val="tx1"/>
                </a:solidFill>
                <a:latin typeface="Arial" pitchFamily="34" charset="0"/>
                <a:cs typeface="Arial" pitchFamily="34" charset="0"/>
              </a:rPr>
              <a:t> sería:</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Y su espera promedio (6+0+3)/3=3ms</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Como se ve depende el tiempo de espera promedio depende del orden de llegada de los procesos y de sus características y no es siempre en mínimo.</a:t>
            </a:r>
          </a:p>
          <a:p>
            <a:pPr marL="180975" lvl="1" indent="-180975" algn="just"/>
            <a:r>
              <a:rPr lang="es-AR" sz="1600" dirty="0" smtClean="0">
                <a:solidFill>
                  <a:schemeClr val="tx1"/>
                </a:solidFill>
                <a:latin typeface="Arial" pitchFamily="34" charset="0"/>
                <a:cs typeface="Arial" pitchFamily="34" charset="0"/>
              </a:rPr>
              <a:t> </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4098"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752849" y="1952625"/>
            <a:ext cx="2076451" cy="799714"/>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519238" y="3033714"/>
            <a:ext cx="4567237" cy="641678"/>
          </a:xfrm>
          <a:prstGeom prst="rect">
            <a:avLst/>
          </a:prstGeom>
          <a:noFill/>
          <a:ln w="9525">
            <a:noFill/>
            <a:miter lim="800000"/>
            <a:headEnd/>
            <a:tailEnd/>
          </a:ln>
        </p:spPr>
      </p:pic>
      <p:pic>
        <p:nvPicPr>
          <p:cNvPr id="4100" name="Picture 4"/>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557338" y="4824413"/>
            <a:ext cx="4501142" cy="6143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70642"/>
            <a:ext cx="8811985" cy="9033242"/>
          </a:xfrm>
          <a:prstGeom prst="rect">
            <a:avLst/>
          </a:prstGeom>
          <a:noFill/>
        </p:spPr>
        <p:txBody>
          <a:bodyPr wrap="square" rtlCol="0">
            <a:spAutoFit/>
          </a:bodyPr>
          <a:lstStyle/>
          <a:p>
            <a:pPr marL="0" lvl="1" algn="just"/>
            <a:r>
              <a:rPr lang="es-AR" sz="1600" b="1" dirty="0" smtClean="0">
                <a:solidFill>
                  <a:srgbClr val="CC00CC"/>
                </a:solidFill>
                <a:latin typeface="Arial" pitchFamily="34" charset="0"/>
                <a:cs typeface="Arial" pitchFamily="34" charset="0"/>
              </a:rPr>
              <a:t>Planificación SJF (</a:t>
            </a:r>
            <a:r>
              <a:rPr lang="es-AR" sz="1600" b="1" dirty="0" err="1" smtClean="0">
                <a:solidFill>
                  <a:srgbClr val="CC00CC"/>
                </a:solidFill>
                <a:latin typeface="Arial" pitchFamily="34" charset="0"/>
                <a:cs typeface="Arial" pitchFamily="34" charset="0"/>
              </a:rPr>
              <a:t>Shortest</a:t>
            </a:r>
            <a:r>
              <a:rPr lang="es-AR" sz="1600" b="1" dirty="0" smtClean="0">
                <a:solidFill>
                  <a:srgbClr val="CC00CC"/>
                </a:solidFill>
                <a:latin typeface="Arial" pitchFamily="34" charset="0"/>
                <a:cs typeface="Arial" pitchFamily="34" charset="0"/>
              </a:rPr>
              <a:t> Job </a:t>
            </a:r>
            <a:r>
              <a:rPr lang="es-AR" sz="1600" b="1" dirty="0" err="1" smtClean="0">
                <a:solidFill>
                  <a:srgbClr val="CC00CC"/>
                </a:solidFill>
                <a:latin typeface="Arial" pitchFamily="34" charset="0"/>
                <a:cs typeface="Arial" pitchFamily="34" charset="0"/>
              </a:rPr>
              <a:t>First</a:t>
            </a:r>
            <a:r>
              <a:rPr lang="es-AR" sz="1600" b="1" dirty="0" smtClean="0">
                <a:solidFill>
                  <a:srgbClr val="CC00CC"/>
                </a:solidFill>
                <a:latin typeface="Arial" pitchFamily="34" charset="0"/>
                <a:cs typeface="Arial" pitchFamily="34" charset="0"/>
              </a:rPr>
              <a:t>):</a:t>
            </a:r>
            <a:endParaRPr lang="es-AR" sz="1600" b="1" dirty="0" smtClean="0">
              <a:solidFill>
                <a:schemeClr val="tx1"/>
              </a:solidFill>
              <a:latin typeface="Arial" pitchFamily="34" charset="0"/>
              <a:cs typeface="Arial" pitchFamily="34" charset="0"/>
            </a:endParaRP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Este algoritmo asocia a cada proceso el largo de su próximo CPU-</a:t>
            </a:r>
            <a:r>
              <a:rPr lang="es-AR" sz="1600" dirty="0" err="1" smtClean="0">
                <a:solidFill>
                  <a:schemeClr val="tx1"/>
                </a:solidFill>
                <a:latin typeface="Arial" pitchFamily="34" charset="0"/>
                <a:cs typeface="Arial" pitchFamily="34" charset="0"/>
              </a:rPr>
              <a:t>burst</a:t>
            </a:r>
            <a:r>
              <a:rPr lang="es-AR" sz="1600" dirty="0" smtClean="0">
                <a:solidFill>
                  <a:schemeClr val="tx1"/>
                </a:solidFill>
                <a:latin typeface="Arial" pitchFamily="34" charset="0"/>
                <a:cs typeface="Arial" pitchFamily="34" charset="0"/>
              </a:rPr>
              <a:t>, asignando al CPU (cuando queda disponible), el proceso que tenga menor CPU-</a:t>
            </a:r>
            <a:r>
              <a:rPr lang="es-AR" sz="1600" dirty="0" err="1" smtClean="0">
                <a:solidFill>
                  <a:schemeClr val="tx1"/>
                </a:solidFill>
                <a:latin typeface="Arial" pitchFamily="34" charset="0"/>
                <a:cs typeface="Arial" pitchFamily="34" charset="0"/>
              </a:rPr>
              <a:t>burst</a:t>
            </a:r>
            <a:r>
              <a:rPr lang="es-AR" sz="1600" dirty="0" smtClean="0">
                <a:solidFill>
                  <a:schemeClr val="tx1"/>
                </a:solidFill>
                <a:latin typeface="Arial" pitchFamily="34" charset="0"/>
                <a:cs typeface="Arial" pitchFamily="34" charset="0"/>
              </a:rPr>
              <a:t>. Si las ráfagas son iguales se usa el orden de llegada.</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Para poder llevar a cabo este algoritmo, es necesario conocer los tiempos de ejecución que por lo general son desconocidos</a:t>
            </a:r>
          </a:p>
          <a:p>
            <a:pPr marL="180975" lvl="1" indent="-180975" algn="just">
              <a:buFont typeface="Arial" pitchFamily="34" charset="0"/>
              <a:buChar char="•"/>
            </a:pPr>
            <a:endParaRPr lang="es-AR" sz="1600" dirty="0" smtClean="0">
              <a:solidFill>
                <a:schemeClr val="tx1"/>
              </a:solidFill>
              <a:latin typeface="Arial" pitchFamily="34" charset="0"/>
              <a:cs typeface="Arial" pitchFamily="34" charset="0"/>
            </a:endParaRPr>
          </a:p>
          <a:p>
            <a:pPr marL="180975" lvl="1" indent="-180975" algn="just"/>
            <a:r>
              <a:rPr lang="es-AR" sz="1600" b="1" dirty="0" smtClean="0">
                <a:solidFill>
                  <a:schemeClr val="tx1"/>
                </a:solidFill>
                <a:latin typeface="Arial" pitchFamily="34" charset="0"/>
                <a:cs typeface="Arial" pitchFamily="34" charset="0"/>
              </a:rPr>
              <a:t>Tiene 2 variantes:</a:t>
            </a:r>
          </a:p>
          <a:p>
            <a:pPr marL="342900" lvl="1" indent="-342900" algn="just">
              <a:spcBef>
                <a:spcPts val="600"/>
              </a:spcBef>
              <a:buFont typeface="+mj-lt"/>
              <a:buAutoNum type="arabicPeriod"/>
            </a:pPr>
            <a:r>
              <a:rPr lang="es-AR" sz="1600" dirty="0" smtClean="0">
                <a:solidFill>
                  <a:schemeClr val="tx1"/>
                </a:solidFill>
                <a:latin typeface="Arial" pitchFamily="34" charset="0"/>
                <a:cs typeface="Arial" pitchFamily="34" charset="0"/>
              </a:rPr>
              <a:t>Variante</a:t>
            </a:r>
            <a:r>
              <a:rPr lang="es-AR" sz="1600" dirty="0" smtClean="0">
                <a:solidFill>
                  <a:srgbClr val="CC00CC"/>
                </a:solidFill>
                <a:latin typeface="Arial" pitchFamily="34" charset="0"/>
                <a:cs typeface="Arial" pitchFamily="34" charset="0"/>
              </a:rPr>
              <a:t> </a:t>
            </a:r>
            <a:r>
              <a:rPr lang="es-AR" sz="1600" b="1" dirty="0" smtClean="0">
                <a:solidFill>
                  <a:srgbClr val="CC00CC"/>
                </a:solidFill>
                <a:latin typeface="Arial" pitchFamily="34" charset="0"/>
                <a:cs typeface="Arial" pitchFamily="34" charset="0"/>
              </a:rPr>
              <a:t>SJF NO APROPIATIVA</a:t>
            </a:r>
          </a:p>
          <a:p>
            <a:pPr marL="180975" lvl="1" indent="-180975" algn="just"/>
            <a:r>
              <a:rPr lang="es-AR" sz="1600" dirty="0" smtClean="0">
                <a:solidFill>
                  <a:schemeClr val="tx1"/>
                </a:solidFill>
                <a:latin typeface="Arial" pitchFamily="34" charset="0"/>
                <a:cs typeface="Arial" pitchFamily="34" charset="0"/>
              </a:rPr>
              <a:t>Aunque aparezca un proceso con menor CPU-</a:t>
            </a:r>
            <a:r>
              <a:rPr lang="es-AR" sz="1600" dirty="0" err="1" smtClean="0">
                <a:solidFill>
                  <a:schemeClr val="tx1"/>
                </a:solidFill>
                <a:latin typeface="Arial" pitchFamily="34" charset="0"/>
                <a:cs typeface="Arial" pitchFamily="34" charset="0"/>
              </a:rPr>
              <a:t>burst</a:t>
            </a:r>
            <a:r>
              <a:rPr lang="es-AR" sz="1600" dirty="0" smtClean="0">
                <a:solidFill>
                  <a:schemeClr val="tx1"/>
                </a:solidFill>
                <a:latin typeface="Arial" pitchFamily="34" charset="0"/>
                <a:cs typeface="Arial" pitchFamily="34" charset="0"/>
              </a:rPr>
              <a:t> en la lista, se espera a que el proceso que tiene la CPU termine de ejecutarse</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Ejemplo:                                                   Diagrama de </a:t>
            </a:r>
            <a:r>
              <a:rPr lang="es-AR" sz="1600" dirty="0" err="1" smtClean="0">
                <a:solidFill>
                  <a:schemeClr val="tx1"/>
                </a:solidFill>
                <a:latin typeface="Arial" pitchFamily="34" charset="0"/>
                <a:cs typeface="Arial" pitchFamily="34" charset="0"/>
              </a:rPr>
              <a:t>Gant</a:t>
            </a:r>
            <a:r>
              <a:rPr lang="es-AR" sz="1600" dirty="0" smtClean="0">
                <a:solidFill>
                  <a:schemeClr val="tx1"/>
                </a:solidFill>
                <a:latin typeface="Arial" pitchFamily="34" charset="0"/>
                <a:cs typeface="Arial" pitchFamily="34" charset="0"/>
              </a:rPr>
              <a:t>:</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Tiempo de espera promedio:     (0 + 6 + 3 + 7) / 4 = 4 ms</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 </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5122" name="Picture 2"/>
          <p:cNvPicPr>
            <a:picLocks noChangeAspect="1" noChangeArrowheads="1"/>
          </p:cNvPicPr>
          <p:nvPr/>
        </p:nvPicPr>
        <p:blipFill>
          <a:blip r:embed="rId3" cstate="print"/>
          <a:stretch>
            <a:fillRect/>
          </a:stretch>
        </p:blipFill>
        <p:spPr bwMode="auto">
          <a:xfrm>
            <a:off x="1154430" y="4342450"/>
            <a:ext cx="2428875" cy="1513176"/>
          </a:xfrm>
          <a:prstGeom prst="rect">
            <a:avLst/>
          </a:prstGeom>
          <a:noFill/>
          <a:ln>
            <a:noFill/>
          </a:ln>
        </p:spPr>
      </p:pic>
      <p:pic>
        <p:nvPicPr>
          <p:cNvPr id="5125" name="Picture 5"/>
          <p:cNvPicPr>
            <a:picLocks noChangeAspect="1" noChangeArrowheads="1"/>
          </p:cNvPicPr>
          <p:nvPr/>
        </p:nvPicPr>
        <p:blipFill>
          <a:blip r:embed="rId4" cstate="print"/>
          <a:srcRect/>
          <a:stretch>
            <a:fillRect/>
          </a:stretch>
        </p:blipFill>
        <p:spPr bwMode="auto">
          <a:xfrm>
            <a:off x="4017645" y="4321493"/>
            <a:ext cx="4692015" cy="1937632"/>
          </a:xfrm>
          <a:prstGeom prst="rect">
            <a:avLst/>
          </a:prstGeom>
          <a:noFill/>
          <a:ln w="9525">
            <a:noFill/>
            <a:miter lim="800000"/>
            <a:headEnd/>
            <a:tailEnd/>
          </a:ln>
        </p:spPr>
      </p:pic>
      <p:sp>
        <p:nvSpPr>
          <p:cNvPr id="11" name="10 CuadroTexto"/>
          <p:cNvSpPr txBox="1"/>
          <p:nvPr/>
        </p:nvSpPr>
        <p:spPr>
          <a:xfrm>
            <a:off x="4292287" y="5225428"/>
            <a:ext cx="4571678" cy="276999"/>
          </a:xfrm>
          <a:prstGeom prst="rect">
            <a:avLst/>
          </a:prstGeom>
          <a:noFill/>
        </p:spPr>
        <p:txBody>
          <a:bodyPr wrap="square" rtlCol="0">
            <a:spAutoFit/>
          </a:bodyPr>
          <a:lstStyle/>
          <a:p>
            <a:pPr algn="l"/>
            <a:r>
              <a:rPr lang="es-AR" sz="1200" b="1" dirty="0" smtClean="0">
                <a:solidFill>
                  <a:schemeClr val="tx1"/>
                </a:solidFill>
                <a:latin typeface="Arial" pitchFamily="34" charset="0"/>
                <a:cs typeface="Arial" pitchFamily="34" charset="0"/>
              </a:rPr>
              <a:t>0           2          4    5          7                      11  12                    16</a:t>
            </a:r>
            <a:endParaRPr lang="es-AR" sz="1200" b="1"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CuadroTexto"/>
          <p:cNvSpPr txBox="1"/>
          <p:nvPr/>
        </p:nvSpPr>
        <p:spPr>
          <a:xfrm>
            <a:off x="38100" y="962025"/>
            <a:ext cx="9010650" cy="8729127"/>
          </a:xfrm>
          <a:prstGeom prst="rect">
            <a:avLst/>
          </a:prstGeom>
          <a:noFill/>
        </p:spPr>
        <p:txBody>
          <a:bodyPr wrap="square" rtlCol="0">
            <a:spAutoFit/>
          </a:bodyPr>
          <a:lstStyle/>
          <a:p>
            <a:pPr marL="342900" lvl="1" indent="-342900" algn="just">
              <a:spcBef>
                <a:spcPts val="600"/>
              </a:spcBef>
              <a:buFont typeface="+mj-lt"/>
              <a:buAutoNum type="arabicPeriod" startAt="2"/>
            </a:pPr>
            <a:r>
              <a:rPr lang="es-AR" sz="1600" dirty="0" smtClean="0">
                <a:solidFill>
                  <a:schemeClr val="tx1"/>
                </a:solidFill>
                <a:latin typeface="Arial" pitchFamily="34" charset="0"/>
                <a:cs typeface="Arial" pitchFamily="34" charset="0"/>
              </a:rPr>
              <a:t>Variante</a:t>
            </a:r>
            <a:r>
              <a:rPr lang="es-AR" sz="1600" dirty="0" smtClean="0">
                <a:solidFill>
                  <a:srgbClr val="CC00CC"/>
                </a:solidFill>
                <a:latin typeface="Arial" pitchFamily="34" charset="0"/>
                <a:cs typeface="Arial" pitchFamily="34" charset="0"/>
              </a:rPr>
              <a:t> </a:t>
            </a:r>
            <a:r>
              <a:rPr lang="es-AR" sz="1600" b="1" dirty="0" smtClean="0">
                <a:solidFill>
                  <a:srgbClr val="CC00CC"/>
                </a:solidFill>
                <a:latin typeface="Arial" pitchFamily="34" charset="0"/>
                <a:cs typeface="Arial" pitchFamily="34" charset="0"/>
              </a:rPr>
              <a:t>SJF APROPIATIVA (SRTF)  (</a:t>
            </a:r>
            <a:r>
              <a:rPr lang="es-AR" sz="1600" b="1" dirty="0" err="1" smtClean="0">
                <a:solidFill>
                  <a:srgbClr val="CC00CC"/>
                </a:solidFill>
                <a:latin typeface="Arial" pitchFamily="34" charset="0"/>
                <a:cs typeface="Arial" pitchFamily="34" charset="0"/>
              </a:rPr>
              <a:t>Shortest</a:t>
            </a:r>
            <a:r>
              <a:rPr lang="es-AR" sz="1600" b="1" dirty="0" smtClean="0">
                <a:solidFill>
                  <a:srgbClr val="CC00CC"/>
                </a:solidFill>
                <a:latin typeface="Arial" pitchFamily="34" charset="0"/>
                <a:cs typeface="Arial" pitchFamily="34" charset="0"/>
              </a:rPr>
              <a:t>-</a:t>
            </a:r>
            <a:r>
              <a:rPr lang="es-AR" sz="1600" b="1" dirty="0" err="1" smtClean="0">
                <a:solidFill>
                  <a:srgbClr val="CC00CC"/>
                </a:solidFill>
                <a:latin typeface="Arial" pitchFamily="34" charset="0"/>
                <a:cs typeface="Arial" pitchFamily="34" charset="0"/>
              </a:rPr>
              <a:t>Remaining</a:t>
            </a:r>
            <a:r>
              <a:rPr lang="es-AR" sz="1600" b="1" dirty="0" smtClean="0">
                <a:solidFill>
                  <a:srgbClr val="CC00CC"/>
                </a:solidFill>
                <a:latin typeface="Arial" pitchFamily="34" charset="0"/>
                <a:cs typeface="Arial" pitchFamily="34" charset="0"/>
              </a:rPr>
              <a:t>-Time-</a:t>
            </a:r>
            <a:r>
              <a:rPr lang="es-AR" sz="1600" b="1" dirty="0" err="1" smtClean="0">
                <a:solidFill>
                  <a:srgbClr val="CC00CC"/>
                </a:solidFill>
                <a:latin typeface="Arial" pitchFamily="34" charset="0"/>
                <a:cs typeface="Arial" pitchFamily="34" charset="0"/>
              </a:rPr>
              <a:t>First</a:t>
            </a:r>
            <a:r>
              <a:rPr lang="es-AR" sz="1600" b="1" dirty="0" smtClean="0">
                <a:solidFill>
                  <a:srgbClr val="CC00CC"/>
                </a:solidFill>
                <a:latin typeface="Arial" pitchFamily="34" charset="0"/>
                <a:cs typeface="Arial" pitchFamily="34" charset="0"/>
              </a:rPr>
              <a:t>)</a:t>
            </a:r>
          </a:p>
          <a:p>
            <a:pPr marL="180975" lvl="1" indent="-180975" algn="just"/>
            <a:r>
              <a:rPr lang="es-AR" sz="1600" dirty="0" smtClean="0">
                <a:solidFill>
                  <a:schemeClr val="tx1"/>
                </a:solidFill>
                <a:latin typeface="Arial" pitchFamily="34" charset="0"/>
                <a:cs typeface="Arial" pitchFamily="34" charset="0"/>
              </a:rPr>
              <a:t>Si aparece en la lista un proceso cuyo CPU </a:t>
            </a:r>
            <a:r>
              <a:rPr lang="es-AR" sz="1600" dirty="0" err="1" smtClean="0">
                <a:solidFill>
                  <a:schemeClr val="tx1"/>
                </a:solidFill>
                <a:latin typeface="Arial" pitchFamily="34" charset="0"/>
                <a:cs typeface="Arial" pitchFamily="34" charset="0"/>
              </a:rPr>
              <a:t>Burst</a:t>
            </a:r>
            <a:r>
              <a:rPr lang="es-AR" sz="1600" dirty="0" smtClean="0">
                <a:solidFill>
                  <a:schemeClr val="tx1"/>
                </a:solidFill>
                <a:latin typeface="Arial" pitchFamily="34" charset="0"/>
                <a:cs typeface="Arial" pitchFamily="34" charset="0"/>
              </a:rPr>
              <a:t> es menor del que se está ejecutando, lo quita de la CPU y carga aquel que tenía menor CPU </a:t>
            </a:r>
            <a:r>
              <a:rPr lang="es-AR" sz="1600" dirty="0" err="1" smtClean="0">
                <a:solidFill>
                  <a:schemeClr val="tx1"/>
                </a:solidFill>
                <a:latin typeface="Arial" pitchFamily="34" charset="0"/>
                <a:cs typeface="Arial" pitchFamily="34" charset="0"/>
              </a:rPr>
              <a:t>burst</a:t>
            </a:r>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Ejemplo:                                                   Diagrama de </a:t>
            </a:r>
            <a:r>
              <a:rPr lang="es-AR" sz="1600" dirty="0" err="1" smtClean="0">
                <a:solidFill>
                  <a:schemeClr val="tx1"/>
                </a:solidFill>
                <a:latin typeface="Arial" pitchFamily="34" charset="0"/>
                <a:cs typeface="Arial" pitchFamily="34" charset="0"/>
              </a:rPr>
              <a:t>Gant</a:t>
            </a:r>
            <a:r>
              <a:rPr lang="es-AR" sz="1600" dirty="0" smtClean="0">
                <a:solidFill>
                  <a:schemeClr val="tx1"/>
                </a:solidFill>
                <a:latin typeface="Arial" pitchFamily="34" charset="0"/>
                <a:cs typeface="Arial" pitchFamily="34" charset="0"/>
              </a:rPr>
              <a:t>:</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Tiempo de espera promedio:     (9 + 1 + 0 + 2) / 4 = 3 ms</a:t>
            </a:r>
          </a:p>
          <a:p>
            <a:pPr marL="180975" lvl="1" indent="-180975" algn="just"/>
            <a:endParaRPr lang="es-AR" sz="1600" dirty="0" smtClean="0">
              <a:solidFill>
                <a:schemeClr val="tx1"/>
              </a:solidFill>
              <a:latin typeface="Arial" pitchFamily="34" charset="0"/>
              <a:cs typeface="Arial" pitchFamily="34" charset="0"/>
            </a:endParaRPr>
          </a:p>
          <a:p>
            <a:pPr marL="177800" lvl="1" indent="-177800" algn="just">
              <a:buFont typeface="Wingdings" pitchFamily="2" charset="2"/>
              <a:buChar char="ü"/>
            </a:pPr>
            <a:r>
              <a:rPr lang="es-AR" sz="1600" dirty="0" smtClean="0">
                <a:solidFill>
                  <a:schemeClr val="tx1"/>
                </a:solidFill>
                <a:latin typeface="Arial" pitchFamily="34" charset="0"/>
                <a:cs typeface="Arial" pitchFamily="34" charset="0"/>
              </a:rPr>
              <a:t>SJF es óptimo, en el sentido que proporciona el tiempo medio de espera mínimo para un conjunto de procesos dado.</a:t>
            </a:r>
          </a:p>
          <a:p>
            <a:pPr marL="177800" lvl="1" indent="-177800" algn="just">
              <a:buFont typeface="Wingdings" pitchFamily="2" charset="2"/>
              <a:buChar char="ü"/>
            </a:pPr>
            <a:r>
              <a:rPr lang="es-AR" sz="1600" dirty="0" smtClean="0">
                <a:solidFill>
                  <a:schemeClr val="tx1"/>
                </a:solidFill>
                <a:latin typeface="Arial" pitchFamily="34" charset="0"/>
                <a:cs typeface="Arial" pitchFamily="34" charset="0"/>
              </a:rPr>
              <a:t>Anteponer un proceso corto a uno largo disminuye el tiempo de espera del proceso corto en mayor medida de lo que incrementa el tiempo de espera del proceso largo, por lo tanto, el tiempo medio de espera disminuye.</a:t>
            </a:r>
          </a:p>
          <a:p>
            <a:pPr marL="177800" lvl="1" indent="-177800" algn="just">
              <a:buFont typeface="Wingdings" pitchFamily="2" charset="2"/>
              <a:buChar char="ü"/>
            </a:pPr>
            <a:r>
              <a:rPr lang="es-AR" sz="1600" dirty="0" smtClean="0">
                <a:solidFill>
                  <a:schemeClr val="tx1"/>
                </a:solidFill>
                <a:latin typeface="Arial" pitchFamily="34" charset="0"/>
                <a:cs typeface="Arial" pitchFamily="34" charset="0"/>
              </a:rPr>
              <a:t>El algoritmo SJF, se puede utilizar como mecanismo de planificación a largo plazo (donde el usuario puede establecer como duración el límite de tiempo cuando envíe un trabajo), pero no en corto plazo debido que no se puede conocer la duración de la siguiente ráfaga de CPU si bien se puede llegar a aproximar basado en que la ráfaga de CPU será similar a las anteriores.</a:t>
            </a:r>
          </a:p>
          <a:p>
            <a:pPr marL="180975" lvl="1" indent="-180975" algn="just"/>
            <a:r>
              <a:rPr lang="es-AR" sz="1600" dirty="0" smtClean="0">
                <a:solidFill>
                  <a:schemeClr val="tx1"/>
                </a:solidFill>
                <a:latin typeface="Arial" pitchFamily="34" charset="0"/>
                <a:cs typeface="Arial" pitchFamily="34" charset="0"/>
              </a:rPr>
              <a:t> </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5122" name="Picture 2"/>
          <p:cNvPicPr>
            <a:picLocks noChangeAspect="1" noChangeArrowheads="1"/>
          </p:cNvPicPr>
          <p:nvPr/>
        </p:nvPicPr>
        <p:blipFill>
          <a:blip r:embed="rId3" cstate="print"/>
          <a:stretch>
            <a:fillRect/>
          </a:stretch>
        </p:blipFill>
        <p:spPr bwMode="auto">
          <a:xfrm>
            <a:off x="635000" y="2265365"/>
            <a:ext cx="2428875" cy="1513176"/>
          </a:xfrm>
          <a:prstGeom prst="rect">
            <a:avLst/>
          </a:prstGeom>
          <a:noFill/>
          <a:ln>
            <a:noFill/>
          </a:ln>
        </p:spPr>
      </p:pic>
      <p:grpSp>
        <p:nvGrpSpPr>
          <p:cNvPr id="12" name="11 Grupo"/>
          <p:cNvGrpSpPr/>
          <p:nvPr/>
        </p:nvGrpSpPr>
        <p:grpSpPr>
          <a:xfrm>
            <a:off x="4036107" y="2267680"/>
            <a:ext cx="4860237" cy="1659829"/>
            <a:chOff x="4036107" y="2591530"/>
            <a:chExt cx="4860237" cy="1659829"/>
          </a:xfrm>
        </p:grpSpPr>
        <p:pic>
          <p:nvPicPr>
            <p:cNvPr id="6146" name="Picture 2"/>
            <p:cNvPicPr>
              <a:picLocks noChangeAspect="1" noChangeArrowheads="1"/>
            </p:cNvPicPr>
            <p:nvPr/>
          </p:nvPicPr>
          <p:blipFill>
            <a:blip r:embed="rId4" cstate="print"/>
            <a:srcRect/>
            <a:stretch>
              <a:fillRect/>
            </a:stretch>
          </p:blipFill>
          <p:spPr bwMode="auto">
            <a:xfrm>
              <a:off x="4036107" y="2591530"/>
              <a:ext cx="4672466" cy="1659829"/>
            </a:xfrm>
            <a:prstGeom prst="rect">
              <a:avLst/>
            </a:prstGeom>
            <a:noFill/>
            <a:ln w="9525">
              <a:noFill/>
              <a:miter lim="800000"/>
              <a:headEnd/>
              <a:tailEnd/>
            </a:ln>
          </p:spPr>
        </p:pic>
        <p:sp>
          <p:nvSpPr>
            <p:cNvPr id="11" name="10 CuadroTexto"/>
            <p:cNvSpPr txBox="1"/>
            <p:nvPr/>
          </p:nvSpPr>
          <p:spPr>
            <a:xfrm>
              <a:off x="4324666" y="3398212"/>
              <a:ext cx="4571678" cy="276999"/>
            </a:xfrm>
            <a:prstGeom prst="rect">
              <a:avLst/>
            </a:prstGeom>
            <a:noFill/>
          </p:spPr>
          <p:txBody>
            <a:bodyPr wrap="square" rtlCol="0">
              <a:spAutoFit/>
            </a:bodyPr>
            <a:lstStyle/>
            <a:p>
              <a:pPr algn="l"/>
              <a:r>
                <a:rPr lang="es-AR" sz="1200" b="1" dirty="0" smtClean="0">
                  <a:solidFill>
                    <a:schemeClr val="tx1"/>
                  </a:solidFill>
                  <a:latin typeface="Arial" pitchFamily="34" charset="0"/>
                  <a:cs typeface="Arial" pitchFamily="34" charset="0"/>
                </a:rPr>
                <a:t>0          2          4    5          7                     11                           16</a:t>
              </a:r>
              <a:endParaRPr lang="es-AR" sz="1200" b="1" dirty="0">
                <a:solidFill>
                  <a:schemeClr val="tx1"/>
                </a:solidFill>
                <a:latin typeface="Arial" pitchFamily="34" charset="0"/>
                <a:cs typeface="Arial" pitchFamily="34" charset="0"/>
              </a:endParaRPr>
            </a:p>
          </p:txBody>
        </p:sp>
      </p:grpSp>
      <p:cxnSp>
        <p:nvCxnSpPr>
          <p:cNvPr id="14" name="13 Conector recto"/>
          <p:cNvCxnSpPr/>
          <p:nvPr/>
        </p:nvCxnSpPr>
        <p:spPr>
          <a:xfrm>
            <a:off x="514350" y="4333875"/>
            <a:ext cx="806767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70642"/>
            <a:ext cx="8811985" cy="6078587"/>
          </a:xfrm>
          <a:prstGeom prst="rect">
            <a:avLst/>
          </a:prstGeom>
          <a:noFill/>
        </p:spPr>
        <p:txBody>
          <a:bodyPr wrap="square" rtlCol="0">
            <a:spAutoFit/>
          </a:bodyPr>
          <a:lstStyle/>
          <a:p>
            <a:pPr marL="0" lvl="1" algn="just"/>
            <a:r>
              <a:rPr lang="es-AR" sz="1600" b="1" dirty="0" smtClean="0">
                <a:solidFill>
                  <a:srgbClr val="CC00CC"/>
                </a:solidFill>
                <a:latin typeface="Arial" pitchFamily="34" charset="0"/>
                <a:cs typeface="Arial" pitchFamily="34" charset="0"/>
              </a:rPr>
              <a:t>Planificación Por Prioridades</a:t>
            </a:r>
            <a:endParaRPr lang="es-AR" sz="1600" b="1" dirty="0" smtClean="0">
              <a:solidFill>
                <a:schemeClr val="tx1"/>
              </a:solidFill>
              <a:latin typeface="Arial" pitchFamily="34" charset="0"/>
              <a:cs typeface="Arial" pitchFamily="34" charset="0"/>
            </a:endParaRPr>
          </a:p>
          <a:p>
            <a:pPr marL="0" lvl="1" algn="just"/>
            <a:r>
              <a:rPr lang="es-AR" sz="1600" dirty="0" smtClean="0">
                <a:solidFill>
                  <a:schemeClr val="tx1"/>
                </a:solidFill>
                <a:latin typeface="Arial" pitchFamily="34" charset="0"/>
                <a:cs typeface="Arial" pitchFamily="34" charset="0"/>
              </a:rPr>
              <a:t>El SJF, es un caso particular de planificación por prioridades donde la prioridad está dada por la CPU-</a:t>
            </a:r>
            <a:r>
              <a:rPr lang="es-AR" sz="1600" dirty="0" err="1" smtClean="0">
                <a:solidFill>
                  <a:schemeClr val="tx1"/>
                </a:solidFill>
                <a:latin typeface="Arial" pitchFamily="34" charset="0"/>
                <a:cs typeface="Arial" pitchFamily="34" charset="0"/>
              </a:rPr>
              <a:t>burst</a:t>
            </a:r>
            <a:r>
              <a:rPr lang="es-AR" sz="1600" dirty="0" smtClean="0">
                <a:solidFill>
                  <a:schemeClr val="tx1"/>
                </a:solidFill>
                <a:latin typeface="Arial" pitchFamily="34" charset="0"/>
                <a:cs typeface="Arial" pitchFamily="34" charset="0"/>
              </a:rPr>
              <a:t> en la que a menor valor de CPU-</a:t>
            </a:r>
            <a:r>
              <a:rPr lang="es-AR" sz="1600" dirty="0" err="1" smtClean="0">
                <a:solidFill>
                  <a:schemeClr val="tx1"/>
                </a:solidFill>
                <a:latin typeface="Arial" pitchFamily="34" charset="0"/>
                <a:cs typeface="Arial" pitchFamily="34" charset="0"/>
              </a:rPr>
              <a:t>burst</a:t>
            </a:r>
            <a:r>
              <a:rPr lang="es-AR" sz="1600" dirty="0" smtClean="0">
                <a:solidFill>
                  <a:schemeClr val="tx1"/>
                </a:solidFill>
                <a:latin typeface="Arial" pitchFamily="34" charset="0"/>
                <a:cs typeface="Arial" pitchFamily="34" charset="0"/>
              </a:rPr>
              <a:t> mayor prioridad y viceversa. Si hay varios procesos con la misma prioridad se utiliza FCFS, es decir por orden de llegada. La prioridad es un número que va de 0 a 7 o de 0 a 4095 (se asume menor valor con mayor prioridad). Si es </a:t>
            </a:r>
            <a:r>
              <a:rPr lang="es-AR" sz="1600" b="1" dirty="0" smtClean="0">
                <a:solidFill>
                  <a:srgbClr val="CC00CC"/>
                </a:solidFill>
                <a:latin typeface="Arial" pitchFamily="34" charset="0"/>
                <a:cs typeface="Arial" pitchFamily="34" charset="0"/>
              </a:rPr>
              <a:t>NO APROPIATIVA</a:t>
            </a:r>
            <a:r>
              <a:rPr lang="es-AR" sz="1600" dirty="0" smtClean="0">
                <a:solidFill>
                  <a:schemeClr val="tx1"/>
                </a:solidFill>
                <a:latin typeface="Arial" pitchFamily="34" charset="0"/>
                <a:cs typeface="Arial" pitchFamily="34" charset="0"/>
              </a:rPr>
              <a:t>, cuando está ejecutándose un proceso no sale hasta que termina.</a:t>
            </a:r>
          </a:p>
          <a:p>
            <a:pPr marL="180975" lvl="1" indent="-180975" algn="just">
              <a:spcBef>
                <a:spcPts val="600"/>
              </a:spcBef>
            </a:pPr>
            <a:r>
              <a:rPr lang="es-AR" sz="1600" dirty="0" smtClean="0">
                <a:solidFill>
                  <a:schemeClr val="tx1"/>
                </a:solidFill>
                <a:latin typeface="Arial" pitchFamily="34" charset="0"/>
                <a:cs typeface="Arial" pitchFamily="34" charset="0"/>
              </a:rPr>
              <a:t>Ejemplo:</a:t>
            </a:r>
          </a:p>
          <a:p>
            <a:pPr marL="180975" lvl="1" indent="-180975" algn="just"/>
            <a:r>
              <a:rPr lang="es-AR" sz="1600" dirty="0" smtClean="0">
                <a:solidFill>
                  <a:schemeClr val="tx1"/>
                </a:solidFill>
                <a:latin typeface="Arial" pitchFamily="34" charset="0"/>
                <a:cs typeface="Arial" pitchFamily="34" charset="0"/>
              </a:rPr>
              <a:t>Supongamos la siguiente tabla sonde se supone que todos los procesos llegaron en 0:</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El diagrama de </a:t>
            </a:r>
            <a:r>
              <a:rPr lang="es-AR" sz="1600" dirty="0" err="1" smtClean="0">
                <a:solidFill>
                  <a:schemeClr val="tx1"/>
                </a:solidFill>
                <a:latin typeface="Arial" pitchFamily="34" charset="0"/>
                <a:cs typeface="Arial" pitchFamily="34" charset="0"/>
              </a:rPr>
              <a:t>Gant</a:t>
            </a:r>
            <a:r>
              <a:rPr lang="es-AR" sz="1600" dirty="0" smtClean="0">
                <a:solidFill>
                  <a:schemeClr val="tx1"/>
                </a:solidFill>
                <a:latin typeface="Arial" pitchFamily="34" charset="0"/>
                <a:cs typeface="Arial" pitchFamily="34" charset="0"/>
              </a:rPr>
              <a:t> correspondiente es:</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Tiempo de espera promedio:     (6 + 0 + 16 + 18 + 1) / 4 = 8.2 ms</a:t>
            </a:r>
          </a:p>
          <a:p>
            <a:pPr marL="0" lvl="1"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170" name="Picture 2"/>
          <p:cNvPicPr>
            <a:picLocks noChangeAspect="1" noChangeArrowheads="1"/>
          </p:cNvPicPr>
          <p:nvPr/>
        </p:nvPicPr>
        <p:blipFill>
          <a:blip r:embed="rId3" cstate="print"/>
          <a:srcRect/>
          <a:stretch>
            <a:fillRect/>
          </a:stretch>
        </p:blipFill>
        <p:spPr bwMode="auto">
          <a:xfrm>
            <a:off x="2809875" y="3067049"/>
            <a:ext cx="3107530" cy="1130011"/>
          </a:xfrm>
          <a:prstGeom prst="rect">
            <a:avLst/>
          </a:prstGeom>
          <a:noFill/>
          <a:ln w="9525">
            <a:noFill/>
            <a:miter lim="800000"/>
            <a:headEnd/>
            <a:tailEnd/>
          </a:ln>
        </p:spPr>
      </p:pic>
      <p:pic>
        <p:nvPicPr>
          <p:cNvPr id="7171" name="Picture 3"/>
          <p:cNvPicPr>
            <a:picLocks noChangeAspect="1" noChangeArrowheads="1"/>
          </p:cNvPicPr>
          <p:nvPr/>
        </p:nvPicPr>
        <p:blipFill>
          <a:blip r:embed="rId4" cstate="print"/>
          <a:srcRect/>
          <a:stretch>
            <a:fillRect/>
          </a:stretch>
        </p:blipFill>
        <p:spPr bwMode="auto">
          <a:xfrm>
            <a:off x="1504950" y="4525963"/>
            <a:ext cx="5543550" cy="1876425"/>
          </a:xfrm>
          <a:prstGeom prst="rect">
            <a:avLst/>
          </a:prstGeom>
          <a:noFill/>
          <a:ln w="9525">
            <a:noFill/>
            <a:miter lim="800000"/>
            <a:headEnd/>
            <a:tailEnd/>
          </a:ln>
        </p:spPr>
      </p:pic>
      <p:sp>
        <p:nvSpPr>
          <p:cNvPr id="11" name="10 CuadroTexto"/>
          <p:cNvSpPr txBox="1"/>
          <p:nvPr/>
        </p:nvSpPr>
        <p:spPr>
          <a:xfrm>
            <a:off x="1829121" y="5463553"/>
            <a:ext cx="5324153" cy="276999"/>
          </a:xfrm>
          <a:prstGeom prst="rect">
            <a:avLst/>
          </a:prstGeom>
          <a:noFill/>
        </p:spPr>
        <p:txBody>
          <a:bodyPr wrap="square" rtlCol="0">
            <a:spAutoFit/>
          </a:bodyPr>
          <a:lstStyle/>
          <a:p>
            <a:pPr algn="l"/>
            <a:r>
              <a:rPr lang="es-AR" sz="1200" b="1" dirty="0" smtClean="0">
                <a:solidFill>
                  <a:schemeClr val="tx1"/>
                </a:solidFill>
                <a:latin typeface="Arial" pitchFamily="34" charset="0"/>
                <a:cs typeface="Arial" pitchFamily="34" charset="0"/>
              </a:rPr>
              <a:t>0    1                             6                                                         16       18   19               </a:t>
            </a:r>
            <a:endParaRPr lang="es-AR" sz="1200" b="1"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70642"/>
            <a:ext cx="8811985" cy="4524315"/>
          </a:xfrm>
          <a:prstGeom prst="rect">
            <a:avLst/>
          </a:prstGeom>
          <a:noFill/>
        </p:spPr>
        <p:txBody>
          <a:bodyPr wrap="square" rtlCol="0">
            <a:spAutoFit/>
          </a:bodyPr>
          <a:lstStyle/>
          <a:p>
            <a:pPr marL="0" lvl="1" algn="just"/>
            <a:r>
              <a:rPr lang="es-AR" sz="1600" b="1" dirty="0" smtClean="0">
                <a:solidFill>
                  <a:srgbClr val="CC00CC"/>
                </a:solidFill>
                <a:latin typeface="Arial" pitchFamily="34" charset="0"/>
                <a:cs typeface="Arial" pitchFamily="34" charset="0"/>
              </a:rPr>
              <a:t>Planificación por prioridades…..</a:t>
            </a:r>
          </a:p>
          <a:p>
            <a:pPr marL="0" lvl="1"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Las prioridades pueden definirse internamente (por ej. limite de tiempo, requisitos de memoria, archivos abiertos, </a:t>
            </a:r>
            <a:r>
              <a:rPr lang="es-AR" sz="1600" dirty="0" err="1" smtClean="0">
                <a:solidFill>
                  <a:schemeClr val="tx1"/>
                </a:solidFill>
                <a:latin typeface="Arial" pitchFamily="34" charset="0"/>
                <a:cs typeface="Arial" pitchFamily="34" charset="0"/>
              </a:rPr>
              <a:t>etc</a:t>
            </a:r>
            <a:r>
              <a:rPr lang="es-AR" sz="1600" dirty="0" smtClean="0">
                <a:solidFill>
                  <a:schemeClr val="tx1"/>
                </a:solidFill>
                <a:latin typeface="Arial" pitchFamily="34" charset="0"/>
                <a:cs typeface="Arial" pitchFamily="34" charset="0"/>
              </a:rPr>
              <a:t>) o externamente al SO (por ej. Importancia del proceso, costo, </a:t>
            </a:r>
            <a:r>
              <a:rPr lang="es-AR" sz="1600" dirty="0" err="1" smtClean="0">
                <a:solidFill>
                  <a:schemeClr val="tx1"/>
                </a:solidFill>
                <a:latin typeface="Arial" pitchFamily="34" charset="0"/>
                <a:cs typeface="Arial" pitchFamily="34" charset="0"/>
              </a:rPr>
              <a:t>etc</a:t>
            </a:r>
            <a:r>
              <a:rPr lang="es-AR" sz="1600" dirty="0" smtClean="0">
                <a:solidFill>
                  <a:schemeClr val="tx1"/>
                </a:solidFill>
                <a:latin typeface="Arial" pitchFamily="34" charset="0"/>
                <a:cs typeface="Arial" pitchFamily="34" charset="0"/>
              </a:rPr>
              <a:t>).</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Por lo general la planificación por prioridades suele ser también</a:t>
            </a:r>
            <a:r>
              <a:rPr lang="es-AR" sz="1600" b="1" dirty="0" smtClean="0">
                <a:solidFill>
                  <a:schemeClr val="tx1"/>
                </a:solidFill>
                <a:latin typeface="Arial" pitchFamily="34" charset="0"/>
                <a:cs typeface="Arial" pitchFamily="34" charset="0"/>
              </a:rPr>
              <a:t> </a:t>
            </a:r>
            <a:r>
              <a:rPr lang="es-AR" sz="1600" b="1" dirty="0" smtClean="0">
                <a:solidFill>
                  <a:srgbClr val="CC00CC"/>
                </a:solidFill>
                <a:latin typeface="Arial" pitchFamily="34" charset="0"/>
                <a:cs typeface="Arial" pitchFamily="34" charset="0"/>
              </a:rPr>
              <a:t>APROPIATIVA</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Cuando llega un proceso a la lista de preparados, se compara su prioridad con la del que se está ejecutando, y si es mayor, lo expulsa de la CPU y lo pone en la lista de preparados.	</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Problema: </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Los algoritmos de planificación por prioridades es el bloqueo indefinido o la muerte por inanición ya que los procesos con baja prioridad no se ejecutarían (o se ejecutaría en un tiempo muy largo) si están llegando procesos con prioridad mayor. </a:t>
            </a:r>
          </a:p>
          <a:p>
            <a:pPr marL="638175" lvl="2" indent="-180975" algn="just">
              <a:buFont typeface="Arial" pitchFamily="34" charset="0"/>
              <a:buChar char="•"/>
            </a:pPr>
            <a:r>
              <a:rPr lang="es-AR" sz="1600" dirty="0" smtClean="0">
                <a:solidFill>
                  <a:schemeClr val="tx1"/>
                </a:solidFill>
                <a:latin typeface="Arial" pitchFamily="34" charset="0"/>
                <a:cs typeface="Arial" pitchFamily="34" charset="0"/>
              </a:rPr>
              <a:t>Una solución a esto es emplear </a:t>
            </a:r>
            <a:r>
              <a:rPr lang="es-AR" sz="1600" b="1" dirty="0" smtClean="0">
                <a:solidFill>
                  <a:schemeClr val="tx1"/>
                </a:solidFill>
                <a:latin typeface="Arial" pitchFamily="34" charset="0"/>
                <a:cs typeface="Arial" pitchFamily="34" charset="0"/>
              </a:rPr>
              <a:t>mecanismos de envejecimiento</a:t>
            </a:r>
            <a:r>
              <a:rPr lang="es-AR" sz="1600" dirty="0" smtClean="0">
                <a:solidFill>
                  <a:schemeClr val="tx1"/>
                </a:solidFill>
                <a:latin typeface="Arial" pitchFamily="34" charset="0"/>
                <a:cs typeface="Arial" pitchFamily="34" charset="0"/>
              </a:rPr>
              <a:t>, en donde se va </a:t>
            </a:r>
            <a:r>
              <a:rPr lang="es-AR" sz="1600" b="1" dirty="0" smtClean="0">
                <a:solidFill>
                  <a:schemeClr val="tx1"/>
                </a:solidFill>
                <a:latin typeface="Arial" pitchFamily="34" charset="0"/>
                <a:cs typeface="Arial" pitchFamily="34" charset="0"/>
              </a:rPr>
              <a:t>aumentando gradualmente la prioridad </a:t>
            </a:r>
            <a:r>
              <a:rPr lang="es-AR" sz="1600" dirty="0" smtClean="0">
                <a:solidFill>
                  <a:schemeClr val="tx1"/>
                </a:solidFill>
                <a:latin typeface="Arial" pitchFamily="34" charset="0"/>
                <a:cs typeface="Arial" pitchFamily="34" charset="0"/>
              </a:rPr>
              <a:t>de los procesos que están esperando mucho tiempo.</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70642"/>
            <a:ext cx="8811985" cy="6494085"/>
          </a:xfrm>
          <a:prstGeom prst="rect">
            <a:avLst/>
          </a:prstGeom>
          <a:noFill/>
        </p:spPr>
        <p:txBody>
          <a:bodyPr wrap="square" rtlCol="0">
            <a:spAutoFit/>
          </a:bodyPr>
          <a:lstStyle/>
          <a:p>
            <a:pPr marL="0" lvl="1" algn="just"/>
            <a:r>
              <a:rPr lang="es-AR" sz="1600" b="1" dirty="0" smtClean="0">
                <a:solidFill>
                  <a:srgbClr val="CC00CC"/>
                </a:solidFill>
                <a:latin typeface="Arial" pitchFamily="34" charset="0"/>
                <a:cs typeface="Arial" pitchFamily="34" charset="0"/>
              </a:rPr>
              <a:t>Planificación Round </a:t>
            </a:r>
            <a:r>
              <a:rPr lang="es-AR" sz="1600" b="1" dirty="0" err="1" smtClean="0">
                <a:solidFill>
                  <a:srgbClr val="CC00CC"/>
                </a:solidFill>
                <a:latin typeface="Arial" pitchFamily="34" charset="0"/>
                <a:cs typeface="Arial" pitchFamily="34" charset="0"/>
              </a:rPr>
              <a:t>Robin</a:t>
            </a:r>
            <a:r>
              <a:rPr lang="es-AR" sz="1600" b="1" dirty="0" smtClean="0">
                <a:solidFill>
                  <a:srgbClr val="CC00CC"/>
                </a:solidFill>
                <a:latin typeface="Arial" pitchFamily="34" charset="0"/>
                <a:cs typeface="Arial" pitchFamily="34" charset="0"/>
              </a:rPr>
              <a:t> (RR) (planificación por turnos) </a:t>
            </a:r>
            <a:endParaRPr lang="es-AR" sz="1600" b="1" dirty="0" smtClean="0">
              <a:solidFill>
                <a:schemeClr val="tx1"/>
              </a:solidFill>
              <a:latin typeface="Arial" pitchFamily="34" charset="0"/>
              <a:cs typeface="Arial" pitchFamily="34" charset="0"/>
            </a:endParaRPr>
          </a:p>
          <a:p>
            <a:pPr marL="180975" lvl="1" indent="-180975" algn="just">
              <a:spcBef>
                <a:spcPts val="600"/>
              </a:spcBef>
            </a:pPr>
            <a:r>
              <a:rPr lang="es-AR" sz="1600" dirty="0" smtClean="0">
                <a:solidFill>
                  <a:schemeClr val="tx1"/>
                </a:solidFill>
                <a:latin typeface="Arial" pitchFamily="34" charset="0"/>
                <a:cs typeface="Arial" pitchFamily="34" charset="0"/>
              </a:rPr>
              <a:t>Es similar a la planificación FCFS, pero se añade la técnica de desalojo para conmutar entre procesos. Este algoritmo designa un intervalo de tiempo para el uso del procesador, por cada proceso (time quantum). Generalmente, el quantum se encuentra en el rango comprendido entre 10 y 100 milisegundos. </a:t>
            </a:r>
          </a:p>
          <a:p>
            <a:pPr marL="180975" lvl="1" indent="-180975" algn="just"/>
            <a:r>
              <a:rPr lang="es-AR" sz="1600" dirty="0" smtClean="0">
                <a:solidFill>
                  <a:schemeClr val="tx1"/>
                </a:solidFill>
                <a:latin typeface="Arial" pitchFamily="34" charset="0"/>
                <a:cs typeface="Arial" pitchFamily="34" charset="0"/>
              </a:rPr>
              <a:t>Cuando se le asigna la CPU a un proceso, este ejecutará hasta finalizar (la ráfaga es menor que el quantum de tiempo), o hasta que se le consuma el quantum. Cuando sucede alguna de las situaciones mencionadas, se envía una interrupción al procesador, se ejecuta un cambio de contexto (es menor que 10 microsegundos) y se asigna otro proceso a la CPU (en caso que el otro proceso no haya finalizado de ejecutar, volverá a la lista de procesos listos).</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Ejemplo:  RR Q=2</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r>
              <a:rPr lang="es-AR" sz="1600" dirty="0" smtClean="0">
                <a:solidFill>
                  <a:schemeClr val="tx1"/>
                </a:solidFill>
                <a:latin typeface="Arial" pitchFamily="34" charset="0"/>
                <a:cs typeface="Arial" pitchFamily="34" charset="0"/>
              </a:rPr>
              <a:t>Tiempo de espera promedio:     (2 + 9 + 5 + 9 + 5) / 5 = 6 ms</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8194" name="Picture 2"/>
          <p:cNvPicPr>
            <a:picLocks noChangeAspect="1" noChangeArrowheads="1"/>
          </p:cNvPicPr>
          <p:nvPr/>
        </p:nvPicPr>
        <p:blipFill>
          <a:blip r:embed="rId3" cstate="print"/>
          <a:srcRect/>
          <a:stretch>
            <a:fillRect/>
          </a:stretch>
        </p:blipFill>
        <p:spPr bwMode="auto">
          <a:xfrm>
            <a:off x="509588" y="4186238"/>
            <a:ext cx="1762125" cy="1228725"/>
          </a:xfrm>
          <a:prstGeom prst="rect">
            <a:avLst/>
          </a:prstGeom>
          <a:noFill/>
          <a:ln w="9525">
            <a:noFill/>
            <a:miter lim="800000"/>
            <a:headEnd/>
            <a:tailEnd/>
          </a:ln>
        </p:spPr>
      </p:pic>
      <p:grpSp>
        <p:nvGrpSpPr>
          <p:cNvPr id="11" name="10 Grupo"/>
          <p:cNvGrpSpPr/>
          <p:nvPr/>
        </p:nvGrpSpPr>
        <p:grpSpPr>
          <a:xfrm>
            <a:off x="2709863" y="3943350"/>
            <a:ext cx="5948362" cy="1828800"/>
            <a:chOff x="2709863" y="3486150"/>
            <a:chExt cx="5948362" cy="1828800"/>
          </a:xfrm>
        </p:grpSpPr>
        <p:pic>
          <p:nvPicPr>
            <p:cNvPr id="8196" name="Picture 4"/>
            <p:cNvPicPr>
              <a:picLocks noChangeAspect="1" noChangeArrowheads="1"/>
            </p:cNvPicPr>
            <p:nvPr/>
          </p:nvPicPr>
          <p:blipFill>
            <a:blip r:embed="rId4" cstate="print"/>
            <a:srcRect/>
            <a:stretch>
              <a:fillRect/>
            </a:stretch>
          </p:blipFill>
          <p:spPr bwMode="auto">
            <a:xfrm>
              <a:off x="2709863" y="3486150"/>
              <a:ext cx="5610225" cy="1828800"/>
            </a:xfrm>
            <a:prstGeom prst="rect">
              <a:avLst/>
            </a:prstGeom>
            <a:noFill/>
            <a:ln w="9525">
              <a:noFill/>
              <a:miter lim="800000"/>
              <a:headEnd/>
              <a:tailEnd/>
            </a:ln>
          </p:spPr>
        </p:pic>
        <p:sp>
          <p:nvSpPr>
            <p:cNvPr id="8" name="7 CuadroTexto"/>
            <p:cNvSpPr txBox="1"/>
            <p:nvPr/>
          </p:nvSpPr>
          <p:spPr>
            <a:xfrm>
              <a:off x="2953071" y="4472953"/>
              <a:ext cx="5705154" cy="276999"/>
            </a:xfrm>
            <a:prstGeom prst="rect">
              <a:avLst/>
            </a:prstGeom>
            <a:noFill/>
          </p:spPr>
          <p:txBody>
            <a:bodyPr wrap="square" rtlCol="0">
              <a:spAutoFit/>
            </a:bodyPr>
            <a:lstStyle/>
            <a:p>
              <a:pPr algn="l"/>
              <a:r>
                <a:rPr lang="es-AR" sz="1200" b="1" dirty="0" smtClean="0">
                  <a:solidFill>
                    <a:schemeClr val="tx1"/>
                  </a:solidFill>
                  <a:latin typeface="Arial" pitchFamily="34" charset="0"/>
                  <a:cs typeface="Arial" pitchFamily="34" charset="0"/>
                </a:rPr>
                <a:t>0          2          4    5         7           9          11        13        15       17               20       </a:t>
              </a:r>
              <a:endParaRPr lang="es-AR" sz="1200" b="1" dirty="0">
                <a:solidFill>
                  <a:schemeClr val="tx1"/>
                </a:solidFill>
                <a:latin typeface="Arial" pitchFamily="34" charset="0"/>
                <a:cs typeface="Arial" pitchFamily="34" charset="0"/>
              </a:endParaRP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133350" y="970642"/>
            <a:ext cx="8896349" cy="4278094"/>
          </a:xfrm>
          <a:prstGeom prst="rect">
            <a:avLst/>
          </a:prstGeom>
          <a:noFill/>
        </p:spPr>
        <p:txBody>
          <a:bodyPr wrap="square" rtlCol="0">
            <a:spAutoFit/>
          </a:bodyPr>
          <a:lstStyle/>
          <a:p>
            <a:pPr marL="0" lvl="1" algn="just"/>
            <a:r>
              <a:rPr lang="es-AR" sz="1600" b="1" dirty="0" smtClean="0">
                <a:solidFill>
                  <a:srgbClr val="CC00CC"/>
                </a:solidFill>
                <a:latin typeface="Arial" pitchFamily="34" charset="0"/>
                <a:cs typeface="Arial" pitchFamily="34" charset="0"/>
              </a:rPr>
              <a:t>Planificación Round </a:t>
            </a:r>
            <a:r>
              <a:rPr lang="es-AR" sz="1600" b="1" dirty="0" err="1" smtClean="0">
                <a:solidFill>
                  <a:srgbClr val="CC00CC"/>
                </a:solidFill>
                <a:latin typeface="Arial" pitchFamily="34" charset="0"/>
                <a:cs typeface="Arial" pitchFamily="34" charset="0"/>
              </a:rPr>
              <a:t>Robin</a:t>
            </a:r>
            <a:r>
              <a:rPr lang="es-AR" sz="1600" b="1" dirty="0" smtClean="0">
                <a:solidFill>
                  <a:srgbClr val="CC00CC"/>
                </a:solidFill>
                <a:latin typeface="Arial" pitchFamily="34" charset="0"/>
                <a:cs typeface="Arial" pitchFamily="34" charset="0"/>
              </a:rPr>
              <a:t> (turno circular)…. </a:t>
            </a:r>
            <a:endParaRPr lang="es-AR" sz="1600" b="1" dirty="0" smtClean="0">
              <a:solidFill>
                <a:schemeClr val="tx1"/>
              </a:solidFill>
              <a:latin typeface="Arial" pitchFamily="34" charset="0"/>
              <a:cs typeface="Arial" pitchFamily="34" charset="0"/>
            </a:endParaRP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Por lo general tiene mayor tiempo de retorno que el SJF, pero mejora el tiempo de respuesta.</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La cola de procesos listos se trata como una cola circular.</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Es fácil de implementar. Es el algoritmo más justo: todos los procesos tienen garantizada su porción de CPU.</a:t>
            </a:r>
          </a:p>
          <a:p>
            <a:pPr marL="180975" lvl="1" indent="-180975" algn="just"/>
            <a:endParaRPr lang="es-AR" sz="1600" dirty="0" smtClean="0">
              <a:solidFill>
                <a:schemeClr val="tx1"/>
              </a:solidFill>
              <a:latin typeface="Arial" pitchFamily="34" charset="0"/>
              <a:cs typeface="Arial" pitchFamily="34" charset="0"/>
            </a:endParaRP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La elección del quantum es importante</a:t>
            </a:r>
          </a:p>
          <a:p>
            <a:pPr marL="638175" lvl="2" indent="-180975" algn="just">
              <a:buFont typeface="Arial" pitchFamily="34" charset="0"/>
              <a:buChar char="•"/>
            </a:pPr>
            <a:r>
              <a:rPr lang="es-AR" sz="1600" dirty="0" smtClean="0">
                <a:solidFill>
                  <a:schemeClr val="tx1"/>
                </a:solidFill>
                <a:latin typeface="Arial" pitchFamily="34" charset="0"/>
                <a:cs typeface="Arial" pitchFamily="34" charset="0"/>
              </a:rPr>
              <a:t>Si es muy pequeño, por ejemplo de 1ms se denomina </a:t>
            </a:r>
            <a:r>
              <a:rPr lang="es-AR" sz="1600" u="sng" dirty="0" smtClean="0">
                <a:solidFill>
                  <a:schemeClr val="tx1"/>
                </a:solidFill>
                <a:latin typeface="Arial" pitchFamily="34" charset="0"/>
                <a:cs typeface="Arial" pitchFamily="34" charset="0"/>
              </a:rPr>
              <a:t>compartición del procesador., </a:t>
            </a:r>
            <a:r>
              <a:rPr lang="es-AR" sz="1600" dirty="0" smtClean="0">
                <a:solidFill>
                  <a:schemeClr val="tx1"/>
                </a:solidFill>
                <a:latin typeface="Arial" pitchFamily="34" charset="0"/>
                <a:cs typeface="Arial" pitchFamily="34" charset="0"/>
              </a:rPr>
              <a:t>pero hay muchos cambios de contexto (el cual lleva tiempo) y afecta el rendimiento. 	 </a:t>
            </a:r>
          </a:p>
          <a:p>
            <a:pPr marL="638175" lvl="2" indent="-180975" algn="just">
              <a:buFont typeface="Arial" pitchFamily="34" charset="0"/>
              <a:buChar char="•"/>
            </a:pPr>
            <a:r>
              <a:rPr lang="es-AR" sz="1600" dirty="0" smtClean="0">
                <a:solidFill>
                  <a:schemeClr val="tx1"/>
                </a:solidFill>
                <a:latin typeface="Arial" pitchFamily="34" charset="0"/>
                <a:cs typeface="Arial" pitchFamily="34" charset="0"/>
              </a:rPr>
              <a:t>Si es muy grande el sistema tenderá a ser FCFS.</a:t>
            </a:r>
          </a:p>
          <a:p>
            <a:pPr marL="638175" lvl="2" indent="-180975" algn="just"/>
            <a:endParaRPr lang="es-AR" sz="1600" dirty="0" smtClean="0">
              <a:solidFill>
                <a:schemeClr val="tx1"/>
              </a:solidFill>
              <a:latin typeface="Arial" pitchFamily="34" charset="0"/>
              <a:cs typeface="Arial" pitchFamily="34" charset="0"/>
            </a:endParaRPr>
          </a:p>
          <a:p>
            <a:pPr marL="638175" lvl="2" indent="-180975" algn="just"/>
            <a:r>
              <a:rPr lang="es-AR" sz="1600" dirty="0" smtClean="0">
                <a:solidFill>
                  <a:schemeClr val="tx1"/>
                </a:solidFill>
                <a:latin typeface="Arial" pitchFamily="34" charset="0"/>
                <a:cs typeface="Arial" pitchFamily="34" charset="0"/>
              </a:rPr>
              <a:t>Como regla práctica, el 80% de las ráfagas de CPU deben ser mas cortas que el quantum de tiempo.</a:t>
            </a:r>
          </a:p>
          <a:p>
            <a:pPr marL="638175" lvl="2" indent="-180975" algn="just"/>
            <a:endParaRPr lang="es-AR" sz="1600" dirty="0" smtClean="0">
              <a:solidFill>
                <a:schemeClr val="tx1"/>
              </a:solidFill>
              <a:latin typeface="Arial" pitchFamily="34" charset="0"/>
              <a:cs typeface="Arial" pitchFamily="34" charset="0"/>
            </a:endParaRPr>
          </a:p>
          <a:p>
            <a:pPr marL="638175" lvl="2" indent="-180975" algn="just"/>
            <a:r>
              <a:rPr lang="es-AR" sz="1600" dirty="0" smtClean="0">
                <a:solidFill>
                  <a:schemeClr val="tx1"/>
                </a:solidFill>
                <a:latin typeface="Arial" pitchFamily="34" charset="0"/>
                <a:cs typeface="Arial" pitchFamily="34" charset="0"/>
              </a:rPr>
              <a:t>Ejemplo: q=1 y q=6</a:t>
            </a:r>
          </a:p>
          <a:p>
            <a:pPr marL="180975" lvl="1" indent="-180975" algn="just"/>
            <a:endParaRPr lang="es-AR" sz="1600" dirty="0" smtClean="0">
              <a:solidFill>
                <a:schemeClr val="tx1"/>
              </a:solidFill>
              <a:latin typeface="Arial" pitchFamily="34" charset="0"/>
              <a:cs typeface="Arial" pitchFamily="34" charset="0"/>
            </a:endParaRPr>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 name="Picture 5"/>
          <p:cNvPicPr>
            <a:picLocks noChangeAspect="1" noChangeArrowheads="1"/>
          </p:cNvPicPr>
          <p:nvPr/>
        </p:nvPicPr>
        <p:blipFill>
          <a:blip r:embed="rId3" cstate="print"/>
          <a:srcRect/>
          <a:stretch>
            <a:fillRect/>
          </a:stretch>
        </p:blipFill>
        <p:spPr bwMode="auto">
          <a:xfrm>
            <a:off x="1483567" y="5178425"/>
            <a:ext cx="3580025" cy="1191305"/>
          </a:xfrm>
          <a:prstGeom prst="rect">
            <a:avLst/>
          </a:prstGeom>
          <a:noFill/>
          <a:ln w="9525">
            <a:noFill/>
            <a:miter lim="800000"/>
            <a:headEnd/>
            <a:tailEnd/>
          </a:ln>
        </p:spPr>
      </p:pic>
      <p:pic>
        <p:nvPicPr>
          <p:cNvPr id="8" name="Picture 6"/>
          <p:cNvPicPr>
            <a:picLocks noChangeAspect="1" noChangeArrowheads="1"/>
          </p:cNvPicPr>
          <p:nvPr/>
        </p:nvPicPr>
        <p:blipFill>
          <a:blip r:embed="rId4" cstate="print"/>
          <a:srcRect/>
          <a:stretch>
            <a:fillRect/>
          </a:stretch>
        </p:blipFill>
        <p:spPr bwMode="auto">
          <a:xfrm>
            <a:off x="5314950" y="5177745"/>
            <a:ext cx="3592243" cy="1191305"/>
          </a:xfrm>
          <a:prstGeom prst="rect">
            <a:avLst/>
          </a:prstGeom>
          <a:noFill/>
          <a:ln w="9525">
            <a:noFill/>
            <a:miter lim="800000"/>
            <a:headEnd/>
            <a:tailEnd/>
          </a:ln>
        </p:spPr>
      </p:pic>
      <p:pic>
        <p:nvPicPr>
          <p:cNvPr id="10" name="Picture 2"/>
          <p:cNvPicPr>
            <a:picLocks noChangeAspect="1" noChangeArrowheads="1"/>
          </p:cNvPicPr>
          <p:nvPr/>
        </p:nvPicPr>
        <p:blipFill>
          <a:blip r:embed="rId5" cstate="print"/>
          <a:srcRect/>
          <a:stretch>
            <a:fillRect/>
          </a:stretch>
        </p:blipFill>
        <p:spPr bwMode="auto">
          <a:xfrm>
            <a:off x="157163" y="5149850"/>
            <a:ext cx="1154261" cy="8048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921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662738" y="2407709"/>
            <a:ext cx="2290762" cy="17404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7 CuadroTexto"/>
          <p:cNvSpPr txBox="1"/>
          <p:nvPr/>
        </p:nvSpPr>
        <p:spPr>
          <a:xfrm>
            <a:off x="198664" y="1227817"/>
            <a:ext cx="8745311" cy="584775"/>
          </a:xfrm>
          <a:prstGeom prst="rect">
            <a:avLst/>
          </a:prstGeom>
          <a:noFill/>
        </p:spPr>
        <p:txBody>
          <a:bodyPr wrap="square" rtlCol="0">
            <a:spAutoFit/>
          </a:bodyPr>
          <a:lstStyle/>
          <a:p>
            <a:pPr marL="180975" lvl="1" indent="-180975" algn="just"/>
            <a:r>
              <a:rPr lang="es-AR" sz="1600" dirty="0" smtClean="0">
                <a:solidFill>
                  <a:schemeClr val="tx1"/>
                </a:solidFill>
                <a:latin typeface="Arial" pitchFamily="34" charset="0"/>
                <a:cs typeface="Arial" pitchFamily="34" charset="0"/>
              </a:rPr>
              <a:t>Es una solución que se presenta cuando en los SO coexisten procesos con diferentes necesidades (interactivos, por lotes, en tiempo real, etc.)</a:t>
            </a:r>
          </a:p>
        </p:txBody>
      </p:sp>
      <p:pic>
        <p:nvPicPr>
          <p:cNvPr id="9220" name="Picture 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767138" y="4714875"/>
            <a:ext cx="3986213" cy="2057400"/>
          </a:xfrm>
          <a:prstGeom prst="rect">
            <a:avLst/>
          </a:prstGeom>
          <a:noFill/>
          <a:ln w="9525">
            <a:noFill/>
            <a:miter lim="800000"/>
            <a:headEnd/>
            <a:tailEnd/>
          </a:ln>
        </p:spPr>
      </p:pic>
      <p:pic>
        <p:nvPicPr>
          <p:cNvPr id="9221"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305674" y="6135919"/>
            <a:ext cx="1762125" cy="617305"/>
          </a:xfrm>
          <a:prstGeom prst="rect">
            <a:avLst/>
          </a:prstGeom>
          <a:noFill/>
          <a:ln w="9525">
            <a:noFill/>
            <a:miter lim="800000"/>
            <a:headEnd/>
            <a:tailEnd/>
          </a:ln>
        </p:spPr>
      </p:pic>
      <p:sp>
        <p:nvSpPr>
          <p:cNvPr id="11" name="10 CuadroTexto"/>
          <p:cNvSpPr txBox="1"/>
          <p:nvPr/>
        </p:nvSpPr>
        <p:spPr>
          <a:xfrm>
            <a:off x="171449" y="4791074"/>
            <a:ext cx="3705226" cy="1754326"/>
          </a:xfrm>
          <a:prstGeom prst="rect">
            <a:avLst/>
          </a:prstGeom>
          <a:noFill/>
        </p:spPr>
        <p:txBody>
          <a:bodyPr wrap="square" rtlCol="0">
            <a:spAutoFit/>
          </a:bodyPr>
          <a:lstStyle/>
          <a:p>
            <a:pPr marL="0" lvl="2" algn="just"/>
            <a:r>
              <a:rPr lang="es-AR" sz="1200" dirty="0" smtClean="0">
                <a:solidFill>
                  <a:schemeClr val="tx1"/>
                </a:solidFill>
                <a:latin typeface="Arial" pitchFamily="34" charset="0"/>
                <a:cs typeface="Arial" pitchFamily="34" charset="0"/>
              </a:rPr>
              <a:t>Descripción: la primera cola en ser atendida es la cola de Procesos del Sistema, la cual tiene una prioridad P=1, y solo después de haberse ejecutado todos los procesos de dicha cola, es que se atienden las próximas colas dependiendo de la prioridad, en caso de que lleguen nuevos procesos a la cola anteriormente atendida, esta vuelve a ser la de mayor prioridad y se deja de atender la cola presente para volver atender dicha cola.</a:t>
            </a:r>
          </a:p>
        </p:txBody>
      </p:sp>
      <p:sp>
        <p:nvSpPr>
          <p:cNvPr id="12" name="11 CuadroTexto"/>
          <p:cNvSpPr txBox="1"/>
          <p:nvPr/>
        </p:nvSpPr>
        <p:spPr>
          <a:xfrm>
            <a:off x="198664" y="1754088"/>
            <a:ext cx="6402161" cy="3370153"/>
          </a:xfrm>
          <a:prstGeom prst="rect">
            <a:avLst/>
          </a:prstGeom>
          <a:noFill/>
        </p:spPr>
        <p:txBody>
          <a:bodyPr wrap="square" rtlCol="0">
            <a:spAutoFit/>
          </a:bodyPr>
          <a:lstStyle/>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Este algoritmo propone dividir la lista de procesos listos en varias colas, de acuerdo al tipo de proceso. </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Los procesos no podrán cambiar de cola</a:t>
            </a:r>
          </a:p>
          <a:p>
            <a:pPr marL="180975" lvl="1" indent="-180975" algn="just">
              <a:buFont typeface="Arial" pitchFamily="34" charset="0"/>
              <a:buChar char="•"/>
            </a:pPr>
            <a:r>
              <a:rPr lang="es-AR" sz="1600" dirty="0" smtClean="0">
                <a:solidFill>
                  <a:schemeClr val="tx1"/>
                </a:solidFill>
                <a:latin typeface="Arial" pitchFamily="34" charset="0"/>
                <a:cs typeface="Arial" pitchFamily="34" charset="0"/>
              </a:rPr>
              <a:t>Se requieren 2 niveles de planificación:</a:t>
            </a:r>
          </a:p>
          <a:p>
            <a:pPr marL="342900" lvl="1" indent="-342900" algn="just">
              <a:buFont typeface="+mj-lt"/>
              <a:buAutoNum type="arabicPeriod"/>
            </a:pPr>
            <a:r>
              <a:rPr lang="es-AR" sz="1600" b="1" dirty="0" smtClean="0">
                <a:solidFill>
                  <a:schemeClr val="tx1"/>
                </a:solidFill>
                <a:latin typeface="Arial" pitchFamily="34" charset="0"/>
                <a:cs typeface="Arial" pitchFamily="34" charset="0"/>
              </a:rPr>
              <a:t>Planificación dentro de la cola</a:t>
            </a:r>
            <a:r>
              <a:rPr lang="es-AR" sz="1600" dirty="0" smtClean="0">
                <a:solidFill>
                  <a:schemeClr val="tx1"/>
                </a:solidFill>
                <a:latin typeface="Arial" pitchFamily="34" charset="0"/>
                <a:cs typeface="Arial" pitchFamily="34" charset="0"/>
              </a:rPr>
              <a:t>: cada una utiliza su propio algoritmo de planificación de acuerdo al tipo de proceso que almacena (RR, FCFS, etc.)</a:t>
            </a:r>
          </a:p>
          <a:p>
            <a:pPr marL="342900" lvl="1" indent="-342900" algn="just">
              <a:buFont typeface="+mj-lt"/>
              <a:buAutoNum type="arabicPeriod"/>
            </a:pPr>
            <a:r>
              <a:rPr lang="es-AR" sz="1600" b="1" dirty="0" smtClean="0">
                <a:solidFill>
                  <a:schemeClr val="tx1"/>
                </a:solidFill>
                <a:latin typeface="Arial" pitchFamily="34" charset="0"/>
                <a:cs typeface="Arial" pitchFamily="34" charset="0"/>
              </a:rPr>
              <a:t>Planificación entre colas</a:t>
            </a:r>
            <a:r>
              <a:rPr lang="es-AR" sz="1600" dirty="0" smtClean="0">
                <a:solidFill>
                  <a:schemeClr val="tx1"/>
                </a:solidFill>
                <a:latin typeface="Arial" pitchFamily="34" charset="0"/>
                <a:cs typeface="Arial" pitchFamily="34" charset="0"/>
              </a:rPr>
              <a:t>: </a:t>
            </a:r>
          </a:p>
          <a:p>
            <a:pPr marL="638175" lvl="2" indent="-180975" algn="just">
              <a:buFont typeface="Arial" pitchFamily="34" charset="0"/>
              <a:buChar char="•"/>
            </a:pPr>
            <a:r>
              <a:rPr lang="es-AR" sz="1600" dirty="0" smtClean="0">
                <a:solidFill>
                  <a:schemeClr val="tx1"/>
                </a:solidFill>
                <a:latin typeface="Arial" pitchFamily="34" charset="0"/>
                <a:cs typeface="Arial" pitchFamily="34" charset="0"/>
              </a:rPr>
              <a:t>se le asigna una prioridad a cada cola.</a:t>
            </a:r>
          </a:p>
          <a:p>
            <a:pPr marL="638175" lvl="2" indent="-180975" algn="just">
              <a:buFont typeface="Arial" pitchFamily="34" charset="0"/>
              <a:buChar char="•"/>
            </a:pPr>
            <a:r>
              <a:rPr lang="es-AR" sz="1600" dirty="0" smtClean="0">
                <a:solidFill>
                  <a:schemeClr val="tx1"/>
                </a:solidFill>
                <a:latin typeface="Arial" pitchFamily="34" charset="0"/>
                <a:cs typeface="Arial" pitchFamily="34" charset="0"/>
              </a:rPr>
              <a:t>se le asigna un quantum de CPU a cada cola que se distribuirá entre los procesos de la misma</a:t>
            </a:r>
          </a:p>
          <a:p>
            <a:pPr marL="638175" lvl="2" indent="-638175" algn="just">
              <a:spcBef>
                <a:spcPts val="600"/>
              </a:spcBef>
            </a:pPr>
            <a:r>
              <a:rPr lang="es-AR" sz="1600" dirty="0" smtClean="0">
                <a:solidFill>
                  <a:schemeClr val="tx1"/>
                </a:solidFill>
                <a:latin typeface="Arial" pitchFamily="34" charset="0"/>
                <a:cs typeface="Arial" pitchFamily="34" charset="0"/>
              </a:rPr>
              <a:t>Ejemplo:</a:t>
            </a:r>
          </a:p>
          <a:p>
            <a:pPr marL="180975" lvl="1" indent="-180975" algn="just"/>
            <a:endParaRPr lang="es-AR" sz="1600" dirty="0" smtClean="0">
              <a:solidFill>
                <a:schemeClr val="tx1"/>
              </a:solidFill>
              <a:latin typeface="Arial" pitchFamily="34" charset="0"/>
              <a:cs typeface="Arial" pitchFamily="34" charset="0"/>
            </a:endParaRPr>
          </a:p>
        </p:txBody>
      </p:sp>
      <p:sp>
        <p:nvSpPr>
          <p:cNvPr id="13" name="12 CuadroTexto"/>
          <p:cNvSpPr txBox="1"/>
          <p:nvPr/>
        </p:nvSpPr>
        <p:spPr>
          <a:xfrm>
            <a:off x="189139" y="961117"/>
            <a:ext cx="8811985" cy="338554"/>
          </a:xfrm>
          <a:prstGeom prst="rect">
            <a:avLst/>
          </a:prstGeom>
          <a:noFill/>
        </p:spPr>
        <p:txBody>
          <a:bodyPr wrap="square" rtlCol="0">
            <a:spAutoFit/>
          </a:bodyPr>
          <a:lstStyle/>
          <a:p>
            <a:pPr marL="0" lvl="1" algn="just"/>
            <a:r>
              <a:rPr lang="es-AR" sz="1600" b="1" dirty="0" smtClean="0">
                <a:solidFill>
                  <a:srgbClr val="CC00CC"/>
                </a:solidFill>
                <a:latin typeface="Arial" pitchFamily="34" charset="0"/>
                <a:cs typeface="Arial" pitchFamily="34" charset="0"/>
              </a:rPr>
              <a:t>Planificación de Colas múltiples o Colas Multinivel (</a:t>
            </a:r>
            <a:r>
              <a:rPr lang="es-AR" sz="1600" b="1" dirty="0" err="1" smtClean="0">
                <a:solidFill>
                  <a:srgbClr val="CC00CC"/>
                </a:solidFill>
                <a:latin typeface="Arial" pitchFamily="34" charset="0"/>
                <a:cs typeface="Arial" pitchFamily="34" charset="0"/>
              </a:rPr>
              <a:t>multilevel</a:t>
            </a:r>
            <a:r>
              <a:rPr lang="es-AR" sz="1600" b="1" dirty="0" smtClean="0">
                <a:solidFill>
                  <a:srgbClr val="CC00CC"/>
                </a:solidFill>
                <a:latin typeface="Arial" pitchFamily="34" charset="0"/>
                <a:cs typeface="Arial" pitchFamily="34" charset="0"/>
              </a:rPr>
              <a:t> </a:t>
            </a:r>
            <a:r>
              <a:rPr lang="es-AR" sz="1600" b="1" dirty="0" err="1" smtClean="0">
                <a:solidFill>
                  <a:srgbClr val="CC00CC"/>
                </a:solidFill>
                <a:latin typeface="Arial" pitchFamily="34" charset="0"/>
                <a:cs typeface="Arial" pitchFamily="34" charset="0"/>
              </a:rPr>
              <a:t>Queue</a:t>
            </a:r>
            <a:r>
              <a:rPr lang="es-AR" sz="1600" b="1" dirty="0" smtClean="0">
                <a:solidFill>
                  <a:srgbClr val="CC00CC"/>
                </a:solidFill>
                <a:latin typeface="Arial" pitchFamily="34" charset="0"/>
                <a:cs typeface="Arial" pitchFamily="34" charset="0"/>
              </a:rPr>
              <a:t>)  (son </a:t>
            </a:r>
            <a:r>
              <a:rPr lang="es-AR" sz="1600" b="1" dirty="0" err="1" smtClean="0">
                <a:solidFill>
                  <a:srgbClr val="CC00CC"/>
                </a:solidFill>
                <a:latin typeface="Arial" pitchFamily="34" charset="0"/>
                <a:cs typeface="Arial" pitchFamily="34" charset="0"/>
              </a:rPr>
              <a:t>apropiativas</a:t>
            </a:r>
            <a:r>
              <a:rPr lang="es-AR" sz="1600" b="1" dirty="0" smtClean="0">
                <a:solidFill>
                  <a:srgbClr val="CC00CC"/>
                </a:solidFill>
                <a:latin typeface="Arial" pitchFamily="34" charset="0"/>
                <a:cs typeface="Arial" pitchFamily="34" charset="0"/>
              </a:rPr>
              <a:t>)</a:t>
            </a:r>
            <a:endParaRPr lang="es-AR" sz="1600" b="1" dirty="0" smtClean="0">
              <a:solidFill>
                <a:schemeClr val="tx1"/>
              </a:solidFill>
              <a:latin typeface="Arial" pitchFamily="34" charset="0"/>
              <a:cs typeface="Arial" pitchFamily="34" charset="0"/>
            </a:endParaRPr>
          </a:p>
        </p:txBody>
      </p:sp>
      <p:pic>
        <p:nvPicPr>
          <p:cNvPr id="5122" name="Picture 2"/>
          <p:cNvPicPr>
            <a:picLocks noChangeAspect="1" noChangeArrowheads="1"/>
          </p:cNvPicPr>
          <p:nvPr/>
        </p:nvPicPr>
        <p:blipFill>
          <a:blip r:embed="rId6" cstate="print"/>
          <a:srcRect/>
          <a:stretch>
            <a:fillRect/>
          </a:stretch>
        </p:blipFill>
        <p:spPr bwMode="auto">
          <a:xfrm>
            <a:off x="9144000" y="0"/>
            <a:ext cx="5905500" cy="7591425"/>
          </a:xfrm>
          <a:prstGeom prst="rect">
            <a:avLst/>
          </a:prstGeom>
          <a:noFill/>
          <a:ln w="9525">
            <a:noFill/>
            <a:miter lim="800000"/>
            <a:headEnd/>
            <a:tailEnd/>
          </a:ln>
          <a:effectLst/>
        </p:spPr>
      </p:pic>
      <p:pic>
        <p:nvPicPr>
          <p:cNvPr id="1026" name="Picture 2"/>
          <p:cNvPicPr>
            <a:picLocks noChangeAspect="1" noChangeArrowheads="1"/>
          </p:cNvPicPr>
          <p:nvPr/>
        </p:nvPicPr>
        <p:blipFill>
          <a:blip r:embed="rId7" cstate="print"/>
          <a:srcRect/>
          <a:stretch>
            <a:fillRect/>
          </a:stretch>
        </p:blipFill>
        <p:spPr bwMode="auto">
          <a:xfrm>
            <a:off x="-6800850" y="0"/>
            <a:ext cx="6800850" cy="7496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6"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Planificación de procesos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8" name="7 CuadroTexto"/>
          <p:cNvSpPr txBox="1"/>
          <p:nvPr/>
        </p:nvSpPr>
        <p:spPr>
          <a:xfrm>
            <a:off x="198664" y="1227817"/>
            <a:ext cx="8688161" cy="3339376"/>
          </a:xfrm>
          <a:prstGeom prst="rect">
            <a:avLst/>
          </a:prstGeom>
          <a:noFill/>
        </p:spPr>
        <p:txBody>
          <a:bodyPr wrap="square" rtlCol="0">
            <a:spAutoFit/>
          </a:bodyPr>
          <a:lstStyle/>
          <a:p>
            <a:pPr marL="180975" lvl="1" indent="-180975" algn="just">
              <a:buFont typeface="Arial" pitchFamily="34" charset="0"/>
              <a:buChar char="•"/>
            </a:pPr>
            <a:r>
              <a:rPr lang="es-AR" sz="1400" dirty="0" smtClean="0">
                <a:solidFill>
                  <a:schemeClr val="tx1"/>
                </a:solidFill>
                <a:latin typeface="Arial" pitchFamily="34" charset="0"/>
                <a:cs typeface="Arial" pitchFamily="34" charset="0"/>
              </a:rPr>
              <a:t>Los procesos se puede mover entre las colas. Es una forma de implementar el envejecimiento para evitar inanición, por ejemplo si un proceso está demasiado tiempo en una cola pasa a otra de mayor prioridad.</a:t>
            </a:r>
          </a:p>
          <a:p>
            <a:pPr marL="180975" lvl="1" indent="-180975" algn="just">
              <a:buFont typeface="Arial" pitchFamily="34" charset="0"/>
              <a:buChar char="•"/>
            </a:pPr>
            <a:r>
              <a:rPr lang="es-AR" sz="1400" dirty="0" smtClean="0">
                <a:solidFill>
                  <a:schemeClr val="tx1"/>
                </a:solidFill>
                <a:latin typeface="Arial" pitchFamily="34" charset="0"/>
                <a:cs typeface="Arial" pitchFamily="34" charset="0"/>
              </a:rPr>
              <a:t>Si un proceso usa mucho la CPU (CPU-</a:t>
            </a:r>
            <a:r>
              <a:rPr lang="es-AR" sz="1400" dirty="0" err="1" smtClean="0">
                <a:solidFill>
                  <a:schemeClr val="tx1"/>
                </a:solidFill>
                <a:latin typeface="Arial" pitchFamily="34" charset="0"/>
                <a:cs typeface="Arial" pitchFamily="34" charset="0"/>
              </a:rPr>
              <a:t>bound</a:t>
            </a:r>
            <a:r>
              <a:rPr lang="es-AR" sz="1400" dirty="0" smtClean="0">
                <a:solidFill>
                  <a:schemeClr val="tx1"/>
                </a:solidFill>
                <a:latin typeface="Arial" pitchFamily="34" charset="0"/>
                <a:cs typeface="Arial" pitchFamily="34" charset="0"/>
              </a:rPr>
              <a:t>) pasa a cola de menor prioridad y si usa mucho E/S (I/O </a:t>
            </a:r>
            <a:r>
              <a:rPr lang="es-AR" sz="1400" dirty="0" err="1" smtClean="0">
                <a:solidFill>
                  <a:schemeClr val="tx1"/>
                </a:solidFill>
                <a:latin typeface="Arial" pitchFamily="34" charset="0"/>
                <a:cs typeface="Arial" pitchFamily="34" charset="0"/>
              </a:rPr>
              <a:t>bound</a:t>
            </a:r>
            <a:r>
              <a:rPr lang="es-AR" sz="1400" dirty="0" smtClean="0">
                <a:solidFill>
                  <a:schemeClr val="tx1"/>
                </a:solidFill>
                <a:latin typeface="Arial" pitchFamily="34" charset="0"/>
                <a:cs typeface="Arial" pitchFamily="34" charset="0"/>
              </a:rPr>
              <a:t>) pasa a cola de prioridad más alta.</a:t>
            </a:r>
          </a:p>
          <a:p>
            <a:pPr marL="180975" lvl="1" indent="-180975" algn="just"/>
            <a:endParaRPr lang="es-AR" sz="1400" dirty="0" smtClean="0">
              <a:solidFill>
                <a:schemeClr val="tx1"/>
              </a:solidFill>
              <a:latin typeface="Arial" pitchFamily="34" charset="0"/>
              <a:cs typeface="Arial" pitchFamily="34" charset="0"/>
            </a:endParaRPr>
          </a:p>
          <a:p>
            <a:pPr marL="180975" lvl="1" indent="-180975" algn="just">
              <a:spcBef>
                <a:spcPts val="600"/>
              </a:spcBef>
            </a:pPr>
            <a:r>
              <a:rPr lang="es-AR" sz="1400" dirty="0" smtClean="0">
                <a:solidFill>
                  <a:schemeClr val="tx1"/>
                </a:solidFill>
                <a:latin typeface="Arial" pitchFamily="34" charset="0"/>
                <a:cs typeface="Arial" pitchFamily="34" charset="0"/>
              </a:rPr>
              <a:t>Este algoritmo está definido por los siguientes parámetros:</a:t>
            </a:r>
          </a:p>
          <a:p>
            <a:pPr marL="180975" lvl="1" indent="-180975" algn="just">
              <a:buFont typeface="Arial" pitchFamily="34" charset="0"/>
              <a:buChar char="•"/>
            </a:pPr>
            <a:r>
              <a:rPr lang="es-AR" sz="1400" dirty="0" smtClean="0">
                <a:solidFill>
                  <a:schemeClr val="tx1"/>
                </a:solidFill>
                <a:latin typeface="Arial" pitchFamily="34" charset="0"/>
                <a:cs typeface="Arial" pitchFamily="34" charset="0"/>
              </a:rPr>
              <a:t>número de colas</a:t>
            </a:r>
          </a:p>
          <a:p>
            <a:pPr marL="180975" lvl="1" indent="-180975" algn="just">
              <a:buFont typeface="Arial" pitchFamily="34" charset="0"/>
              <a:buChar char="•"/>
            </a:pPr>
            <a:r>
              <a:rPr lang="es-AR" sz="1400" dirty="0" smtClean="0">
                <a:solidFill>
                  <a:schemeClr val="tx1"/>
                </a:solidFill>
                <a:latin typeface="Arial" pitchFamily="34" charset="0"/>
                <a:cs typeface="Arial" pitchFamily="34" charset="0"/>
              </a:rPr>
              <a:t>algoritmos de planificación para cada cola</a:t>
            </a:r>
          </a:p>
          <a:p>
            <a:pPr marL="180975" lvl="1" indent="-180975" algn="just">
              <a:buFont typeface="Arial" pitchFamily="34" charset="0"/>
              <a:buChar char="•"/>
            </a:pPr>
            <a:r>
              <a:rPr lang="es-AR" sz="1400" dirty="0" smtClean="0">
                <a:solidFill>
                  <a:schemeClr val="tx1"/>
                </a:solidFill>
                <a:latin typeface="Arial" pitchFamily="34" charset="0"/>
                <a:cs typeface="Arial" pitchFamily="34" charset="0"/>
              </a:rPr>
              <a:t>método usado para determinar cuándo promover un proceso a una cola de mayor prioridad</a:t>
            </a:r>
          </a:p>
          <a:p>
            <a:pPr marL="180975" lvl="1" indent="-180975" algn="just">
              <a:buFont typeface="Arial" pitchFamily="34" charset="0"/>
              <a:buChar char="•"/>
            </a:pPr>
            <a:r>
              <a:rPr lang="es-AR" sz="1400" dirty="0" smtClean="0">
                <a:solidFill>
                  <a:schemeClr val="tx1"/>
                </a:solidFill>
                <a:latin typeface="Arial" pitchFamily="34" charset="0"/>
                <a:cs typeface="Arial" pitchFamily="34" charset="0"/>
              </a:rPr>
              <a:t>método usado para determinar cuándo degradar un proceso a una cola de menor prioridad</a:t>
            </a:r>
          </a:p>
          <a:p>
            <a:pPr marL="180975" lvl="1" indent="-180975" algn="just">
              <a:buFont typeface="Arial" pitchFamily="34" charset="0"/>
              <a:buChar char="•"/>
            </a:pPr>
            <a:r>
              <a:rPr lang="es-AR" sz="1400" dirty="0" smtClean="0">
                <a:solidFill>
                  <a:schemeClr val="tx1"/>
                </a:solidFill>
                <a:latin typeface="Arial" pitchFamily="34" charset="0"/>
                <a:cs typeface="Arial" pitchFamily="34" charset="0"/>
              </a:rPr>
              <a:t>método usado para determinar en qué cola ingresará un proceso cuando necesite servicio</a:t>
            </a:r>
          </a:p>
          <a:p>
            <a:pPr marL="0" lvl="1" algn="just">
              <a:spcBef>
                <a:spcPts val="600"/>
              </a:spcBef>
            </a:pPr>
            <a:r>
              <a:rPr lang="es-AR" sz="1400" dirty="0" smtClean="0">
                <a:solidFill>
                  <a:schemeClr val="tx1"/>
                </a:solidFill>
                <a:latin typeface="Arial" pitchFamily="34" charset="0"/>
                <a:cs typeface="Arial" pitchFamily="34" charset="0"/>
              </a:rPr>
              <a:t>La colas multinivel con realimentación son las más usados en los SO, debido a que logra equidad, tiempo de respuesta y bajo </a:t>
            </a:r>
            <a:r>
              <a:rPr lang="es-AR" sz="1400" dirty="0" err="1" smtClean="0">
                <a:solidFill>
                  <a:schemeClr val="tx1"/>
                </a:solidFill>
                <a:latin typeface="Arial" pitchFamily="34" charset="0"/>
                <a:cs typeface="Arial" pitchFamily="34" charset="0"/>
              </a:rPr>
              <a:t>overhead</a:t>
            </a:r>
            <a:r>
              <a:rPr lang="es-AR" sz="1400" dirty="0" smtClean="0">
                <a:solidFill>
                  <a:schemeClr val="tx1"/>
                </a:solidFill>
                <a:latin typeface="Arial" pitchFamily="34" charset="0"/>
                <a:cs typeface="Arial" pitchFamily="34" charset="0"/>
              </a:rPr>
              <a:t> (sobrecarga), pero también es el más complejo ya que requiere disponer de mecanismos para seleccionar los valores de todos los parámetros.</a:t>
            </a:r>
          </a:p>
        </p:txBody>
      </p:sp>
      <p:sp>
        <p:nvSpPr>
          <p:cNvPr id="13" name="12 CuadroTexto"/>
          <p:cNvSpPr txBox="1"/>
          <p:nvPr/>
        </p:nvSpPr>
        <p:spPr>
          <a:xfrm>
            <a:off x="217714" y="961117"/>
            <a:ext cx="8811985" cy="338554"/>
          </a:xfrm>
          <a:prstGeom prst="rect">
            <a:avLst/>
          </a:prstGeom>
          <a:noFill/>
        </p:spPr>
        <p:txBody>
          <a:bodyPr wrap="square" rtlCol="0">
            <a:spAutoFit/>
          </a:bodyPr>
          <a:lstStyle/>
          <a:p>
            <a:pPr marL="0" lvl="1" algn="just"/>
            <a:r>
              <a:rPr lang="es-AR" sz="1600" b="1" dirty="0" smtClean="0">
                <a:solidFill>
                  <a:srgbClr val="CC00CC"/>
                </a:solidFill>
                <a:latin typeface="Arial" pitchFamily="34" charset="0"/>
                <a:cs typeface="Arial" pitchFamily="34" charset="0"/>
              </a:rPr>
              <a:t>Planificación mediante Colas Multinivel con Realimentación (</a:t>
            </a:r>
            <a:r>
              <a:rPr lang="es-AR" sz="1600" b="1" dirty="0" err="1" smtClean="0">
                <a:solidFill>
                  <a:srgbClr val="CC00CC"/>
                </a:solidFill>
                <a:latin typeface="Arial" pitchFamily="34" charset="0"/>
                <a:cs typeface="Arial" pitchFamily="34" charset="0"/>
              </a:rPr>
              <a:t>multilevel</a:t>
            </a:r>
            <a:r>
              <a:rPr lang="es-AR" sz="1600" b="1" dirty="0" smtClean="0">
                <a:solidFill>
                  <a:srgbClr val="CC00CC"/>
                </a:solidFill>
                <a:latin typeface="Arial" pitchFamily="34" charset="0"/>
                <a:cs typeface="Arial" pitchFamily="34" charset="0"/>
              </a:rPr>
              <a:t> </a:t>
            </a:r>
            <a:r>
              <a:rPr lang="es-AR" sz="1600" b="1" dirty="0" err="1" smtClean="0">
                <a:solidFill>
                  <a:srgbClr val="CC00CC"/>
                </a:solidFill>
                <a:latin typeface="Arial" pitchFamily="34" charset="0"/>
                <a:cs typeface="Arial" pitchFamily="34" charset="0"/>
              </a:rPr>
              <a:t>Feedback</a:t>
            </a:r>
            <a:r>
              <a:rPr lang="es-AR" sz="1600" b="1" dirty="0" smtClean="0">
                <a:solidFill>
                  <a:srgbClr val="CC00CC"/>
                </a:solidFill>
                <a:latin typeface="Arial" pitchFamily="34" charset="0"/>
                <a:cs typeface="Arial" pitchFamily="34" charset="0"/>
              </a:rPr>
              <a:t> </a:t>
            </a:r>
            <a:r>
              <a:rPr lang="es-AR" sz="1600" b="1" dirty="0" err="1" smtClean="0">
                <a:solidFill>
                  <a:srgbClr val="CC00CC"/>
                </a:solidFill>
                <a:latin typeface="Arial" pitchFamily="34" charset="0"/>
                <a:cs typeface="Arial" pitchFamily="34" charset="0"/>
              </a:rPr>
              <a:t>Queue</a:t>
            </a:r>
            <a:r>
              <a:rPr lang="es-AR" sz="1600" b="1" dirty="0" smtClean="0">
                <a:solidFill>
                  <a:srgbClr val="CC00CC"/>
                </a:solidFill>
                <a:latin typeface="Arial" pitchFamily="34" charset="0"/>
                <a:cs typeface="Arial" pitchFamily="34" charset="0"/>
              </a:rPr>
              <a:t>)</a:t>
            </a:r>
            <a:endParaRPr lang="es-AR" sz="1600" b="1" dirty="0" smtClean="0">
              <a:solidFill>
                <a:schemeClr val="tx1"/>
              </a:solidFill>
              <a:latin typeface="Arial" pitchFamily="34" charset="0"/>
              <a:cs typeface="Arial" pitchFamily="34" charset="0"/>
            </a:endParaRPr>
          </a:p>
        </p:txBody>
      </p:sp>
      <p:sp>
        <p:nvSpPr>
          <p:cNvPr id="16" name="15 CuadroTexto"/>
          <p:cNvSpPr txBox="1"/>
          <p:nvPr/>
        </p:nvSpPr>
        <p:spPr>
          <a:xfrm>
            <a:off x="171450" y="4505325"/>
            <a:ext cx="4752975" cy="2246769"/>
          </a:xfrm>
          <a:prstGeom prst="rect">
            <a:avLst/>
          </a:prstGeom>
          <a:noFill/>
        </p:spPr>
        <p:txBody>
          <a:bodyPr wrap="square" rtlCol="0">
            <a:spAutoFit/>
          </a:bodyPr>
          <a:lstStyle/>
          <a:p>
            <a:pPr algn="just"/>
            <a:r>
              <a:rPr lang="es-AR" sz="1400" u="sng" dirty="0" smtClean="0">
                <a:solidFill>
                  <a:schemeClr val="tx1"/>
                </a:solidFill>
                <a:latin typeface="Arial" pitchFamily="34" charset="0"/>
                <a:cs typeface="Arial" pitchFamily="34" charset="0"/>
              </a:rPr>
              <a:t>Ejemplo:</a:t>
            </a:r>
            <a:r>
              <a:rPr lang="es-AR" sz="1400" dirty="0" smtClean="0">
                <a:solidFill>
                  <a:schemeClr val="tx1"/>
                </a:solidFill>
                <a:latin typeface="Arial" pitchFamily="34" charset="0"/>
                <a:cs typeface="Arial" pitchFamily="34" charset="0"/>
              </a:rPr>
              <a:t> se tienen tres colas:</a:t>
            </a:r>
          </a:p>
          <a:p>
            <a:pPr indent="180975" algn="just"/>
            <a:r>
              <a:rPr lang="es-AR" sz="1400" dirty="0" smtClean="0">
                <a:solidFill>
                  <a:schemeClr val="tx1"/>
                </a:solidFill>
                <a:latin typeface="Arial" pitchFamily="34" charset="0"/>
                <a:cs typeface="Arial" pitchFamily="34" charset="0"/>
              </a:rPr>
              <a:t>Q0 – RR quantum 8 ms.</a:t>
            </a:r>
          </a:p>
          <a:p>
            <a:pPr indent="180975" algn="just"/>
            <a:r>
              <a:rPr lang="es-AR" sz="1400" dirty="0" smtClean="0">
                <a:solidFill>
                  <a:schemeClr val="tx1"/>
                </a:solidFill>
                <a:latin typeface="Arial" pitchFamily="34" charset="0"/>
                <a:cs typeface="Arial" pitchFamily="34" charset="0"/>
              </a:rPr>
              <a:t>Q1 – RR quantum 16 ms.</a:t>
            </a:r>
          </a:p>
          <a:p>
            <a:pPr indent="180975" algn="just"/>
            <a:r>
              <a:rPr lang="es-AR" sz="1400" dirty="0" smtClean="0">
                <a:solidFill>
                  <a:schemeClr val="tx1"/>
                </a:solidFill>
                <a:latin typeface="Arial" pitchFamily="34" charset="0"/>
                <a:cs typeface="Arial" pitchFamily="34" charset="0"/>
              </a:rPr>
              <a:t>Q2 – FCFS.</a:t>
            </a:r>
          </a:p>
          <a:p>
            <a:pPr algn="just"/>
            <a:r>
              <a:rPr lang="es-AR" sz="1400" dirty="0" smtClean="0">
                <a:solidFill>
                  <a:schemeClr val="tx1"/>
                </a:solidFill>
                <a:latin typeface="Arial" pitchFamily="34" charset="0"/>
                <a:cs typeface="Arial" pitchFamily="34" charset="0"/>
              </a:rPr>
              <a:t>Planificación</a:t>
            </a:r>
          </a:p>
          <a:p>
            <a:pPr marL="180975" algn="just"/>
            <a:r>
              <a:rPr lang="es-AR" sz="1400" dirty="0" smtClean="0">
                <a:solidFill>
                  <a:schemeClr val="tx1"/>
                </a:solidFill>
                <a:latin typeface="Arial" pitchFamily="34" charset="0"/>
                <a:cs typeface="Arial" pitchFamily="34" charset="0"/>
              </a:rPr>
              <a:t>Un nuevo trabajo entra a la cola Q0 (la cola de mayor prioridad), cuando tiene la CPU, el trabajo recibe 8 ms. Si no termina en 8 ms se mueve a la cola Q1, el trabajo es atendido y recibe 16 ms. Si aun no ha terminado, es expropiado y movido a la cola Q2 atendida por FCFS.</a:t>
            </a:r>
            <a:endParaRPr lang="es-AR" sz="1400" dirty="0">
              <a:solidFill>
                <a:schemeClr val="tx1"/>
              </a:solidFill>
              <a:latin typeface="Arial" pitchFamily="34" charset="0"/>
              <a:cs typeface="Arial" pitchFamily="34" charset="0"/>
            </a:endParaRPr>
          </a:p>
        </p:txBody>
      </p:sp>
      <p:grpSp>
        <p:nvGrpSpPr>
          <p:cNvPr id="18" name="17 Grupo"/>
          <p:cNvGrpSpPr/>
          <p:nvPr/>
        </p:nvGrpSpPr>
        <p:grpSpPr>
          <a:xfrm>
            <a:off x="5122757" y="4690019"/>
            <a:ext cx="3163993" cy="1996530"/>
            <a:chOff x="5560907" y="4690019"/>
            <a:chExt cx="3163993" cy="1996530"/>
          </a:xfrm>
        </p:grpSpPr>
        <p:pic>
          <p:nvPicPr>
            <p:cNvPr id="10242"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560907" y="4690019"/>
              <a:ext cx="3163993" cy="1996530"/>
            </a:xfrm>
            <a:prstGeom prst="rect">
              <a:avLst/>
            </a:prstGeom>
            <a:noFill/>
            <a:ln w="9525">
              <a:noFill/>
              <a:miter lim="800000"/>
              <a:headEnd/>
              <a:tailEnd/>
            </a:ln>
          </p:spPr>
        </p:pic>
        <p:sp>
          <p:nvSpPr>
            <p:cNvPr id="17" name="16 CuadroTexto"/>
            <p:cNvSpPr txBox="1"/>
            <p:nvPr/>
          </p:nvSpPr>
          <p:spPr>
            <a:xfrm>
              <a:off x="6305551" y="4858881"/>
              <a:ext cx="495299" cy="1756891"/>
            </a:xfrm>
            <a:prstGeom prst="rect">
              <a:avLst/>
            </a:prstGeom>
            <a:noFill/>
          </p:spPr>
          <p:txBody>
            <a:bodyPr wrap="square" rtlCol="0">
              <a:spAutoFit/>
            </a:bodyPr>
            <a:lstStyle/>
            <a:p>
              <a:pPr algn="just"/>
              <a:r>
                <a:rPr lang="es-AR" sz="1200" b="1" dirty="0" smtClean="0">
                  <a:solidFill>
                    <a:schemeClr val="tx1"/>
                  </a:solidFill>
                  <a:latin typeface="Arial" pitchFamily="34" charset="0"/>
                  <a:cs typeface="Arial" pitchFamily="34" charset="0"/>
                </a:rPr>
                <a:t>Q0</a:t>
              </a:r>
            </a:p>
            <a:p>
              <a:pPr algn="just"/>
              <a:endParaRPr lang="es-AR" sz="1200" b="1" dirty="0" smtClean="0">
                <a:solidFill>
                  <a:schemeClr val="tx1"/>
                </a:solidFill>
                <a:latin typeface="Arial" pitchFamily="34" charset="0"/>
                <a:cs typeface="Arial" pitchFamily="34" charset="0"/>
              </a:endParaRPr>
            </a:p>
            <a:p>
              <a:pPr algn="just"/>
              <a:endParaRPr lang="es-AR" sz="1200" b="1" dirty="0" smtClean="0">
                <a:solidFill>
                  <a:schemeClr val="tx1"/>
                </a:solidFill>
                <a:latin typeface="Arial" pitchFamily="34" charset="0"/>
                <a:cs typeface="Arial" pitchFamily="34" charset="0"/>
              </a:endParaRPr>
            </a:p>
            <a:p>
              <a:pPr algn="just">
                <a:spcBef>
                  <a:spcPts val="1400"/>
                </a:spcBef>
              </a:pPr>
              <a:r>
                <a:rPr lang="es-AR" sz="1200" b="1" dirty="0" smtClean="0">
                  <a:solidFill>
                    <a:schemeClr val="tx1"/>
                  </a:solidFill>
                  <a:latin typeface="Arial" pitchFamily="34" charset="0"/>
                  <a:cs typeface="Arial" pitchFamily="34" charset="0"/>
                </a:rPr>
                <a:t>Q1</a:t>
              </a:r>
            </a:p>
            <a:p>
              <a:pPr algn="just"/>
              <a:endParaRPr lang="es-AR" sz="1200" b="1" dirty="0" smtClean="0">
                <a:solidFill>
                  <a:schemeClr val="tx1"/>
                </a:solidFill>
                <a:latin typeface="Arial" pitchFamily="34" charset="0"/>
                <a:cs typeface="Arial" pitchFamily="34" charset="0"/>
              </a:endParaRPr>
            </a:p>
            <a:p>
              <a:pPr algn="just">
                <a:spcBef>
                  <a:spcPts val="600"/>
                </a:spcBef>
              </a:pPr>
              <a:endParaRPr lang="es-AR" sz="1200" b="1" dirty="0" smtClean="0">
                <a:solidFill>
                  <a:schemeClr val="tx1"/>
                </a:solidFill>
                <a:latin typeface="Arial" pitchFamily="34" charset="0"/>
                <a:cs typeface="Arial" pitchFamily="34" charset="0"/>
              </a:endParaRPr>
            </a:p>
            <a:p>
              <a:pPr algn="just">
                <a:spcBef>
                  <a:spcPts val="1000"/>
                </a:spcBef>
              </a:pPr>
              <a:r>
                <a:rPr lang="es-AR" sz="1200" b="1" dirty="0" smtClean="0">
                  <a:solidFill>
                    <a:schemeClr val="tx1"/>
                  </a:solidFill>
                  <a:latin typeface="Arial" pitchFamily="34" charset="0"/>
                  <a:cs typeface="Arial" pitchFamily="34" charset="0"/>
                </a:rPr>
                <a:t>Q2</a:t>
              </a:r>
              <a:endParaRPr lang="es-AR" sz="1200" b="1" dirty="0">
                <a:solidFill>
                  <a:schemeClr val="tx1"/>
                </a:solidFill>
                <a:latin typeface="Arial" pitchFamily="34" charset="0"/>
                <a:cs typeface="Arial" pitchFamily="34" charset="0"/>
              </a:endParaRPr>
            </a:p>
          </p:txBody>
        </p:sp>
      </p:grpSp>
      <p:sp>
        <p:nvSpPr>
          <p:cNvPr id="3083" name="Rectangle 11"/>
          <p:cNvSpPr>
            <a:spLocks noChangeArrowheads="1"/>
          </p:cNvSpPr>
          <p:nvPr/>
        </p:nvSpPr>
        <p:spPr bwMode="auto">
          <a:xfrm>
            <a:off x="136244" y="791085"/>
            <a:ext cx="7050106" cy="1292662"/>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200" b="1" i="0" u="none" strike="noStrike" cap="none" normalizeH="0" baseline="0" dirty="0" smtClean="0">
                <a:ln>
                  <a:noFill/>
                </a:ln>
                <a:solidFill>
                  <a:srgbClr val="404040"/>
                </a:solidFill>
                <a:effectLst/>
                <a:latin typeface="Arial" pitchFamily="34" charset="0"/>
                <a:cs typeface="Arial" pitchFamily="34" charset="0"/>
              </a:rPr>
              <a:t>1. Conceptos Clave</a:t>
            </a:r>
          </a:p>
          <a:p>
            <a:pPr marL="0" marR="0" lvl="0" indent="0" algn="l" defTabSz="914400" rtl="0" eaLnBrk="0" fontAlgn="base" latinLnBrk="0" hangingPunct="0">
              <a:lnSpc>
                <a:spcPct val="100000"/>
              </a:lnSpc>
              <a:spcBef>
                <a:spcPct val="0"/>
              </a:spcBef>
              <a:spcAft>
                <a:spcPct val="0"/>
              </a:spcAft>
              <a:buClrTx/>
              <a:buSzTx/>
              <a:buFontTx/>
              <a:buChar char="•"/>
              <a:tabLst>
                <a:tab pos="88900" algn="l"/>
              </a:tabLst>
            </a:pPr>
            <a:r>
              <a:rPr kumimoji="0" lang="es-ES" sz="1200" b="1" i="0" u="none" strike="noStrike" cap="none" normalizeH="0" baseline="0" dirty="0" smtClean="0">
                <a:ln>
                  <a:noFill/>
                </a:ln>
                <a:solidFill>
                  <a:srgbClr val="404040"/>
                </a:solidFill>
                <a:effectLst/>
                <a:latin typeface="DeepSeek-CJK-patch"/>
                <a:cs typeface="Arial" pitchFamily="34" charset="0"/>
              </a:rPr>
              <a:t>Múltiples colas de prioridad</a:t>
            </a:r>
            <a:r>
              <a:rPr kumimoji="0" lang="es-ES" sz="1200" b="0" i="0" u="none" strike="noStrike" cap="none" normalizeH="0" baseline="0" dirty="0" smtClean="0">
                <a:ln>
                  <a:noFill/>
                </a:ln>
                <a:solidFill>
                  <a:srgbClr val="404040"/>
                </a:solidFill>
                <a:effectLst/>
                <a:latin typeface="DeepSeek-CJK-patch"/>
                <a:cs typeface="Arial" pitchFamily="34" charset="0"/>
              </a:rPr>
              <a:t>: Divide los procesos en varias colas (</a:t>
            </a:r>
            <a:r>
              <a:rPr kumimoji="0" lang="es-ES" sz="1200" b="0" i="0" u="none" strike="noStrike" cap="none" normalizeH="0" baseline="0" dirty="0" err="1" smtClean="0">
                <a:ln>
                  <a:noFill/>
                </a:ln>
                <a:solidFill>
                  <a:srgbClr val="404040"/>
                </a:solidFill>
                <a:effectLst/>
                <a:latin typeface="DeepSeek-CJK-patch"/>
                <a:cs typeface="Arial" pitchFamily="34" charset="0"/>
              </a:rPr>
              <a:t>ej</a:t>
            </a:r>
            <a:r>
              <a:rPr kumimoji="0" lang="es-ES" sz="1200" b="0" i="0" u="none" strike="noStrike" cap="none" normalizeH="0" baseline="0" dirty="0" smtClean="0">
                <a:ln>
                  <a:noFill/>
                </a:ln>
                <a:solidFill>
                  <a:srgbClr val="404040"/>
                </a:solidFill>
                <a:effectLst/>
                <a:latin typeface="DeepSeek-CJK-patch"/>
                <a:cs typeface="Arial" pitchFamily="34" charset="0"/>
              </a:rPr>
              <a:t>: alta, media, baja prioridad).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sz="1200" b="1" i="0" u="none" strike="noStrike" cap="none" normalizeH="0" baseline="0" dirty="0" smtClean="0">
                <a:ln>
                  <a:noFill/>
                </a:ln>
                <a:solidFill>
                  <a:srgbClr val="404040"/>
                </a:solidFill>
                <a:effectLst/>
                <a:latin typeface="DeepSeek-CJK-patch"/>
                <a:cs typeface="Arial" pitchFamily="34" charset="0"/>
              </a:rPr>
              <a:t>Retroalimentación (</a:t>
            </a:r>
            <a:r>
              <a:rPr kumimoji="0" lang="es-ES" sz="1200" b="1" i="0" u="none" strike="noStrike" cap="none" normalizeH="0" baseline="0" dirty="0" err="1" smtClean="0">
                <a:ln>
                  <a:noFill/>
                </a:ln>
                <a:solidFill>
                  <a:srgbClr val="404040"/>
                </a:solidFill>
                <a:effectLst/>
                <a:latin typeface="DeepSeek-CJK-patch"/>
                <a:cs typeface="Arial" pitchFamily="34" charset="0"/>
              </a:rPr>
              <a:t>Feedback</a:t>
            </a:r>
            <a:r>
              <a:rPr kumimoji="0" lang="es-ES" sz="1200" b="1" i="0" u="none" strike="noStrike" cap="none" normalizeH="0" baseline="0" dirty="0" smtClean="0">
                <a:ln>
                  <a:noFill/>
                </a:ln>
                <a:solidFill>
                  <a:srgbClr val="404040"/>
                </a:solidFill>
                <a:effectLst/>
                <a:latin typeface="DeepSeek-CJK-patch"/>
                <a:cs typeface="Arial" pitchFamily="34" charset="0"/>
              </a:rPr>
              <a:t>)</a:t>
            </a:r>
            <a:r>
              <a:rPr kumimoji="0" lang="es-ES" sz="1200" b="0" i="0" u="none" strike="noStrike" cap="none" normalizeH="0" baseline="0" dirty="0" smtClean="0">
                <a:ln>
                  <a:noFill/>
                </a:ln>
                <a:solidFill>
                  <a:srgbClr val="404040"/>
                </a:solidFill>
                <a:effectLst/>
                <a:latin typeface="DeepSeek-CJK-patch"/>
                <a:cs typeface="Arial" pitchFamily="34" charset="0"/>
              </a:rPr>
              <a:t>: Los procesos pueden moverse entre colas según su comportamiento (</a:t>
            </a:r>
            <a:r>
              <a:rPr kumimoji="0" lang="es-ES" sz="1200" b="0" i="0" u="none" strike="noStrike" cap="none" normalizeH="0" baseline="0" dirty="0" err="1" smtClean="0">
                <a:ln>
                  <a:noFill/>
                </a:ln>
                <a:solidFill>
                  <a:srgbClr val="404040"/>
                </a:solidFill>
                <a:effectLst/>
                <a:latin typeface="DeepSeek-CJK-patch"/>
                <a:cs typeface="Arial" pitchFamily="34" charset="0"/>
              </a:rPr>
              <a:t>ej</a:t>
            </a:r>
            <a:r>
              <a:rPr kumimoji="0" lang="es-ES" sz="1200" b="0" i="0" u="none" strike="noStrike" cap="none" normalizeH="0" baseline="0" dirty="0" smtClean="0">
                <a:ln>
                  <a:noFill/>
                </a:ln>
                <a:solidFill>
                  <a:srgbClr val="404040"/>
                </a:solidFill>
                <a:effectLst/>
                <a:latin typeface="DeepSeek-CJK-patch"/>
                <a:cs typeface="Arial" pitchFamily="34" charset="0"/>
              </a:rPr>
              <a:t>: uso de CPU).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sz="1200" b="1" i="0" u="none" strike="noStrike" cap="none" normalizeH="0" baseline="0" dirty="0" smtClean="0">
                <a:ln>
                  <a:noFill/>
                </a:ln>
                <a:solidFill>
                  <a:srgbClr val="404040"/>
                </a:solidFill>
                <a:effectLst/>
                <a:latin typeface="DeepSeek-CJK-patch"/>
                <a:cs typeface="Arial" pitchFamily="34" charset="0"/>
              </a:rPr>
              <a:t>Evita inanición</a:t>
            </a:r>
            <a:r>
              <a:rPr kumimoji="0" lang="es-ES" sz="1200" b="0" i="0" u="none" strike="noStrike" cap="none" normalizeH="0" baseline="0" dirty="0" smtClean="0">
                <a:ln>
                  <a:noFill/>
                </a:ln>
                <a:solidFill>
                  <a:srgbClr val="404040"/>
                </a:solidFill>
                <a:effectLst/>
                <a:latin typeface="DeepSeek-CJK-patch"/>
                <a:cs typeface="Arial" pitchFamily="34" charset="0"/>
              </a:rPr>
              <a:t>: Procesos en colas bajas eventualmente suben de prioridad.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137450" y="2134560"/>
            <a:ext cx="7039106" cy="1595300"/>
          </a:xfrm>
          <a:prstGeom prst="rect">
            <a:avLst/>
          </a:prstGeom>
          <a:solidFill>
            <a:schemeClr val="bg1"/>
          </a:solidFill>
          <a:ln w="9525">
            <a:noFill/>
            <a:miter lim="800000"/>
            <a:headEnd/>
            <a:tailEnd/>
          </a:ln>
          <a:effectLst/>
        </p:spPr>
        <p:txBody>
          <a:bodyPr vert="horz" wrap="none" lIns="91440" tIns="25392" rIns="91440" bIns="0" numCol="1" anchor="ctr" anchorCtr="0" compatLnSpc="1">
            <a:prstTxWarp prst="textNoShape">
              <a:avLst/>
            </a:prstTxWarp>
            <a:spAutoFit/>
          </a:bodyPr>
          <a:lstStyle/>
          <a:p>
            <a:pPr algn="l"/>
            <a:r>
              <a:rPr lang="es-ES" sz="1200" b="1" dirty="0" smtClean="0">
                <a:solidFill>
                  <a:srgbClr val="404040"/>
                </a:solidFill>
                <a:latin typeface="Arial" pitchFamily="34" charset="0"/>
                <a:cs typeface="Arial" pitchFamily="34" charset="0"/>
              </a:rPr>
              <a:t>2. Reglas Básicas del MLFQ </a:t>
            </a:r>
          </a:p>
          <a:p>
            <a:pPr algn="l">
              <a:buFont typeface="Arial" pitchFamily="34" charset="0"/>
              <a:buChar char="•"/>
            </a:pPr>
            <a:r>
              <a:rPr lang="es-ES" sz="1200" b="1" dirty="0" smtClean="0">
                <a:solidFill>
                  <a:srgbClr val="404040"/>
                </a:solidFill>
                <a:latin typeface="Arial" pitchFamily="34" charset="0"/>
                <a:cs typeface="Arial" pitchFamily="34" charset="0"/>
              </a:rPr>
              <a:t>Prioridad inicial: </a:t>
            </a:r>
            <a:r>
              <a:rPr lang="es-ES" sz="1200" dirty="0" smtClean="0">
                <a:solidFill>
                  <a:srgbClr val="404040"/>
                </a:solidFill>
                <a:latin typeface="Arial" pitchFamily="34" charset="0"/>
                <a:cs typeface="Arial" pitchFamily="34" charset="0"/>
              </a:rPr>
              <a:t>Un proceso nuevo entra en la cola de </a:t>
            </a:r>
            <a:r>
              <a:rPr lang="es-ES" sz="1200" b="1" dirty="0" smtClean="0">
                <a:solidFill>
                  <a:srgbClr val="404040"/>
                </a:solidFill>
                <a:latin typeface="Arial" pitchFamily="34" charset="0"/>
                <a:cs typeface="Arial" pitchFamily="34" charset="0"/>
              </a:rPr>
              <a:t>máxima prioridad</a:t>
            </a:r>
            <a:r>
              <a:rPr lang="es-ES" sz="1200" dirty="0" smtClean="0">
                <a:solidFill>
                  <a:srgbClr val="404040"/>
                </a:solidFill>
                <a:latin typeface="Arial" pitchFamily="34" charset="0"/>
                <a:cs typeface="Arial" pitchFamily="34" charset="0"/>
              </a:rPr>
              <a:t>.</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lang="es-ES" sz="1200" b="1" dirty="0" smtClean="0">
                <a:solidFill>
                  <a:srgbClr val="404040"/>
                </a:solidFill>
                <a:latin typeface="DeepSeek-CJK-patch"/>
                <a:cs typeface="Arial" pitchFamily="34" charset="0"/>
              </a:rPr>
              <a:t>Ejecución</a:t>
            </a:r>
            <a:r>
              <a:rPr kumimoji="0" lang="es-ES" sz="1200" b="1" i="0" u="none" strike="noStrike" cap="none" normalizeH="0" baseline="0" dirty="0" smtClean="0">
                <a:ln>
                  <a:noFill/>
                </a:ln>
                <a:solidFill>
                  <a:srgbClr val="404040"/>
                </a:solidFill>
                <a:effectLst/>
                <a:latin typeface="DeepSeek-CJK-patch"/>
                <a:cs typeface="Arial" pitchFamily="34" charset="0"/>
              </a:rPr>
              <a:t> con tiempo limitado</a:t>
            </a:r>
            <a:r>
              <a:rPr kumimoji="0" lang="es-ES" sz="1200" b="0" i="0" u="none" strike="noStrike" cap="none" normalizeH="0" baseline="0" dirty="0" smtClean="0">
                <a:ln>
                  <a:noFill/>
                </a:ln>
                <a:solidFill>
                  <a:srgbClr val="404040"/>
                </a:solidFill>
                <a:effectLst/>
                <a:latin typeface="DeepSeek-CJK-patch"/>
                <a:cs typeface="Arial"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ES" sz="1200" b="0" i="0" u="none" strike="noStrike" cap="none" normalizeH="0" baseline="0" dirty="0" smtClean="0">
                <a:ln>
                  <a:noFill/>
                </a:ln>
                <a:solidFill>
                  <a:srgbClr val="404040"/>
                </a:solidFill>
                <a:effectLst/>
                <a:latin typeface="DeepSeek-CJK-patch"/>
                <a:cs typeface="Arial" pitchFamily="34" charset="0"/>
              </a:rPr>
              <a:t>Si un proceso </a:t>
            </a:r>
            <a:r>
              <a:rPr kumimoji="0" lang="es-ES" sz="1200" b="1" i="0" u="none" strike="noStrike" cap="none" normalizeH="0" baseline="0" dirty="0" smtClean="0">
                <a:ln>
                  <a:noFill/>
                </a:ln>
                <a:solidFill>
                  <a:srgbClr val="404040"/>
                </a:solidFill>
                <a:effectLst/>
                <a:latin typeface="DeepSeek-CJK-patch"/>
                <a:cs typeface="Arial" pitchFamily="34" charset="0"/>
              </a:rPr>
              <a:t>agota su quantum (time </a:t>
            </a:r>
            <a:r>
              <a:rPr kumimoji="0" lang="es-ES" sz="1200" b="1" i="0" u="none" strike="noStrike" cap="none" normalizeH="0" baseline="0" dirty="0" err="1" smtClean="0">
                <a:ln>
                  <a:noFill/>
                </a:ln>
                <a:solidFill>
                  <a:srgbClr val="404040"/>
                </a:solidFill>
                <a:effectLst/>
                <a:latin typeface="DeepSeek-CJK-patch"/>
                <a:cs typeface="Arial" pitchFamily="34" charset="0"/>
              </a:rPr>
              <a:t>slice</a:t>
            </a:r>
            <a:r>
              <a:rPr kumimoji="0" lang="es-ES" sz="1200" b="1" i="0" u="none" strike="noStrike" cap="none" normalizeH="0" baseline="0" dirty="0" smtClean="0">
                <a:ln>
                  <a:noFill/>
                </a:ln>
                <a:solidFill>
                  <a:srgbClr val="404040"/>
                </a:solidFill>
                <a:effectLst/>
                <a:latin typeface="DeepSeek-CJK-patch"/>
                <a:cs typeface="Arial" pitchFamily="34" charset="0"/>
              </a:rPr>
              <a:t>)</a:t>
            </a:r>
            <a:r>
              <a:rPr kumimoji="0" lang="es-ES" sz="1200" b="0" i="0" u="none" strike="noStrike" cap="none" normalizeH="0" baseline="0" dirty="0" smtClean="0">
                <a:ln>
                  <a:noFill/>
                </a:ln>
                <a:solidFill>
                  <a:srgbClr val="404040"/>
                </a:solidFill>
                <a:effectLst/>
                <a:latin typeface="DeepSeek-CJK-patch"/>
                <a:cs typeface="Arial" pitchFamily="34" charset="0"/>
              </a:rPr>
              <a:t> en una cola, </a:t>
            </a:r>
            <a:r>
              <a:rPr kumimoji="0" lang="es-ES" sz="1200" b="1" i="0" u="none" strike="noStrike" cap="none" normalizeH="0" baseline="0" dirty="0" smtClean="0">
                <a:ln>
                  <a:noFill/>
                </a:ln>
                <a:solidFill>
                  <a:srgbClr val="404040"/>
                </a:solidFill>
                <a:effectLst/>
                <a:latin typeface="DeepSeek-CJK-patch"/>
                <a:cs typeface="Arial" pitchFamily="34" charset="0"/>
              </a:rPr>
              <a:t>baja de prioridad</a:t>
            </a:r>
            <a:r>
              <a:rPr kumimoji="0" lang="es-ES" sz="1200" b="0" i="0" u="none" strike="noStrike" cap="none" normalizeH="0" baseline="0" dirty="0" smtClean="0">
                <a:ln>
                  <a:noFill/>
                </a:ln>
                <a:solidFill>
                  <a:srgbClr val="404040"/>
                </a:solidFill>
                <a:effectLst/>
                <a:latin typeface="DeepSeek-CJK-patch"/>
                <a:cs typeface="Arial"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ES" sz="1200" b="0" i="0" u="none" strike="noStrike" cap="none" normalizeH="0" baseline="0" dirty="0" smtClean="0">
                <a:ln>
                  <a:noFill/>
                </a:ln>
                <a:solidFill>
                  <a:srgbClr val="404040"/>
                </a:solidFill>
                <a:effectLst/>
                <a:latin typeface="DeepSeek-CJK-patch"/>
                <a:cs typeface="Arial" pitchFamily="34" charset="0"/>
              </a:rPr>
              <a:t>Si un proceso </a:t>
            </a:r>
            <a:r>
              <a:rPr kumimoji="0" lang="es-ES" sz="1200" b="1" i="0" u="none" strike="noStrike" cap="none" normalizeH="0" baseline="0" dirty="0" smtClean="0">
                <a:ln>
                  <a:noFill/>
                </a:ln>
                <a:solidFill>
                  <a:srgbClr val="404040"/>
                </a:solidFill>
                <a:effectLst/>
                <a:latin typeface="DeepSeek-CJK-patch"/>
                <a:cs typeface="Arial" pitchFamily="34" charset="0"/>
              </a:rPr>
              <a:t>libera la CPU</a:t>
            </a:r>
            <a:r>
              <a:rPr kumimoji="0" lang="es-ES" sz="1200" b="0" i="0" u="none" strike="noStrike" cap="none" normalizeH="0" baseline="0" dirty="0" smtClean="0">
                <a:ln>
                  <a:noFill/>
                </a:ln>
                <a:solidFill>
                  <a:srgbClr val="404040"/>
                </a:solidFill>
                <a:effectLst/>
                <a:latin typeface="DeepSeek-CJK-patch"/>
                <a:cs typeface="Arial" pitchFamily="34" charset="0"/>
              </a:rPr>
              <a:t> (</a:t>
            </a:r>
            <a:r>
              <a:rPr kumimoji="0" lang="es-ES" sz="1200" b="0" i="0" u="none" strike="noStrike" cap="none" normalizeH="0" baseline="0" dirty="0" err="1" smtClean="0">
                <a:ln>
                  <a:noFill/>
                </a:ln>
                <a:solidFill>
                  <a:srgbClr val="404040"/>
                </a:solidFill>
                <a:effectLst/>
                <a:latin typeface="DeepSeek-CJK-patch"/>
                <a:cs typeface="Arial" pitchFamily="34" charset="0"/>
              </a:rPr>
              <a:t>ej</a:t>
            </a:r>
            <a:r>
              <a:rPr kumimoji="0" lang="es-ES" sz="1200" b="0" i="0" u="none" strike="noStrike" cap="none" normalizeH="0" baseline="0" dirty="0" smtClean="0">
                <a:ln>
                  <a:noFill/>
                </a:ln>
                <a:solidFill>
                  <a:srgbClr val="404040"/>
                </a:solidFill>
                <a:effectLst/>
                <a:latin typeface="DeepSeek-CJK-patch"/>
                <a:cs typeface="Arial" pitchFamily="34" charset="0"/>
              </a:rPr>
              <a:t>: por I/O), </a:t>
            </a:r>
            <a:r>
              <a:rPr kumimoji="0" lang="es-ES" sz="1200" b="1" i="0" u="none" strike="noStrike" cap="none" normalizeH="0" baseline="0" dirty="0" smtClean="0">
                <a:ln>
                  <a:noFill/>
                </a:ln>
                <a:solidFill>
                  <a:srgbClr val="404040"/>
                </a:solidFill>
                <a:effectLst/>
                <a:latin typeface="DeepSeek-CJK-patch"/>
                <a:cs typeface="Arial" pitchFamily="34" charset="0"/>
              </a:rPr>
              <a:t>mantiene su prioridad</a:t>
            </a:r>
            <a:r>
              <a:rPr kumimoji="0" lang="es-ES" sz="1200" b="0" i="0" u="none" strike="noStrike" cap="none" normalizeH="0" baseline="0" dirty="0" smtClean="0">
                <a:ln>
                  <a:noFill/>
                </a:ln>
                <a:solidFill>
                  <a:srgbClr val="404040"/>
                </a:solidFill>
                <a:effectLst/>
                <a:latin typeface="DeepSeek-CJK-patch"/>
                <a:cs typeface="Arial" pitchFamily="34" charset="0"/>
              </a:rPr>
              <a:t>.</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s-ES" sz="1200" b="1" i="0" u="none" strike="noStrike" cap="none" normalizeH="0" baseline="0" dirty="0" smtClean="0">
                <a:ln>
                  <a:noFill/>
                </a:ln>
                <a:solidFill>
                  <a:srgbClr val="404040"/>
                </a:solidFill>
                <a:effectLst/>
                <a:latin typeface="DeepSeek-CJK-patch"/>
                <a:cs typeface="Arial" pitchFamily="34" charset="0"/>
              </a:rPr>
              <a:t>Promoción periódica</a:t>
            </a:r>
            <a:r>
              <a:rPr kumimoji="0" lang="es-ES" sz="1200" b="0" i="0" u="none" strike="noStrike" cap="none" normalizeH="0" baseline="0" dirty="0" smtClean="0">
                <a:ln>
                  <a:noFill/>
                </a:ln>
                <a:solidFill>
                  <a:srgbClr val="404040"/>
                </a:solidFill>
                <a:effectLst/>
                <a:latin typeface="DeepSeek-CJK-patch"/>
                <a:cs typeface="Arial" pitchFamily="34" charset="0"/>
              </a:rPr>
              <a:t>: Procesos en colas bajas son elevados ocasionalmente para evitar inanición.</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s-ES" sz="1200" b="1" i="0" u="none" strike="noStrike" cap="none" normalizeH="0" baseline="0" dirty="0" smtClean="0">
                <a:ln>
                  <a:noFill/>
                </a:ln>
                <a:solidFill>
                  <a:srgbClr val="404040"/>
                </a:solidFill>
                <a:effectLst/>
                <a:latin typeface="DeepSeek-CJK-patch"/>
                <a:cs typeface="Arial" pitchFamily="34" charset="0"/>
              </a:rPr>
              <a:t>Ajuste dinámico</a:t>
            </a:r>
            <a:r>
              <a:rPr kumimoji="0" lang="es-ES" sz="1200" b="0" i="0" u="none" strike="noStrike" cap="none" normalizeH="0" baseline="0" dirty="0" smtClean="0">
                <a:ln>
                  <a:noFill/>
                </a:ln>
                <a:solidFill>
                  <a:srgbClr val="404040"/>
                </a:solidFill>
                <a:effectLst/>
                <a:latin typeface="DeepSeek-CJK-patch"/>
                <a:cs typeface="Arial" pitchFamily="34" charset="0"/>
              </a:rPr>
              <a:t>: El sistema puede modificar quantums o prioridades según carga.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087" name="Rectangle 15"/>
          <p:cNvSpPr>
            <a:spLocks noChangeArrowheads="1"/>
          </p:cNvSpPr>
          <p:nvPr/>
        </p:nvSpPr>
        <p:spPr bwMode="auto">
          <a:xfrm>
            <a:off x="136717" y="3774493"/>
            <a:ext cx="7040396" cy="2677656"/>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200" b="1" i="0" u="none" strike="noStrike" cap="none" normalizeH="0" baseline="0" dirty="0" smtClean="0">
                <a:ln>
                  <a:noFill/>
                </a:ln>
                <a:solidFill>
                  <a:srgbClr val="404040"/>
                </a:solidFill>
                <a:effectLst/>
                <a:latin typeface="Arial" pitchFamily="34" charset="0"/>
                <a:cs typeface="Arial" pitchFamily="34" charset="0"/>
              </a:rPr>
              <a:t>3. Otro</a:t>
            </a:r>
            <a:r>
              <a:rPr kumimoji="0" lang="es-ES" sz="1200" b="1" i="0" u="none" strike="noStrike" cap="none" normalizeH="0" dirty="0" smtClean="0">
                <a:ln>
                  <a:noFill/>
                </a:ln>
                <a:solidFill>
                  <a:srgbClr val="404040"/>
                </a:solidFill>
                <a:effectLst/>
                <a:latin typeface="Arial" pitchFamily="34" charset="0"/>
                <a:cs typeface="Arial" pitchFamily="34" charset="0"/>
              </a:rPr>
              <a:t> e</a:t>
            </a:r>
            <a:r>
              <a:rPr kumimoji="0" lang="es-ES" sz="1200" b="1" i="0" u="none" strike="noStrike" cap="none" normalizeH="0" baseline="0" dirty="0" smtClean="0">
                <a:ln>
                  <a:noFill/>
                </a:ln>
                <a:solidFill>
                  <a:srgbClr val="404040"/>
                </a:solidFill>
                <a:effectLst/>
                <a:latin typeface="Arial" pitchFamily="34" charset="0"/>
                <a:cs typeface="Arial" pitchFamily="34" charset="0"/>
              </a:rPr>
              <a:t>jemplo Práctico</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sz="1200" b="0" i="0" u="none" strike="noStrike" cap="none" normalizeH="0" baseline="0" dirty="0" smtClean="0">
                <a:ln>
                  <a:noFill/>
                </a:ln>
                <a:solidFill>
                  <a:srgbClr val="404040"/>
                </a:solidFill>
                <a:effectLst/>
                <a:latin typeface="DeepSeek-CJK-patch"/>
                <a:cs typeface="Arial" pitchFamily="34" charset="0"/>
              </a:rPr>
              <a:t>Supongamos </a:t>
            </a:r>
            <a:r>
              <a:rPr kumimoji="0" lang="es-ES" sz="1200" b="1" i="0" u="none" strike="noStrike" cap="none" normalizeH="0" baseline="0" dirty="0" smtClean="0">
                <a:ln>
                  <a:noFill/>
                </a:ln>
                <a:solidFill>
                  <a:srgbClr val="404040"/>
                </a:solidFill>
                <a:effectLst/>
                <a:latin typeface="DeepSeek-CJK-patch"/>
                <a:cs typeface="Arial" pitchFamily="34" charset="0"/>
              </a:rPr>
              <a:t>3 colas</a:t>
            </a:r>
            <a:r>
              <a:rPr kumimoji="0" lang="es-ES" sz="1200" b="0" i="0" u="none" strike="noStrike" cap="none" normalizeH="0" baseline="0" dirty="0" smtClean="0">
                <a:ln>
                  <a:noFill/>
                </a:ln>
                <a:solidFill>
                  <a:srgbClr val="404040"/>
                </a:solidFill>
                <a:effectLst/>
                <a:latin typeface="DeepSeek-CJK-patch"/>
                <a:cs typeface="Arial" pitchFamily="34" charset="0"/>
              </a:rPr>
              <a:t> con quantums distintos:</a:t>
            </a:r>
          </a:p>
          <a:p>
            <a:pPr marL="0" marR="0" lvl="0" indent="0" algn="l" defTabSz="914400" rtl="0" eaLnBrk="0" fontAlgn="base" latinLnBrk="0" hangingPunct="0">
              <a:lnSpc>
                <a:spcPct val="100000"/>
              </a:lnSpc>
              <a:spcBef>
                <a:spcPct val="0"/>
              </a:spcBef>
              <a:spcAft>
                <a:spcPct val="0"/>
              </a:spcAft>
              <a:buClrTx/>
              <a:buSzTx/>
              <a:buFontTx/>
              <a:buNone/>
              <a:tabLst/>
            </a:pPr>
            <a:endParaRPr lang="es-ES" sz="1200" dirty="0" smtClean="0">
              <a:solidFill>
                <a:srgbClr val="404040"/>
              </a:solidFill>
              <a:latin typeface="DeepSeek-CJK-patch"/>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200" b="0" i="0" u="none" strike="noStrike" cap="none" normalizeH="0" baseline="0" dirty="0" smtClean="0">
              <a:ln>
                <a:noFill/>
              </a:ln>
              <a:solidFill>
                <a:srgbClr val="404040"/>
              </a:solidFill>
              <a:effectLst/>
              <a:latin typeface="DeepSeek-CJK-patch"/>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ES" sz="1200" dirty="0" smtClean="0">
              <a:solidFill>
                <a:srgbClr val="404040"/>
              </a:solidFill>
              <a:latin typeface="DeepSeek-CJK-patch"/>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200" b="0" i="0" u="none" strike="noStrike" cap="none" normalizeH="0" baseline="0" dirty="0" smtClean="0">
              <a:ln>
                <a:noFill/>
              </a:ln>
              <a:solidFill>
                <a:srgbClr val="404040"/>
              </a:solidFill>
              <a:effectLst/>
              <a:latin typeface="DeepSeek-CJK-patch"/>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ES" sz="1200" dirty="0" smtClean="0">
              <a:solidFill>
                <a:srgbClr val="404040"/>
              </a:solidFill>
              <a:latin typeface="DeepSeek-CJK-patch"/>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200" b="0" i="0" u="none" strike="noStrike" cap="none" normalizeH="0" baseline="0" dirty="0" smtClean="0">
              <a:ln>
                <a:noFill/>
              </a:ln>
              <a:solidFill>
                <a:srgbClr val="404040"/>
              </a:solidFill>
              <a:effectLst/>
              <a:latin typeface="DeepSeek-CJK-patch"/>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200" b="0" i="0" u="none" strike="noStrike" cap="none" normalizeH="0" baseline="0" dirty="0" smtClean="0">
              <a:ln>
                <a:noFill/>
              </a:ln>
              <a:solidFill>
                <a:srgbClr val="404040"/>
              </a:solidFill>
              <a:effectLst/>
              <a:latin typeface="DeepSeek-CJK-patch"/>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sz="1200" b="1" i="0" u="none" strike="noStrike" cap="none" normalizeH="0" baseline="0" dirty="0" smtClean="0">
                <a:ln>
                  <a:noFill/>
                </a:ln>
                <a:solidFill>
                  <a:srgbClr val="404040"/>
                </a:solidFill>
                <a:effectLst/>
                <a:latin typeface="DeepSeek-CJK-patch"/>
                <a:cs typeface="Arial" pitchFamily="34" charset="0"/>
              </a:rPr>
              <a:t>Proceso A</a:t>
            </a:r>
            <a:r>
              <a:rPr kumimoji="0" lang="es-ES" sz="1200" b="0" i="0" u="none" strike="noStrike" cap="none" normalizeH="0" baseline="0" dirty="0" smtClean="0">
                <a:ln>
                  <a:noFill/>
                </a:ln>
                <a:solidFill>
                  <a:srgbClr val="404040"/>
                </a:solidFill>
                <a:effectLst/>
                <a:latin typeface="DeepSeek-CJK-patch"/>
                <a:cs typeface="Arial" pitchFamily="34" charset="0"/>
              </a:rPr>
              <a:t>: Ejecuta 6 ms y hace I/O → </a:t>
            </a:r>
            <a:r>
              <a:rPr kumimoji="0" lang="es-ES" sz="1200" b="1" i="0" u="none" strike="noStrike" cap="none" normalizeH="0" baseline="0" dirty="0" smtClean="0">
                <a:ln>
                  <a:noFill/>
                </a:ln>
                <a:solidFill>
                  <a:srgbClr val="404040"/>
                </a:solidFill>
                <a:effectLst/>
                <a:latin typeface="DeepSeek-CJK-patch"/>
                <a:cs typeface="Arial" pitchFamily="34" charset="0"/>
              </a:rPr>
              <a:t>Se queda en Q0</a:t>
            </a:r>
            <a:r>
              <a:rPr kumimoji="0" lang="es-ES" sz="1200" b="0" i="0" u="none" strike="noStrike" cap="none" normalizeH="0" baseline="0" dirty="0" smtClean="0">
                <a:ln>
                  <a:noFill/>
                </a:ln>
                <a:solidFill>
                  <a:srgbClr val="404040"/>
                </a:solidFill>
                <a:effectLst/>
                <a:latin typeface="DeepSeek-CJK-patch"/>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sz="1200" b="1" i="0" u="none" strike="noStrike" cap="none" normalizeH="0" baseline="0" dirty="0" smtClean="0">
                <a:ln>
                  <a:noFill/>
                </a:ln>
                <a:solidFill>
                  <a:srgbClr val="404040"/>
                </a:solidFill>
                <a:effectLst/>
                <a:latin typeface="DeepSeek-CJK-patch"/>
                <a:cs typeface="Arial" pitchFamily="34" charset="0"/>
              </a:rPr>
              <a:t>Proceso B</a:t>
            </a:r>
            <a:r>
              <a:rPr kumimoji="0" lang="es-ES" sz="1200" b="0" i="0" u="none" strike="noStrike" cap="none" normalizeH="0" baseline="0" dirty="0" smtClean="0">
                <a:ln>
                  <a:noFill/>
                </a:ln>
                <a:solidFill>
                  <a:srgbClr val="404040"/>
                </a:solidFill>
                <a:effectLst/>
                <a:latin typeface="DeepSeek-CJK-patch"/>
                <a:cs typeface="Arial" pitchFamily="34" charset="0"/>
              </a:rPr>
              <a:t>: Usa todo el quantum de 8 ms → </a:t>
            </a:r>
            <a:r>
              <a:rPr kumimoji="0" lang="es-ES" sz="1200" b="1" i="0" u="none" strike="noStrike" cap="none" normalizeH="0" baseline="0" dirty="0" smtClean="0">
                <a:ln>
                  <a:noFill/>
                </a:ln>
                <a:solidFill>
                  <a:srgbClr val="404040"/>
                </a:solidFill>
                <a:effectLst/>
                <a:latin typeface="DeepSeek-CJK-patch"/>
                <a:cs typeface="Arial" pitchFamily="34" charset="0"/>
              </a:rPr>
              <a:t>Baja a Q1</a:t>
            </a:r>
            <a:r>
              <a:rPr kumimoji="0" lang="es-ES" sz="1200" b="0" i="0" u="none" strike="noStrike" cap="none" normalizeH="0" baseline="0" dirty="0" smtClean="0">
                <a:ln>
                  <a:noFill/>
                </a:ln>
                <a:solidFill>
                  <a:srgbClr val="404040"/>
                </a:solidFill>
                <a:effectLst/>
                <a:latin typeface="DeepSeek-CJK-patch"/>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sz="1200" b="1" i="0" u="none" strike="noStrike" cap="none" normalizeH="0" baseline="0" dirty="0" smtClean="0">
                <a:ln>
                  <a:noFill/>
                </a:ln>
                <a:solidFill>
                  <a:srgbClr val="404040"/>
                </a:solidFill>
                <a:effectLst/>
                <a:latin typeface="DeepSeek-CJK-patch"/>
                <a:cs typeface="Arial" pitchFamily="34" charset="0"/>
              </a:rPr>
              <a:t>Proceso C</a:t>
            </a:r>
            <a:r>
              <a:rPr kumimoji="0" lang="es-ES" sz="1200" b="0" i="0" u="none" strike="noStrike" cap="none" normalizeH="0" baseline="0" dirty="0" smtClean="0">
                <a:ln>
                  <a:noFill/>
                </a:ln>
                <a:solidFill>
                  <a:srgbClr val="404040"/>
                </a:solidFill>
                <a:effectLst/>
                <a:latin typeface="DeepSeek-CJK-patch"/>
                <a:cs typeface="Arial" pitchFamily="34" charset="0"/>
              </a:rPr>
              <a:t>: En Q2 por mucho tiempo → </a:t>
            </a:r>
            <a:r>
              <a:rPr kumimoji="0" lang="es-ES" sz="1200" b="1" i="0" u="none" strike="noStrike" cap="none" normalizeH="0" baseline="0" dirty="0" smtClean="0">
                <a:ln>
                  <a:noFill/>
                </a:ln>
                <a:solidFill>
                  <a:srgbClr val="404040"/>
                </a:solidFill>
                <a:effectLst/>
                <a:latin typeface="DeepSeek-CJK-patch"/>
                <a:cs typeface="Arial" pitchFamily="34" charset="0"/>
              </a:rPr>
              <a:t>Es promovido a Q1</a:t>
            </a:r>
            <a:r>
              <a:rPr kumimoji="0" lang="es-ES" sz="1200" b="0" i="0" u="none" strike="noStrike" cap="none" normalizeH="0" baseline="0" dirty="0" smtClean="0">
                <a:ln>
                  <a:noFill/>
                </a:ln>
                <a:solidFill>
                  <a:srgbClr val="404040"/>
                </a:solidFill>
                <a:effectLst/>
                <a:latin typeface="DeepSeek-CJK-patch"/>
                <a:cs typeface="Arial" pitchFamily="34" charset="0"/>
              </a:rPr>
              <a:t> tras un tiempo.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29" name="28 Tabla"/>
          <p:cNvGraphicFramePr>
            <a:graphicFrameLocks noGrp="1"/>
          </p:cNvGraphicFramePr>
          <p:nvPr/>
        </p:nvGraphicFramePr>
        <p:xfrm>
          <a:off x="508454" y="4284025"/>
          <a:ext cx="2715495" cy="1102446"/>
        </p:xfrm>
        <a:graphic>
          <a:graphicData uri="http://schemas.openxmlformats.org/drawingml/2006/table">
            <a:tbl>
              <a:tblPr/>
              <a:tblGrid>
                <a:gridCol w="905165"/>
                <a:gridCol w="905165"/>
                <a:gridCol w="905165"/>
              </a:tblGrid>
              <a:tr h="190241">
                <a:tc>
                  <a:txBody>
                    <a:bodyPr/>
                    <a:lstStyle/>
                    <a:p>
                      <a:pPr algn="l"/>
                      <a:r>
                        <a:rPr lang="es-ES" sz="1100" b="1" dirty="0"/>
                        <a:t>Cola</a:t>
                      </a:r>
                    </a:p>
                  </a:txBody>
                  <a:tcPr anchor="ctr">
                    <a:lnL>
                      <a:noFill/>
                    </a:lnL>
                    <a:lnR>
                      <a:noFill/>
                    </a:lnR>
                    <a:lnT>
                      <a:noFill/>
                    </a:lnT>
                    <a:lnB>
                      <a:noFill/>
                    </a:lnB>
                    <a:solidFill>
                      <a:schemeClr val="bg1"/>
                    </a:solidFill>
                  </a:tcPr>
                </a:tc>
                <a:tc>
                  <a:txBody>
                    <a:bodyPr/>
                    <a:lstStyle/>
                    <a:p>
                      <a:pPr algn="l"/>
                      <a:r>
                        <a:rPr lang="es-ES" sz="1100" b="1"/>
                        <a:t>Prioridad</a:t>
                      </a:r>
                    </a:p>
                  </a:txBody>
                  <a:tcPr anchor="ctr">
                    <a:lnL>
                      <a:noFill/>
                    </a:lnL>
                    <a:lnR>
                      <a:noFill/>
                    </a:lnR>
                    <a:lnT>
                      <a:noFill/>
                    </a:lnT>
                    <a:lnB>
                      <a:noFill/>
                    </a:lnB>
                    <a:solidFill>
                      <a:schemeClr val="bg1"/>
                    </a:solidFill>
                  </a:tcPr>
                </a:tc>
                <a:tc>
                  <a:txBody>
                    <a:bodyPr/>
                    <a:lstStyle/>
                    <a:p>
                      <a:pPr algn="l"/>
                      <a:r>
                        <a:rPr lang="es-ES" sz="1100" b="1"/>
                        <a:t>Quantum</a:t>
                      </a:r>
                    </a:p>
                  </a:txBody>
                  <a:tcPr anchor="ctr">
                    <a:lnL>
                      <a:noFill/>
                    </a:lnL>
                    <a:lnR>
                      <a:noFill/>
                    </a:lnR>
                    <a:lnT>
                      <a:noFill/>
                    </a:lnT>
                    <a:lnB>
                      <a:noFill/>
                    </a:lnB>
                    <a:solidFill>
                      <a:schemeClr val="bg1"/>
                    </a:solidFill>
                  </a:tcPr>
                </a:tc>
              </a:tr>
              <a:tr h="325206">
                <a:tc>
                  <a:txBody>
                    <a:bodyPr/>
                    <a:lstStyle/>
                    <a:p>
                      <a:r>
                        <a:rPr lang="es-ES" sz="1100" dirty="0"/>
                        <a:t>Q0</a:t>
                      </a:r>
                    </a:p>
                  </a:txBody>
                  <a:tcPr anchor="ctr">
                    <a:lnL>
                      <a:noFill/>
                    </a:lnL>
                    <a:lnR>
                      <a:noFill/>
                    </a:lnR>
                    <a:lnT>
                      <a:noFill/>
                    </a:lnT>
                    <a:lnB>
                      <a:noFill/>
                    </a:lnB>
                    <a:solidFill>
                      <a:schemeClr val="bg1"/>
                    </a:solidFill>
                  </a:tcPr>
                </a:tc>
                <a:tc>
                  <a:txBody>
                    <a:bodyPr/>
                    <a:lstStyle/>
                    <a:p>
                      <a:r>
                        <a:rPr lang="es-ES" sz="1100" dirty="0"/>
                        <a:t>Alta</a:t>
                      </a:r>
                    </a:p>
                  </a:txBody>
                  <a:tcPr anchor="ctr">
                    <a:lnL>
                      <a:noFill/>
                    </a:lnL>
                    <a:lnR>
                      <a:noFill/>
                    </a:lnR>
                    <a:lnT>
                      <a:noFill/>
                    </a:lnT>
                    <a:lnB>
                      <a:noFill/>
                    </a:lnB>
                    <a:solidFill>
                      <a:schemeClr val="bg1"/>
                    </a:solidFill>
                  </a:tcPr>
                </a:tc>
                <a:tc>
                  <a:txBody>
                    <a:bodyPr/>
                    <a:lstStyle/>
                    <a:p>
                      <a:r>
                        <a:rPr lang="es-ES" sz="1100" dirty="0"/>
                        <a:t>8 ms</a:t>
                      </a:r>
                    </a:p>
                  </a:txBody>
                  <a:tcPr anchor="ctr">
                    <a:lnL>
                      <a:noFill/>
                    </a:lnL>
                    <a:lnR>
                      <a:noFill/>
                    </a:lnR>
                    <a:lnT>
                      <a:noFill/>
                    </a:lnT>
                    <a:lnB>
                      <a:noFill/>
                    </a:lnB>
                    <a:solidFill>
                      <a:schemeClr val="bg1"/>
                    </a:solidFill>
                  </a:tcPr>
                </a:tc>
              </a:tr>
              <a:tr h="145387">
                <a:tc>
                  <a:txBody>
                    <a:bodyPr/>
                    <a:lstStyle/>
                    <a:p>
                      <a:r>
                        <a:rPr lang="es-ES" sz="1100"/>
                        <a:t>Q1</a:t>
                      </a:r>
                    </a:p>
                  </a:txBody>
                  <a:tcPr anchor="ctr">
                    <a:lnL>
                      <a:noFill/>
                    </a:lnL>
                    <a:lnR>
                      <a:noFill/>
                    </a:lnR>
                    <a:lnT>
                      <a:noFill/>
                    </a:lnT>
                    <a:lnB>
                      <a:noFill/>
                    </a:lnB>
                    <a:solidFill>
                      <a:schemeClr val="bg1"/>
                    </a:solidFill>
                  </a:tcPr>
                </a:tc>
                <a:tc>
                  <a:txBody>
                    <a:bodyPr/>
                    <a:lstStyle/>
                    <a:p>
                      <a:r>
                        <a:rPr lang="es-ES" sz="1100" dirty="0"/>
                        <a:t>Media</a:t>
                      </a:r>
                    </a:p>
                  </a:txBody>
                  <a:tcPr anchor="ctr">
                    <a:lnL>
                      <a:noFill/>
                    </a:lnL>
                    <a:lnR>
                      <a:noFill/>
                    </a:lnR>
                    <a:lnT>
                      <a:noFill/>
                    </a:lnT>
                    <a:lnB>
                      <a:noFill/>
                    </a:lnB>
                    <a:solidFill>
                      <a:schemeClr val="bg1"/>
                    </a:solidFill>
                  </a:tcPr>
                </a:tc>
                <a:tc>
                  <a:txBody>
                    <a:bodyPr/>
                    <a:lstStyle/>
                    <a:p>
                      <a:r>
                        <a:rPr lang="es-ES" sz="1100" dirty="0"/>
                        <a:t>16 </a:t>
                      </a:r>
                      <a:r>
                        <a:rPr lang="es-ES" sz="1100" dirty="0" smtClean="0"/>
                        <a:t>ms</a:t>
                      </a:r>
                      <a:endParaRPr lang="es-ES" sz="1100" dirty="0"/>
                    </a:p>
                  </a:txBody>
                  <a:tcPr anchor="ctr">
                    <a:lnL>
                      <a:noFill/>
                    </a:lnL>
                    <a:lnR>
                      <a:noFill/>
                    </a:lnR>
                    <a:lnT>
                      <a:noFill/>
                    </a:lnT>
                    <a:lnB>
                      <a:noFill/>
                    </a:lnB>
                    <a:solidFill>
                      <a:schemeClr val="bg1"/>
                    </a:solidFill>
                  </a:tcPr>
                </a:tc>
              </a:tr>
              <a:tr h="190241">
                <a:tc>
                  <a:txBody>
                    <a:bodyPr/>
                    <a:lstStyle/>
                    <a:p>
                      <a:r>
                        <a:rPr lang="es-ES" sz="1100"/>
                        <a:t>Q2</a:t>
                      </a:r>
                    </a:p>
                  </a:txBody>
                  <a:tcPr anchor="ctr">
                    <a:lnL>
                      <a:noFill/>
                    </a:lnL>
                    <a:lnR>
                      <a:noFill/>
                    </a:lnR>
                    <a:lnT>
                      <a:noFill/>
                    </a:lnT>
                    <a:lnB>
                      <a:noFill/>
                    </a:lnB>
                    <a:solidFill>
                      <a:schemeClr val="bg1"/>
                    </a:solidFill>
                  </a:tcPr>
                </a:tc>
                <a:tc>
                  <a:txBody>
                    <a:bodyPr/>
                    <a:lstStyle/>
                    <a:p>
                      <a:r>
                        <a:rPr lang="es-ES" sz="1100"/>
                        <a:t>Baja</a:t>
                      </a:r>
                    </a:p>
                  </a:txBody>
                  <a:tcPr anchor="ctr">
                    <a:lnL>
                      <a:noFill/>
                    </a:lnL>
                    <a:lnR>
                      <a:noFill/>
                    </a:lnR>
                    <a:lnT>
                      <a:noFill/>
                    </a:lnT>
                    <a:lnB>
                      <a:noFill/>
                    </a:lnB>
                    <a:solidFill>
                      <a:schemeClr val="bg1"/>
                    </a:solidFill>
                  </a:tcPr>
                </a:tc>
                <a:tc>
                  <a:txBody>
                    <a:bodyPr/>
                    <a:lstStyle/>
                    <a:p>
                      <a:r>
                        <a:rPr lang="es-ES" sz="1100" dirty="0"/>
                        <a:t>32 ms</a:t>
                      </a:r>
                    </a:p>
                  </a:txBody>
                  <a:tcPr anchor="ctr">
                    <a:lnL>
                      <a:noFill/>
                    </a:lnL>
                    <a:lnR>
                      <a:noFill/>
                    </a:lnR>
                    <a:lnT>
                      <a:noFill/>
                    </a:lnT>
                    <a:lnB>
                      <a:noFill/>
                    </a:lnB>
                    <a:solidFill>
                      <a:schemeClr val="bg1"/>
                    </a:solidFill>
                  </a:tcPr>
                </a:tc>
              </a:tr>
            </a:tbl>
          </a:graphicData>
        </a:graphic>
      </p:graphicFrame>
      <p:pic>
        <p:nvPicPr>
          <p:cNvPr id="3088" name="Picture 16"/>
          <p:cNvPicPr>
            <a:picLocks noChangeAspect="1" noChangeArrowheads="1"/>
          </p:cNvPicPr>
          <p:nvPr/>
        </p:nvPicPr>
        <p:blipFill>
          <a:blip r:embed="rId4" cstate="print"/>
          <a:srcRect t="6361" b="2221"/>
          <a:stretch>
            <a:fillRect/>
          </a:stretch>
        </p:blipFill>
        <p:spPr bwMode="auto">
          <a:xfrm>
            <a:off x="4539935" y="3875418"/>
            <a:ext cx="4441103" cy="178176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85"/>
                                        </p:tgtEl>
                                        <p:attrNameLst>
                                          <p:attrName>style.visibility</p:attrName>
                                        </p:attrNameLst>
                                      </p:cBhvr>
                                      <p:to>
                                        <p:strVal val="visible"/>
                                      </p:to>
                                    </p:set>
                                    <p:animEffect transition="in" filter="blinds(horizontal)">
                                      <p:cBhvr>
                                        <p:cTn id="7" dur="500"/>
                                        <p:tgtEl>
                                          <p:spTgt spid="308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83"/>
                                        </p:tgtEl>
                                        <p:attrNameLst>
                                          <p:attrName>style.visibility</p:attrName>
                                        </p:attrNameLst>
                                      </p:cBhvr>
                                      <p:to>
                                        <p:strVal val="visible"/>
                                      </p:to>
                                    </p:set>
                                    <p:animEffect transition="in" filter="blinds(horizontal)">
                                      <p:cBhvr>
                                        <p:cTn id="10" dur="500"/>
                                        <p:tgtEl>
                                          <p:spTgt spid="308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087"/>
                                        </p:tgtEl>
                                        <p:attrNameLst>
                                          <p:attrName>style.visibility</p:attrName>
                                        </p:attrNameLst>
                                      </p:cBhvr>
                                      <p:to>
                                        <p:strVal val="visible"/>
                                      </p:to>
                                    </p:set>
                                    <p:animEffect transition="in" filter="blinds(horizontal)">
                                      <p:cBhvr>
                                        <p:cTn id="13" dur="500"/>
                                        <p:tgtEl>
                                          <p:spTgt spid="3087"/>
                                        </p:tgtEl>
                                      </p:cBhvr>
                                    </p:animEffect>
                                  </p:childTnLst>
                                </p:cTn>
                              </p:par>
                              <p:par>
                                <p:cTn id="14" presetID="3" presetClass="entr" presetSubtype="10" fill="hold" nodeType="withEffect">
                                  <p:stCondLst>
                                    <p:cond delay="0"/>
                                  </p:stCondLst>
                                  <p:childTnLst>
                                    <p:set>
                                      <p:cBhvr>
                                        <p:cTn id="15" dur="1" fill="hold">
                                          <p:stCondLst>
                                            <p:cond delay="0"/>
                                          </p:stCondLst>
                                        </p:cTn>
                                        <p:tgtEl>
                                          <p:spTgt spid="3088"/>
                                        </p:tgtEl>
                                        <p:attrNameLst>
                                          <p:attrName>style.visibility</p:attrName>
                                        </p:attrNameLst>
                                      </p:cBhvr>
                                      <p:to>
                                        <p:strVal val="visible"/>
                                      </p:to>
                                    </p:set>
                                    <p:animEffect transition="in" filter="blinds(horizontal)">
                                      <p:cBhvr>
                                        <p:cTn id="16" dur="500"/>
                                        <p:tgtEl>
                                          <p:spTgt spid="3088"/>
                                        </p:tgtEl>
                                      </p:cBhvr>
                                    </p:animEffect>
                                  </p:childTnLst>
                                </p:cTn>
                              </p:par>
                              <p:par>
                                <p:cTn id="17" presetID="3" presetClass="entr" presetSubtype="1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blinds(horizontal)">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animBg="1"/>
      <p:bldP spid="3085" grpId="0" animBg="1"/>
      <p:bldP spid="3087" grpId="0" animBg="1"/>
    </p:bldLst>
  </p:timing>
</p:sld>
</file>

<file path=ppt/theme/theme1.xml><?xml version="1.0" encoding="utf-8"?>
<a:theme xmlns:a="http://schemas.openxmlformats.org/drawingml/2006/main" name="Tema de Office">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42550</TotalTime>
  <Words>4552</Words>
  <Application>Microsoft Office PowerPoint</Application>
  <PresentationFormat>Presentación en pantalla (4:3)</PresentationFormat>
  <Paragraphs>509</Paragraphs>
  <Slides>24</Slides>
  <Notes>24</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vector>
  </TitlesOfParts>
  <Company>East Texas Data Service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Steve  Armstrong</dc:creator>
  <cp:lastModifiedBy>Ryzen</cp:lastModifiedBy>
  <cp:revision>1924</cp:revision>
  <cp:lastPrinted>2001-01-13T18:08:51Z</cp:lastPrinted>
  <dcterms:created xsi:type="dcterms:W3CDTF">2000-11-18T17:50:49Z</dcterms:created>
  <dcterms:modified xsi:type="dcterms:W3CDTF">2026-03-02T23:17:04Z</dcterms:modified>
</cp:coreProperties>
</file>