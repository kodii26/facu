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49"/>
  </p:notesMasterIdLst>
  <p:handoutMasterIdLst>
    <p:handoutMasterId r:id="rId50"/>
  </p:handoutMasterIdLst>
  <p:sldIdLst>
    <p:sldId id="353" r:id="rId2"/>
    <p:sldId id="390" r:id="rId3"/>
    <p:sldId id="391" r:id="rId4"/>
    <p:sldId id="394" r:id="rId5"/>
    <p:sldId id="427" r:id="rId6"/>
    <p:sldId id="428" r:id="rId7"/>
    <p:sldId id="392" r:id="rId8"/>
    <p:sldId id="393" r:id="rId9"/>
    <p:sldId id="426" r:id="rId10"/>
    <p:sldId id="395" r:id="rId11"/>
    <p:sldId id="396" r:id="rId12"/>
    <p:sldId id="397" r:id="rId13"/>
    <p:sldId id="429" r:id="rId14"/>
    <p:sldId id="365" r:id="rId15"/>
    <p:sldId id="421" r:id="rId16"/>
    <p:sldId id="423" r:id="rId17"/>
    <p:sldId id="424" r:id="rId18"/>
    <p:sldId id="420" r:id="rId19"/>
    <p:sldId id="438" r:id="rId20"/>
    <p:sldId id="398" r:id="rId21"/>
    <p:sldId id="399" r:id="rId22"/>
    <p:sldId id="400" r:id="rId23"/>
    <p:sldId id="360" r:id="rId24"/>
    <p:sldId id="401" r:id="rId25"/>
    <p:sldId id="402" r:id="rId26"/>
    <p:sldId id="403" r:id="rId27"/>
    <p:sldId id="432" r:id="rId28"/>
    <p:sldId id="433" r:id="rId29"/>
    <p:sldId id="430" r:id="rId30"/>
    <p:sldId id="431" r:id="rId31"/>
    <p:sldId id="405" r:id="rId32"/>
    <p:sldId id="434" r:id="rId33"/>
    <p:sldId id="435" r:id="rId34"/>
    <p:sldId id="408" r:id="rId35"/>
    <p:sldId id="407" r:id="rId36"/>
    <p:sldId id="409" r:id="rId37"/>
    <p:sldId id="410" r:id="rId38"/>
    <p:sldId id="416" r:id="rId39"/>
    <p:sldId id="411" r:id="rId40"/>
    <p:sldId id="413" r:id="rId41"/>
    <p:sldId id="415" r:id="rId42"/>
    <p:sldId id="417" r:id="rId43"/>
    <p:sldId id="419" r:id="rId44"/>
    <p:sldId id="414" r:id="rId45"/>
    <p:sldId id="425" r:id="rId46"/>
    <p:sldId id="418" r:id="rId47"/>
    <p:sldId id="437" r:id="rId48"/>
  </p:sldIdLst>
  <p:sldSz cx="9144000" cy="6858000" type="screen4x3"/>
  <p:notesSz cx="6754813" cy="9866313"/>
  <p:defaultTextStyle>
    <a:defPPr>
      <a:defRPr lang="en-US"/>
    </a:defPPr>
    <a:lvl1pPr algn="ctr" rtl="0" fontAlgn="base">
      <a:spcBef>
        <a:spcPct val="0"/>
      </a:spcBef>
      <a:spcAft>
        <a:spcPct val="0"/>
      </a:spcAft>
      <a:defRPr sz="2400" kern="1200">
        <a:solidFill>
          <a:srgbClr val="C0C0C0"/>
        </a:solidFill>
        <a:latin typeface="Times New Roman" pitchFamily="18" charset="0"/>
        <a:ea typeface="+mn-ea"/>
        <a:cs typeface="+mn-cs"/>
      </a:defRPr>
    </a:lvl1pPr>
    <a:lvl2pPr marL="457200" algn="ctr" rtl="0" fontAlgn="base">
      <a:spcBef>
        <a:spcPct val="0"/>
      </a:spcBef>
      <a:spcAft>
        <a:spcPct val="0"/>
      </a:spcAft>
      <a:defRPr sz="2400" kern="1200">
        <a:solidFill>
          <a:srgbClr val="C0C0C0"/>
        </a:solidFill>
        <a:latin typeface="Times New Roman" pitchFamily="18" charset="0"/>
        <a:ea typeface="+mn-ea"/>
        <a:cs typeface="+mn-cs"/>
      </a:defRPr>
    </a:lvl2pPr>
    <a:lvl3pPr marL="914400" algn="ctr" rtl="0" fontAlgn="base">
      <a:spcBef>
        <a:spcPct val="0"/>
      </a:spcBef>
      <a:spcAft>
        <a:spcPct val="0"/>
      </a:spcAft>
      <a:defRPr sz="2400" kern="1200">
        <a:solidFill>
          <a:srgbClr val="C0C0C0"/>
        </a:solidFill>
        <a:latin typeface="Times New Roman" pitchFamily="18" charset="0"/>
        <a:ea typeface="+mn-ea"/>
        <a:cs typeface="+mn-cs"/>
      </a:defRPr>
    </a:lvl3pPr>
    <a:lvl4pPr marL="1371600" algn="ctr" rtl="0" fontAlgn="base">
      <a:spcBef>
        <a:spcPct val="0"/>
      </a:spcBef>
      <a:spcAft>
        <a:spcPct val="0"/>
      </a:spcAft>
      <a:defRPr sz="2400" kern="1200">
        <a:solidFill>
          <a:srgbClr val="C0C0C0"/>
        </a:solidFill>
        <a:latin typeface="Times New Roman" pitchFamily="18" charset="0"/>
        <a:ea typeface="+mn-ea"/>
        <a:cs typeface="+mn-cs"/>
      </a:defRPr>
    </a:lvl4pPr>
    <a:lvl5pPr marL="1828800" algn="ctr" rtl="0" fontAlgn="base">
      <a:spcBef>
        <a:spcPct val="0"/>
      </a:spcBef>
      <a:spcAft>
        <a:spcPct val="0"/>
      </a:spcAft>
      <a:defRPr sz="2400" kern="1200">
        <a:solidFill>
          <a:srgbClr val="C0C0C0"/>
        </a:solidFill>
        <a:latin typeface="Times New Roman" pitchFamily="18" charset="0"/>
        <a:ea typeface="+mn-ea"/>
        <a:cs typeface="+mn-cs"/>
      </a:defRPr>
    </a:lvl5pPr>
    <a:lvl6pPr marL="2286000" algn="l" defTabSz="914400" rtl="0" eaLnBrk="1" latinLnBrk="0" hangingPunct="1">
      <a:defRPr sz="2400" kern="1200">
        <a:solidFill>
          <a:srgbClr val="C0C0C0"/>
        </a:solidFill>
        <a:latin typeface="Times New Roman" pitchFamily="18" charset="0"/>
        <a:ea typeface="+mn-ea"/>
        <a:cs typeface="+mn-cs"/>
      </a:defRPr>
    </a:lvl6pPr>
    <a:lvl7pPr marL="2743200" algn="l" defTabSz="914400" rtl="0" eaLnBrk="1" latinLnBrk="0" hangingPunct="1">
      <a:defRPr sz="2400" kern="1200">
        <a:solidFill>
          <a:srgbClr val="C0C0C0"/>
        </a:solidFill>
        <a:latin typeface="Times New Roman" pitchFamily="18" charset="0"/>
        <a:ea typeface="+mn-ea"/>
        <a:cs typeface="+mn-cs"/>
      </a:defRPr>
    </a:lvl7pPr>
    <a:lvl8pPr marL="3200400" algn="l" defTabSz="914400" rtl="0" eaLnBrk="1" latinLnBrk="0" hangingPunct="1">
      <a:defRPr sz="2400" kern="1200">
        <a:solidFill>
          <a:srgbClr val="C0C0C0"/>
        </a:solidFill>
        <a:latin typeface="Times New Roman" pitchFamily="18" charset="0"/>
        <a:ea typeface="+mn-ea"/>
        <a:cs typeface="+mn-cs"/>
      </a:defRPr>
    </a:lvl8pPr>
    <a:lvl9pPr marL="3657600" algn="l" defTabSz="914400" rtl="0" eaLnBrk="1" latinLnBrk="0" hangingPunct="1">
      <a:defRPr sz="2400" kern="1200">
        <a:solidFill>
          <a:srgbClr val="C0C0C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C00CC"/>
    <a:srgbClr val="FF99FF"/>
    <a:srgbClr val="FF66FF"/>
    <a:srgbClr val="FFFF00"/>
    <a:srgbClr val="FF0066"/>
    <a:srgbClr val="FF0000"/>
    <a:srgbClr val="FAECB8"/>
    <a:srgbClr val="FF00FF"/>
    <a:srgbClr val="96969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47" autoAdjust="0"/>
    <p:restoredTop sz="95291" autoAdjust="0"/>
  </p:normalViewPr>
  <p:slideViewPr>
    <p:cSldViewPr snapToGrid="0">
      <p:cViewPr>
        <p:scale>
          <a:sx n="125" d="100"/>
          <a:sy n="125" d="100"/>
        </p:scale>
        <p:origin x="-1680" y="312"/>
      </p:cViewPr>
      <p:guideLst>
        <p:guide orient="horz" pos="48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44"/>
    </p:cViewPr>
  </p:sorterViewPr>
  <p:notesViewPr>
    <p:cSldViewPr snapToGrid="0">
      <p:cViewPr>
        <p:scale>
          <a:sx n="100" d="100"/>
          <a:sy n="100" d="100"/>
        </p:scale>
        <p:origin x="-894" y="678"/>
      </p:cViewPr>
      <p:guideLst>
        <p:guide orient="horz" pos="3108"/>
        <p:guide pos="2128"/>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defRPr>
            </a:lvl1pPr>
          </a:lstStyle>
          <a:p>
            <a:endParaRPr lang="es-ES"/>
          </a:p>
        </p:txBody>
      </p:sp>
      <p:sp>
        <p:nvSpPr>
          <p:cNvPr id="161795" name="Rectangle 3"/>
          <p:cNvSpPr>
            <a:spLocks noGrp="1" noChangeArrowheads="1"/>
          </p:cNvSpPr>
          <p:nvPr>
            <p:ph type="dt" sz="quarter" idx="1"/>
          </p:nvPr>
        </p:nvSpPr>
        <p:spPr bwMode="auto">
          <a:xfrm>
            <a:off x="3825875"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defRPr>
            </a:lvl1pPr>
          </a:lstStyle>
          <a:p>
            <a:endParaRPr lang="es-ES"/>
          </a:p>
        </p:txBody>
      </p:sp>
      <p:sp>
        <p:nvSpPr>
          <p:cNvPr id="161796" name="Rectangle 4"/>
          <p:cNvSpPr>
            <a:spLocks noGrp="1" noChangeArrowheads="1"/>
          </p:cNvSpPr>
          <p:nvPr>
            <p:ph type="ftr" sz="quarter" idx="2"/>
          </p:nvPr>
        </p:nvSpPr>
        <p:spPr bwMode="auto">
          <a:xfrm>
            <a:off x="0"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defRPr>
            </a:lvl1pPr>
          </a:lstStyle>
          <a:p>
            <a:endParaRPr lang="es-ES"/>
          </a:p>
        </p:txBody>
      </p:sp>
      <p:sp>
        <p:nvSpPr>
          <p:cNvPr id="161797" name="Rectangle 5"/>
          <p:cNvSpPr>
            <a:spLocks noGrp="1" noChangeArrowheads="1"/>
          </p:cNvSpPr>
          <p:nvPr>
            <p:ph type="sldNum" sz="quarter" idx="3"/>
          </p:nvPr>
        </p:nvSpPr>
        <p:spPr bwMode="auto">
          <a:xfrm>
            <a:off x="3825875"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defRPr>
            </a:lvl1pPr>
          </a:lstStyle>
          <a:p>
            <a:fld id="{9CE37C41-A159-4594-91F3-888775DD85B5}" type="slidenum">
              <a:rPr lang="es-ES"/>
              <a:pPr/>
              <a:t>‹Nº›</a:t>
            </a:fld>
            <a:endParaRPr lang="es-E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39" name="Rectangle 3"/>
          <p:cNvSpPr>
            <a:spLocks noGrp="1" noChangeArrowheads="1"/>
          </p:cNvSpPr>
          <p:nvPr>
            <p:ph type="dt" idx="1"/>
          </p:nvPr>
        </p:nvSpPr>
        <p:spPr bwMode="auto">
          <a:xfrm>
            <a:off x="3827463"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latin typeface="Helvetica" pitchFamily="2" charset="0"/>
              </a:defRPr>
            </a:lvl1pPr>
          </a:lstStyle>
          <a:p>
            <a:endParaRPr lang="es-AR"/>
          </a:p>
        </p:txBody>
      </p:sp>
      <p:sp>
        <p:nvSpPr>
          <p:cNvPr id="65540" name="Rectangle 4"/>
          <p:cNvSpPr>
            <a:spLocks noGrp="1" noRot="1" noChangeAspect="1" noChangeArrowheads="1" noTextEdit="1"/>
          </p:cNvSpPr>
          <p:nvPr>
            <p:ph type="sldImg" idx="2"/>
          </p:nvPr>
        </p:nvSpPr>
        <p:spPr bwMode="auto">
          <a:xfrm>
            <a:off x="911225" y="739775"/>
            <a:ext cx="4933950" cy="370046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01700" y="4687888"/>
            <a:ext cx="4951413" cy="4438650"/>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43" name="Rectangle 7"/>
          <p:cNvSpPr>
            <a:spLocks noGrp="1" noChangeArrowheads="1"/>
          </p:cNvSpPr>
          <p:nvPr>
            <p:ph type="sldNum" sz="quarter" idx="5"/>
          </p:nvPr>
        </p:nvSpPr>
        <p:spPr bwMode="auto">
          <a:xfrm>
            <a:off x="3827463"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latin typeface="Helvetica" pitchFamily="2" charset="0"/>
              </a:defRPr>
            </a:lvl1pPr>
          </a:lstStyle>
          <a:p>
            <a:fld id="{98A73CF5-616C-4868-81A9-4AC3700A2DB9}" type="slidenum">
              <a:rPr lang="en-US"/>
              <a:pPr/>
              <a:t>‹Nº›</a:t>
            </a:fld>
            <a:endParaRPr 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4A3DAAAE-BB77-4FBD-80CD-8806CBC61BD7}"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7C01F3A6-EE0E-4D54-B51D-BEF7C6505C7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71067C7A-EA67-4BE9-B0DB-B07E46B014F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pPr>
              <a:defRPr/>
            </a:pPr>
            <a:endParaRPr lang="en-US"/>
          </a:p>
        </p:txBody>
      </p:sp>
      <p:sp>
        <p:nvSpPr>
          <p:cNvPr id="8" name="7 Marcador de pie de página"/>
          <p:cNvSpPr>
            <a:spLocks noGrp="1"/>
          </p:cNvSpPr>
          <p:nvPr>
            <p:ph type="ftr" sz="quarter" idx="11"/>
          </p:nvPr>
        </p:nvSpPr>
        <p:spPr/>
        <p:txBody>
          <a:bodyPr/>
          <a:lstStyle/>
          <a:p>
            <a:pPr>
              <a:defRPr/>
            </a:pPr>
            <a:endParaRPr lang="en-US"/>
          </a:p>
        </p:txBody>
      </p:sp>
      <p:sp>
        <p:nvSpPr>
          <p:cNvPr id="9" name="8 Marcador de número de diapositiva"/>
          <p:cNvSpPr>
            <a:spLocks noGrp="1"/>
          </p:cNvSpPr>
          <p:nvPr>
            <p:ph type="sldNum" sz="quarter" idx="12"/>
          </p:nvPr>
        </p:nvSpPr>
        <p:spPr/>
        <p:txBody>
          <a:bodyPr/>
          <a:lstStyle/>
          <a:p>
            <a:fld id="{48CF61DD-4B4E-4120-8426-714380EE50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pPr>
              <a:defRPr/>
            </a:pPr>
            <a:endParaRPr lang="en-US"/>
          </a:p>
        </p:txBody>
      </p:sp>
      <p:sp>
        <p:nvSpPr>
          <p:cNvPr id="4" name="3 Marcador de pie de página"/>
          <p:cNvSpPr>
            <a:spLocks noGrp="1"/>
          </p:cNvSpPr>
          <p:nvPr>
            <p:ph type="ftr" sz="quarter" idx="11"/>
          </p:nvPr>
        </p:nvSpPr>
        <p:spPr/>
        <p:txBody>
          <a:bodyPr/>
          <a:lstStyle/>
          <a:p>
            <a:pPr>
              <a:defRPr/>
            </a:pPr>
            <a:endParaRPr lang="en-US"/>
          </a:p>
        </p:txBody>
      </p:sp>
      <p:sp>
        <p:nvSpPr>
          <p:cNvPr id="5" name="4 Marcador de número de diapositiva"/>
          <p:cNvSpPr>
            <a:spLocks noGrp="1"/>
          </p:cNvSpPr>
          <p:nvPr>
            <p:ph type="sldNum" sz="quarter" idx="12"/>
          </p:nvPr>
        </p:nvSpPr>
        <p:spPr/>
        <p:txBody>
          <a:bodyPr/>
          <a:lstStyle/>
          <a:p>
            <a:fld id="{15DC7E45-CE50-45F6-AFAF-BBEC857663A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endParaRPr lang="en-US"/>
          </a:p>
        </p:txBody>
      </p:sp>
      <p:sp>
        <p:nvSpPr>
          <p:cNvPr id="3" name="2 Marcador de pie de página"/>
          <p:cNvSpPr>
            <a:spLocks noGrp="1"/>
          </p:cNvSpPr>
          <p:nvPr>
            <p:ph type="ftr" sz="quarter" idx="11"/>
          </p:nvPr>
        </p:nvSpPr>
        <p:spPr/>
        <p:txBody>
          <a:bodyPr/>
          <a:lstStyle/>
          <a:p>
            <a:pPr>
              <a:defRPr/>
            </a:pPr>
            <a:endParaRPr lang="en-US"/>
          </a:p>
        </p:txBody>
      </p:sp>
      <p:sp>
        <p:nvSpPr>
          <p:cNvPr id="4" name="3 Marcador de número de diapositiva"/>
          <p:cNvSpPr>
            <a:spLocks noGrp="1"/>
          </p:cNvSpPr>
          <p:nvPr>
            <p:ph type="sldNum" sz="quarter" idx="12"/>
          </p:nvPr>
        </p:nvSpPr>
        <p:spPr/>
        <p:txBody>
          <a:bodyPr/>
          <a:lstStyle/>
          <a:p>
            <a:fld id="{B759D250-4BD8-4A02-9BB7-6F58C7E277CE}"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C34C138-3AA1-47A5-94C5-74E44E949D7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2F53A78-FB7A-473A-B37B-537E71F8FD32}"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24E17C3E-6F24-490F-B5A6-302494F4F6F6}"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C90A54AD-D593-41AF-9419-80BAB15846A4}"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73113" y="0"/>
            <a:ext cx="7772400" cy="9525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6858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2CDFD1E-D31C-4027-98FC-BCB6935708C6}" type="slidenum">
              <a:rPr lang="en-US"/>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38000"/>
            <a:lum/>
          </a:blip>
          <a:srcRect/>
          <a:stretch>
            <a:fillRect l="-7000" r="-7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C601D-D1AA-400D-878E-9B5C6DECE3A0}" type="slidenum">
              <a:rPr lang="en-US" smtClean="0"/>
              <a:pPr/>
              <a:t>‹Nº›</a:t>
            </a:fld>
            <a:endParaRPr lang="en-US"/>
          </a:p>
        </p:txBody>
      </p:sp>
      <p:sp>
        <p:nvSpPr>
          <p:cNvPr id="7" name="Line 8"/>
          <p:cNvSpPr>
            <a:spLocks noChangeShapeType="1"/>
          </p:cNvSpPr>
          <p:nvPr/>
        </p:nvSpPr>
        <p:spPr bwMode="auto">
          <a:xfrm>
            <a:off x="0" y="952500"/>
            <a:ext cx="9144000" cy="0"/>
          </a:xfrm>
          <a:prstGeom prst="line">
            <a:avLst/>
          </a:prstGeom>
          <a:noFill/>
          <a:ln w="9525">
            <a:solidFill>
              <a:srgbClr val="FF3300"/>
            </a:solidFill>
            <a:round/>
            <a:headEnd/>
            <a:tailEnd/>
          </a:ln>
          <a:effectLst/>
        </p:spPr>
        <p:txBody>
          <a:bodyPr anchor="ctr"/>
          <a:lstStyle/>
          <a:p>
            <a:pPr>
              <a:defRPr/>
            </a:pPr>
            <a:endParaRPr lang="es-E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tutorialspoint.com/unix_system_calls/index.ht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opa.dis.ulpgc.es/prog_c/MSG.HT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hyperlink" Target="https://gallir.wordpress.com/2015/03/04/principios-de-concurrencia-soluciones-por-hardware/"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hyperlink" Target="http://man7.org/linux/man-pages/man3/sem_init.3.html"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hyperlink" Target="http://man7.org/linux/man-pages/man3/sem_destroy.3.html" TargetMode="External"/><Relationship Id="rId5" Type="http://schemas.openxmlformats.org/officeDocument/2006/relationships/hyperlink" Target="http://man7.org/linux/man-pages/man3/sem_wait.3.html" TargetMode="External"/><Relationship Id="rId4" Type="http://schemas.openxmlformats.org/officeDocument/2006/relationships/hyperlink" Target="http://man7.org/linux/man-pages/man3/sem_post.3.html"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man7.org/linux/man-pages/man3/sem_init.3.htm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man7.org/linux/man-pages/man3/pthread_mutex_unlock.3p.html" TargetMode="External"/><Relationship Id="rId4" Type="http://schemas.openxmlformats.org/officeDocument/2006/relationships/hyperlink" Target="http://man7.org/linux/man-pages/man3/pthread_mutex_destroy.3p.html"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4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Repasando…..</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92839" y="927100"/>
            <a:ext cx="8130461" cy="6001643"/>
          </a:xfrm>
          <a:prstGeom prst="rect">
            <a:avLst/>
          </a:prstGeom>
          <a:noFill/>
        </p:spPr>
        <p:txBody>
          <a:bodyPr wrap="square" rtlCol="0">
            <a:spAutoFit/>
          </a:bodyPr>
          <a:lstStyle/>
          <a:p>
            <a:pPr marL="177800" indent="-177800" algn="l">
              <a:buFont typeface="Arial" pitchFamily="34" charset="0"/>
              <a:buChar char="•"/>
            </a:pPr>
            <a:r>
              <a:rPr lang="es-AR" sz="1600" dirty="0" smtClean="0">
                <a:solidFill>
                  <a:schemeClr val="tx1"/>
                </a:solidFill>
                <a:latin typeface="Arial" pitchFamily="34" charset="0"/>
                <a:cs typeface="Arial" pitchFamily="34" charset="0"/>
              </a:rPr>
              <a:t>Un hilo (también llamado hebra, proceso ligero, flujo, subproceso o “</a:t>
            </a:r>
            <a:r>
              <a:rPr lang="es-AR" sz="1600" dirty="0" err="1" smtClean="0">
                <a:solidFill>
                  <a:schemeClr val="tx1"/>
                </a:solidFill>
                <a:latin typeface="Arial" pitchFamily="34" charset="0"/>
                <a:cs typeface="Arial" pitchFamily="34" charset="0"/>
              </a:rPr>
              <a:t>thread</a:t>
            </a:r>
            <a:r>
              <a:rPr lang="es-AR" sz="1600" dirty="0" smtClean="0">
                <a:solidFill>
                  <a:schemeClr val="tx1"/>
                </a:solidFill>
                <a:latin typeface="Arial" pitchFamily="34" charset="0"/>
                <a:cs typeface="Arial" pitchFamily="34" charset="0"/>
              </a:rPr>
              <a:t>”) es  un programa en ejecución que comparte la imagen de memoria y otros recursos del proceso con otros hilos. Desde el punto de vista de programación: Función cuya ejecución se puede lanzar en paralelo con otras. Un proceso puede contener uno o más hilos</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Los estados de un proceso pueden ser </a:t>
            </a:r>
            <a:r>
              <a:rPr lang="es-AR" sz="1600" b="1" dirty="0" smtClean="0">
                <a:solidFill>
                  <a:srgbClr val="7030A0"/>
                </a:solidFill>
                <a:latin typeface="Arial" pitchFamily="34" charset="0"/>
                <a:cs typeface="Arial" pitchFamily="34" charset="0"/>
              </a:rPr>
              <a:t>listo, en ejecución </a:t>
            </a:r>
            <a:r>
              <a:rPr lang="es-AR" sz="1600" dirty="0" smtClean="0">
                <a:solidFill>
                  <a:schemeClr val="tx1"/>
                </a:solidFill>
                <a:latin typeface="Arial" pitchFamily="34" charset="0"/>
                <a:cs typeface="Arial" pitchFamily="34" charset="0"/>
              </a:rPr>
              <a:t>y</a:t>
            </a:r>
            <a:r>
              <a:rPr lang="es-AR" sz="1600" b="1" dirty="0" smtClean="0">
                <a:solidFill>
                  <a:srgbClr val="7030A0"/>
                </a:solidFill>
                <a:latin typeface="Arial" pitchFamily="34" charset="0"/>
                <a:cs typeface="Arial" pitchFamily="34" charset="0"/>
              </a:rPr>
              <a:t> bloqueado</a:t>
            </a:r>
            <a:r>
              <a:rPr lang="es-AR" sz="1600" dirty="0" smtClean="0">
                <a:solidFill>
                  <a:schemeClr val="tx1"/>
                </a:solidFill>
                <a:latin typeface="Arial" pitchFamily="34" charset="0"/>
                <a:cs typeface="Arial" pitchFamily="34" charset="0"/>
              </a:rPr>
              <a:t>.</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Todos los hilos de un proceso comparten el mismo entorno de ejecución (variables globales, espacio de direcciones, ficheros abiertos, etc.) y cada uno tiene su propio juego de registros de CPU, pila, variables locales, etc.</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Los hilos permiten paralelizar la ejecución de una aplicación, mientras un hilo está bloqueado, otro podría ejecutarse.</a:t>
            </a:r>
          </a:p>
          <a:p>
            <a:pPr marL="177800" indent="-177800" algn="l"/>
            <a:r>
              <a:rPr lang="es-AR" sz="1600" b="1" dirty="0" smtClean="0">
                <a:solidFill>
                  <a:schemeClr val="tx1"/>
                </a:solidFill>
                <a:latin typeface="Arial" pitchFamily="34" charset="0"/>
                <a:cs typeface="Arial" pitchFamily="34" charset="0"/>
              </a:rPr>
              <a:t>Dos categorías:</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Hilos a nivel de usuario</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Hilos a nivel de núcleo</a:t>
            </a:r>
          </a:p>
          <a:p>
            <a:pPr marL="177800" indent="-177800" algn="l"/>
            <a:r>
              <a:rPr lang="es-AR" sz="1600" b="1" dirty="0" smtClean="0">
                <a:solidFill>
                  <a:schemeClr val="tx1"/>
                </a:solidFill>
                <a:latin typeface="Arial" pitchFamily="34" charset="0"/>
                <a:cs typeface="Arial" pitchFamily="34" charset="0"/>
              </a:rPr>
              <a:t>Ventajas de utilizar múltiples hilos</a:t>
            </a:r>
            <a:r>
              <a:rPr lang="es-AR" sz="1600" dirty="0" smtClean="0">
                <a:solidFill>
                  <a:schemeClr val="tx1"/>
                </a:solidFill>
                <a:latin typeface="Arial" pitchFamily="34" charset="0"/>
                <a:cs typeface="Arial" pitchFamily="34" charset="0"/>
              </a:rPr>
              <a:t>:</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La ejecución concurrente de hilos de un mismo proceso puede mejorar la eficiencia del sistema.</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Paralelismo dentro del proceso (en multiprocesadores).</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Las operaciones bloqueantes no paralizan al proceso (completo).</a:t>
            </a:r>
          </a:p>
          <a:p>
            <a:pPr marL="177800" indent="-177800" algn="l">
              <a:buFont typeface="Arial" pitchFamily="34" charset="0"/>
              <a:buChar char="•"/>
            </a:pPr>
            <a:r>
              <a:rPr lang="es-AR" sz="1600" dirty="0" smtClean="0">
                <a:solidFill>
                  <a:schemeClr val="tx1"/>
                </a:solidFill>
                <a:latin typeface="Arial" pitchFamily="34" charset="0"/>
                <a:cs typeface="Arial" pitchFamily="34" charset="0"/>
              </a:rPr>
              <a:t>Mayor eficiencia que con múltiples procesos en:</a:t>
            </a:r>
          </a:p>
          <a:p>
            <a:pPr marL="622300" lvl="1" indent="-165100" algn="l">
              <a:buFont typeface="Arial" pitchFamily="34" charset="0"/>
              <a:buChar char="•"/>
            </a:pPr>
            <a:r>
              <a:rPr lang="es-AR" sz="1600" dirty="0" smtClean="0">
                <a:solidFill>
                  <a:schemeClr val="tx1"/>
                </a:solidFill>
                <a:latin typeface="Arial" pitchFamily="34" charset="0"/>
                <a:cs typeface="Arial" pitchFamily="34" charset="0"/>
              </a:rPr>
              <a:t>Creación/eliminación de unidades de planificación.</a:t>
            </a:r>
          </a:p>
          <a:p>
            <a:pPr marL="622300" lvl="1" indent="-165100" algn="l">
              <a:buFont typeface="Arial" pitchFamily="34" charset="0"/>
              <a:buChar char="•"/>
            </a:pPr>
            <a:r>
              <a:rPr lang="es-AR" sz="1600" dirty="0" smtClean="0">
                <a:solidFill>
                  <a:schemeClr val="tx1"/>
                </a:solidFill>
                <a:latin typeface="Arial" pitchFamily="34" charset="0"/>
                <a:cs typeface="Arial" pitchFamily="34" charset="0"/>
              </a:rPr>
              <a:t>Cambio de contexto.</a:t>
            </a:r>
          </a:p>
          <a:p>
            <a:pPr marL="622300" lvl="1" indent="-165100" algn="l">
              <a:buFont typeface="Arial" pitchFamily="34" charset="0"/>
              <a:buChar char="•"/>
            </a:pPr>
            <a:r>
              <a:rPr lang="es-AR" sz="1600" dirty="0" smtClean="0">
                <a:solidFill>
                  <a:schemeClr val="tx1"/>
                </a:solidFill>
                <a:latin typeface="Arial" pitchFamily="34" charset="0"/>
                <a:cs typeface="Arial" pitchFamily="34" charset="0"/>
              </a:rPr>
              <a:t>Una buena solución para sistemas cliente/servidor.</a:t>
            </a:r>
          </a:p>
          <a:p>
            <a:pPr marL="622300" lvl="1" indent="-165100" algn="l">
              <a:buFont typeface="Arial" pitchFamily="34" charset="0"/>
              <a:buChar char="•"/>
            </a:pPr>
            <a:r>
              <a:rPr lang="es-AR" sz="1600" dirty="0" smtClean="0">
                <a:solidFill>
                  <a:schemeClr val="tx1"/>
                </a:solidFill>
                <a:latin typeface="Arial" pitchFamily="34" charset="0"/>
                <a:cs typeface="Arial" pitchFamily="34" charset="0"/>
              </a:rPr>
              <a:t>Facilidad de implementación.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66163" y="6158754"/>
            <a:ext cx="6804213" cy="528918"/>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fontScale="925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y Sincronización entre procesos</a:t>
            </a:r>
          </a:p>
          <a:p>
            <a:pPr marL="0" marR="0" lvl="0" indent="0" defTabSz="914400" rtl="0" eaLnBrk="1" fontAlgn="auto" latinLnBrk="0" hangingPunct="1">
              <a:lnSpc>
                <a:spcPct val="100000"/>
              </a:lnSpc>
              <a:spcBef>
                <a:spcPct val="0"/>
              </a:spcBef>
              <a:spcAft>
                <a:spcPts val="0"/>
              </a:spcAft>
              <a:buClrTx/>
              <a:buSzTx/>
              <a:buFontTx/>
              <a:buNone/>
              <a:tabLst/>
              <a:defRPr/>
            </a:pPr>
            <a:r>
              <a:rPr lang="es-AR" sz="1000" dirty="0" err="1" smtClean="0">
                <a:solidFill>
                  <a:schemeClr val="tx1"/>
                </a:solidFill>
                <a:latin typeface="+mn-lt"/>
                <a:ea typeface="+mj-ea"/>
                <a:cs typeface="+mj-cs"/>
              </a:rPr>
              <a:t>Silverchatz</a:t>
            </a:r>
            <a:r>
              <a:rPr lang="es-AR" sz="1000" dirty="0" smtClean="0">
                <a:solidFill>
                  <a:schemeClr val="tx1"/>
                </a:solidFill>
                <a:latin typeface="+mn-lt"/>
                <a:ea typeface="+mj-ea"/>
                <a:cs typeface="+mj-cs"/>
              </a:rPr>
              <a:t> 3.4</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92839" y="1041400"/>
            <a:ext cx="8270161" cy="5724644"/>
          </a:xfrm>
          <a:prstGeom prst="rect">
            <a:avLst/>
          </a:prstGeom>
          <a:noFill/>
        </p:spPr>
        <p:txBody>
          <a:bodyPr wrap="square" lIns="72000" rtlCol="0">
            <a:spAutoFit/>
          </a:bodyPr>
          <a:lstStyle/>
          <a:p>
            <a:pPr marL="177800" lvl="1" indent="-177800" algn="l"/>
            <a:r>
              <a:rPr lang="es-AR" sz="1600" dirty="0" smtClean="0">
                <a:solidFill>
                  <a:schemeClr val="tx1"/>
                </a:solidFill>
                <a:latin typeface="Arial" pitchFamily="34" charset="0"/>
                <a:cs typeface="Arial" pitchFamily="34" charset="0"/>
              </a:rPr>
              <a:t>Los procesos que se ejecutan concurrentemente pueden ser </a:t>
            </a:r>
            <a:r>
              <a:rPr lang="es-AR" sz="1600" b="1" dirty="0" smtClean="0">
                <a:solidFill>
                  <a:schemeClr val="tx1"/>
                </a:solidFill>
                <a:latin typeface="Arial" pitchFamily="34" charset="0"/>
                <a:cs typeface="Arial" pitchFamily="34" charset="0"/>
              </a:rPr>
              <a:t>procesos independientes </a:t>
            </a:r>
            <a:r>
              <a:rPr lang="es-AR" sz="1600" dirty="0" smtClean="0">
                <a:solidFill>
                  <a:schemeClr val="tx1"/>
                </a:solidFill>
                <a:latin typeface="Arial" pitchFamily="34" charset="0"/>
                <a:cs typeface="Arial" pitchFamily="34" charset="0"/>
              </a:rPr>
              <a:t>o </a:t>
            </a:r>
            <a:r>
              <a:rPr lang="es-AR" sz="1600" b="1" dirty="0" smtClean="0">
                <a:solidFill>
                  <a:schemeClr val="tx1"/>
                </a:solidFill>
                <a:latin typeface="Arial" pitchFamily="34" charset="0"/>
                <a:cs typeface="Arial" pitchFamily="34" charset="0"/>
              </a:rPr>
              <a:t>procesos cooperativos</a:t>
            </a:r>
            <a:r>
              <a:rPr lang="es-AR" sz="1600" dirty="0" smtClean="0">
                <a:solidFill>
                  <a:schemeClr val="tx1"/>
                </a:solidFill>
                <a:latin typeface="Arial" pitchFamily="34" charset="0"/>
                <a:cs typeface="Arial" pitchFamily="34" charset="0"/>
              </a:rPr>
              <a:t>.</a:t>
            </a:r>
          </a:p>
          <a:p>
            <a:pPr marL="177800" lvl="1" indent="-177800" algn="l"/>
            <a:endParaRPr lang="es-AR" sz="1600" dirty="0" smtClean="0">
              <a:solidFill>
                <a:schemeClr val="tx1"/>
              </a:solidFill>
              <a:latin typeface="Arial" pitchFamily="34" charset="0"/>
              <a:cs typeface="Arial" pitchFamily="34" charset="0"/>
            </a:endParaRPr>
          </a:p>
          <a:p>
            <a:pPr marL="177800" lvl="1" indent="-177800" algn="l"/>
            <a:r>
              <a:rPr lang="es-AR" sz="1600" dirty="0" smtClean="0">
                <a:solidFill>
                  <a:schemeClr val="tx1"/>
                </a:solidFill>
                <a:latin typeface="Arial" pitchFamily="34" charset="0"/>
                <a:cs typeface="Arial" pitchFamily="34" charset="0"/>
              </a:rPr>
              <a:t>Un proceso es </a:t>
            </a:r>
            <a:r>
              <a:rPr lang="es-AR" sz="1600" b="1" dirty="0" smtClean="0">
                <a:solidFill>
                  <a:schemeClr val="tx1"/>
                </a:solidFill>
                <a:latin typeface="Arial" pitchFamily="34" charset="0"/>
                <a:cs typeface="Arial" pitchFamily="34" charset="0"/>
              </a:rPr>
              <a:t>independiente</a:t>
            </a:r>
            <a:r>
              <a:rPr lang="es-AR" sz="1600" dirty="0" smtClean="0">
                <a:solidFill>
                  <a:schemeClr val="tx1"/>
                </a:solidFill>
                <a:latin typeface="Arial" pitchFamily="34" charset="0"/>
                <a:cs typeface="Arial" pitchFamily="34" charset="0"/>
              </a:rPr>
              <a:t> si no afecta o es afectados por otros procesos que se ejecutan en el mismo sistema y no comparte datos con otros procesos. Por otro lado, un proceso es </a:t>
            </a:r>
            <a:r>
              <a:rPr lang="es-AR" sz="1600" b="1" dirty="0" smtClean="0">
                <a:solidFill>
                  <a:schemeClr val="tx1"/>
                </a:solidFill>
                <a:latin typeface="Arial" pitchFamily="34" charset="0"/>
                <a:cs typeface="Arial" pitchFamily="34" charset="0"/>
              </a:rPr>
              <a:t>cooperativo</a:t>
            </a:r>
            <a:r>
              <a:rPr lang="es-AR" sz="1600" dirty="0" smtClean="0">
                <a:solidFill>
                  <a:schemeClr val="tx1"/>
                </a:solidFill>
                <a:latin typeface="Arial" pitchFamily="34" charset="0"/>
                <a:cs typeface="Arial" pitchFamily="34" charset="0"/>
              </a:rPr>
              <a:t> si afecta o es afectado por otros procesos  y cualquier proceso es cooperativo si comparte datos con otros procesos.</a:t>
            </a:r>
          </a:p>
          <a:p>
            <a:pPr marL="177800" lvl="1" indent="-177800" algn="l"/>
            <a:endParaRPr lang="es-AR" sz="1600" dirty="0" smtClean="0">
              <a:solidFill>
                <a:schemeClr val="tx1"/>
              </a:solidFill>
              <a:latin typeface="Arial" pitchFamily="34" charset="0"/>
              <a:cs typeface="Arial" pitchFamily="34" charset="0"/>
            </a:endParaRPr>
          </a:p>
          <a:p>
            <a:pPr marL="177800" lvl="1" indent="-177800" algn="l"/>
            <a:r>
              <a:rPr lang="es-AR" sz="1600" b="1" u="sng" dirty="0" smtClean="0">
                <a:solidFill>
                  <a:schemeClr val="tx1"/>
                </a:solidFill>
                <a:latin typeface="Arial" pitchFamily="34" charset="0"/>
                <a:cs typeface="Arial" pitchFamily="34" charset="0"/>
              </a:rPr>
              <a:t>Comunicación entre procesos:</a:t>
            </a:r>
          </a:p>
          <a:p>
            <a:pPr marL="177800" lvl="1" indent="-177800" algn="l"/>
            <a:r>
              <a:rPr lang="es-AR" sz="1600" dirty="0" smtClean="0">
                <a:solidFill>
                  <a:schemeClr val="tx1"/>
                </a:solidFill>
                <a:latin typeface="Arial" pitchFamily="34" charset="0"/>
                <a:cs typeface="Arial" pitchFamily="34" charset="0"/>
              </a:rPr>
              <a:t>Muchas veces es necesario que haya una cooperación entre los procesos debido a alguna de las siguientes razones:</a:t>
            </a:r>
          </a:p>
          <a:p>
            <a:pPr marL="177800" lvl="1" indent="-177800" algn="l">
              <a:spcBef>
                <a:spcPts val="600"/>
              </a:spcBef>
              <a:buFont typeface="Arial" pitchFamily="34" charset="0"/>
              <a:buChar char="•"/>
            </a:pPr>
            <a:r>
              <a:rPr lang="es-AR" sz="1600" b="1" dirty="0" smtClean="0">
                <a:solidFill>
                  <a:schemeClr val="tx1"/>
                </a:solidFill>
                <a:latin typeface="Arial" pitchFamily="34" charset="0"/>
                <a:cs typeface="Arial" pitchFamily="34" charset="0"/>
              </a:rPr>
              <a:t>Compartir información</a:t>
            </a:r>
            <a:r>
              <a:rPr lang="es-AR" sz="1600" dirty="0" smtClean="0">
                <a:solidFill>
                  <a:schemeClr val="tx1"/>
                </a:solidFill>
                <a:latin typeface="Arial" pitchFamily="34" charset="0"/>
                <a:cs typeface="Arial" pitchFamily="34" charset="0"/>
              </a:rPr>
              <a:t>: varios usuario quieren acceder a la misma información, se debe brindar un entorno que permita acceder concurrentemente a esa información</a:t>
            </a:r>
          </a:p>
          <a:p>
            <a:pPr marL="177800" lvl="1" indent="-177800" algn="l">
              <a:spcBef>
                <a:spcPts val="600"/>
              </a:spcBef>
              <a:buFont typeface="Arial" pitchFamily="34" charset="0"/>
              <a:buChar char="•"/>
            </a:pPr>
            <a:r>
              <a:rPr lang="es-AR" sz="1600" b="1" dirty="0" smtClean="0">
                <a:solidFill>
                  <a:schemeClr val="tx1"/>
                </a:solidFill>
                <a:latin typeface="Arial" pitchFamily="34" charset="0"/>
                <a:cs typeface="Arial" pitchFamily="34" charset="0"/>
              </a:rPr>
              <a:t>Acelerar los cálculos</a:t>
            </a:r>
            <a:r>
              <a:rPr lang="es-AR" sz="1600" dirty="0" smtClean="0">
                <a:solidFill>
                  <a:schemeClr val="tx1"/>
                </a:solidFill>
                <a:latin typeface="Arial" pitchFamily="34" charset="0"/>
                <a:cs typeface="Arial" pitchFamily="34" charset="0"/>
              </a:rPr>
              <a:t>: dividir en </a:t>
            </a:r>
            <a:r>
              <a:rPr lang="es-AR" sz="1600" dirty="0" err="1" smtClean="0">
                <a:solidFill>
                  <a:schemeClr val="tx1"/>
                </a:solidFill>
                <a:latin typeface="Arial" pitchFamily="34" charset="0"/>
                <a:cs typeface="Arial" pitchFamily="34" charset="0"/>
              </a:rPr>
              <a:t>subtareas</a:t>
            </a:r>
            <a:r>
              <a:rPr lang="es-AR" sz="1600" dirty="0" smtClean="0">
                <a:solidFill>
                  <a:schemeClr val="tx1"/>
                </a:solidFill>
                <a:latin typeface="Arial" pitchFamily="34" charset="0"/>
                <a:cs typeface="Arial" pitchFamily="34" charset="0"/>
              </a:rPr>
              <a:t> y que se ejecuten en forma paralela</a:t>
            </a:r>
          </a:p>
          <a:p>
            <a:pPr marL="177800" lvl="1" indent="-177800" algn="l">
              <a:spcBef>
                <a:spcPts val="600"/>
              </a:spcBef>
              <a:buFont typeface="Arial" pitchFamily="34" charset="0"/>
              <a:buChar char="•"/>
            </a:pPr>
            <a:r>
              <a:rPr lang="es-AR" sz="1600" b="1" dirty="0" smtClean="0">
                <a:solidFill>
                  <a:schemeClr val="tx1"/>
                </a:solidFill>
                <a:latin typeface="Arial" pitchFamily="34" charset="0"/>
                <a:cs typeface="Arial" pitchFamily="34" charset="0"/>
              </a:rPr>
              <a:t>Modularidad</a:t>
            </a:r>
            <a:r>
              <a:rPr lang="es-AR" sz="1600" dirty="0" smtClean="0">
                <a:solidFill>
                  <a:schemeClr val="tx1"/>
                </a:solidFill>
                <a:latin typeface="Arial" pitchFamily="34" charset="0"/>
                <a:cs typeface="Arial" pitchFamily="34" charset="0"/>
              </a:rPr>
              <a:t>: dividiendo las funciones</a:t>
            </a:r>
          </a:p>
          <a:p>
            <a:pPr marL="177800" lvl="1" indent="-177800" algn="l">
              <a:spcBef>
                <a:spcPts val="600"/>
              </a:spcBef>
              <a:buFont typeface="Arial" pitchFamily="34" charset="0"/>
              <a:buChar char="•"/>
            </a:pPr>
            <a:r>
              <a:rPr lang="es-AR" sz="1600" b="1" dirty="0" smtClean="0">
                <a:solidFill>
                  <a:schemeClr val="tx1"/>
                </a:solidFill>
                <a:latin typeface="Arial" pitchFamily="34" charset="0"/>
                <a:cs typeface="Arial" pitchFamily="34" charset="0"/>
              </a:rPr>
              <a:t>Conveniencia</a:t>
            </a:r>
            <a:r>
              <a:rPr lang="es-AR" sz="1600" dirty="0" smtClean="0">
                <a:solidFill>
                  <a:schemeClr val="tx1"/>
                </a:solidFill>
                <a:latin typeface="Arial" pitchFamily="34" charset="0"/>
                <a:cs typeface="Arial" pitchFamily="34" charset="0"/>
              </a:rPr>
              <a:t>: permite trabajar en muchas tareas al mismo tiempo. (por ejemplo editar, imprimir, compilar, etc. en forma paralela)</a:t>
            </a:r>
          </a:p>
          <a:p>
            <a:pPr marL="177800" lvl="1" indent="-177800" algn="l">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l">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l">
              <a:buFont typeface="Arial" pitchFamily="34" charset="0"/>
              <a:buChar char="•"/>
            </a:pPr>
            <a:endParaRPr lang="es-AR" sz="1200" b="1" dirty="0" smtClean="0">
              <a:solidFill>
                <a:schemeClr val="bg1"/>
              </a:solidFill>
              <a:latin typeface="Arial" pitchFamily="34" charset="0"/>
              <a:cs typeface="Arial" pitchFamily="34" charset="0"/>
            </a:endParaRPr>
          </a:p>
          <a:p>
            <a:pPr marL="177800" lvl="1" indent="-177800" algn="l"/>
            <a:r>
              <a:rPr lang="es-AR" sz="1200" b="1" dirty="0" smtClean="0">
                <a:solidFill>
                  <a:srgbClr val="92D050"/>
                </a:solidFill>
                <a:latin typeface="Arial" pitchFamily="34" charset="0"/>
                <a:cs typeface="Arial" pitchFamily="34" charset="0"/>
              </a:rPr>
              <a:t>Referencia de </a:t>
            </a:r>
            <a:r>
              <a:rPr lang="es-AR" sz="1200" b="1" dirty="0" err="1" smtClean="0">
                <a:solidFill>
                  <a:srgbClr val="92D050"/>
                </a:solidFill>
                <a:latin typeface="Arial" pitchFamily="34" charset="0"/>
                <a:cs typeface="Arial" pitchFamily="34" charset="0"/>
              </a:rPr>
              <a:t>Call</a:t>
            </a:r>
            <a:r>
              <a:rPr lang="es-AR" sz="1200" b="1" dirty="0" smtClean="0">
                <a:solidFill>
                  <a:srgbClr val="92D050"/>
                </a:solidFill>
                <a:latin typeface="Arial" pitchFamily="34" charset="0"/>
                <a:cs typeface="Arial" pitchFamily="34" charset="0"/>
              </a:rPr>
              <a:t> </a:t>
            </a:r>
            <a:r>
              <a:rPr lang="es-AR" sz="1200" b="1" dirty="0" err="1" smtClean="0">
                <a:solidFill>
                  <a:srgbClr val="92D050"/>
                </a:solidFill>
                <a:latin typeface="Arial" pitchFamily="34" charset="0"/>
                <a:cs typeface="Arial" pitchFamily="34" charset="0"/>
              </a:rPr>
              <a:t>Systems</a:t>
            </a:r>
            <a:endParaRPr lang="es-AR" sz="1200" b="1" dirty="0" smtClean="0">
              <a:solidFill>
                <a:srgbClr val="92D050"/>
              </a:solidFill>
              <a:latin typeface="Arial" pitchFamily="34" charset="0"/>
              <a:cs typeface="Arial" pitchFamily="34" charset="0"/>
            </a:endParaRPr>
          </a:p>
          <a:p>
            <a:pPr marL="177800" lvl="1" indent="-177800" algn="l">
              <a:buFont typeface="Arial" pitchFamily="34" charset="0"/>
              <a:buChar char="•"/>
            </a:pPr>
            <a:r>
              <a:rPr lang="es-AR" sz="1800" dirty="0" smtClean="0">
                <a:solidFill>
                  <a:schemeClr val="bg1"/>
                </a:solidFill>
                <a:latin typeface="Arial" pitchFamily="34" charset="0"/>
                <a:cs typeface="Arial" pitchFamily="34" charset="0"/>
                <a:hlinkClick r:id="rId3"/>
              </a:rPr>
              <a:t>https://www.tutorialspoint.com/unix_system_calls/index.htm</a:t>
            </a:r>
            <a:endParaRPr lang="es-AR" sz="1800" dirty="0" smtClean="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4441195" y="1393181"/>
            <a:ext cx="261610" cy="461665"/>
          </a:xfrm>
          <a:prstGeom prst="rect">
            <a:avLst/>
          </a:prstGeom>
          <a:noFill/>
          <a:ln w="9525">
            <a:noFill/>
            <a:miter lim="800000"/>
            <a:headEnd/>
            <a:tailEnd/>
          </a:ln>
        </p:spPr>
        <p:txBody>
          <a:bodyPr wrap="none" anchor="ctr">
            <a:spAutoFit/>
          </a:bodyPr>
          <a:lstStyle/>
          <a:p>
            <a:r>
              <a:rPr lang="es-ES" dirty="0" smtClean="0"/>
              <a:t> </a:t>
            </a:r>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grpSp>
        <p:nvGrpSpPr>
          <p:cNvPr id="13" name="12 Grupo"/>
          <p:cNvGrpSpPr/>
          <p:nvPr/>
        </p:nvGrpSpPr>
        <p:grpSpPr>
          <a:xfrm>
            <a:off x="490329" y="1030288"/>
            <a:ext cx="8281857" cy="2422291"/>
            <a:chOff x="350629" y="3544888"/>
            <a:chExt cx="8281857" cy="2422291"/>
          </a:xfrm>
        </p:grpSpPr>
        <p:sp>
          <p:nvSpPr>
            <p:cNvPr id="6" name="Text Box 3"/>
            <p:cNvSpPr txBox="1">
              <a:spLocks noChangeArrowheads="1"/>
            </p:cNvSpPr>
            <p:nvPr/>
          </p:nvSpPr>
          <p:spPr bwMode="auto">
            <a:xfrm>
              <a:off x="1841500" y="3544888"/>
              <a:ext cx="5575300" cy="707886"/>
            </a:xfrm>
            <a:prstGeom prst="rect">
              <a:avLst/>
            </a:prstGeom>
            <a:noFill/>
            <a:ln w="12700">
              <a:noFill/>
              <a:miter lim="800000"/>
              <a:headEnd/>
              <a:tailEnd/>
            </a:ln>
          </p:spPr>
          <p:txBody>
            <a:bodyPr wrap="square">
              <a:spAutoFit/>
            </a:bodyPr>
            <a:lstStyle/>
            <a:p>
              <a:pPr eaLnBrk="0" hangingPunct="0">
                <a:spcBef>
                  <a:spcPct val="50000"/>
                </a:spcBef>
              </a:pPr>
              <a:r>
                <a:rPr lang="es-ES_tradnl" sz="2000" dirty="0" smtClean="0">
                  <a:solidFill>
                    <a:schemeClr val="tx1"/>
                  </a:solidFill>
                  <a:latin typeface="Arial" pitchFamily="34" charset="0"/>
                  <a:cs typeface="Arial" pitchFamily="34" charset="0"/>
                </a:rPr>
                <a:t>Mecanismos de Comunicación </a:t>
              </a:r>
              <a:r>
                <a:rPr lang="es-ES_tradnl" sz="2000" dirty="0">
                  <a:solidFill>
                    <a:schemeClr val="tx1"/>
                  </a:solidFill>
                  <a:latin typeface="Arial" pitchFamily="34" charset="0"/>
                  <a:cs typeface="Arial" pitchFamily="34" charset="0"/>
                </a:rPr>
                <a:t>entre </a:t>
              </a:r>
              <a:r>
                <a:rPr lang="es-ES_tradnl" sz="2000" dirty="0" smtClean="0">
                  <a:solidFill>
                    <a:schemeClr val="tx1"/>
                  </a:solidFill>
                  <a:latin typeface="Arial" pitchFamily="34" charset="0"/>
                  <a:cs typeface="Arial" pitchFamily="34" charset="0"/>
                </a:rPr>
                <a:t>Procesos (IPC)</a:t>
              </a:r>
              <a:endParaRPr lang="es-ES_tradnl" sz="2000" dirty="0">
                <a:solidFill>
                  <a:schemeClr val="tx1"/>
                </a:solidFill>
                <a:latin typeface="Arial" pitchFamily="34" charset="0"/>
                <a:cs typeface="Arial" pitchFamily="34" charset="0"/>
              </a:endParaRPr>
            </a:p>
          </p:txBody>
        </p:sp>
        <p:sp>
          <p:nvSpPr>
            <p:cNvPr id="7" name="Text Box 4"/>
            <p:cNvSpPr txBox="1">
              <a:spLocks noChangeArrowheads="1"/>
            </p:cNvSpPr>
            <p:nvPr/>
          </p:nvSpPr>
          <p:spPr bwMode="auto">
            <a:xfrm>
              <a:off x="350629" y="4766850"/>
              <a:ext cx="3599071" cy="1200329"/>
            </a:xfrm>
            <a:prstGeom prst="rect">
              <a:avLst/>
            </a:prstGeom>
            <a:noFill/>
            <a:ln w="12700">
              <a:noFill/>
              <a:miter lim="800000"/>
              <a:headEnd/>
              <a:tailEnd/>
            </a:ln>
          </p:spPr>
          <p:txBody>
            <a:bodyPr wrap="square">
              <a:spAutoFit/>
            </a:bodyPr>
            <a:lstStyle/>
            <a:p>
              <a:pPr eaLnBrk="0" hangingPunct="0">
                <a:spcBef>
                  <a:spcPct val="50000"/>
                </a:spcBef>
              </a:pPr>
              <a:r>
                <a:rPr lang="es-ES_tradnl" sz="1800" b="1" dirty="0">
                  <a:solidFill>
                    <a:schemeClr val="accent2"/>
                  </a:solidFill>
                  <a:latin typeface="Arial" pitchFamily="34" charset="0"/>
                  <a:cs typeface="Arial" pitchFamily="34" charset="0"/>
                </a:rPr>
                <a:t>Memoria Compartida</a:t>
              </a:r>
              <a:endParaRPr lang="es-ES_tradnl" sz="1800" dirty="0">
                <a:solidFill>
                  <a:schemeClr val="accent2"/>
                </a:solidFill>
                <a:latin typeface="Arial" pitchFamily="34" charset="0"/>
                <a:cs typeface="Arial" pitchFamily="34" charset="0"/>
              </a:endParaRPr>
            </a:p>
            <a:p>
              <a:pPr eaLnBrk="0" hangingPunct="0">
                <a:lnSpc>
                  <a:spcPct val="50000"/>
                </a:lnSpc>
                <a:spcBef>
                  <a:spcPct val="50000"/>
                </a:spcBef>
              </a:pPr>
              <a:r>
                <a:rPr lang="es-ES_tradnl" sz="1800" dirty="0">
                  <a:solidFill>
                    <a:schemeClr val="tx1"/>
                  </a:solidFill>
                  <a:latin typeface="Arial" pitchFamily="34" charset="0"/>
                  <a:cs typeface="Arial" pitchFamily="34" charset="0"/>
                </a:rPr>
                <a:t>Variable </a:t>
              </a:r>
              <a:r>
                <a:rPr lang="es-ES_tradnl" sz="1800" dirty="0" smtClean="0">
                  <a:solidFill>
                    <a:schemeClr val="tx1"/>
                  </a:solidFill>
                  <a:latin typeface="Arial" pitchFamily="34" charset="0"/>
                  <a:cs typeface="Arial" pitchFamily="34" charset="0"/>
                </a:rPr>
                <a:t>Cerrojo</a:t>
              </a:r>
            </a:p>
            <a:p>
              <a:pPr eaLnBrk="0" hangingPunct="0">
                <a:lnSpc>
                  <a:spcPct val="50000"/>
                </a:lnSpc>
                <a:spcBef>
                  <a:spcPct val="50000"/>
                </a:spcBef>
              </a:pPr>
              <a:r>
                <a:rPr lang="es-ES_tradnl" sz="1800" dirty="0" smtClean="0">
                  <a:solidFill>
                    <a:schemeClr val="tx1"/>
                  </a:solidFill>
                  <a:latin typeface="Arial" pitchFamily="34" charset="0"/>
                  <a:cs typeface="Arial" pitchFamily="34" charset="0"/>
                </a:rPr>
                <a:t>Tuberías, Semáforos</a:t>
              </a:r>
            </a:p>
            <a:p>
              <a:pPr eaLnBrk="0" hangingPunct="0">
                <a:lnSpc>
                  <a:spcPct val="50000"/>
                </a:lnSpc>
                <a:spcBef>
                  <a:spcPct val="50000"/>
                </a:spcBef>
              </a:pPr>
              <a:r>
                <a:rPr lang="es-ES_tradnl" sz="1800" dirty="0" smtClean="0">
                  <a:solidFill>
                    <a:schemeClr val="tx1"/>
                  </a:solidFill>
                  <a:latin typeface="Arial" pitchFamily="34" charset="0"/>
                  <a:cs typeface="Arial" pitchFamily="34" charset="0"/>
                </a:rPr>
                <a:t>Etc.</a:t>
              </a:r>
              <a:endParaRPr lang="es-ES_tradnl" sz="1800" dirty="0">
                <a:solidFill>
                  <a:schemeClr val="tx1"/>
                </a:solidFill>
                <a:latin typeface="Arial" pitchFamily="34" charset="0"/>
                <a:cs typeface="Arial" pitchFamily="34" charset="0"/>
              </a:endParaRPr>
            </a:p>
          </p:txBody>
        </p:sp>
        <p:sp>
          <p:nvSpPr>
            <p:cNvPr id="8" name="Text Box 5"/>
            <p:cNvSpPr txBox="1">
              <a:spLocks noChangeArrowheads="1"/>
            </p:cNvSpPr>
            <p:nvPr/>
          </p:nvSpPr>
          <p:spPr bwMode="auto">
            <a:xfrm>
              <a:off x="5284304" y="4753598"/>
              <a:ext cx="3348182" cy="784830"/>
            </a:xfrm>
            <a:prstGeom prst="rect">
              <a:avLst/>
            </a:prstGeom>
            <a:noFill/>
            <a:ln w="12700">
              <a:noFill/>
              <a:miter lim="800000"/>
              <a:headEnd/>
              <a:tailEnd/>
            </a:ln>
          </p:spPr>
          <p:txBody>
            <a:bodyPr wrap="square">
              <a:spAutoFit/>
            </a:bodyPr>
            <a:lstStyle/>
            <a:p>
              <a:pPr eaLnBrk="0" hangingPunct="0">
                <a:spcBef>
                  <a:spcPct val="50000"/>
                </a:spcBef>
              </a:pPr>
              <a:r>
                <a:rPr lang="es-ES_tradnl" sz="1800" b="1" dirty="0">
                  <a:solidFill>
                    <a:schemeClr val="accent2"/>
                  </a:solidFill>
                  <a:latin typeface="Arial" pitchFamily="34" charset="0"/>
                  <a:cs typeface="Arial" pitchFamily="34" charset="0"/>
                </a:rPr>
                <a:t>Paso de Mensajes</a:t>
              </a:r>
              <a:endParaRPr lang="es-ES_tradnl" sz="1800" dirty="0">
                <a:solidFill>
                  <a:schemeClr val="accent2"/>
                </a:solidFill>
                <a:latin typeface="Arial" pitchFamily="34" charset="0"/>
                <a:cs typeface="Arial" pitchFamily="34" charset="0"/>
              </a:endParaRPr>
            </a:p>
            <a:p>
              <a:pPr eaLnBrk="0" hangingPunct="0">
                <a:spcBef>
                  <a:spcPct val="50000"/>
                </a:spcBef>
              </a:pPr>
              <a:r>
                <a:rPr lang="es-ES_tradnl" sz="1800" dirty="0">
                  <a:solidFill>
                    <a:schemeClr val="tx1"/>
                  </a:solidFill>
                  <a:latin typeface="Arial" pitchFamily="34" charset="0"/>
                  <a:cs typeface="Arial" pitchFamily="34" charset="0"/>
                </a:rPr>
                <a:t>(No hay variables compartidas)</a:t>
              </a:r>
            </a:p>
          </p:txBody>
        </p:sp>
        <p:sp>
          <p:nvSpPr>
            <p:cNvPr id="10" name="Line 6"/>
            <p:cNvSpPr>
              <a:spLocks noChangeShapeType="1"/>
            </p:cNvSpPr>
            <p:nvPr/>
          </p:nvSpPr>
          <p:spPr bwMode="auto">
            <a:xfrm flipH="1">
              <a:off x="2082800" y="4281488"/>
              <a:ext cx="2193636" cy="457200"/>
            </a:xfrm>
            <a:prstGeom prst="line">
              <a:avLst/>
            </a:prstGeom>
            <a:noFill/>
            <a:ln w="12700">
              <a:solidFill>
                <a:schemeClr val="tx1"/>
              </a:solidFill>
              <a:round/>
              <a:headEnd/>
              <a:tailEnd type="triangle" w="med" len="med"/>
            </a:ln>
          </p:spPr>
          <p:txBody>
            <a:bodyPr wrap="none" anchor="ctr"/>
            <a:lstStyle/>
            <a:p>
              <a:endParaRPr lang="es-AR"/>
            </a:p>
          </p:txBody>
        </p:sp>
        <p:sp>
          <p:nvSpPr>
            <p:cNvPr id="12" name="Line 7"/>
            <p:cNvSpPr>
              <a:spLocks noChangeShapeType="1"/>
            </p:cNvSpPr>
            <p:nvPr/>
          </p:nvSpPr>
          <p:spPr bwMode="auto">
            <a:xfrm>
              <a:off x="4838700" y="4281488"/>
              <a:ext cx="2193636" cy="457200"/>
            </a:xfrm>
            <a:prstGeom prst="line">
              <a:avLst/>
            </a:prstGeom>
            <a:noFill/>
            <a:ln w="12700">
              <a:solidFill>
                <a:schemeClr val="tx1"/>
              </a:solidFill>
              <a:round/>
              <a:headEnd/>
              <a:tailEnd type="triangle" w="med" len="med"/>
            </a:ln>
          </p:spPr>
          <p:txBody>
            <a:bodyPr wrap="none" anchor="ctr"/>
            <a:lstStyle/>
            <a:p>
              <a:endParaRPr lang="es-AR"/>
            </a:p>
          </p:txBody>
        </p:sp>
      </p:grpSp>
      <p:pic>
        <p:nvPicPr>
          <p:cNvPr id="4099" name="Picture 3"/>
          <p:cNvPicPr>
            <a:picLocks noChangeAspect="1" noChangeArrowheads="1"/>
          </p:cNvPicPr>
          <p:nvPr/>
        </p:nvPicPr>
        <p:blipFill>
          <a:blip r:embed="rId3" cstate="print"/>
          <a:srcRect/>
          <a:stretch>
            <a:fillRect/>
          </a:stretch>
        </p:blipFill>
        <p:spPr bwMode="auto">
          <a:xfrm>
            <a:off x="884238" y="3470275"/>
            <a:ext cx="2752725" cy="3133725"/>
          </a:xfrm>
          <a:prstGeom prst="rect">
            <a:avLst/>
          </a:prstGeom>
          <a:ln>
            <a:noFill/>
          </a:ln>
          <a:effectLst>
            <a:outerShdw blurRad="292100" dist="139700" dir="2700000" algn="tl" rotWithShape="0">
              <a:srgbClr val="333333">
                <a:alpha val="65000"/>
              </a:srgbClr>
            </a:outerShdw>
          </a:effectLst>
        </p:spPr>
      </p:pic>
      <p:pic>
        <p:nvPicPr>
          <p:cNvPr id="4100" name="Picture 4"/>
          <p:cNvPicPr>
            <a:picLocks noChangeAspect="1" noChangeArrowheads="1"/>
          </p:cNvPicPr>
          <p:nvPr/>
        </p:nvPicPr>
        <p:blipFill>
          <a:blip r:embed="rId4" cstate="print"/>
          <a:srcRect/>
          <a:stretch>
            <a:fillRect/>
          </a:stretch>
        </p:blipFill>
        <p:spPr bwMode="auto">
          <a:xfrm>
            <a:off x="5626100" y="3489325"/>
            <a:ext cx="2819400" cy="31146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6" name="15 CuadroTexto"/>
          <p:cNvSpPr txBox="1"/>
          <p:nvPr/>
        </p:nvSpPr>
        <p:spPr>
          <a:xfrm>
            <a:off x="492839" y="907691"/>
            <a:ext cx="8130461" cy="6355586"/>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Memoria compartida</a:t>
            </a:r>
          </a:p>
          <a:p>
            <a:pPr marL="0" lvl="1" algn="just"/>
            <a:r>
              <a:rPr lang="es-AR" sz="1600" dirty="0" smtClean="0">
                <a:solidFill>
                  <a:schemeClr val="tx1"/>
                </a:solidFill>
                <a:latin typeface="Arial" pitchFamily="34" charset="0"/>
                <a:cs typeface="Arial" pitchFamily="34" charset="0"/>
              </a:rPr>
              <a:t>La memoria compartida es un medio que permite establecer una zona común de memoria entre varias aplicaciones. También los semáforos, que son una herramienta puramente de sincronización (se verá más adelante). Permiten controlar el acceso de varios procesos a recursos comunes.</a:t>
            </a:r>
          </a:p>
          <a:p>
            <a:pPr marL="0" lvl="1" algn="just"/>
            <a:r>
              <a:rPr lang="es-AR" sz="1600" u="sng" dirty="0" smtClean="0">
                <a:solidFill>
                  <a:schemeClr val="tx1"/>
                </a:solidFill>
                <a:latin typeface="Arial" pitchFamily="34" charset="0"/>
                <a:cs typeface="Arial" pitchFamily="34" charset="0"/>
              </a:rPr>
              <a:t>Los procesos son los encargados </a:t>
            </a:r>
            <a:r>
              <a:rPr lang="es-AR" sz="1600" dirty="0" smtClean="0">
                <a:solidFill>
                  <a:schemeClr val="tx1"/>
                </a:solidFill>
                <a:latin typeface="Arial" pitchFamily="34" charset="0"/>
                <a:cs typeface="Arial" pitchFamily="34" charset="0"/>
              </a:rPr>
              <a:t>de verificar que no se acceda simultáneamente en una operación de escritura al mismo lugar de memoria y que la memoria compartida no se encuentra bajo el control del sistema operativo. </a:t>
            </a:r>
          </a:p>
          <a:p>
            <a:pPr marL="0" lvl="1" algn="just"/>
            <a:endParaRPr lang="es-AR" sz="1600" dirty="0" smtClean="0">
              <a:solidFill>
                <a:schemeClr val="tx1"/>
              </a:solidFill>
              <a:latin typeface="Arial" pitchFamily="34" charset="0"/>
              <a:cs typeface="Arial" pitchFamily="34" charset="0"/>
            </a:endParaRPr>
          </a:p>
          <a:p>
            <a:pPr marL="0" lvl="1" algn="just"/>
            <a:r>
              <a:rPr lang="es-AR" sz="1600" dirty="0" smtClean="0">
                <a:solidFill>
                  <a:schemeClr val="tx1"/>
                </a:solidFill>
                <a:latin typeface="Arial" pitchFamily="34" charset="0"/>
                <a:cs typeface="Arial" pitchFamily="34" charset="0"/>
              </a:rPr>
              <a:t>Un ejemplo de uso cooperativos que utiliza memoria compartida es el problema del </a:t>
            </a:r>
            <a:r>
              <a:rPr lang="es-AR" sz="1600" b="1" dirty="0" smtClean="0">
                <a:solidFill>
                  <a:schemeClr val="tx1"/>
                </a:solidFill>
                <a:latin typeface="Arial" pitchFamily="34" charset="0"/>
                <a:cs typeface="Arial" pitchFamily="34" charset="0"/>
              </a:rPr>
              <a:t>productor-consumidor</a:t>
            </a:r>
            <a:r>
              <a:rPr lang="es-AR" sz="1600" dirty="0" smtClean="0">
                <a:solidFill>
                  <a:schemeClr val="tx1"/>
                </a:solidFill>
                <a:latin typeface="Arial" pitchFamily="34" charset="0"/>
                <a:cs typeface="Arial" pitchFamily="34" charset="0"/>
              </a:rPr>
              <a:t>, donde hay un buffer que es llenado por el productor y es vaciado por el consumidor,.</a:t>
            </a:r>
          </a:p>
          <a:p>
            <a:pPr marL="0" lvl="1" algn="just"/>
            <a:endParaRPr lang="es-AR" sz="1600" dirty="0" smtClean="0">
              <a:solidFill>
                <a:schemeClr val="tx1"/>
              </a:solidFill>
              <a:latin typeface="Arial" pitchFamily="34" charset="0"/>
              <a:cs typeface="Arial" pitchFamily="34" charset="0"/>
            </a:endParaRPr>
          </a:p>
          <a:p>
            <a:pPr marL="0" lvl="1" algn="just"/>
            <a:r>
              <a:rPr lang="es-AR" sz="1600" dirty="0" smtClean="0">
                <a:solidFill>
                  <a:schemeClr val="tx1"/>
                </a:solidFill>
                <a:latin typeface="Arial" pitchFamily="34" charset="0"/>
                <a:cs typeface="Arial" pitchFamily="34" charset="0"/>
              </a:rPr>
              <a:t>Para el uso de memoria compartida se dispone de 4 llamadas al sistema: </a:t>
            </a:r>
            <a:r>
              <a:rPr lang="es-AR" sz="1600" dirty="0" err="1" smtClean="0">
                <a:solidFill>
                  <a:schemeClr val="tx1"/>
                </a:solidFill>
                <a:latin typeface="Arial" pitchFamily="34" charset="0"/>
                <a:cs typeface="Arial" pitchFamily="34" charset="0"/>
              </a:rPr>
              <a:t>shmget</a:t>
            </a:r>
            <a:r>
              <a:rPr lang="es-AR" sz="1600" dirty="0" smtClean="0">
                <a:solidFill>
                  <a:schemeClr val="tx1"/>
                </a:solidFill>
                <a:latin typeface="Arial" pitchFamily="34" charset="0"/>
                <a:cs typeface="Arial" pitchFamily="34" charset="0"/>
              </a:rPr>
              <a:t>(), </a:t>
            </a:r>
            <a:r>
              <a:rPr lang="es-AR" sz="1600" dirty="0" err="1" smtClean="0">
                <a:solidFill>
                  <a:schemeClr val="tx1"/>
                </a:solidFill>
                <a:latin typeface="Arial" pitchFamily="34" charset="0"/>
                <a:cs typeface="Arial" pitchFamily="34" charset="0"/>
              </a:rPr>
              <a:t>shmctl</a:t>
            </a:r>
            <a:r>
              <a:rPr lang="es-AR" sz="1600" dirty="0" smtClean="0">
                <a:solidFill>
                  <a:schemeClr val="tx1"/>
                </a:solidFill>
                <a:latin typeface="Arial" pitchFamily="34" charset="0"/>
                <a:cs typeface="Arial" pitchFamily="34" charset="0"/>
              </a:rPr>
              <a:t>(), </a:t>
            </a:r>
            <a:r>
              <a:rPr lang="es-AR" sz="1600" dirty="0" err="1" smtClean="0">
                <a:solidFill>
                  <a:schemeClr val="tx1"/>
                </a:solidFill>
                <a:latin typeface="Arial" pitchFamily="34" charset="0"/>
                <a:cs typeface="Arial" pitchFamily="34" charset="0"/>
              </a:rPr>
              <a:t>shmat</a:t>
            </a:r>
            <a:r>
              <a:rPr lang="es-AR" sz="1600" dirty="0" smtClean="0">
                <a:solidFill>
                  <a:schemeClr val="tx1"/>
                </a:solidFill>
                <a:latin typeface="Arial" pitchFamily="34" charset="0"/>
                <a:cs typeface="Arial" pitchFamily="34" charset="0"/>
              </a:rPr>
              <a:t>() y </a:t>
            </a:r>
            <a:r>
              <a:rPr lang="es-AR" sz="1600" dirty="0" err="1" smtClean="0">
                <a:solidFill>
                  <a:schemeClr val="tx1"/>
                </a:solidFill>
                <a:latin typeface="Arial" pitchFamily="34" charset="0"/>
                <a:cs typeface="Arial" pitchFamily="34" charset="0"/>
              </a:rPr>
              <a:t>shmdt</a:t>
            </a:r>
            <a:r>
              <a:rPr lang="es-AR" sz="1600" dirty="0" smtClean="0">
                <a:solidFill>
                  <a:schemeClr val="tx1"/>
                </a:solidFill>
                <a:latin typeface="Arial" pitchFamily="34" charset="0"/>
                <a:cs typeface="Arial" pitchFamily="34" charset="0"/>
              </a:rPr>
              <a:t>(). </a:t>
            </a:r>
          </a:p>
          <a:p>
            <a:pPr marL="0" lvl="1" algn="just"/>
            <a:r>
              <a:rPr lang="es-AR" sz="1600" dirty="0" smtClean="0">
                <a:solidFill>
                  <a:srgbClr val="CC00CC"/>
                </a:solidFill>
                <a:latin typeface="Arial" pitchFamily="34" charset="0"/>
                <a:cs typeface="Arial" pitchFamily="34" charset="0"/>
              </a:rPr>
              <a:t>(Leer el ejemplo 3.5.1 de </a:t>
            </a:r>
            <a:r>
              <a:rPr lang="es-AR" sz="1600" dirty="0" err="1" smtClean="0">
                <a:solidFill>
                  <a:srgbClr val="CC00CC"/>
                </a:solidFill>
                <a:latin typeface="Arial" pitchFamily="34" charset="0"/>
                <a:cs typeface="Arial" pitchFamily="34" charset="0"/>
              </a:rPr>
              <a:t>Silberchatz</a:t>
            </a:r>
            <a:r>
              <a:rPr lang="es-AR" sz="1600" dirty="0" smtClean="0">
                <a:solidFill>
                  <a:srgbClr val="CC00CC"/>
                </a:solidFill>
                <a:latin typeface="Arial" pitchFamily="34" charset="0"/>
                <a:cs typeface="Arial" pitchFamily="34" charset="0"/>
              </a:rPr>
              <a:t> 7ma ed.)</a:t>
            </a:r>
          </a:p>
          <a:p>
            <a:pPr marL="0" lvl="1" algn="just">
              <a:spcBef>
                <a:spcPts val="1200"/>
              </a:spcBef>
            </a:pPr>
            <a:r>
              <a:rPr lang="es-AR" sz="1600" u="sng" dirty="0" smtClean="0">
                <a:solidFill>
                  <a:schemeClr val="tx1"/>
                </a:solidFill>
                <a:latin typeface="Arial" pitchFamily="34" charset="0"/>
                <a:cs typeface="Arial" pitchFamily="34" charset="0"/>
              </a:rPr>
              <a:t>Nota:</a:t>
            </a:r>
            <a:r>
              <a:rPr lang="es-AR" sz="1600" dirty="0" smtClean="0">
                <a:solidFill>
                  <a:schemeClr val="tx1"/>
                </a:solidFill>
                <a:latin typeface="Arial" pitchFamily="34" charset="0"/>
                <a:cs typeface="Arial" pitchFamily="34" charset="0"/>
              </a:rPr>
              <a:t> La memoria compartida no se borra automáticamente cuando terminan los procesos, por lo que si se vuelve a utilizar y existe, puede dar fallo de segmento. Si esto ocurre hay que borrarla.</a:t>
            </a:r>
          </a:p>
          <a:p>
            <a:pPr marL="0" lvl="1" algn="just">
              <a:spcBef>
                <a:spcPts val="600"/>
              </a:spcBef>
            </a:pPr>
            <a:r>
              <a:rPr lang="es-AR" sz="1400" dirty="0" smtClean="0">
                <a:solidFill>
                  <a:schemeClr val="tx1"/>
                </a:solidFill>
                <a:latin typeface="Arial" pitchFamily="34" charset="0"/>
                <a:cs typeface="Arial" pitchFamily="34" charset="0"/>
              </a:rPr>
              <a:t>Con los comandos (ver ayuda con </a:t>
            </a:r>
            <a:r>
              <a:rPr lang="es-AR" sz="1400" dirty="0" err="1" smtClean="0">
                <a:solidFill>
                  <a:srgbClr val="7030A0"/>
                </a:solidFill>
                <a:latin typeface="Arial" pitchFamily="34" charset="0"/>
                <a:cs typeface="Arial" pitchFamily="34" charset="0"/>
              </a:rPr>
              <a:t>man</a:t>
            </a:r>
            <a:r>
              <a:rPr lang="es-AR" sz="1400" dirty="0" smtClean="0">
                <a:solidFill>
                  <a:schemeClr val="tx1"/>
                </a:solidFill>
                <a:latin typeface="Arial" pitchFamily="34" charset="0"/>
                <a:cs typeface="Arial" pitchFamily="34" charset="0"/>
              </a:rPr>
              <a:t>):</a:t>
            </a:r>
          </a:p>
          <a:p>
            <a:pPr marL="0" lvl="1" algn="just"/>
            <a:r>
              <a:rPr lang="es-AR" sz="1400" dirty="0" smtClean="0">
                <a:solidFill>
                  <a:schemeClr val="tx1"/>
                </a:solidFill>
                <a:latin typeface="Arial" pitchFamily="34" charset="0"/>
                <a:cs typeface="Arial" pitchFamily="34" charset="0"/>
              </a:rPr>
              <a:t> </a:t>
            </a:r>
            <a:r>
              <a:rPr lang="es-AR" sz="1400" dirty="0" err="1" smtClean="0">
                <a:solidFill>
                  <a:srgbClr val="7030A0"/>
                </a:solidFill>
                <a:latin typeface="Arial" pitchFamily="34" charset="0"/>
                <a:cs typeface="Arial" pitchFamily="34" charset="0"/>
              </a:rPr>
              <a:t>ipcs</a:t>
            </a:r>
            <a:r>
              <a:rPr lang="es-AR" sz="1400" dirty="0" smtClean="0">
                <a:solidFill>
                  <a:schemeClr val="tx1"/>
                </a:solidFill>
                <a:latin typeface="Arial" pitchFamily="34" charset="0"/>
                <a:cs typeface="Arial" pitchFamily="34" charset="0"/>
              </a:rPr>
              <a:t>     se pueden ver todas las áreas compartidas</a:t>
            </a:r>
          </a:p>
          <a:p>
            <a:pPr marL="0" lvl="1" algn="just"/>
            <a:r>
              <a:rPr lang="es-AR" sz="1400" dirty="0" smtClean="0">
                <a:solidFill>
                  <a:schemeClr val="tx1"/>
                </a:solidFill>
                <a:latin typeface="Arial" pitchFamily="34" charset="0"/>
                <a:cs typeface="Arial" pitchFamily="34" charset="0"/>
              </a:rPr>
              <a:t> </a:t>
            </a:r>
            <a:r>
              <a:rPr lang="es-AR" sz="1400" dirty="0" err="1" smtClean="0">
                <a:solidFill>
                  <a:srgbClr val="7030A0"/>
                </a:solidFill>
                <a:latin typeface="Arial" pitchFamily="34" charset="0"/>
                <a:cs typeface="Arial" pitchFamily="34" charset="0"/>
              </a:rPr>
              <a:t>ipcrm</a:t>
            </a:r>
            <a:r>
              <a:rPr lang="es-AR" sz="1400" dirty="0" smtClean="0">
                <a:solidFill>
                  <a:srgbClr val="7030A0"/>
                </a:solidFill>
                <a:latin typeface="Arial" pitchFamily="34" charset="0"/>
                <a:cs typeface="Arial" pitchFamily="34" charset="0"/>
              </a:rPr>
              <a:t> –M </a:t>
            </a:r>
            <a:r>
              <a:rPr lang="es-AR" sz="1400" dirty="0" err="1" smtClean="0">
                <a:solidFill>
                  <a:srgbClr val="7030A0"/>
                </a:solidFill>
                <a:latin typeface="Arial" pitchFamily="34" charset="0"/>
                <a:cs typeface="Arial" pitchFamily="34" charset="0"/>
              </a:rPr>
              <a:t>key</a:t>
            </a:r>
            <a:r>
              <a:rPr lang="es-AR" sz="1400" dirty="0" smtClean="0">
                <a:solidFill>
                  <a:srgbClr val="7030A0"/>
                </a:solidFill>
                <a:latin typeface="Arial" pitchFamily="34" charset="0"/>
                <a:cs typeface="Arial" pitchFamily="34" charset="0"/>
              </a:rPr>
              <a:t>   </a:t>
            </a:r>
            <a:r>
              <a:rPr lang="es-AR" sz="1400" dirty="0" smtClean="0">
                <a:solidFill>
                  <a:schemeClr val="tx1"/>
                </a:solidFill>
                <a:latin typeface="Arial" pitchFamily="34" charset="0"/>
                <a:cs typeface="Arial" pitchFamily="34" charset="0"/>
              </a:rPr>
              <a:t>elimina el segmento de memoria compartida  ingresando el </a:t>
            </a:r>
            <a:r>
              <a:rPr lang="es-AR" sz="1400" dirty="0" err="1" smtClean="0">
                <a:solidFill>
                  <a:srgbClr val="0033CC"/>
                </a:solidFill>
                <a:latin typeface="Arial" pitchFamily="34" charset="0"/>
                <a:cs typeface="Arial" pitchFamily="34" charset="0"/>
              </a:rPr>
              <a:t>key</a:t>
            </a:r>
            <a:r>
              <a:rPr lang="es-AR" sz="1400" dirty="0" smtClean="0">
                <a:solidFill>
                  <a:srgbClr val="0033CC"/>
                </a:solidFill>
                <a:latin typeface="Arial" pitchFamily="34" charset="0"/>
                <a:cs typeface="Arial" pitchFamily="34" charset="0"/>
              </a:rPr>
              <a:t> </a:t>
            </a:r>
          </a:p>
          <a:p>
            <a:pPr marL="0" lvl="1" algn="just"/>
            <a:r>
              <a:rPr lang="es-AR" sz="1400" dirty="0" smtClean="0">
                <a:solidFill>
                  <a:schemeClr val="tx1"/>
                </a:solidFill>
                <a:latin typeface="Arial" pitchFamily="34" charset="0"/>
                <a:cs typeface="Arial" pitchFamily="34" charset="0"/>
              </a:rPr>
              <a:t> </a:t>
            </a:r>
            <a:r>
              <a:rPr lang="es-AR" sz="1400" dirty="0" err="1" smtClean="0">
                <a:solidFill>
                  <a:srgbClr val="7030A0"/>
                </a:solidFill>
                <a:latin typeface="Arial" pitchFamily="34" charset="0"/>
                <a:cs typeface="Arial" pitchFamily="34" charset="0"/>
              </a:rPr>
              <a:t>ipcrm</a:t>
            </a:r>
            <a:r>
              <a:rPr lang="es-AR" sz="1400" dirty="0" smtClean="0">
                <a:solidFill>
                  <a:srgbClr val="7030A0"/>
                </a:solidFill>
                <a:latin typeface="Arial" pitchFamily="34" charset="0"/>
                <a:cs typeface="Arial" pitchFamily="34" charset="0"/>
              </a:rPr>
              <a:t> –m id      </a:t>
            </a:r>
            <a:r>
              <a:rPr lang="es-AR" sz="1400" dirty="0" smtClean="0">
                <a:solidFill>
                  <a:schemeClr val="tx1"/>
                </a:solidFill>
                <a:latin typeface="Arial" pitchFamily="34" charset="0"/>
                <a:cs typeface="Arial" pitchFamily="34" charset="0"/>
              </a:rPr>
              <a:t>elimina el segmento de memoria compartida  ingresando el </a:t>
            </a:r>
            <a:r>
              <a:rPr lang="es-AR" sz="1400" dirty="0" err="1" smtClean="0">
                <a:solidFill>
                  <a:srgbClr val="0033CC"/>
                </a:solidFill>
                <a:latin typeface="Arial" pitchFamily="34" charset="0"/>
                <a:cs typeface="Arial" pitchFamily="34" charset="0"/>
              </a:rPr>
              <a:t>schmid</a:t>
            </a:r>
            <a:endParaRPr lang="es-AR" sz="1400" dirty="0" smtClean="0">
              <a:solidFill>
                <a:srgbClr val="0033CC"/>
              </a:solidFill>
              <a:latin typeface="Arial" pitchFamily="34" charset="0"/>
              <a:cs typeface="Arial" pitchFamily="34" charset="0"/>
            </a:endParaRPr>
          </a:p>
          <a:p>
            <a:pPr marL="0" lvl="1" algn="just"/>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86608" y="173255"/>
            <a:ext cx="8745638" cy="6794168"/>
          </a:xfrm>
          <a:prstGeom prst="rect">
            <a:avLst/>
          </a:prstGeom>
          <a:noFill/>
        </p:spPr>
        <p:txBody>
          <a:bodyPr wrap="square" rtlCol="0">
            <a:spAutoFit/>
          </a:bodyPr>
          <a:lstStyle/>
          <a:p>
            <a:pPr algn="just"/>
            <a:r>
              <a:rPr lang="es-AR" sz="1400" b="1" dirty="0" smtClean="0">
                <a:solidFill>
                  <a:srgbClr val="0033CC"/>
                </a:solidFill>
                <a:latin typeface="Arial" pitchFamily="34" charset="0"/>
                <a:cs typeface="Arial" pitchFamily="34" charset="0"/>
              </a:rPr>
              <a:t>Llamadas al sistema para utilizar Memoria Compartida (anexo)</a:t>
            </a:r>
          </a:p>
          <a:p>
            <a:pPr algn="just">
              <a:spcBef>
                <a:spcPts val="300"/>
              </a:spcBef>
            </a:pPr>
            <a:r>
              <a:rPr lang="es-AR" sz="1100" dirty="0" smtClean="0">
                <a:solidFill>
                  <a:schemeClr val="tx1"/>
                </a:solidFill>
                <a:latin typeface="Arial" pitchFamily="34" charset="0"/>
                <a:cs typeface="Arial" pitchFamily="34" charset="0"/>
              </a:rPr>
              <a:t>Incluir las librerías:</a:t>
            </a:r>
          </a:p>
          <a:p>
            <a:pPr lvl="1" algn="just"/>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include</a:t>
            </a:r>
            <a:r>
              <a:rPr lang="es-AR" sz="1100" b="1" dirty="0" smtClean="0">
                <a:solidFill>
                  <a:srgbClr val="FF0000"/>
                </a:solidFill>
                <a:latin typeface="Arial" pitchFamily="34" charset="0"/>
                <a:cs typeface="Arial" pitchFamily="34" charset="0"/>
              </a:rPr>
              <a:t> &lt;</a:t>
            </a:r>
            <a:r>
              <a:rPr lang="es-AR" sz="1100" b="1" dirty="0" err="1" smtClean="0">
                <a:solidFill>
                  <a:srgbClr val="FF0000"/>
                </a:solidFill>
                <a:latin typeface="Arial" pitchFamily="34" charset="0"/>
                <a:cs typeface="Arial" pitchFamily="34" charset="0"/>
              </a:rPr>
              <a:t>sys</a:t>
            </a:r>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ipc.h</a:t>
            </a:r>
            <a:r>
              <a:rPr lang="es-AR" sz="1100" b="1" dirty="0" smtClean="0">
                <a:solidFill>
                  <a:srgbClr val="FF0000"/>
                </a:solidFill>
                <a:latin typeface="Arial" pitchFamily="34" charset="0"/>
                <a:cs typeface="Arial" pitchFamily="34" charset="0"/>
              </a:rPr>
              <a:t>&gt;</a:t>
            </a:r>
          </a:p>
          <a:p>
            <a:pPr lvl="1" algn="just"/>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include</a:t>
            </a:r>
            <a:r>
              <a:rPr lang="es-AR" sz="1100" b="1" dirty="0" smtClean="0">
                <a:solidFill>
                  <a:srgbClr val="FF0000"/>
                </a:solidFill>
                <a:latin typeface="Arial" pitchFamily="34" charset="0"/>
                <a:cs typeface="Arial" pitchFamily="34" charset="0"/>
              </a:rPr>
              <a:t> &lt;</a:t>
            </a:r>
            <a:r>
              <a:rPr lang="es-AR" sz="1100" b="1" dirty="0" err="1" smtClean="0">
                <a:solidFill>
                  <a:srgbClr val="FF0000"/>
                </a:solidFill>
                <a:latin typeface="Arial" pitchFamily="34" charset="0"/>
                <a:cs typeface="Arial" pitchFamily="34" charset="0"/>
              </a:rPr>
              <a:t>sys</a:t>
            </a:r>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shm.h</a:t>
            </a:r>
            <a:r>
              <a:rPr lang="es-AR" sz="1100" b="1" dirty="0" smtClean="0">
                <a:solidFill>
                  <a:srgbClr val="FF0000"/>
                </a:solidFill>
                <a:latin typeface="Arial" pitchFamily="34" charset="0"/>
                <a:cs typeface="Arial" pitchFamily="34" charset="0"/>
              </a:rPr>
              <a:t>&gt;</a:t>
            </a:r>
          </a:p>
          <a:p>
            <a:pPr algn="just">
              <a:spcBef>
                <a:spcPts val="600"/>
              </a:spcBef>
            </a:pPr>
            <a:r>
              <a:rPr lang="es-AR" sz="1200" b="1" dirty="0" err="1" smtClean="0">
                <a:solidFill>
                  <a:srgbClr val="0033CC"/>
                </a:solidFill>
                <a:latin typeface="Arial" pitchFamily="34" charset="0"/>
                <a:cs typeface="Arial" pitchFamily="34" charset="0"/>
              </a:rPr>
              <a:t>shmget</a:t>
            </a:r>
            <a:r>
              <a:rPr lang="es-AR" sz="1200" b="1" dirty="0" smtClean="0">
                <a:solidFill>
                  <a:srgbClr val="0033CC"/>
                </a:solidFill>
                <a:latin typeface="Arial" pitchFamily="34" charset="0"/>
                <a:cs typeface="Arial" pitchFamily="34" charset="0"/>
              </a:rPr>
              <a:t>()</a:t>
            </a:r>
          </a:p>
          <a:p>
            <a:pPr algn="just"/>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shmget</a:t>
            </a:r>
            <a:r>
              <a:rPr lang="es-AR" sz="1100" b="1" dirty="0" smtClean="0">
                <a:solidFill>
                  <a:srgbClr val="FF0000"/>
                </a:solidFill>
                <a:latin typeface="Courier New" pitchFamily="49" charset="0"/>
                <a:cs typeface="Courier New" pitchFamily="49" charset="0"/>
              </a:rPr>
              <a:t>(</a:t>
            </a:r>
            <a:r>
              <a:rPr lang="es-AR" sz="1100" b="1" dirty="0" err="1" smtClean="0">
                <a:solidFill>
                  <a:srgbClr val="FF0000"/>
                </a:solidFill>
                <a:latin typeface="Courier New" pitchFamily="49" charset="0"/>
                <a:cs typeface="Courier New" pitchFamily="49" charset="0"/>
              </a:rPr>
              <a:t>key_t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key</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size_t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size</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shmflg</a:t>
            </a:r>
            <a:r>
              <a:rPr lang="es-AR" sz="1100" b="1" dirty="0" smtClean="0">
                <a:solidFill>
                  <a:srgbClr val="FF0000"/>
                </a:solidFill>
                <a:latin typeface="Courier New" pitchFamily="49" charset="0"/>
                <a:cs typeface="Courier New" pitchFamily="49" charset="0"/>
              </a:rPr>
              <a:t>); </a:t>
            </a:r>
          </a:p>
          <a:p>
            <a:pPr algn="just"/>
            <a:r>
              <a:rPr lang="es-AR" sz="1100" dirty="0" smtClean="0">
                <a:solidFill>
                  <a:schemeClr val="tx1"/>
                </a:solidFill>
                <a:latin typeface="Arial" pitchFamily="34" charset="0"/>
                <a:cs typeface="Arial" pitchFamily="34" charset="0"/>
              </a:rPr>
              <a:t>Permite acceder a una zona de memoria compartida y, opcionalmente, crearla en caso de no existir. A esta llamada se le pasan tres argumentos: una clave, el tamaño del segmento a crear y el </a:t>
            </a:r>
            <a:r>
              <a:rPr lang="es-AR" sz="1100" dirty="0" err="1" smtClean="0">
                <a:solidFill>
                  <a:schemeClr val="tx1"/>
                </a:solidFill>
                <a:latin typeface="Arial" pitchFamily="34" charset="0"/>
                <a:cs typeface="Arial" pitchFamily="34" charset="0"/>
              </a:rPr>
              <a:t>flag</a:t>
            </a:r>
            <a:r>
              <a:rPr lang="es-AR" sz="1100" dirty="0" smtClean="0">
                <a:solidFill>
                  <a:schemeClr val="tx1"/>
                </a:solidFill>
                <a:latin typeface="Arial" pitchFamily="34" charset="0"/>
                <a:cs typeface="Arial" pitchFamily="34" charset="0"/>
              </a:rPr>
              <a:t> inicial de operación, y devuelve un entero, denominado </a:t>
            </a:r>
            <a:r>
              <a:rPr lang="es-AR" sz="1100" dirty="0" err="1" smtClean="0">
                <a:solidFill>
                  <a:schemeClr val="tx1"/>
                </a:solidFill>
                <a:latin typeface="Arial" pitchFamily="34" charset="0"/>
                <a:cs typeface="Arial" pitchFamily="34" charset="0"/>
              </a:rPr>
              <a:t>shmid</a:t>
            </a:r>
            <a:r>
              <a:rPr lang="es-AR" sz="1100" dirty="0" smtClean="0">
                <a:solidFill>
                  <a:schemeClr val="tx1"/>
                </a:solidFill>
                <a:latin typeface="Arial" pitchFamily="34" charset="0"/>
                <a:cs typeface="Arial" pitchFamily="34" charset="0"/>
              </a:rPr>
              <a:t>, que se utiliza para hacer referencia a dicho segmento.</a:t>
            </a:r>
          </a:p>
          <a:p>
            <a:pPr algn="just">
              <a:spcBef>
                <a:spcPts val="600"/>
              </a:spcBef>
            </a:pPr>
            <a:r>
              <a:rPr lang="es-AR" sz="1100" dirty="0" smtClean="0">
                <a:solidFill>
                  <a:schemeClr val="tx1"/>
                </a:solidFill>
                <a:latin typeface="Arial" pitchFamily="34" charset="0"/>
                <a:cs typeface="Arial" pitchFamily="34" charset="0"/>
              </a:rPr>
              <a:t>Notar que </a:t>
            </a:r>
            <a:r>
              <a:rPr lang="es-AR" sz="1100" b="1" dirty="0" err="1" smtClean="0">
                <a:solidFill>
                  <a:schemeClr val="tx1"/>
                </a:solidFill>
                <a:latin typeface="Arial" pitchFamily="34" charset="0"/>
                <a:cs typeface="Arial" pitchFamily="34" charset="0"/>
              </a:rPr>
              <a:t>shmget</a:t>
            </a:r>
            <a:r>
              <a:rPr lang="es-AR" sz="1100" b="1" dirty="0" smtClean="0">
                <a:solidFill>
                  <a:schemeClr val="tx1"/>
                </a:solidFill>
                <a:latin typeface="Arial" pitchFamily="34" charset="0"/>
                <a:cs typeface="Arial" pitchFamily="34" charset="0"/>
              </a:rPr>
              <a:t>()</a:t>
            </a:r>
            <a:r>
              <a:rPr lang="es-AR" sz="1100" dirty="0" smtClean="0">
                <a:solidFill>
                  <a:schemeClr val="tx1"/>
                </a:solidFill>
                <a:latin typeface="Arial" pitchFamily="34" charset="0"/>
                <a:cs typeface="Arial" pitchFamily="34" charset="0"/>
              </a:rPr>
              <a:t> únicamente reserva el espacio necesario para alojar el segmento. El segmento no se crea hasta que algún proceso se asigne a él. La posición de memoria final la decide, en principio, el sistema. Si se utiliza para obtener una referencia a una zona de memoria compartida ya existente, el tamaño especificado debe ser inferior o igual al de la memoria existente. En caso contrario, el tamaño asignado debe ser múltiplo de PAGE_SIZE, que corresponde al tamaño de una página de memoria (4 KB en la arquitectura x86). El valor de </a:t>
            </a:r>
            <a:r>
              <a:rPr lang="es-AR" sz="1100" b="1" dirty="0" err="1" smtClean="0">
                <a:solidFill>
                  <a:schemeClr val="tx1"/>
                </a:solidFill>
                <a:latin typeface="Arial" pitchFamily="34" charset="0"/>
                <a:cs typeface="Arial" pitchFamily="34" charset="0"/>
              </a:rPr>
              <a:t>shmflg</a:t>
            </a:r>
            <a:r>
              <a:rPr lang="es-AR" sz="1100" dirty="0" smtClean="0">
                <a:solidFill>
                  <a:schemeClr val="tx1"/>
                </a:solidFill>
                <a:latin typeface="Arial" pitchFamily="34" charset="0"/>
                <a:cs typeface="Arial" pitchFamily="34" charset="0"/>
              </a:rPr>
              <a:t> se compone básicamente con:</a:t>
            </a:r>
          </a:p>
          <a:p>
            <a:pPr algn="just"/>
            <a:r>
              <a:rPr lang="es-AR" sz="1100" b="1" dirty="0" smtClean="0">
                <a:solidFill>
                  <a:schemeClr val="tx1"/>
                </a:solidFill>
                <a:latin typeface="Arial" pitchFamily="34" charset="0"/>
                <a:cs typeface="Arial" pitchFamily="34" charset="0"/>
              </a:rPr>
              <a:t>IPC_CREAT</a:t>
            </a:r>
            <a:r>
              <a:rPr lang="es-AR" sz="1100" dirty="0" smtClean="0">
                <a:solidFill>
                  <a:schemeClr val="tx1"/>
                </a:solidFill>
                <a:latin typeface="Arial" pitchFamily="34" charset="0"/>
                <a:cs typeface="Arial" pitchFamily="34" charset="0"/>
              </a:rPr>
              <a:t>: Para crear un nuevo segmento. Si este </a:t>
            </a:r>
            <a:r>
              <a:rPr lang="es-AR" sz="1100" dirty="0" err="1" smtClean="0">
                <a:solidFill>
                  <a:schemeClr val="tx1"/>
                </a:solidFill>
                <a:latin typeface="Arial" pitchFamily="34" charset="0"/>
                <a:cs typeface="Arial" pitchFamily="34" charset="0"/>
              </a:rPr>
              <a:t>flag</a:t>
            </a:r>
            <a:r>
              <a:rPr lang="es-AR" sz="1100" dirty="0" smtClean="0">
                <a:solidFill>
                  <a:schemeClr val="tx1"/>
                </a:solidFill>
                <a:latin typeface="Arial" pitchFamily="34" charset="0"/>
                <a:cs typeface="Arial" pitchFamily="34" charset="0"/>
              </a:rPr>
              <a:t> no se precisa, </a:t>
            </a:r>
            <a:r>
              <a:rPr lang="es-AR" sz="1100" dirty="0" err="1" smtClean="0">
                <a:solidFill>
                  <a:schemeClr val="tx1"/>
                </a:solidFill>
                <a:latin typeface="Arial" pitchFamily="34" charset="0"/>
                <a:cs typeface="Arial" pitchFamily="34" charset="0"/>
              </a:rPr>
              <a:t>shmget</a:t>
            </a:r>
            <a:r>
              <a:rPr lang="es-AR" sz="1100" dirty="0" smtClean="0">
                <a:solidFill>
                  <a:schemeClr val="tx1"/>
                </a:solidFill>
                <a:latin typeface="Arial" pitchFamily="34" charset="0"/>
                <a:cs typeface="Arial" pitchFamily="34" charset="0"/>
              </a:rPr>
              <a:t>() únicamente buscará el segmento asociado con la clave y comprobará si el usuario tiene permisos para acceder a él.</a:t>
            </a:r>
          </a:p>
          <a:p>
            <a:pPr algn="just"/>
            <a:r>
              <a:rPr lang="es-AR" sz="1100" b="1" dirty="0" smtClean="0">
                <a:solidFill>
                  <a:schemeClr val="tx1"/>
                </a:solidFill>
                <a:latin typeface="Arial" pitchFamily="34" charset="0"/>
                <a:cs typeface="Arial" pitchFamily="34" charset="0"/>
              </a:rPr>
              <a:t>IPC_EXCL</a:t>
            </a:r>
            <a:r>
              <a:rPr lang="es-AR" sz="1100" dirty="0" smtClean="0">
                <a:solidFill>
                  <a:schemeClr val="tx1"/>
                </a:solidFill>
                <a:latin typeface="Arial" pitchFamily="34" charset="0"/>
                <a:cs typeface="Arial" pitchFamily="34" charset="0"/>
              </a:rPr>
              <a:t>: Se utiliza junto a IPC_CREAT para asegurar el fallo si el segmento existe.</a:t>
            </a:r>
          </a:p>
          <a:p>
            <a:pPr algn="just"/>
            <a:r>
              <a:rPr lang="es-AR" sz="1100" b="1" dirty="0" err="1" smtClean="0">
                <a:solidFill>
                  <a:schemeClr val="tx1"/>
                </a:solidFill>
                <a:latin typeface="Arial" pitchFamily="34" charset="0"/>
                <a:cs typeface="Arial" pitchFamily="34" charset="0"/>
              </a:rPr>
              <a:t>mode_flags</a:t>
            </a:r>
            <a:r>
              <a:rPr lang="es-AR" sz="1100" dirty="0" smtClean="0">
                <a:solidFill>
                  <a:schemeClr val="tx1"/>
                </a:solidFill>
                <a:latin typeface="Arial" pitchFamily="34" charset="0"/>
                <a:cs typeface="Arial" pitchFamily="34" charset="0"/>
              </a:rPr>
              <a:t>: Los 9 bits menos significativos del número están reservados para el establecimiento de permisos de acceso. Actualmente los permisos de ejecución no son utilizados por el sistema.</a:t>
            </a:r>
          </a:p>
          <a:p>
            <a:pPr algn="just"/>
            <a:endParaRPr lang="es-AR" sz="1100" dirty="0" smtClean="0">
              <a:solidFill>
                <a:srgbClr val="FFFF00"/>
              </a:solidFill>
              <a:latin typeface="Arial" pitchFamily="34" charset="0"/>
              <a:cs typeface="Arial" pitchFamily="34" charset="0"/>
            </a:endParaRPr>
          </a:p>
          <a:p>
            <a:pPr algn="just"/>
            <a:r>
              <a:rPr lang="es-AR" sz="1200" b="1" dirty="0" err="1" smtClean="0">
                <a:solidFill>
                  <a:srgbClr val="0033CC"/>
                </a:solidFill>
                <a:latin typeface="Arial" pitchFamily="34" charset="0"/>
                <a:cs typeface="Arial" pitchFamily="34" charset="0"/>
              </a:rPr>
              <a:t>shmctl</a:t>
            </a:r>
            <a:r>
              <a:rPr lang="es-AR" sz="1200" b="1" dirty="0" smtClean="0">
                <a:solidFill>
                  <a:srgbClr val="0033CC"/>
                </a:solidFill>
                <a:latin typeface="Arial" pitchFamily="34" charset="0"/>
                <a:cs typeface="Arial" pitchFamily="34" charset="0"/>
              </a:rPr>
              <a:t>()</a:t>
            </a:r>
          </a:p>
          <a:p>
            <a:pPr algn="just"/>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shmctl</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shmid</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cmd</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struct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shmid_ds</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buf</a:t>
            </a:r>
            <a:r>
              <a:rPr lang="es-AR" sz="1100" b="1" dirty="0" smtClean="0">
                <a:solidFill>
                  <a:srgbClr val="FF0000"/>
                </a:solidFill>
                <a:latin typeface="Courier New" pitchFamily="49" charset="0"/>
                <a:cs typeface="Courier New" pitchFamily="49" charset="0"/>
              </a:rPr>
              <a:t>); </a:t>
            </a:r>
          </a:p>
          <a:p>
            <a:pPr algn="just"/>
            <a:r>
              <a:rPr lang="es-AR" sz="1100" dirty="0" smtClean="0">
                <a:solidFill>
                  <a:schemeClr val="tx1"/>
                </a:solidFill>
                <a:latin typeface="Arial" pitchFamily="34" charset="0"/>
                <a:cs typeface="Arial" pitchFamily="34" charset="0"/>
              </a:rPr>
              <a:t>Proporciona una variedad de operaciones para el control de la memoria compartida a través de </a:t>
            </a:r>
            <a:r>
              <a:rPr lang="es-AR" sz="1100" dirty="0" err="1" smtClean="0">
                <a:solidFill>
                  <a:schemeClr val="tx1"/>
                </a:solidFill>
                <a:latin typeface="Arial" pitchFamily="34" charset="0"/>
                <a:cs typeface="Arial" pitchFamily="34" charset="0"/>
              </a:rPr>
              <a:t>cmd</a:t>
            </a:r>
            <a:r>
              <a:rPr lang="es-AR" sz="1100" dirty="0" smtClean="0">
                <a:solidFill>
                  <a:schemeClr val="tx1"/>
                </a:solidFill>
                <a:latin typeface="Arial" pitchFamily="34" charset="0"/>
                <a:cs typeface="Arial" pitchFamily="34" charset="0"/>
              </a:rPr>
              <a:t>. Algunas de las operaciones disponibles son:</a:t>
            </a:r>
          </a:p>
          <a:p>
            <a:pPr algn="just"/>
            <a:r>
              <a:rPr lang="es-AR" sz="1100" b="1" dirty="0" smtClean="0">
                <a:solidFill>
                  <a:schemeClr val="tx1"/>
                </a:solidFill>
                <a:latin typeface="Arial" pitchFamily="34" charset="0"/>
                <a:cs typeface="Arial" pitchFamily="34" charset="0"/>
              </a:rPr>
              <a:t>IPC_STAT</a:t>
            </a:r>
            <a:r>
              <a:rPr lang="es-AR" sz="1100" dirty="0" smtClean="0">
                <a:solidFill>
                  <a:schemeClr val="tx1"/>
                </a:solidFill>
                <a:latin typeface="Arial" pitchFamily="34" charset="0"/>
                <a:cs typeface="Arial" pitchFamily="34" charset="0"/>
              </a:rPr>
              <a:t>: Lee el estado de la estructura de control de la memoria asociada a </a:t>
            </a:r>
            <a:r>
              <a:rPr lang="es-AR" sz="1100" dirty="0" err="1" smtClean="0">
                <a:solidFill>
                  <a:schemeClr val="tx1"/>
                </a:solidFill>
                <a:latin typeface="Arial" pitchFamily="34" charset="0"/>
                <a:cs typeface="Arial" pitchFamily="34" charset="0"/>
              </a:rPr>
              <a:t>shmid</a:t>
            </a:r>
            <a:r>
              <a:rPr lang="es-AR" sz="1100" dirty="0" smtClean="0">
                <a:solidFill>
                  <a:schemeClr val="tx1"/>
                </a:solidFill>
                <a:latin typeface="Arial" pitchFamily="34" charset="0"/>
                <a:cs typeface="Arial" pitchFamily="34" charset="0"/>
              </a:rPr>
              <a:t> y lo devuelve a través de la estructura de datos apuntada por </a:t>
            </a:r>
            <a:r>
              <a:rPr lang="es-AR" sz="1100" dirty="0" err="1" smtClean="0">
                <a:solidFill>
                  <a:schemeClr val="tx1"/>
                </a:solidFill>
                <a:latin typeface="Arial" pitchFamily="34" charset="0"/>
                <a:cs typeface="Arial" pitchFamily="34" charset="0"/>
              </a:rPr>
              <a:t>buf</a:t>
            </a:r>
            <a:r>
              <a:rPr lang="es-AR" sz="1100" dirty="0" smtClean="0">
                <a:solidFill>
                  <a:schemeClr val="tx1"/>
                </a:solidFill>
                <a:latin typeface="Arial" pitchFamily="34" charset="0"/>
                <a:cs typeface="Arial" pitchFamily="34" charset="0"/>
              </a:rPr>
              <a:t>.</a:t>
            </a:r>
          </a:p>
          <a:p>
            <a:pPr algn="just"/>
            <a:r>
              <a:rPr lang="es-AR" sz="1100" b="1" dirty="0" smtClean="0">
                <a:solidFill>
                  <a:schemeClr val="tx1"/>
                </a:solidFill>
                <a:latin typeface="Arial" pitchFamily="34" charset="0"/>
                <a:cs typeface="Arial" pitchFamily="34" charset="0"/>
              </a:rPr>
              <a:t>IPC_SET</a:t>
            </a:r>
            <a:r>
              <a:rPr lang="es-AR" sz="1100" dirty="0" smtClean="0">
                <a:solidFill>
                  <a:schemeClr val="tx1"/>
                </a:solidFill>
                <a:latin typeface="Arial" pitchFamily="34" charset="0"/>
                <a:cs typeface="Arial" pitchFamily="34" charset="0"/>
              </a:rPr>
              <a:t>: Cambia el valor de los siguientes miembros de la estructura de datos asociada a </a:t>
            </a:r>
            <a:r>
              <a:rPr lang="es-AR" sz="1100" dirty="0" err="1" smtClean="0">
                <a:solidFill>
                  <a:schemeClr val="tx1"/>
                </a:solidFill>
                <a:latin typeface="Arial" pitchFamily="34" charset="0"/>
                <a:cs typeface="Arial" pitchFamily="34" charset="0"/>
              </a:rPr>
              <a:t>shmid</a:t>
            </a:r>
            <a:r>
              <a:rPr lang="es-AR" sz="1100" dirty="0" smtClean="0">
                <a:solidFill>
                  <a:schemeClr val="tx1"/>
                </a:solidFill>
                <a:latin typeface="Arial" pitchFamily="34" charset="0"/>
                <a:cs typeface="Arial" pitchFamily="34" charset="0"/>
              </a:rPr>
              <a:t> con el correspondiente valor encontrado en la estructura apuntada por </a:t>
            </a:r>
            <a:r>
              <a:rPr lang="es-AR" sz="1100" dirty="0" err="1" smtClean="0">
                <a:solidFill>
                  <a:schemeClr val="tx1"/>
                </a:solidFill>
                <a:latin typeface="Arial" pitchFamily="34" charset="0"/>
                <a:cs typeface="Arial" pitchFamily="34" charset="0"/>
              </a:rPr>
              <a:t>buf</a:t>
            </a:r>
            <a:r>
              <a:rPr lang="es-AR" sz="1100" dirty="0" smtClean="0">
                <a:solidFill>
                  <a:schemeClr val="tx1"/>
                </a:solidFill>
                <a:latin typeface="Arial" pitchFamily="34" charset="0"/>
                <a:cs typeface="Arial" pitchFamily="34" charset="0"/>
              </a:rPr>
              <a:t>:  shm_perm.uid    shm_perm.gid    </a:t>
            </a:r>
            <a:r>
              <a:rPr lang="es-AR" sz="1100" dirty="0" err="1" smtClean="0">
                <a:solidFill>
                  <a:schemeClr val="tx1"/>
                </a:solidFill>
                <a:latin typeface="Arial" pitchFamily="34" charset="0"/>
                <a:cs typeface="Arial" pitchFamily="34" charset="0"/>
              </a:rPr>
              <a:t>shm_perm.mode</a:t>
            </a:r>
            <a:endParaRPr lang="es-AR" sz="1100" dirty="0" smtClean="0">
              <a:solidFill>
                <a:schemeClr val="tx1"/>
              </a:solidFill>
              <a:latin typeface="Arial" pitchFamily="34" charset="0"/>
              <a:cs typeface="Arial" pitchFamily="34" charset="0"/>
            </a:endParaRPr>
          </a:p>
          <a:p>
            <a:pPr algn="just"/>
            <a:r>
              <a:rPr lang="es-AR" sz="1100" b="1" dirty="0" smtClean="0">
                <a:solidFill>
                  <a:schemeClr val="tx1"/>
                </a:solidFill>
                <a:latin typeface="Arial" pitchFamily="34" charset="0"/>
                <a:cs typeface="Arial" pitchFamily="34" charset="0"/>
              </a:rPr>
              <a:t>IPC_RMID</a:t>
            </a:r>
            <a:r>
              <a:rPr lang="es-AR" sz="1100" dirty="0" smtClean="0">
                <a:solidFill>
                  <a:schemeClr val="tx1"/>
                </a:solidFill>
                <a:latin typeface="Arial" pitchFamily="34" charset="0"/>
                <a:cs typeface="Arial" pitchFamily="34" charset="0"/>
              </a:rPr>
              <a:t>: Marca una región de memoria compartida como destruida, aunque el borrado sólo se hará efectivo cuando el último proceso que la adjuntaba deje de hacerlo. Si en el momento en que se realiza la invocación, el segmento aún está asignado a otro proceso, la clave será puesta a IPC_PRIVATE.</a:t>
            </a:r>
          </a:p>
          <a:p>
            <a:pPr algn="just"/>
            <a:r>
              <a:rPr lang="es-AR" sz="1100" b="1" dirty="0" smtClean="0">
                <a:solidFill>
                  <a:schemeClr val="tx1"/>
                </a:solidFill>
                <a:latin typeface="Arial" pitchFamily="34" charset="0"/>
                <a:cs typeface="Arial" pitchFamily="34" charset="0"/>
              </a:rPr>
              <a:t>SHM_LOCK</a:t>
            </a:r>
            <a:r>
              <a:rPr lang="es-AR" sz="1100" dirty="0" smtClean="0">
                <a:solidFill>
                  <a:schemeClr val="tx1"/>
                </a:solidFill>
                <a:latin typeface="Arial" pitchFamily="34" charset="0"/>
                <a:cs typeface="Arial" pitchFamily="34" charset="0"/>
              </a:rPr>
              <a:t>: Bloquea la zona de memoria compartida especificada por </a:t>
            </a:r>
            <a:r>
              <a:rPr lang="es-AR" sz="1100" dirty="0" err="1" smtClean="0">
                <a:solidFill>
                  <a:schemeClr val="tx1"/>
                </a:solidFill>
                <a:latin typeface="Arial" pitchFamily="34" charset="0"/>
                <a:cs typeface="Arial" pitchFamily="34" charset="0"/>
              </a:rPr>
              <a:t>shmid</a:t>
            </a:r>
            <a:r>
              <a:rPr lang="es-AR" sz="1100" dirty="0" smtClean="0">
                <a:solidFill>
                  <a:schemeClr val="tx1"/>
                </a:solidFill>
                <a:latin typeface="Arial" pitchFamily="34" charset="0"/>
                <a:cs typeface="Arial" pitchFamily="34" charset="0"/>
              </a:rPr>
              <a:t>. Esto quiere decir que el segmento es grabado en memoria, no siendo posible borrarlo a partir de esta operación. Tampoco se podrá hacer </a:t>
            </a:r>
            <a:r>
              <a:rPr lang="es-AR" sz="1100" dirty="0" err="1" smtClean="0">
                <a:solidFill>
                  <a:schemeClr val="tx1"/>
                </a:solidFill>
                <a:latin typeface="Arial" pitchFamily="34" charset="0"/>
                <a:cs typeface="Arial" pitchFamily="34" charset="0"/>
              </a:rPr>
              <a:t>swapping</a:t>
            </a:r>
            <a:r>
              <a:rPr lang="es-AR" sz="1100" dirty="0" smtClean="0">
                <a:solidFill>
                  <a:schemeClr val="tx1"/>
                </a:solidFill>
                <a:latin typeface="Arial" pitchFamily="34" charset="0"/>
                <a:cs typeface="Arial" pitchFamily="34" charset="0"/>
              </a:rPr>
              <a:t> sobre él. Esta </a:t>
            </a:r>
            <a:r>
              <a:rPr lang="es-AR" sz="1100" dirty="0" err="1" smtClean="0">
                <a:solidFill>
                  <a:schemeClr val="tx1"/>
                </a:solidFill>
                <a:latin typeface="Arial" pitchFamily="34" charset="0"/>
                <a:cs typeface="Arial" pitchFamily="34" charset="0"/>
              </a:rPr>
              <a:t>cmd</a:t>
            </a:r>
            <a:r>
              <a:rPr lang="es-AR" sz="1100" dirty="0" smtClean="0">
                <a:solidFill>
                  <a:schemeClr val="tx1"/>
                </a:solidFill>
                <a:latin typeface="Arial" pitchFamily="34" charset="0"/>
                <a:cs typeface="Arial" pitchFamily="34" charset="0"/>
              </a:rPr>
              <a:t> solo puede ser ejecutada por un proceso que tenga un ID de usuario efectivo igual al del </a:t>
            </a:r>
            <a:r>
              <a:rPr lang="es-AR" sz="1100" dirty="0" err="1" smtClean="0">
                <a:solidFill>
                  <a:schemeClr val="tx1"/>
                </a:solidFill>
                <a:latin typeface="Arial" pitchFamily="34" charset="0"/>
                <a:cs typeface="Arial" pitchFamily="34" charset="0"/>
              </a:rPr>
              <a:t>superusuario</a:t>
            </a:r>
            <a:r>
              <a:rPr lang="es-AR" sz="1100" dirty="0" smtClean="0">
                <a:solidFill>
                  <a:schemeClr val="tx1"/>
                </a:solidFill>
                <a:latin typeface="Arial" pitchFamily="34" charset="0"/>
                <a:cs typeface="Arial" pitchFamily="34" charset="0"/>
              </a:rPr>
              <a:t>. De esta forma se garantiza la permanencia de los datos en la memoria.</a:t>
            </a:r>
          </a:p>
          <a:p>
            <a:pPr algn="just"/>
            <a:r>
              <a:rPr lang="es-AR" sz="1100" b="1" dirty="0" smtClean="0">
                <a:solidFill>
                  <a:schemeClr val="tx1"/>
                </a:solidFill>
                <a:latin typeface="Arial" pitchFamily="34" charset="0"/>
                <a:cs typeface="Arial" pitchFamily="34" charset="0"/>
              </a:rPr>
              <a:t>SHM_UNLOCK</a:t>
            </a:r>
            <a:r>
              <a:rPr lang="es-AR" sz="1100" dirty="0" smtClean="0">
                <a:solidFill>
                  <a:schemeClr val="tx1"/>
                </a:solidFill>
                <a:latin typeface="Arial" pitchFamily="34" charset="0"/>
                <a:cs typeface="Arial" pitchFamily="34" charset="0"/>
              </a:rPr>
              <a:t>: Desbloquea la región de memoria compartida especificada por </a:t>
            </a:r>
            <a:r>
              <a:rPr lang="es-AR" sz="1100" dirty="0" err="1" smtClean="0">
                <a:solidFill>
                  <a:schemeClr val="tx1"/>
                </a:solidFill>
                <a:latin typeface="Arial" pitchFamily="34" charset="0"/>
                <a:cs typeface="Arial" pitchFamily="34" charset="0"/>
              </a:rPr>
              <a:t>shmid</a:t>
            </a:r>
            <a:r>
              <a:rPr lang="es-AR" sz="1100" dirty="0" smtClean="0">
                <a:solidFill>
                  <a:schemeClr val="tx1"/>
                </a:solidFill>
                <a:latin typeface="Arial" pitchFamily="34" charset="0"/>
                <a:cs typeface="Arial" pitchFamily="34" charset="0"/>
              </a:rPr>
              <a:t>.</a:t>
            </a:r>
          </a:p>
          <a:p>
            <a:pPr algn="just"/>
            <a:r>
              <a:rPr lang="es-AR" sz="1100" dirty="0" smtClean="0">
                <a:solidFill>
                  <a:schemeClr val="tx1"/>
                </a:solidFill>
                <a:latin typeface="Arial" pitchFamily="34" charset="0"/>
                <a:cs typeface="Arial" pitchFamily="34" charset="0"/>
              </a:rPr>
              <a:t>Esta operación, al igual que la anterior, sólo la podrán ejecutar aquellos procesos con privilegios de acceso apropiados.</a:t>
            </a:r>
          </a:p>
        </p:txBody>
      </p:sp>
      <p:sp>
        <p:nvSpPr>
          <p:cNvPr id="6" name="5 Flecha derecha"/>
          <p:cNvSpPr/>
          <p:nvPr/>
        </p:nvSpPr>
        <p:spPr>
          <a:xfrm>
            <a:off x="67376" y="5178391"/>
            <a:ext cx="105880" cy="1251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 </a:t>
            </a:r>
            <a:endParaRPr lang="es-ES" dirty="0"/>
          </a:p>
        </p:txBody>
      </p:sp>
      <p:pic>
        <p:nvPicPr>
          <p:cNvPr id="1026" name="Picture 2"/>
          <p:cNvPicPr>
            <a:picLocks noChangeAspect="1" noChangeArrowheads="1"/>
          </p:cNvPicPr>
          <p:nvPr/>
        </p:nvPicPr>
        <p:blipFill>
          <a:blip r:embed="rId2" cstate="print"/>
          <a:srcRect/>
          <a:stretch>
            <a:fillRect/>
          </a:stretch>
        </p:blipFill>
        <p:spPr bwMode="auto">
          <a:xfrm>
            <a:off x="9144000" y="0"/>
            <a:ext cx="5556250" cy="6775450"/>
          </a:xfrm>
          <a:prstGeom prst="rect">
            <a:avLst/>
          </a:prstGeom>
          <a:noFill/>
          <a:ln w="9525">
            <a:noFill/>
            <a:miter lim="800000"/>
            <a:headEnd/>
            <a:tailEnd/>
          </a:ln>
        </p:spPr>
      </p:pic>
      <p:pic>
        <p:nvPicPr>
          <p:cNvPr id="2" name="Picture 2"/>
          <p:cNvPicPr>
            <a:picLocks noChangeAspect="1" noChangeArrowheads="1"/>
          </p:cNvPicPr>
          <p:nvPr/>
        </p:nvPicPr>
        <p:blipFill>
          <a:blip r:embed="rId3" cstate="print"/>
          <a:srcRect/>
          <a:stretch>
            <a:fillRect/>
          </a:stretch>
        </p:blipFill>
        <p:spPr bwMode="auto">
          <a:xfrm>
            <a:off x="-5417386" y="400050"/>
            <a:ext cx="5417386" cy="5810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86607" y="173258"/>
            <a:ext cx="8745638" cy="7025000"/>
          </a:xfrm>
          <a:prstGeom prst="rect">
            <a:avLst/>
          </a:prstGeom>
          <a:noFill/>
        </p:spPr>
        <p:txBody>
          <a:bodyPr wrap="square" rtlCol="0">
            <a:spAutoFit/>
          </a:bodyPr>
          <a:lstStyle/>
          <a:p>
            <a:pPr algn="just"/>
            <a:r>
              <a:rPr lang="es-AR" sz="1400" b="1" dirty="0" smtClean="0">
                <a:solidFill>
                  <a:srgbClr val="0033CC"/>
                </a:solidFill>
                <a:latin typeface="Arial" pitchFamily="34" charset="0"/>
                <a:cs typeface="Arial" pitchFamily="34" charset="0"/>
              </a:rPr>
              <a:t>Llamadas al sistema para utilizar Memoria Compartida (anexo)</a:t>
            </a:r>
          </a:p>
          <a:p>
            <a:pPr algn="just">
              <a:spcBef>
                <a:spcPts val="300"/>
              </a:spcBef>
            </a:pPr>
            <a:r>
              <a:rPr lang="es-AR" sz="1100" dirty="0" smtClean="0">
                <a:solidFill>
                  <a:schemeClr val="tx1"/>
                </a:solidFill>
                <a:latin typeface="Arial" pitchFamily="34" charset="0"/>
                <a:cs typeface="Arial" pitchFamily="34" charset="0"/>
              </a:rPr>
              <a:t>Incluir las </a:t>
            </a:r>
            <a:r>
              <a:rPr lang="es-AR" sz="1100" dirty="0" err="1" smtClean="0">
                <a:solidFill>
                  <a:schemeClr val="tx1"/>
                </a:solidFill>
                <a:latin typeface="Arial" pitchFamily="34" charset="0"/>
                <a:cs typeface="Arial" pitchFamily="34" charset="0"/>
              </a:rPr>
              <a:t>librerias</a:t>
            </a:r>
            <a:r>
              <a:rPr lang="es-AR" sz="1100" dirty="0" smtClean="0">
                <a:solidFill>
                  <a:schemeClr val="tx1"/>
                </a:solidFill>
                <a:latin typeface="Arial" pitchFamily="34" charset="0"/>
                <a:cs typeface="Arial" pitchFamily="34" charset="0"/>
              </a:rPr>
              <a:t>:</a:t>
            </a:r>
          </a:p>
          <a:p>
            <a:pPr lvl="1" algn="just"/>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include</a:t>
            </a:r>
            <a:r>
              <a:rPr lang="es-AR" sz="1100" b="1" dirty="0" smtClean="0">
                <a:solidFill>
                  <a:srgbClr val="FF0000"/>
                </a:solidFill>
                <a:latin typeface="Arial" pitchFamily="34" charset="0"/>
                <a:cs typeface="Arial" pitchFamily="34" charset="0"/>
              </a:rPr>
              <a:t> &lt;</a:t>
            </a:r>
            <a:r>
              <a:rPr lang="es-AR" sz="1100" b="1" dirty="0" err="1" smtClean="0">
                <a:solidFill>
                  <a:srgbClr val="FF0000"/>
                </a:solidFill>
                <a:latin typeface="Arial" pitchFamily="34" charset="0"/>
                <a:cs typeface="Arial" pitchFamily="34" charset="0"/>
              </a:rPr>
              <a:t>sys</a:t>
            </a:r>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ipc.h</a:t>
            </a:r>
            <a:r>
              <a:rPr lang="es-AR" sz="1100" b="1" dirty="0" smtClean="0">
                <a:solidFill>
                  <a:srgbClr val="FF0000"/>
                </a:solidFill>
                <a:latin typeface="Arial" pitchFamily="34" charset="0"/>
                <a:cs typeface="Arial" pitchFamily="34" charset="0"/>
              </a:rPr>
              <a:t>&gt;</a:t>
            </a:r>
          </a:p>
          <a:p>
            <a:pPr lvl="1" algn="just"/>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include</a:t>
            </a:r>
            <a:r>
              <a:rPr lang="es-AR" sz="1100" b="1" dirty="0" smtClean="0">
                <a:solidFill>
                  <a:srgbClr val="FF0000"/>
                </a:solidFill>
                <a:latin typeface="Arial" pitchFamily="34" charset="0"/>
                <a:cs typeface="Arial" pitchFamily="34" charset="0"/>
              </a:rPr>
              <a:t> &lt;</a:t>
            </a:r>
            <a:r>
              <a:rPr lang="es-AR" sz="1100" b="1" dirty="0" err="1" smtClean="0">
                <a:solidFill>
                  <a:srgbClr val="FF0000"/>
                </a:solidFill>
                <a:latin typeface="Arial" pitchFamily="34" charset="0"/>
                <a:cs typeface="Arial" pitchFamily="34" charset="0"/>
              </a:rPr>
              <a:t>sys</a:t>
            </a:r>
            <a:r>
              <a:rPr lang="es-AR" sz="1100" b="1" dirty="0" smtClean="0">
                <a:solidFill>
                  <a:srgbClr val="FF0000"/>
                </a:solidFill>
                <a:latin typeface="Arial" pitchFamily="34" charset="0"/>
                <a:cs typeface="Arial" pitchFamily="34" charset="0"/>
              </a:rPr>
              <a:t>/</a:t>
            </a:r>
            <a:r>
              <a:rPr lang="es-AR" sz="1100" b="1" dirty="0" err="1" smtClean="0">
                <a:solidFill>
                  <a:srgbClr val="FF0000"/>
                </a:solidFill>
                <a:latin typeface="Arial" pitchFamily="34" charset="0"/>
                <a:cs typeface="Arial" pitchFamily="34" charset="0"/>
              </a:rPr>
              <a:t>shm.h</a:t>
            </a:r>
            <a:r>
              <a:rPr lang="es-AR" sz="1100" b="1" dirty="0" smtClean="0">
                <a:solidFill>
                  <a:srgbClr val="FF0000"/>
                </a:solidFill>
                <a:latin typeface="Arial" pitchFamily="34" charset="0"/>
                <a:cs typeface="Arial" pitchFamily="34" charset="0"/>
              </a:rPr>
              <a:t>&gt;</a:t>
            </a:r>
          </a:p>
          <a:p>
            <a:pPr algn="just">
              <a:spcBef>
                <a:spcPts val="600"/>
              </a:spcBef>
            </a:pPr>
            <a:r>
              <a:rPr lang="es-AR" sz="1200" b="1" dirty="0" err="1" smtClean="0">
                <a:solidFill>
                  <a:srgbClr val="0033CC"/>
                </a:solidFill>
                <a:latin typeface="Arial" pitchFamily="34" charset="0"/>
                <a:cs typeface="Arial" pitchFamily="34" charset="0"/>
              </a:rPr>
              <a:t>shmat</a:t>
            </a:r>
            <a:r>
              <a:rPr lang="es-AR" sz="1200" b="1" dirty="0" smtClean="0">
                <a:solidFill>
                  <a:srgbClr val="0033CC"/>
                </a:solidFill>
                <a:latin typeface="Arial" pitchFamily="34" charset="0"/>
                <a:cs typeface="Arial" pitchFamily="34" charset="0"/>
              </a:rPr>
              <a:t>()</a:t>
            </a:r>
          </a:p>
          <a:p>
            <a:pPr algn="just"/>
            <a:r>
              <a:rPr lang="es-AR" sz="1100" b="1" dirty="0" err="1" smtClean="0">
                <a:solidFill>
                  <a:srgbClr val="FF0000"/>
                </a:solidFill>
                <a:latin typeface="Courier New" pitchFamily="49" charset="0"/>
                <a:cs typeface="Courier New" pitchFamily="49" charset="0"/>
              </a:rPr>
              <a:t>void</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shmat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shmid</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const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void</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shmaddr</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option</a:t>
            </a:r>
            <a:r>
              <a:rPr lang="es-AR" sz="1100" b="1" dirty="0" smtClean="0">
                <a:solidFill>
                  <a:srgbClr val="FF0000"/>
                </a:solidFill>
                <a:latin typeface="Courier New" pitchFamily="49" charset="0"/>
                <a:cs typeface="Courier New" pitchFamily="49" charset="0"/>
              </a:rPr>
              <a:t>); </a:t>
            </a:r>
          </a:p>
          <a:p>
            <a:pPr algn="just">
              <a:spcBef>
                <a:spcPts val="600"/>
              </a:spcBef>
            </a:pPr>
            <a:r>
              <a:rPr lang="es-AR" sz="1100" dirty="0" smtClean="0">
                <a:solidFill>
                  <a:schemeClr val="tx1"/>
                </a:solidFill>
                <a:latin typeface="Arial" pitchFamily="34" charset="0"/>
                <a:cs typeface="Arial" pitchFamily="34" charset="0"/>
              </a:rPr>
              <a:t>Es la llamada que debe invocar un proceso para adjuntar una zona de memoria compartida dentro de su espacio de direcciones. Recibe tres parámetros: el identificador del segmento (</a:t>
            </a:r>
            <a:r>
              <a:rPr lang="es-AR" sz="1100" b="1" dirty="0" err="1" smtClean="0">
                <a:solidFill>
                  <a:srgbClr val="FF0000"/>
                </a:solidFill>
                <a:latin typeface="Courier New" pitchFamily="49" charset="0"/>
                <a:cs typeface="Courier New" pitchFamily="49" charset="0"/>
              </a:rPr>
              <a:t>shmid</a:t>
            </a:r>
            <a:r>
              <a:rPr lang="es-AR" sz="1100" dirty="0" smtClean="0">
                <a:solidFill>
                  <a:schemeClr val="tx1"/>
                </a:solidFill>
                <a:latin typeface="Arial" pitchFamily="34" charset="0"/>
                <a:cs typeface="Arial" pitchFamily="34" charset="0"/>
              </a:rPr>
              <a:t>), una dirección de memoria (</a:t>
            </a:r>
            <a:r>
              <a:rPr lang="es-AR" sz="1100" dirty="0" err="1" smtClean="0">
                <a:solidFill>
                  <a:schemeClr val="tx1"/>
                </a:solidFill>
                <a:latin typeface="Arial" pitchFamily="34" charset="0"/>
                <a:cs typeface="Arial" pitchFamily="34" charset="0"/>
              </a:rPr>
              <a:t>shmaddr</a:t>
            </a:r>
            <a:r>
              <a:rPr lang="es-AR" sz="1100" dirty="0" smtClean="0">
                <a:solidFill>
                  <a:schemeClr val="tx1"/>
                </a:solidFill>
                <a:latin typeface="Arial" pitchFamily="34" charset="0"/>
                <a:cs typeface="Arial" pitchFamily="34" charset="0"/>
              </a:rPr>
              <a:t>) y las banderas descritas más adelante. </a:t>
            </a:r>
          </a:p>
          <a:p>
            <a:pPr algn="just">
              <a:spcBef>
                <a:spcPts val="600"/>
              </a:spcBef>
            </a:pPr>
            <a:r>
              <a:rPr lang="es-AR" sz="1100" dirty="0" smtClean="0">
                <a:solidFill>
                  <a:schemeClr val="tx1"/>
                </a:solidFill>
                <a:latin typeface="Arial" pitchFamily="34" charset="0"/>
                <a:cs typeface="Arial" pitchFamily="34" charset="0"/>
              </a:rPr>
              <a:t>La dirección </a:t>
            </a:r>
            <a:r>
              <a:rPr lang="es-AR" sz="1100" b="1" dirty="0" err="1" smtClean="0">
                <a:solidFill>
                  <a:srgbClr val="FF0000"/>
                </a:solidFill>
                <a:latin typeface="Courier New" pitchFamily="49" charset="0"/>
                <a:cs typeface="Courier New" pitchFamily="49" charset="0"/>
              </a:rPr>
              <a:t>shmaddr</a:t>
            </a:r>
            <a:r>
              <a:rPr lang="es-AR" sz="1100" b="1" dirty="0" smtClean="0">
                <a:solidFill>
                  <a:srgbClr val="FF0000"/>
                </a:solidFill>
                <a:latin typeface="Courier New" pitchFamily="49" charset="0"/>
                <a:cs typeface="Courier New" pitchFamily="49" charset="0"/>
              </a:rPr>
              <a:t> </a:t>
            </a:r>
            <a:r>
              <a:rPr lang="es-AR" sz="1100" dirty="0" smtClean="0">
                <a:solidFill>
                  <a:schemeClr val="tx1"/>
                </a:solidFill>
                <a:latin typeface="Arial" pitchFamily="34" charset="0"/>
                <a:cs typeface="Arial" pitchFamily="34" charset="0"/>
              </a:rPr>
              <a:t>puede ser NULL ó 0 en tal caso el sistema operativo tomará la responsabilidad de buscar una posición de memoria libre. </a:t>
            </a:r>
          </a:p>
          <a:p>
            <a:pPr algn="just">
              <a:spcBef>
                <a:spcPts val="600"/>
              </a:spcBef>
            </a:pPr>
            <a:r>
              <a:rPr lang="es-AR" sz="1100" dirty="0" smtClean="0">
                <a:solidFill>
                  <a:schemeClr val="tx1"/>
                </a:solidFill>
                <a:latin typeface="Arial" pitchFamily="34" charset="0"/>
                <a:cs typeface="Arial" pitchFamily="34" charset="0"/>
              </a:rPr>
              <a:t>En </a:t>
            </a:r>
            <a:r>
              <a:rPr lang="es-AR" sz="1100" b="1" dirty="0" err="1" smtClean="0">
                <a:solidFill>
                  <a:srgbClr val="FF0000"/>
                </a:solidFill>
                <a:latin typeface="Courier New" pitchFamily="49" charset="0"/>
                <a:cs typeface="Courier New" pitchFamily="49" charset="0"/>
              </a:rPr>
              <a:t>option</a:t>
            </a:r>
            <a:r>
              <a:rPr lang="es-AR" sz="1100" dirty="0" smtClean="0">
                <a:solidFill>
                  <a:schemeClr val="tx1"/>
                </a:solidFill>
                <a:latin typeface="Arial" pitchFamily="34" charset="0"/>
                <a:cs typeface="Arial" pitchFamily="34" charset="0"/>
              </a:rPr>
              <a:t> se puede especificar:</a:t>
            </a:r>
          </a:p>
          <a:p>
            <a:pPr algn="just">
              <a:spcBef>
                <a:spcPts val="600"/>
              </a:spcBef>
            </a:pPr>
            <a:r>
              <a:rPr lang="es-AR" sz="1100" b="1" dirty="0" smtClean="0">
                <a:solidFill>
                  <a:schemeClr val="tx1"/>
                </a:solidFill>
                <a:latin typeface="Arial" pitchFamily="34" charset="0"/>
                <a:cs typeface="Arial" pitchFamily="34" charset="0"/>
              </a:rPr>
              <a:t>SHM_RND</a:t>
            </a:r>
            <a:r>
              <a:rPr lang="es-AR" sz="1100" dirty="0" smtClean="0">
                <a:solidFill>
                  <a:schemeClr val="tx1"/>
                </a:solidFill>
                <a:latin typeface="Arial" pitchFamily="34" charset="0"/>
                <a:cs typeface="Arial" pitchFamily="34" charset="0"/>
              </a:rPr>
              <a:t>: En cuyo caso, el sistema intentará vincular la zona de memoria a una dirección múltiplo de SHMLBA (</a:t>
            </a:r>
            <a:r>
              <a:rPr lang="es-AR" sz="1100" dirty="0" err="1" smtClean="0">
                <a:solidFill>
                  <a:schemeClr val="tx1"/>
                </a:solidFill>
                <a:latin typeface="Arial" pitchFamily="34" charset="0"/>
                <a:cs typeface="Arial" pitchFamily="34" charset="0"/>
              </a:rPr>
              <a:t>shmparam.h</a:t>
            </a:r>
            <a:r>
              <a:rPr lang="es-AR" sz="1100" dirty="0" smtClean="0">
                <a:solidFill>
                  <a:schemeClr val="tx1"/>
                </a:solidFill>
                <a:latin typeface="Arial" pitchFamily="34" charset="0"/>
                <a:cs typeface="Arial" pitchFamily="34" charset="0"/>
              </a:rPr>
              <a:t>) lo más próxima posible a la especificada</a:t>
            </a:r>
            <a:r>
              <a:rPr lang="es-ES" sz="1100" dirty="0" smtClean="0">
                <a:solidFill>
                  <a:schemeClr val="tx1"/>
                </a:solidFill>
                <a:latin typeface="Arial" pitchFamily="34" charset="0"/>
                <a:cs typeface="Arial" pitchFamily="34" charset="0"/>
              </a:rPr>
              <a:t> (SHMLBA (</a:t>
            </a:r>
            <a:r>
              <a:rPr lang="es-ES" sz="1100" dirty="0" err="1" smtClean="0">
                <a:solidFill>
                  <a:schemeClr val="tx1"/>
                </a:solidFill>
                <a:latin typeface="Arial" pitchFamily="34" charset="0"/>
                <a:cs typeface="Arial" pitchFamily="34" charset="0"/>
              </a:rPr>
              <a:t>Shared</a:t>
            </a:r>
            <a:r>
              <a:rPr lang="es-ES" sz="1100" dirty="0" smtClean="0">
                <a:solidFill>
                  <a:schemeClr val="tx1"/>
                </a:solidFill>
                <a:latin typeface="Arial" pitchFamily="34" charset="0"/>
                <a:cs typeface="Arial" pitchFamily="34" charset="0"/>
              </a:rPr>
              <a:t> </a:t>
            </a:r>
            <a:r>
              <a:rPr lang="es-ES" sz="1100" dirty="0" err="1" smtClean="0">
                <a:solidFill>
                  <a:schemeClr val="tx1"/>
                </a:solidFill>
                <a:latin typeface="Arial" pitchFamily="34" charset="0"/>
                <a:cs typeface="Arial" pitchFamily="34" charset="0"/>
              </a:rPr>
              <a:t>Memory</a:t>
            </a:r>
            <a:r>
              <a:rPr lang="es-ES" sz="1100" dirty="0" smtClean="0">
                <a:solidFill>
                  <a:schemeClr val="tx1"/>
                </a:solidFill>
                <a:latin typeface="Arial" pitchFamily="34" charset="0"/>
                <a:cs typeface="Arial" pitchFamily="34" charset="0"/>
              </a:rPr>
              <a:t> </a:t>
            </a:r>
            <a:r>
              <a:rPr lang="es-ES" sz="1100" dirty="0" err="1" smtClean="0">
                <a:solidFill>
                  <a:schemeClr val="tx1"/>
                </a:solidFill>
                <a:latin typeface="Arial" pitchFamily="34" charset="0"/>
                <a:cs typeface="Arial" pitchFamily="34" charset="0"/>
              </a:rPr>
              <a:t>Low</a:t>
            </a:r>
            <a:r>
              <a:rPr lang="es-ES" sz="1100" dirty="0" smtClean="0">
                <a:solidFill>
                  <a:schemeClr val="tx1"/>
                </a:solidFill>
                <a:latin typeface="Arial" pitchFamily="34" charset="0"/>
                <a:cs typeface="Arial" pitchFamily="34" charset="0"/>
              </a:rPr>
              <a:t> </a:t>
            </a:r>
            <a:r>
              <a:rPr lang="es-ES" sz="1100" dirty="0" err="1" smtClean="0">
                <a:solidFill>
                  <a:schemeClr val="tx1"/>
                </a:solidFill>
                <a:latin typeface="Arial" pitchFamily="34" charset="0"/>
                <a:cs typeface="Arial" pitchFamily="34" charset="0"/>
              </a:rPr>
              <a:t>Boundary</a:t>
            </a:r>
            <a:r>
              <a:rPr lang="es-ES" sz="1100" dirty="0" smtClean="0">
                <a:solidFill>
                  <a:schemeClr val="tx1"/>
                </a:solidFill>
                <a:latin typeface="Arial" pitchFamily="34" charset="0"/>
                <a:cs typeface="Arial" pitchFamily="34" charset="0"/>
              </a:rPr>
              <a:t> </a:t>
            </a:r>
            <a:r>
              <a:rPr lang="es-ES" sz="1100" dirty="0" err="1" smtClean="0">
                <a:solidFill>
                  <a:schemeClr val="tx1"/>
                </a:solidFill>
                <a:latin typeface="Arial" pitchFamily="34" charset="0"/>
                <a:cs typeface="Arial" pitchFamily="34" charset="0"/>
              </a:rPr>
              <a:t>Address</a:t>
            </a:r>
            <a:r>
              <a:rPr lang="es-ES" sz="1100" dirty="0" smtClean="0">
                <a:solidFill>
                  <a:schemeClr val="tx1"/>
                </a:solidFill>
                <a:latin typeface="Arial" pitchFamily="34" charset="0"/>
                <a:cs typeface="Arial" pitchFamily="34" charset="0"/>
              </a:rPr>
              <a:t>) es una constante que representa la unidad mínima de alineación para mapear segmentos de memoria compartida en memoria virtual, es de  4Kb en muchas arquitecturas))</a:t>
            </a:r>
            <a:endParaRPr lang="es-AR" sz="1100" dirty="0" smtClean="0">
              <a:solidFill>
                <a:schemeClr val="tx1"/>
              </a:solidFill>
              <a:latin typeface="Arial" pitchFamily="34" charset="0"/>
              <a:cs typeface="Arial" pitchFamily="34" charset="0"/>
            </a:endParaRPr>
          </a:p>
          <a:p>
            <a:pPr algn="just">
              <a:spcBef>
                <a:spcPts val="600"/>
              </a:spcBef>
            </a:pPr>
            <a:r>
              <a:rPr lang="es-AR" sz="1100" b="1" dirty="0" smtClean="0">
                <a:solidFill>
                  <a:schemeClr val="tx1"/>
                </a:solidFill>
                <a:latin typeface="Arial" pitchFamily="34" charset="0"/>
                <a:cs typeface="Arial" pitchFamily="34" charset="0"/>
              </a:rPr>
              <a:t>SHM_RDONLY: </a:t>
            </a:r>
            <a:r>
              <a:rPr lang="es-AR" sz="1100" dirty="0" smtClean="0">
                <a:solidFill>
                  <a:schemeClr val="tx1"/>
                </a:solidFill>
                <a:latin typeface="Arial" pitchFamily="34" charset="0"/>
                <a:cs typeface="Arial" pitchFamily="34" charset="0"/>
              </a:rPr>
              <a:t>Hará que el proceso sólo pueda acceder al segmento de memoria en lectura. Si no se precisa, el segmento se vinculará en modo lectura/escritura.</a:t>
            </a:r>
          </a:p>
          <a:p>
            <a:pPr algn="just">
              <a:spcBef>
                <a:spcPts val="600"/>
              </a:spcBef>
            </a:pPr>
            <a:r>
              <a:rPr lang="es-ES" sz="1100" dirty="0" smtClean="0">
                <a:solidFill>
                  <a:schemeClr val="tx1"/>
                </a:solidFill>
                <a:latin typeface="Arial" pitchFamily="34" charset="0"/>
                <a:cs typeface="Arial" pitchFamily="34" charset="0"/>
              </a:rPr>
              <a:t>Si </a:t>
            </a:r>
            <a:r>
              <a:rPr lang="es-ES" sz="1100" dirty="0" err="1" smtClean="0">
                <a:solidFill>
                  <a:schemeClr val="tx1"/>
                </a:solidFill>
                <a:latin typeface="Arial" pitchFamily="34" charset="0"/>
                <a:cs typeface="Arial" pitchFamily="34" charset="0"/>
              </a:rPr>
              <a:t>option</a:t>
            </a:r>
            <a:r>
              <a:rPr lang="es-ES" sz="1100" dirty="0" smtClean="0">
                <a:solidFill>
                  <a:schemeClr val="tx1"/>
                </a:solidFill>
                <a:latin typeface="Arial" pitchFamily="34" charset="0"/>
                <a:cs typeface="Arial" pitchFamily="34" charset="0"/>
              </a:rPr>
              <a:t> tiene 0, significa que no hay </a:t>
            </a:r>
            <a:r>
              <a:rPr lang="es-ES" sz="1100" dirty="0" err="1" smtClean="0">
                <a:solidFill>
                  <a:schemeClr val="tx1"/>
                </a:solidFill>
                <a:latin typeface="Arial" pitchFamily="34" charset="0"/>
                <a:cs typeface="Arial" pitchFamily="34" charset="0"/>
              </a:rPr>
              <a:t>flags</a:t>
            </a:r>
            <a:r>
              <a:rPr lang="es-ES" sz="1100" dirty="0" smtClean="0">
                <a:solidFill>
                  <a:schemeClr val="tx1"/>
                </a:solidFill>
                <a:latin typeface="Arial" pitchFamily="34" charset="0"/>
                <a:cs typeface="Arial" pitchFamily="34" charset="0"/>
              </a:rPr>
              <a:t> adicionales y el segmento se mapea como lectura/escritura y sin redondeos (no están activados ni SHM_RDONLY ni SHM_RND)</a:t>
            </a:r>
            <a:endParaRPr lang="es-AR" sz="1100" dirty="0" smtClean="0">
              <a:solidFill>
                <a:schemeClr val="tx1"/>
              </a:solidFill>
              <a:latin typeface="Arial" pitchFamily="34" charset="0"/>
              <a:cs typeface="Arial" pitchFamily="34" charset="0"/>
            </a:endParaRPr>
          </a:p>
          <a:p>
            <a:pPr algn="just">
              <a:spcBef>
                <a:spcPts val="600"/>
              </a:spcBef>
            </a:pPr>
            <a:r>
              <a:rPr lang="es-AR" sz="1100" dirty="0" smtClean="0">
                <a:solidFill>
                  <a:schemeClr val="tx1"/>
                </a:solidFill>
                <a:latin typeface="Arial" pitchFamily="34" charset="0"/>
                <a:cs typeface="Arial" pitchFamily="34" charset="0"/>
              </a:rPr>
              <a:t>Como resultado de la invocación, devuelve la dirección de comienzo del segmento de memoria asignado y se actualizan los siguientes campos de la estructura </a:t>
            </a:r>
            <a:r>
              <a:rPr lang="es-AR" sz="1100" dirty="0" err="1" smtClean="0">
                <a:solidFill>
                  <a:schemeClr val="tx1"/>
                </a:solidFill>
                <a:latin typeface="Arial" pitchFamily="34" charset="0"/>
                <a:cs typeface="Arial" pitchFamily="34" charset="0"/>
              </a:rPr>
              <a:t>shmid_kernel</a:t>
            </a:r>
            <a:r>
              <a:rPr lang="es-AR" sz="1100" dirty="0" smtClean="0">
                <a:solidFill>
                  <a:schemeClr val="tx1"/>
                </a:solidFill>
                <a:latin typeface="Arial" pitchFamily="34" charset="0"/>
                <a:cs typeface="Arial" pitchFamily="34" charset="0"/>
              </a:rPr>
              <a:t>: </a:t>
            </a:r>
            <a:r>
              <a:rPr lang="es-AR" sz="1100" dirty="0" err="1" smtClean="0">
                <a:solidFill>
                  <a:schemeClr val="tx1"/>
                </a:solidFill>
                <a:latin typeface="Arial" pitchFamily="34" charset="0"/>
                <a:cs typeface="Arial" pitchFamily="34" charset="0"/>
              </a:rPr>
              <a:t>shm_atim</a:t>
            </a:r>
            <a:r>
              <a:rPr lang="es-AR" sz="1100" dirty="0" smtClean="0">
                <a:solidFill>
                  <a:schemeClr val="tx1"/>
                </a:solidFill>
                <a:latin typeface="Arial" pitchFamily="34" charset="0"/>
                <a:cs typeface="Arial" pitchFamily="34" charset="0"/>
              </a:rPr>
              <a:t>, que recibe la fecha actual; </a:t>
            </a:r>
            <a:r>
              <a:rPr lang="es-AR" sz="1100" dirty="0" err="1" smtClean="0">
                <a:solidFill>
                  <a:schemeClr val="tx1"/>
                </a:solidFill>
                <a:latin typeface="Arial" pitchFamily="34" charset="0"/>
                <a:cs typeface="Arial" pitchFamily="34" charset="0"/>
              </a:rPr>
              <a:t>shm_lprid</a:t>
            </a:r>
            <a:r>
              <a:rPr lang="es-AR" sz="1100" dirty="0" smtClean="0">
                <a:solidFill>
                  <a:schemeClr val="tx1"/>
                </a:solidFill>
                <a:latin typeface="Arial" pitchFamily="34" charset="0"/>
                <a:cs typeface="Arial" pitchFamily="34" charset="0"/>
              </a:rPr>
              <a:t>, que recibe el </a:t>
            </a:r>
            <a:r>
              <a:rPr lang="es-AR" sz="1100" dirty="0" err="1" smtClean="0">
                <a:solidFill>
                  <a:schemeClr val="tx1"/>
                </a:solidFill>
                <a:latin typeface="Arial" pitchFamily="34" charset="0"/>
                <a:cs typeface="Arial" pitchFamily="34" charset="0"/>
              </a:rPr>
              <a:t>pid</a:t>
            </a:r>
            <a:r>
              <a:rPr lang="es-AR" sz="1100" dirty="0" smtClean="0">
                <a:solidFill>
                  <a:schemeClr val="tx1"/>
                </a:solidFill>
                <a:latin typeface="Arial" pitchFamily="34" charset="0"/>
                <a:cs typeface="Arial" pitchFamily="34" charset="0"/>
              </a:rPr>
              <a:t> del proceso que llama, y </a:t>
            </a:r>
            <a:r>
              <a:rPr lang="es-AR" sz="1100" dirty="0" err="1" smtClean="0">
                <a:solidFill>
                  <a:schemeClr val="tx1"/>
                </a:solidFill>
                <a:latin typeface="Arial" pitchFamily="34" charset="0"/>
                <a:cs typeface="Arial" pitchFamily="34" charset="0"/>
              </a:rPr>
              <a:t>shm_nattch</a:t>
            </a:r>
            <a:r>
              <a:rPr lang="es-AR" sz="1100" dirty="0" smtClean="0">
                <a:solidFill>
                  <a:schemeClr val="tx1"/>
                </a:solidFill>
                <a:latin typeface="Arial" pitchFamily="34" charset="0"/>
                <a:cs typeface="Arial" pitchFamily="34" charset="0"/>
              </a:rPr>
              <a:t>, que se incrementa en una unidad.</a:t>
            </a:r>
          </a:p>
          <a:p>
            <a:pPr algn="just">
              <a:tabLst>
                <a:tab pos="722313" algn="l"/>
              </a:tabLst>
            </a:pPr>
            <a:endParaRPr lang="es-AR" sz="1200" dirty="0" smtClean="0">
              <a:solidFill>
                <a:srgbClr val="FFFF00"/>
              </a:solidFill>
              <a:latin typeface="Arial" pitchFamily="34" charset="0"/>
              <a:cs typeface="Arial" pitchFamily="34" charset="0"/>
            </a:endParaRPr>
          </a:p>
          <a:p>
            <a:pPr algn="just">
              <a:tabLst>
                <a:tab pos="722313" algn="l"/>
              </a:tabLst>
            </a:pPr>
            <a:endParaRPr lang="es-AR" sz="1200" dirty="0" smtClean="0">
              <a:solidFill>
                <a:srgbClr val="FFFF00"/>
              </a:solidFill>
              <a:latin typeface="Arial" pitchFamily="34" charset="0"/>
              <a:cs typeface="Arial" pitchFamily="34" charset="0"/>
            </a:endParaRPr>
          </a:p>
          <a:p>
            <a:pPr algn="just">
              <a:tabLst>
                <a:tab pos="722313" algn="l"/>
              </a:tabLst>
            </a:pPr>
            <a:r>
              <a:rPr lang="es-AR" sz="1200" b="1" dirty="0" err="1" smtClean="0">
                <a:solidFill>
                  <a:srgbClr val="0033CC"/>
                </a:solidFill>
                <a:latin typeface="Arial" pitchFamily="34" charset="0"/>
                <a:cs typeface="Arial" pitchFamily="34" charset="0"/>
              </a:rPr>
              <a:t>shmdt</a:t>
            </a:r>
            <a:r>
              <a:rPr lang="es-AR" sz="1200" b="1" dirty="0" smtClean="0">
                <a:solidFill>
                  <a:srgbClr val="0033CC"/>
                </a:solidFill>
                <a:latin typeface="Arial" pitchFamily="34" charset="0"/>
                <a:cs typeface="Arial" pitchFamily="34" charset="0"/>
              </a:rPr>
              <a:t>()</a:t>
            </a:r>
          </a:p>
          <a:p>
            <a:pPr algn="just"/>
            <a:r>
              <a:rPr lang="es-AR" sz="1100" b="1" dirty="0" err="1" smtClean="0">
                <a:solidFill>
                  <a:srgbClr val="FF0000"/>
                </a:solidFill>
                <a:latin typeface="Courier New" pitchFamily="49" charset="0"/>
                <a:cs typeface="Courier New" pitchFamily="49" charset="0"/>
              </a:rPr>
              <a:t>int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shmdt</a:t>
            </a:r>
            <a:r>
              <a:rPr lang="es-AR" sz="1100" b="1" dirty="0" smtClean="0">
                <a:solidFill>
                  <a:srgbClr val="FF0000"/>
                </a:solidFill>
                <a:latin typeface="Courier New" pitchFamily="49" charset="0"/>
                <a:cs typeface="Courier New" pitchFamily="49" charset="0"/>
              </a:rPr>
              <a:t>( </a:t>
            </a:r>
            <a:r>
              <a:rPr lang="es-AR" sz="1100" b="1" dirty="0" err="1" smtClean="0">
                <a:solidFill>
                  <a:srgbClr val="FF0000"/>
                </a:solidFill>
                <a:latin typeface="Courier New" pitchFamily="49" charset="0"/>
                <a:cs typeface="Courier New" pitchFamily="49" charset="0"/>
              </a:rPr>
              <a:t>void</a:t>
            </a:r>
            <a:r>
              <a:rPr lang="es-AR" sz="1100" b="1" dirty="0" smtClean="0">
                <a:solidFill>
                  <a:srgbClr val="FF0000"/>
                </a:solidFill>
                <a:latin typeface="Courier New" pitchFamily="49" charset="0"/>
                <a:cs typeface="Courier New" pitchFamily="49" charset="0"/>
              </a:rPr>
              <a:t> *  </a:t>
            </a:r>
            <a:r>
              <a:rPr lang="es-AR" sz="1100" b="1" dirty="0" err="1" smtClean="0">
                <a:solidFill>
                  <a:srgbClr val="FF0000"/>
                </a:solidFill>
                <a:latin typeface="Courier New" pitchFamily="49" charset="0"/>
                <a:cs typeface="Courier New" pitchFamily="49" charset="0"/>
              </a:rPr>
              <a:t>shmaddr</a:t>
            </a:r>
            <a:r>
              <a:rPr lang="es-AR" sz="1100" b="1" dirty="0" smtClean="0">
                <a:solidFill>
                  <a:srgbClr val="FF0000"/>
                </a:solidFill>
                <a:latin typeface="Courier New" pitchFamily="49" charset="0"/>
                <a:cs typeface="Courier New" pitchFamily="49" charset="0"/>
              </a:rPr>
              <a:t>  el puntero devuelto por </a:t>
            </a:r>
            <a:r>
              <a:rPr lang="es-AR" sz="1100" b="1" dirty="0" err="1" smtClean="0">
                <a:solidFill>
                  <a:srgbClr val="FF0000"/>
                </a:solidFill>
                <a:latin typeface="Courier New" pitchFamily="49" charset="0"/>
                <a:cs typeface="Courier New" pitchFamily="49" charset="0"/>
              </a:rPr>
              <a:t>shmat</a:t>
            </a:r>
            <a:r>
              <a:rPr lang="es-AR" sz="1100" b="1" dirty="0" smtClean="0">
                <a:solidFill>
                  <a:srgbClr val="FF0000"/>
                </a:solidFill>
                <a:latin typeface="Courier New" pitchFamily="49" charset="0"/>
                <a:cs typeface="Courier New" pitchFamily="49" charset="0"/>
              </a:rPr>
              <a:t>); </a:t>
            </a:r>
          </a:p>
          <a:p>
            <a:pPr algn="just">
              <a:spcBef>
                <a:spcPts val="600"/>
              </a:spcBef>
            </a:pPr>
            <a:r>
              <a:rPr lang="es-AR" sz="1100" dirty="0" smtClean="0">
                <a:solidFill>
                  <a:schemeClr val="tx1"/>
                </a:solidFill>
                <a:latin typeface="Arial" pitchFamily="34" charset="0"/>
                <a:cs typeface="Arial" pitchFamily="34" charset="0"/>
              </a:rPr>
              <a:t>Es la operación que realizará el proceso anterior para desvincularse de una zona de memoria compartida. Para ello, deberá precisarse como primer y único parámetro la dirección </a:t>
            </a:r>
            <a:r>
              <a:rPr lang="es-AR" sz="1100" dirty="0" err="1" smtClean="0">
                <a:solidFill>
                  <a:schemeClr val="tx1"/>
                </a:solidFill>
                <a:latin typeface="Arial" pitchFamily="34" charset="0"/>
                <a:cs typeface="Arial" pitchFamily="34" charset="0"/>
              </a:rPr>
              <a:t>shmaddr</a:t>
            </a:r>
            <a:r>
              <a:rPr lang="es-AR" sz="1100" dirty="0" smtClean="0">
                <a:solidFill>
                  <a:schemeClr val="tx1"/>
                </a:solidFill>
                <a:latin typeface="Arial" pitchFamily="34" charset="0"/>
                <a:cs typeface="Arial" pitchFamily="34" charset="0"/>
              </a:rPr>
              <a:t> de dicha zona. Esta llamada al sistema actualiza los campos siguientes de las estructura </a:t>
            </a:r>
            <a:r>
              <a:rPr lang="es-AR" sz="1100" dirty="0" err="1" smtClean="0">
                <a:solidFill>
                  <a:schemeClr val="tx1"/>
                </a:solidFill>
                <a:latin typeface="Arial" pitchFamily="34" charset="0"/>
                <a:cs typeface="Arial" pitchFamily="34" charset="0"/>
              </a:rPr>
              <a:t>shmid_kernel</a:t>
            </a:r>
            <a:r>
              <a:rPr lang="es-AR" sz="1100" dirty="0" smtClean="0">
                <a:solidFill>
                  <a:schemeClr val="tx1"/>
                </a:solidFill>
                <a:latin typeface="Arial" pitchFamily="34" charset="0"/>
                <a:cs typeface="Arial" pitchFamily="34" charset="0"/>
              </a:rPr>
              <a:t>: </a:t>
            </a:r>
            <a:r>
              <a:rPr lang="es-AR" sz="1100" dirty="0" err="1" smtClean="0">
                <a:solidFill>
                  <a:schemeClr val="tx1"/>
                </a:solidFill>
                <a:latin typeface="Arial" pitchFamily="34" charset="0"/>
                <a:cs typeface="Arial" pitchFamily="34" charset="0"/>
              </a:rPr>
              <a:t>shm_dtim</a:t>
            </a:r>
            <a:r>
              <a:rPr lang="es-AR" sz="1100" dirty="0" smtClean="0">
                <a:solidFill>
                  <a:schemeClr val="tx1"/>
                </a:solidFill>
                <a:latin typeface="Arial" pitchFamily="34" charset="0"/>
                <a:cs typeface="Arial" pitchFamily="34" charset="0"/>
              </a:rPr>
              <a:t>, que recibe la fecha actual; </a:t>
            </a:r>
            <a:r>
              <a:rPr lang="es-AR" sz="1100" dirty="0" err="1" smtClean="0">
                <a:solidFill>
                  <a:schemeClr val="tx1"/>
                </a:solidFill>
                <a:latin typeface="Arial" pitchFamily="34" charset="0"/>
                <a:cs typeface="Arial" pitchFamily="34" charset="0"/>
              </a:rPr>
              <a:t>shm_lprid</a:t>
            </a:r>
            <a:r>
              <a:rPr lang="es-AR" sz="1100" dirty="0" smtClean="0">
                <a:solidFill>
                  <a:schemeClr val="tx1"/>
                </a:solidFill>
                <a:latin typeface="Arial" pitchFamily="34" charset="0"/>
                <a:cs typeface="Arial" pitchFamily="34" charset="0"/>
              </a:rPr>
              <a:t>, que recibe el </a:t>
            </a:r>
            <a:r>
              <a:rPr lang="es-AR" sz="1100" dirty="0" err="1" smtClean="0">
                <a:solidFill>
                  <a:schemeClr val="tx1"/>
                </a:solidFill>
                <a:latin typeface="Arial" pitchFamily="34" charset="0"/>
                <a:cs typeface="Arial" pitchFamily="34" charset="0"/>
              </a:rPr>
              <a:t>pid</a:t>
            </a:r>
            <a:r>
              <a:rPr lang="es-AR" sz="1100" dirty="0" smtClean="0">
                <a:solidFill>
                  <a:schemeClr val="tx1"/>
                </a:solidFill>
                <a:latin typeface="Arial" pitchFamily="34" charset="0"/>
                <a:cs typeface="Arial" pitchFamily="34" charset="0"/>
              </a:rPr>
              <a:t> del proceso que llama y </a:t>
            </a:r>
            <a:r>
              <a:rPr lang="es-AR" sz="1100" dirty="0" err="1" smtClean="0">
                <a:solidFill>
                  <a:schemeClr val="tx1"/>
                </a:solidFill>
                <a:latin typeface="Arial" pitchFamily="34" charset="0"/>
                <a:cs typeface="Arial" pitchFamily="34" charset="0"/>
              </a:rPr>
              <a:t>shm_nattch</a:t>
            </a:r>
            <a:r>
              <a:rPr lang="es-AR" sz="1100" dirty="0" smtClean="0">
                <a:solidFill>
                  <a:schemeClr val="tx1"/>
                </a:solidFill>
                <a:latin typeface="Arial" pitchFamily="34" charset="0"/>
                <a:cs typeface="Arial" pitchFamily="34" charset="0"/>
              </a:rPr>
              <a:t>, que queda </a:t>
            </a:r>
            <a:r>
              <a:rPr lang="es-AR" sz="1100" dirty="0" err="1" smtClean="0">
                <a:solidFill>
                  <a:schemeClr val="tx1"/>
                </a:solidFill>
                <a:latin typeface="Arial" pitchFamily="34" charset="0"/>
                <a:cs typeface="Arial" pitchFamily="34" charset="0"/>
              </a:rPr>
              <a:t>decrementado</a:t>
            </a:r>
            <a:r>
              <a:rPr lang="es-AR" sz="1100" dirty="0" smtClean="0">
                <a:solidFill>
                  <a:schemeClr val="tx1"/>
                </a:solidFill>
                <a:latin typeface="Arial" pitchFamily="34" charset="0"/>
                <a:cs typeface="Arial" pitchFamily="34" charset="0"/>
              </a:rPr>
              <a:t> en una unidad.</a:t>
            </a:r>
          </a:p>
          <a:p>
            <a:pPr algn="just"/>
            <a:endParaRPr lang="es-AR" sz="1100" dirty="0" smtClean="0">
              <a:solidFill>
                <a:schemeClr val="bg1"/>
              </a:solidFill>
              <a:latin typeface="Arial" pitchFamily="34" charset="0"/>
              <a:cs typeface="Arial" pitchFamily="34" charset="0"/>
            </a:endParaRPr>
          </a:p>
          <a:p>
            <a:pPr algn="just"/>
            <a:endParaRPr lang="es-AR" sz="1100" dirty="0" smtClean="0">
              <a:solidFill>
                <a:schemeClr val="bg1"/>
              </a:solidFill>
              <a:latin typeface="Arial" pitchFamily="34" charset="0"/>
              <a:cs typeface="Arial" pitchFamily="34" charset="0"/>
            </a:endParaRPr>
          </a:p>
          <a:p>
            <a:pPr algn="just"/>
            <a:endParaRPr lang="es-AR" sz="1100" dirty="0" smtClean="0">
              <a:solidFill>
                <a:schemeClr val="bg1"/>
              </a:solidFill>
              <a:latin typeface="Arial" pitchFamily="34" charset="0"/>
              <a:cs typeface="Arial" pitchFamily="34" charset="0"/>
            </a:endParaRPr>
          </a:p>
          <a:p>
            <a:pPr algn="just"/>
            <a:endParaRPr lang="es-AR" sz="1100" dirty="0" smtClean="0">
              <a:solidFill>
                <a:schemeClr val="bg1"/>
              </a:solidFill>
              <a:latin typeface="Arial" pitchFamily="34" charset="0"/>
              <a:cs typeface="Arial" pitchFamily="34" charset="0"/>
            </a:endParaRPr>
          </a:p>
          <a:p>
            <a:pPr algn="just"/>
            <a:endParaRPr lang="es-AR" sz="1100" dirty="0" smtClean="0">
              <a:solidFill>
                <a:schemeClr val="bg1"/>
              </a:solidFill>
              <a:latin typeface="Arial" pitchFamily="34" charset="0"/>
              <a:cs typeface="Arial" pitchFamily="34" charset="0"/>
            </a:endParaRPr>
          </a:p>
          <a:p>
            <a:pPr algn="just"/>
            <a:endParaRPr lang="es-AR" sz="1100" dirty="0" smtClean="0">
              <a:solidFill>
                <a:schemeClr val="tx1"/>
              </a:solidFill>
              <a:latin typeface="Arial" pitchFamily="34" charset="0"/>
              <a:cs typeface="Arial" pitchFamily="34" charset="0"/>
            </a:endParaRPr>
          </a:p>
          <a:p>
            <a:pPr algn="just"/>
            <a:endParaRPr lang="es-AR" sz="11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4" name="13 CuadroTexto"/>
          <p:cNvSpPr txBox="1"/>
          <p:nvPr/>
        </p:nvSpPr>
        <p:spPr>
          <a:xfrm>
            <a:off x="0" y="495300"/>
            <a:ext cx="1399461" cy="338554"/>
          </a:xfrm>
          <a:prstGeom prst="rect">
            <a:avLst/>
          </a:prstGeom>
          <a:noFill/>
        </p:spPr>
        <p:txBody>
          <a:bodyPr wrap="square" rtlCol="0">
            <a:spAutoFit/>
          </a:bodyPr>
          <a:lstStyle/>
          <a:p>
            <a:pPr marL="177800" lvl="1" indent="-177800" algn="l"/>
            <a:r>
              <a:rPr lang="es-AR" sz="1600" dirty="0" smtClean="0">
                <a:solidFill>
                  <a:schemeClr val="tx1"/>
                </a:solidFill>
                <a:latin typeface="Arial" pitchFamily="34" charset="0"/>
                <a:cs typeface="Arial" pitchFamily="34" charset="0"/>
              </a:rPr>
              <a:t>Ejemplo</a:t>
            </a:r>
          </a:p>
        </p:txBody>
      </p:sp>
      <p:grpSp>
        <p:nvGrpSpPr>
          <p:cNvPr id="21" name="20 Grupo"/>
          <p:cNvGrpSpPr/>
          <p:nvPr/>
        </p:nvGrpSpPr>
        <p:grpSpPr>
          <a:xfrm>
            <a:off x="596157" y="847251"/>
            <a:ext cx="8202514" cy="6010749"/>
            <a:chOff x="527332" y="847251"/>
            <a:chExt cx="8202514" cy="6010749"/>
          </a:xfrm>
        </p:grpSpPr>
        <p:pic>
          <p:nvPicPr>
            <p:cNvPr id="2050" name="Picture 2"/>
            <p:cNvPicPr>
              <a:picLocks noChangeAspect="1" noChangeArrowheads="1"/>
            </p:cNvPicPr>
            <p:nvPr/>
          </p:nvPicPr>
          <p:blipFill>
            <a:blip r:embed="rId3" cstate="print"/>
            <a:srcRect/>
            <a:stretch>
              <a:fillRect/>
            </a:stretch>
          </p:blipFill>
          <p:spPr bwMode="auto">
            <a:xfrm>
              <a:off x="527332" y="847251"/>
              <a:ext cx="8202514" cy="6010749"/>
            </a:xfrm>
            <a:prstGeom prst="rect">
              <a:avLst/>
            </a:prstGeom>
            <a:ln>
              <a:noFill/>
            </a:ln>
            <a:effectLst>
              <a:outerShdw blurRad="292100" dist="139700" dir="2700000" algn="tl" rotWithShape="0">
                <a:srgbClr val="333333">
                  <a:alpha val="65000"/>
                </a:srgbClr>
              </a:outerShdw>
            </a:effectLst>
          </p:spPr>
        </p:pic>
        <p:sp>
          <p:nvSpPr>
            <p:cNvPr id="18" name="17 CuadroTexto"/>
            <p:cNvSpPr txBox="1"/>
            <p:nvPr/>
          </p:nvSpPr>
          <p:spPr>
            <a:xfrm>
              <a:off x="5943600" y="1346200"/>
              <a:ext cx="1663700" cy="369332"/>
            </a:xfrm>
            <a:prstGeom prst="rect">
              <a:avLst/>
            </a:prstGeom>
            <a:noFill/>
          </p:spPr>
          <p:txBody>
            <a:bodyPr wrap="square" rtlCol="0">
              <a:spAutoFit/>
            </a:bodyPr>
            <a:lstStyle/>
            <a:p>
              <a:pPr marL="177800" lvl="1" indent="-177800" algn="l"/>
              <a:r>
                <a:rPr lang="es-AR" sz="1800" b="1" dirty="0" smtClean="0">
                  <a:solidFill>
                    <a:srgbClr val="FF0000"/>
                  </a:solidFill>
                  <a:latin typeface="Arial" pitchFamily="34" charset="0"/>
                  <a:cs typeface="Arial" pitchFamily="34" charset="0"/>
                </a:rPr>
                <a:t>Envía Datos</a:t>
              </a:r>
            </a:p>
          </p:txBody>
        </p:sp>
      </p:grpSp>
      <p:grpSp>
        <p:nvGrpSpPr>
          <p:cNvPr id="20" name="19 Grupo"/>
          <p:cNvGrpSpPr/>
          <p:nvPr/>
        </p:nvGrpSpPr>
        <p:grpSpPr>
          <a:xfrm>
            <a:off x="303624" y="1032388"/>
            <a:ext cx="8468182" cy="5435134"/>
            <a:chOff x="4117518" y="3098800"/>
            <a:chExt cx="8468182" cy="5435134"/>
          </a:xfrm>
        </p:grpSpPr>
        <p:pic>
          <p:nvPicPr>
            <p:cNvPr id="2051" name="Picture 3"/>
            <p:cNvPicPr>
              <a:picLocks noChangeAspect="1" noChangeArrowheads="1"/>
            </p:cNvPicPr>
            <p:nvPr/>
          </p:nvPicPr>
          <p:blipFill>
            <a:blip r:embed="rId4" cstate="print"/>
            <a:srcRect/>
            <a:stretch>
              <a:fillRect/>
            </a:stretch>
          </p:blipFill>
          <p:spPr bwMode="auto">
            <a:xfrm>
              <a:off x="4117518" y="3098800"/>
              <a:ext cx="8468182" cy="5435134"/>
            </a:xfrm>
            <a:prstGeom prst="rect">
              <a:avLst/>
            </a:prstGeom>
            <a:ln>
              <a:noFill/>
            </a:ln>
            <a:effectLst>
              <a:outerShdw blurRad="292100" dist="139700" dir="2700000" algn="tl" rotWithShape="0">
                <a:srgbClr val="333333">
                  <a:alpha val="65000"/>
                </a:srgbClr>
              </a:outerShdw>
            </a:effectLst>
          </p:spPr>
        </p:pic>
        <p:sp>
          <p:nvSpPr>
            <p:cNvPr id="19" name="18 CuadroTexto"/>
            <p:cNvSpPr txBox="1"/>
            <p:nvPr/>
          </p:nvSpPr>
          <p:spPr>
            <a:xfrm>
              <a:off x="10452100" y="3429000"/>
              <a:ext cx="1663700" cy="369332"/>
            </a:xfrm>
            <a:prstGeom prst="rect">
              <a:avLst/>
            </a:prstGeom>
            <a:noFill/>
          </p:spPr>
          <p:txBody>
            <a:bodyPr wrap="square" rtlCol="0">
              <a:spAutoFit/>
            </a:bodyPr>
            <a:lstStyle/>
            <a:p>
              <a:pPr marL="177800" lvl="1" indent="-177800" algn="r"/>
              <a:r>
                <a:rPr lang="es-AR" sz="1800" b="1" dirty="0" smtClean="0">
                  <a:solidFill>
                    <a:srgbClr val="FF0000"/>
                  </a:solidFill>
                  <a:latin typeface="Arial" pitchFamily="34" charset="0"/>
                  <a:cs typeface="Arial" pitchFamily="34" charset="0"/>
                </a:rPr>
                <a:t>Recibe Datos</a:t>
              </a:r>
            </a:p>
          </p:txBody>
        </p:sp>
      </p:grpSp>
      <p:sp>
        <p:nvSpPr>
          <p:cNvPr id="13" name="12 Rectángulo"/>
          <p:cNvSpPr/>
          <p:nvPr/>
        </p:nvSpPr>
        <p:spPr>
          <a:xfrm>
            <a:off x="9299764" y="2042402"/>
            <a:ext cx="3397250" cy="4324261"/>
          </a:xfrm>
          <a:prstGeom prst="rect">
            <a:avLst/>
          </a:prstGeom>
        </p:spPr>
        <p:txBody>
          <a:bodyPr wrap="square">
            <a:spAutoFit/>
          </a:bodyPr>
          <a:lstStyle/>
          <a:p>
            <a:pPr algn="just"/>
            <a:r>
              <a:rPr lang="es-AR" sz="1100" dirty="0" err="1" smtClean="0">
                <a:solidFill>
                  <a:schemeClr val="tx1"/>
                </a:solidFill>
                <a:latin typeface="Arial" pitchFamily="34" charset="0"/>
                <a:cs typeface="Arial" pitchFamily="34" charset="0"/>
              </a:rPr>
              <a:t>key_t</a:t>
            </a:r>
            <a:r>
              <a:rPr lang="es-AR" sz="1100" dirty="0" smtClean="0">
                <a:solidFill>
                  <a:schemeClr val="tx1"/>
                </a:solidFill>
                <a:latin typeface="Arial" pitchFamily="34" charset="0"/>
                <a:cs typeface="Arial" pitchFamily="34" charset="0"/>
              </a:rPr>
              <a:t> </a:t>
            </a:r>
            <a:r>
              <a:rPr lang="es-AR" sz="1100" dirty="0" err="1" smtClean="0">
                <a:solidFill>
                  <a:schemeClr val="tx1"/>
                </a:solidFill>
                <a:latin typeface="Arial" pitchFamily="34" charset="0"/>
                <a:cs typeface="Arial" pitchFamily="34" charset="0"/>
              </a:rPr>
              <a:t>ftok</a:t>
            </a:r>
            <a:r>
              <a:rPr lang="es-AR" sz="1100" dirty="0" smtClean="0">
                <a:solidFill>
                  <a:schemeClr val="tx1"/>
                </a:solidFill>
                <a:latin typeface="Arial" pitchFamily="34" charset="0"/>
                <a:cs typeface="Arial" pitchFamily="34" charset="0"/>
              </a:rPr>
              <a:t>(</a:t>
            </a:r>
            <a:r>
              <a:rPr lang="es-AR" sz="1100" dirty="0" err="1" smtClean="0">
                <a:solidFill>
                  <a:schemeClr val="tx1"/>
                </a:solidFill>
                <a:latin typeface="Arial" pitchFamily="34" charset="0"/>
                <a:cs typeface="Arial" pitchFamily="34" charset="0"/>
              </a:rPr>
              <a:t>char</a:t>
            </a:r>
            <a:r>
              <a:rPr lang="es-AR" sz="1100" dirty="0" smtClean="0">
                <a:solidFill>
                  <a:schemeClr val="tx1"/>
                </a:solidFill>
                <a:latin typeface="Arial" pitchFamily="34" charset="0"/>
                <a:cs typeface="Arial" pitchFamily="34" charset="0"/>
              </a:rPr>
              <a:t> *</a:t>
            </a:r>
            <a:r>
              <a:rPr lang="es-AR" sz="1100" dirty="0" err="1" smtClean="0">
                <a:solidFill>
                  <a:schemeClr val="tx1"/>
                </a:solidFill>
                <a:latin typeface="Arial" pitchFamily="34" charset="0"/>
                <a:cs typeface="Arial" pitchFamily="34" charset="0"/>
              </a:rPr>
              <a:t>ruta_a_fichero_existente</a:t>
            </a:r>
            <a:r>
              <a:rPr lang="es-AR" sz="1100" dirty="0" smtClean="0">
                <a:solidFill>
                  <a:schemeClr val="tx1"/>
                </a:solidFill>
                <a:latin typeface="Arial" pitchFamily="34" charset="0"/>
                <a:cs typeface="Arial" pitchFamily="34" charset="0"/>
              </a:rPr>
              <a:t>, int valor);</a:t>
            </a:r>
          </a:p>
          <a:p>
            <a:pPr algn="just"/>
            <a:r>
              <a:rPr lang="es-AR" sz="1100" dirty="0" smtClean="0">
                <a:solidFill>
                  <a:schemeClr val="tx1"/>
                </a:solidFill>
                <a:latin typeface="Arial" pitchFamily="34" charset="0"/>
                <a:cs typeface="Arial" pitchFamily="34" charset="0"/>
              </a:rPr>
              <a:t>La función </a:t>
            </a:r>
            <a:r>
              <a:rPr lang="es-AR" sz="1100" dirty="0" err="1" smtClean="0">
                <a:solidFill>
                  <a:schemeClr val="tx1"/>
                </a:solidFill>
                <a:latin typeface="Arial" pitchFamily="34" charset="0"/>
                <a:cs typeface="Arial" pitchFamily="34" charset="0"/>
              </a:rPr>
              <a:t>ftok</a:t>
            </a:r>
            <a:r>
              <a:rPr lang="es-AR" sz="1100" dirty="0" smtClean="0">
                <a:solidFill>
                  <a:schemeClr val="tx1"/>
                </a:solidFill>
                <a:latin typeface="Arial" pitchFamily="34" charset="0"/>
                <a:cs typeface="Arial" pitchFamily="34" charset="0"/>
              </a:rPr>
              <a:t> viene del acrónimo </a:t>
            </a:r>
            <a:r>
              <a:rPr lang="es-AR" sz="1100" dirty="0" err="1" smtClean="0">
                <a:solidFill>
                  <a:schemeClr val="tx1"/>
                </a:solidFill>
                <a:latin typeface="Arial" pitchFamily="34" charset="0"/>
                <a:cs typeface="Arial" pitchFamily="34" charset="0"/>
              </a:rPr>
              <a:t>File</a:t>
            </a:r>
            <a:r>
              <a:rPr lang="es-AR" sz="1100" dirty="0" smtClean="0">
                <a:solidFill>
                  <a:schemeClr val="tx1"/>
                </a:solidFill>
                <a:latin typeface="Arial" pitchFamily="34" charset="0"/>
                <a:cs typeface="Arial" pitchFamily="34" charset="0"/>
              </a:rPr>
              <a:t> TO Key, que genera un valor que identifica de forma única [1]. Esta función toma la ruta a un fichero existente en el sistema y un segundo parámetro que se trata de un valor cualquiera, pero que tiene que ser el mismo en todos los procesos que empleen un cierto conjunto de semáforos para sincronizarse.</a:t>
            </a:r>
          </a:p>
          <a:p>
            <a:pPr algn="just"/>
            <a:r>
              <a:rPr lang="es-AR" sz="1100" dirty="0" smtClean="0">
                <a:solidFill>
                  <a:schemeClr val="tx1"/>
                </a:solidFill>
                <a:latin typeface="Arial" pitchFamily="34" charset="0"/>
                <a:cs typeface="Arial" pitchFamily="34" charset="0"/>
              </a:rPr>
              <a:t>Un ejemplo de uso de </a:t>
            </a:r>
            <a:r>
              <a:rPr lang="es-AR" sz="1100" dirty="0" err="1" smtClean="0">
                <a:solidFill>
                  <a:schemeClr val="tx1"/>
                </a:solidFill>
                <a:latin typeface="Arial" pitchFamily="34" charset="0"/>
                <a:cs typeface="Arial" pitchFamily="34" charset="0"/>
              </a:rPr>
              <a:t>ftok</a:t>
            </a:r>
            <a:r>
              <a:rPr lang="es-AR" sz="1100" dirty="0" smtClean="0">
                <a:solidFill>
                  <a:schemeClr val="tx1"/>
                </a:solidFill>
                <a:latin typeface="Arial" pitchFamily="34" charset="0"/>
                <a:cs typeface="Arial" pitchFamily="34" charset="0"/>
              </a:rPr>
              <a:t> es el siguiente:}</a:t>
            </a:r>
          </a:p>
          <a:p>
            <a:pPr algn="just"/>
            <a:endParaRPr lang="es-AR" sz="1100" dirty="0" smtClean="0">
              <a:solidFill>
                <a:schemeClr val="tx1"/>
              </a:solidFill>
              <a:latin typeface="Arial" pitchFamily="34" charset="0"/>
              <a:cs typeface="Arial" pitchFamily="34" charset="0"/>
            </a:endParaRPr>
          </a:p>
          <a:p>
            <a:pPr algn="just"/>
            <a:r>
              <a:rPr lang="es-AR" sz="1100" dirty="0" err="1" smtClean="0">
                <a:solidFill>
                  <a:schemeClr val="tx1"/>
                </a:solidFill>
                <a:latin typeface="Arial" pitchFamily="34" charset="0"/>
                <a:cs typeface="Arial" pitchFamily="34" charset="0"/>
              </a:rPr>
              <a:t>key_t</a:t>
            </a:r>
            <a:r>
              <a:rPr lang="es-AR" sz="1100" dirty="0" smtClean="0">
                <a:solidFill>
                  <a:schemeClr val="tx1"/>
                </a:solidFill>
                <a:latin typeface="Arial" pitchFamily="34" charset="0"/>
                <a:cs typeface="Arial" pitchFamily="34" charset="0"/>
              </a:rPr>
              <a:t> </a:t>
            </a:r>
            <a:r>
              <a:rPr lang="es-AR" sz="1100" dirty="0" err="1" smtClean="0">
                <a:solidFill>
                  <a:schemeClr val="tx1"/>
                </a:solidFill>
                <a:latin typeface="Arial" pitchFamily="34" charset="0"/>
                <a:cs typeface="Arial" pitchFamily="34" charset="0"/>
              </a:rPr>
              <a:t>key</a:t>
            </a:r>
            <a:r>
              <a:rPr lang="es-AR" sz="1100" dirty="0" smtClean="0">
                <a:solidFill>
                  <a:schemeClr val="tx1"/>
                </a:solidFill>
                <a:latin typeface="Arial" pitchFamily="34" charset="0"/>
                <a:cs typeface="Arial" pitchFamily="34" charset="0"/>
              </a:rPr>
              <a:t>;</a:t>
            </a:r>
          </a:p>
          <a:p>
            <a:pPr algn="just"/>
            <a:r>
              <a:rPr lang="es-AR" sz="1100" dirty="0" err="1" smtClean="0">
                <a:solidFill>
                  <a:schemeClr val="tx1"/>
                </a:solidFill>
                <a:latin typeface="Arial" pitchFamily="34" charset="0"/>
                <a:cs typeface="Arial" pitchFamily="34" charset="0"/>
              </a:rPr>
              <a:t>key</a:t>
            </a:r>
            <a:r>
              <a:rPr lang="es-AR" sz="1100" dirty="0" smtClean="0">
                <a:solidFill>
                  <a:schemeClr val="tx1"/>
                </a:solidFill>
                <a:latin typeface="Arial" pitchFamily="34" charset="0"/>
                <a:cs typeface="Arial" pitchFamily="34" charset="0"/>
              </a:rPr>
              <a:t> = </a:t>
            </a:r>
            <a:r>
              <a:rPr lang="es-AR" sz="1100" dirty="0" err="1" smtClean="0">
                <a:solidFill>
                  <a:schemeClr val="tx1"/>
                </a:solidFill>
                <a:latin typeface="Arial" pitchFamily="34" charset="0"/>
                <a:cs typeface="Arial" pitchFamily="34" charset="0"/>
              </a:rPr>
              <a:t>ftok</a:t>
            </a:r>
            <a:r>
              <a:rPr lang="es-AR" sz="1100" dirty="0" smtClean="0">
                <a:solidFill>
                  <a:schemeClr val="tx1"/>
                </a:solidFill>
                <a:latin typeface="Arial" pitchFamily="34" charset="0"/>
                <a:cs typeface="Arial" pitchFamily="34" charset="0"/>
              </a:rPr>
              <a:t>(“/</a:t>
            </a:r>
            <a:r>
              <a:rPr lang="es-AR" sz="1100" dirty="0" err="1" smtClean="0">
                <a:solidFill>
                  <a:schemeClr val="tx1"/>
                </a:solidFill>
                <a:latin typeface="Arial" pitchFamily="34" charset="0"/>
                <a:cs typeface="Arial" pitchFamily="34" charset="0"/>
              </a:rPr>
              <a:t>bin</a:t>
            </a:r>
            <a:r>
              <a:rPr lang="es-AR" sz="1100" dirty="0" smtClean="0">
                <a:solidFill>
                  <a:schemeClr val="tx1"/>
                </a:solidFill>
                <a:latin typeface="Arial" pitchFamily="34" charset="0"/>
                <a:cs typeface="Arial" pitchFamily="34" charset="0"/>
              </a:rPr>
              <a:t>/</a:t>
            </a:r>
            <a:r>
              <a:rPr lang="es-AR" sz="1100" dirty="0" err="1" smtClean="0">
                <a:solidFill>
                  <a:schemeClr val="tx1"/>
                </a:solidFill>
                <a:latin typeface="Arial" pitchFamily="34" charset="0"/>
                <a:cs typeface="Arial" pitchFamily="34" charset="0"/>
              </a:rPr>
              <a:t>ls</a:t>
            </a:r>
            <a:r>
              <a:rPr lang="es-AR" sz="1100" dirty="0" smtClean="0">
                <a:solidFill>
                  <a:schemeClr val="tx1"/>
                </a:solidFill>
                <a:latin typeface="Arial" pitchFamily="34" charset="0"/>
                <a:cs typeface="Arial" pitchFamily="34" charset="0"/>
              </a:rPr>
              <a:t>”, 1234);	</a:t>
            </a:r>
          </a:p>
          <a:p>
            <a:pPr algn="just"/>
            <a:r>
              <a:rPr lang="es-AR" sz="1100" dirty="0" err="1" smtClean="0">
                <a:solidFill>
                  <a:schemeClr val="tx1"/>
                </a:solidFill>
                <a:latin typeface="Arial" pitchFamily="34" charset="0"/>
                <a:cs typeface="Arial" pitchFamily="34" charset="0"/>
              </a:rPr>
              <a:t>if</a:t>
            </a:r>
            <a:r>
              <a:rPr lang="es-AR" sz="1100" dirty="0" smtClean="0">
                <a:solidFill>
                  <a:schemeClr val="tx1"/>
                </a:solidFill>
                <a:latin typeface="Arial" pitchFamily="34" charset="0"/>
                <a:cs typeface="Arial" pitchFamily="34" charset="0"/>
              </a:rPr>
              <a:t> (</a:t>
            </a:r>
            <a:r>
              <a:rPr lang="es-AR" sz="1100" dirty="0" err="1" smtClean="0">
                <a:solidFill>
                  <a:schemeClr val="tx1"/>
                </a:solidFill>
                <a:latin typeface="Arial" pitchFamily="34" charset="0"/>
                <a:cs typeface="Arial" pitchFamily="34" charset="0"/>
              </a:rPr>
              <a:t>key</a:t>
            </a:r>
            <a:r>
              <a:rPr lang="es-AR" sz="1100" dirty="0" smtClean="0">
                <a:solidFill>
                  <a:schemeClr val="tx1"/>
                </a:solidFill>
                <a:latin typeface="Arial" pitchFamily="34" charset="0"/>
                <a:cs typeface="Arial" pitchFamily="34" charset="0"/>
              </a:rPr>
              <a:t> == -1) { </a:t>
            </a:r>
          </a:p>
          <a:p>
            <a:pPr algn="just">
              <a:tabLst>
                <a:tab pos="177800" algn="l"/>
              </a:tabLst>
            </a:pPr>
            <a:r>
              <a:rPr lang="es-AR" sz="1100" dirty="0" err="1" smtClean="0">
                <a:solidFill>
                  <a:schemeClr val="tx1"/>
                </a:solidFill>
                <a:latin typeface="Arial" pitchFamily="34" charset="0"/>
                <a:cs typeface="Arial" pitchFamily="34" charset="0"/>
              </a:rPr>
              <a:t>exit</a:t>
            </a:r>
            <a:r>
              <a:rPr lang="es-AR" sz="1100" dirty="0" smtClean="0">
                <a:solidFill>
                  <a:schemeClr val="tx1"/>
                </a:solidFill>
                <a:latin typeface="Arial" pitchFamily="34" charset="0"/>
                <a:cs typeface="Arial" pitchFamily="34" charset="0"/>
              </a:rPr>
              <a:t>(EXIT_FAILURE);</a:t>
            </a:r>
            <a:br>
              <a:rPr lang="es-AR" sz="1100" dirty="0" smtClean="0">
                <a:solidFill>
                  <a:schemeClr val="tx1"/>
                </a:solidFill>
                <a:latin typeface="Arial" pitchFamily="34" charset="0"/>
                <a:cs typeface="Arial" pitchFamily="34" charset="0"/>
              </a:rPr>
            </a:br>
            <a:r>
              <a:rPr lang="es-AR" sz="1100" dirty="0" smtClean="0">
                <a:solidFill>
                  <a:schemeClr val="tx1"/>
                </a:solidFill>
                <a:latin typeface="Arial" pitchFamily="34" charset="0"/>
                <a:cs typeface="Arial" pitchFamily="34" charset="0"/>
              </a:rPr>
              <a:t>}</a:t>
            </a:r>
          </a:p>
          <a:p>
            <a:pPr algn="just"/>
            <a:endParaRPr lang="es-AR" sz="1100" dirty="0" smtClean="0">
              <a:solidFill>
                <a:schemeClr val="tx1"/>
              </a:solidFill>
              <a:latin typeface="Arial" pitchFamily="34" charset="0"/>
              <a:cs typeface="Arial" pitchFamily="34" charset="0"/>
            </a:endParaRPr>
          </a:p>
          <a:p>
            <a:pPr algn="just"/>
            <a:r>
              <a:rPr lang="es-AR" sz="1100" dirty="0" smtClean="0">
                <a:solidFill>
                  <a:schemeClr val="tx1"/>
                </a:solidFill>
                <a:latin typeface="Arial" pitchFamily="34" charset="0"/>
                <a:cs typeface="Arial" pitchFamily="34" charset="0"/>
              </a:rPr>
              <a:t>La función </a:t>
            </a:r>
            <a:r>
              <a:rPr lang="es-AR" sz="1100" dirty="0" err="1" smtClean="0">
                <a:solidFill>
                  <a:schemeClr val="tx1"/>
                </a:solidFill>
                <a:latin typeface="Arial" pitchFamily="34" charset="0"/>
                <a:cs typeface="Arial" pitchFamily="34" charset="0"/>
              </a:rPr>
              <a:t>ftok</a:t>
            </a:r>
            <a:r>
              <a:rPr lang="es-AR" sz="1100" dirty="0" smtClean="0">
                <a:solidFill>
                  <a:schemeClr val="tx1"/>
                </a:solidFill>
                <a:latin typeface="Arial" pitchFamily="34" charset="0"/>
                <a:cs typeface="Arial" pitchFamily="34" charset="0"/>
              </a:rPr>
              <a:t> devuelve -1 si el fichero que se pasa como primer parámetro no existe.</a:t>
            </a:r>
          </a:p>
          <a:p>
            <a:pPr algn="just"/>
            <a:r>
              <a:rPr lang="es-AR" sz="1100" dirty="0" smtClean="0">
                <a:solidFill>
                  <a:schemeClr val="tx1"/>
                </a:solidFill>
                <a:latin typeface="Arial" pitchFamily="34" charset="0"/>
                <a:cs typeface="Arial" pitchFamily="34" charset="0"/>
              </a:rPr>
              <a:t>La función </a:t>
            </a:r>
            <a:r>
              <a:rPr lang="es-AR" sz="1100" dirty="0" err="1" smtClean="0">
                <a:solidFill>
                  <a:schemeClr val="tx1"/>
                </a:solidFill>
                <a:latin typeface="Arial" pitchFamily="34" charset="0"/>
                <a:cs typeface="Arial" pitchFamily="34" charset="0"/>
              </a:rPr>
              <a:t>ftok</a:t>
            </a:r>
            <a:r>
              <a:rPr lang="es-AR" sz="1100" dirty="0" smtClean="0">
                <a:solidFill>
                  <a:schemeClr val="tx1"/>
                </a:solidFill>
                <a:latin typeface="Arial" pitchFamily="34" charset="0"/>
                <a:cs typeface="Arial" pitchFamily="34" charset="0"/>
              </a:rPr>
              <a:t> no modifica el contenido del fichero que se pasa como parámetro.</a:t>
            </a:r>
          </a:p>
          <a:p>
            <a:pPr algn="just"/>
            <a:endParaRPr lang="es-AR" sz="1100" dirty="0" smtClean="0">
              <a:solidFill>
                <a:schemeClr val="tx1"/>
              </a:solidFill>
              <a:latin typeface="Arial" pitchFamily="34" charset="0"/>
              <a:cs typeface="Arial" pitchFamily="34" charset="0"/>
            </a:endParaRPr>
          </a:p>
          <a:p>
            <a:pPr algn="just"/>
            <a:endParaRPr lang="es-AR" sz="1100" dirty="0" smtClean="0">
              <a:solidFill>
                <a:schemeClr val="tx1"/>
              </a:solidFill>
              <a:latin typeface="Arial" pitchFamily="34" charset="0"/>
              <a:cs typeface="Arial" pitchFamily="34" charset="0"/>
            </a:endParaRPr>
          </a:p>
          <a:p>
            <a:pPr algn="just"/>
            <a:r>
              <a:rPr lang="es-AR" sz="1100" dirty="0" smtClean="0">
                <a:solidFill>
                  <a:schemeClr val="tx1"/>
                </a:solidFill>
                <a:latin typeface="Arial" pitchFamily="34" charset="0"/>
                <a:cs typeface="Arial" pitchFamily="34" charset="0"/>
              </a:rPr>
              <a:t>IPC_CREAT, indica que el conjunto de semáforos se debe crear si no existe, y si existe, se emplea el conjunto de semáforos ya existente.</a:t>
            </a:r>
            <a:endParaRPr lang="es-AR" sz="11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strVal val="#ppt_w*2.5"/>
                                          </p:val>
                                        </p:tav>
                                        <p:tav tm="100000">
                                          <p:val>
                                            <p:strVal val="#ppt_w"/>
                                          </p:val>
                                        </p:tav>
                                      </p:tavLst>
                                    </p:anim>
                                    <p:anim calcmode="lin" valueType="num">
                                      <p:cBhvr>
                                        <p:cTn id="8" dur="500" fill="hold"/>
                                        <p:tgtEl>
                                          <p:spTgt spid="20"/>
                                        </p:tgtEl>
                                        <p:attrNameLst>
                                          <p:attrName>ppt_h</p:attrName>
                                        </p:attrNameLst>
                                      </p:cBhvr>
                                      <p:tavLst>
                                        <p:tav tm="0">
                                          <p:val>
                                            <p:strVal val="#ppt_h*0.01"/>
                                          </p:val>
                                        </p:tav>
                                        <p:tav tm="100000">
                                          <p:val>
                                            <p:strVal val="#ppt_h"/>
                                          </p:val>
                                        </p:tav>
                                      </p:tavLst>
                                    </p:anim>
                                    <p:anim calcmode="lin" valueType="num">
                                      <p:cBhvr>
                                        <p:cTn id="9" dur="500" fill="hold"/>
                                        <p:tgtEl>
                                          <p:spTgt spid="20"/>
                                        </p:tgtEl>
                                        <p:attrNameLst>
                                          <p:attrName>ppt_x</p:attrName>
                                        </p:attrNameLst>
                                      </p:cBhvr>
                                      <p:tavLst>
                                        <p:tav tm="0">
                                          <p:val>
                                            <p:strVal val="#ppt_x"/>
                                          </p:val>
                                        </p:tav>
                                        <p:tav tm="100000">
                                          <p:val>
                                            <p:strVal val="#ppt_x"/>
                                          </p:val>
                                        </p:tav>
                                      </p:tavLst>
                                    </p:anim>
                                    <p:anim calcmode="lin" valueType="num">
                                      <p:cBhvr>
                                        <p:cTn id="10" dur="500" fill="hold"/>
                                        <p:tgtEl>
                                          <p:spTgt spid="20"/>
                                        </p:tgtEl>
                                        <p:attrNameLst>
                                          <p:attrName>ppt_y</p:attrName>
                                        </p:attrNameLst>
                                      </p:cBhvr>
                                      <p:tavLst>
                                        <p:tav tm="0">
                                          <p:val>
                                            <p:strVal val="#ppt_h+1"/>
                                          </p:val>
                                        </p:tav>
                                        <p:tav tm="100000">
                                          <p:val>
                                            <p:strVal val="#ppt_y"/>
                                          </p:val>
                                        </p:tav>
                                      </p:tavLst>
                                    </p:anim>
                                    <p:animEffect transition="in" filter="fad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Variables compartidas </a:t>
            </a:r>
            <a:r>
              <a:rPr lang="es-AR" sz="1600" dirty="0" smtClean="0">
                <a:solidFill>
                  <a:schemeClr val="tx1"/>
                </a:solidFill>
                <a:latin typeface="+mj-lt"/>
                <a:ea typeface="+mj-ea"/>
                <a:cs typeface="+mj-cs"/>
              </a:rPr>
              <a:t>(en un proceso con hilos)</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0" y="638635"/>
            <a:ext cx="5370286" cy="338554"/>
          </a:xfrm>
          <a:prstGeom prst="rect">
            <a:avLst/>
          </a:prstGeom>
          <a:noFill/>
        </p:spPr>
        <p:txBody>
          <a:bodyPr wrap="square" rtlCol="0">
            <a:spAutoFit/>
          </a:bodyPr>
          <a:lstStyle/>
          <a:p>
            <a:pPr marL="0" lvl="1" algn="just"/>
            <a:r>
              <a:rPr lang="es-AR" sz="1600" dirty="0" smtClean="0">
                <a:solidFill>
                  <a:schemeClr val="tx1"/>
                </a:solidFill>
                <a:latin typeface="Arial" pitchFamily="34" charset="0"/>
                <a:cs typeface="Arial" pitchFamily="34" charset="0"/>
              </a:rPr>
              <a:t>Dado el siguiente programa</a:t>
            </a:r>
          </a:p>
        </p:txBody>
      </p:sp>
      <p:pic>
        <p:nvPicPr>
          <p:cNvPr id="69638" name="Picture 6"/>
          <p:cNvPicPr>
            <a:picLocks noChangeAspect="1" noChangeArrowheads="1"/>
          </p:cNvPicPr>
          <p:nvPr/>
        </p:nvPicPr>
        <p:blipFill>
          <a:blip r:embed="rId3" cstate="print"/>
          <a:srcRect/>
          <a:stretch>
            <a:fillRect/>
          </a:stretch>
        </p:blipFill>
        <p:spPr bwMode="auto">
          <a:xfrm>
            <a:off x="971095" y="1186770"/>
            <a:ext cx="6457950" cy="3743325"/>
          </a:xfrm>
          <a:prstGeom prst="rect">
            <a:avLst/>
          </a:prstGeom>
          <a:ln>
            <a:noFill/>
          </a:ln>
          <a:effectLst>
            <a:outerShdw blurRad="292100" dist="139700" dir="2700000" algn="tl" rotWithShape="0">
              <a:srgbClr val="333333">
                <a:alpha val="65000"/>
              </a:srgbClr>
            </a:outerShdw>
          </a:effectLst>
        </p:spPr>
      </p:pic>
      <p:pic>
        <p:nvPicPr>
          <p:cNvPr id="69639" name="Picture 7"/>
          <p:cNvPicPr>
            <a:picLocks noChangeAspect="1" noChangeArrowheads="1"/>
          </p:cNvPicPr>
          <p:nvPr/>
        </p:nvPicPr>
        <p:blipFill>
          <a:blip r:embed="rId4" cstate="print"/>
          <a:srcRect/>
          <a:stretch>
            <a:fillRect/>
          </a:stretch>
        </p:blipFill>
        <p:spPr bwMode="auto">
          <a:xfrm>
            <a:off x="2566988" y="5048250"/>
            <a:ext cx="3933825" cy="1562100"/>
          </a:xfrm>
          <a:prstGeom prst="rect">
            <a:avLst/>
          </a:prstGeom>
          <a:ln>
            <a:noFill/>
          </a:ln>
          <a:effectLst>
            <a:outerShdw blurRad="292100" dist="139700" dir="2700000" algn="tl" rotWithShape="0">
              <a:srgbClr val="333333">
                <a:alpha val="65000"/>
              </a:srgbClr>
            </a:outerShdw>
          </a:effectLst>
        </p:spPr>
      </p:pic>
      <p:sp>
        <p:nvSpPr>
          <p:cNvPr id="8" name="7 Rectángulo"/>
          <p:cNvSpPr/>
          <p:nvPr/>
        </p:nvSpPr>
        <p:spPr>
          <a:xfrm>
            <a:off x="3596640" y="5326380"/>
            <a:ext cx="2842260" cy="1257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endParaRPr kumimoji="0" lang="es-AR" sz="10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492839" y="958850"/>
            <a:ext cx="8130461" cy="5940088"/>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Paso de mensajes</a:t>
            </a: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Los mensajes permiten la comunicación entre procesos con espacios de direcciones distintas, sean locales o remotos. </a:t>
            </a:r>
            <a:r>
              <a:rPr lang="es-AR" sz="1600" u="sng" dirty="0" smtClean="0">
                <a:solidFill>
                  <a:schemeClr val="tx1"/>
                </a:solidFill>
                <a:latin typeface="Arial" pitchFamily="34" charset="0"/>
                <a:cs typeface="Arial" pitchFamily="34" charset="0"/>
              </a:rPr>
              <a:t>La responsabilidad de la comunicación y sincronización recae en el SO que proporciona un enlace lógico entre procesos</a:t>
            </a:r>
            <a:r>
              <a:rPr lang="es-AR" sz="1600" dirty="0" smtClean="0">
                <a:solidFill>
                  <a:schemeClr val="tx1"/>
                </a:solidFill>
                <a:latin typeface="Arial" pitchFamily="34" charset="0"/>
                <a:cs typeface="Arial" pitchFamily="34" charset="0"/>
              </a:rPr>
              <a:t>.</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Los procesos sólo tienen que invocar correctamente a dos llamadas al sistema:</a:t>
            </a:r>
          </a:p>
          <a:p>
            <a:pPr marL="177800" lvl="1" indent="-177800" algn="just"/>
            <a:r>
              <a:rPr lang="es-AR" sz="1600" dirty="0" smtClean="0">
                <a:solidFill>
                  <a:schemeClr val="tx1"/>
                </a:solidFill>
                <a:latin typeface="Arial" pitchFamily="34" charset="0"/>
                <a:cs typeface="Arial" pitchFamily="34" charset="0"/>
              </a:rPr>
              <a:t>	Envío de mensajes:   	</a:t>
            </a:r>
            <a:r>
              <a:rPr lang="es-AR" sz="1600" dirty="0" err="1" smtClean="0">
                <a:solidFill>
                  <a:srgbClr val="7030A0"/>
                </a:solidFill>
                <a:latin typeface="Arial" pitchFamily="34" charset="0"/>
                <a:cs typeface="Arial" pitchFamily="34" charset="0"/>
              </a:rPr>
              <a:t>send</a:t>
            </a:r>
            <a:r>
              <a:rPr lang="es-AR" sz="1600" dirty="0" smtClean="0">
                <a:solidFill>
                  <a:srgbClr val="7030A0"/>
                </a:solidFill>
                <a:latin typeface="Arial" pitchFamily="34" charset="0"/>
                <a:cs typeface="Arial" pitchFamily="34" charset="0"/>
              </a:rPr>
              <a:t> (destino, &amp;mensaje)</a:t>
            </a:r>
          </a:p>
          <a:p>
            <a:pPr marL="177800" lvl="1" indent="-177800" algn="just"/>
            <a:r>
              <a:rPr lang="es-AR" sz="1600" dirty="0" smtClean="0">
                <a:solidFill>
                  <a:schemeClr val="tx1"/>
                </a:solidFill>
                <a:latin typeface="Arial" pitchFamily="34" charset="0"/>
                <a:cs typeface="Arial" pitchFamily="34" charset="0"/>
              </a:rPr>
              <a:t>	Recepción de mensajes:  	</a:t>
            </a:r>
            <a:r>
              <a:rPr lang="es-AR" sz="1600" dirty="0" err="1" smtClean="0">
                <a:solidFill>
                  <a:srgbClr val="7030A0"/>
                </a:solidFill>
                <a:latin typeface="Arial" pitchFamily="34" charset="0"/>
                <a:cs typeface="Arial" pitchFamily="34" charset="0"/>
              </a:rPr>
              <a:t>receive</a:t>
            </a:r>
            <a:r>
              <a:rPr lang="es-AR" sz="1600" dirty="0" smtClean="0">
                <a:solidFill>
                  <a:srgbClr val="7030A0"/>
                </a:solidFill>
                <a:latin typeface="Arial" pitchFamily="34" charset="0"/>
                <a:cs typeface="Arial" pitchFamily="34" charset="0"/>
              </a:rPr>
              <a:t> (fuente, &amp;mensaje)</a:t>
            </a: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r>
              <a:rPr lang="es-AR" sz="1600" dirty="0" smtClean="0">
                <a:solidFill>
                  <a:schemeClr val="tx1"/>
                </a:solidFill>
                <a:latin typeface="Arial" pitchFamily="34" charset="0"/>
                <a:cs typeface="Arial" pitchFamily="34" charset="0"/>
              </a:rPr>
              <a:t>Funciones </a:t>
            </a:r>
            <a:r>
              <a:rPr lang="es-AR" sz="1600" dirty="0" err="1" smtClean="0">
                <a:solidFill>
                  <a:schemeClr val="tx1"/>
                </a:solidFill>
                <a:latin typeface="Arial" pitchFamily="34" charset="0"/>
                <a:cs typeface="Arial" pitchFamily="34" charset="0"/>
              </a:rPr>
              <a:t>msgget</a:t>
            </a:r>
            <a:r>
              <a:rPr lang="es-AR" sz="1600" dirty="0" smtClean="0">
                <a:solidFill>
                  <a:schemeClr val="tx1"/>
                </a:solidFill>
                <a:latin typeface="Arial" pitchFamily="34" charset="0"/>
                <a:cs typeface="Arial" pitchFamily="34" charset="0"/>
              </a:rPr>
              <a:t>(), </a:t>
            </a:r>
            <a:r>
              <a:rPr lang="es-AR" sz="1600" dirty="0" err="1" smtClean="0">
                <a:solidFill>
                  <a:schemeClr val="tx1"/>
                </a:solidFill>
                <a:latin typeface="Arial" pitchFamily="34" charset="0"/>
                <a:cs typeface="Arial" pitchFamily="34" charset="0"/>
              </a:rPr>
              <a:t>msgsnd</a:t>
            </a:r>
            <a:r>
              <a:rPr lang="es-AR" sz="1600" dirty="0" smtClean="0">
                <a:solidFill>
                  <a:schemeClr val="tx1"/>
                </a:solidFill>
                <a:latin typeface="Arial" pitchFamily="34" charset="0"/>
                <a:cs typeface="Arial" pitchFamily="34" charset="0"/>
              </a:rPr>
              <a:t>(), </a:t>
            </a:r>
            <a:r>
              <a:rPr lang="es-AR" sz="1600" dirty="0" err="1" smtClean="0">
                <a:solidFill>
                  <a:schemeClr val="tx1"/>
                </a:solidFill>
                <a:latin typeface="Arial" pitchFamily="34" charset="0"/>
                <a:cs typeface="Arial" pitchFamily="34" charset="0"/>
              </a:rPr>
              <a:t>msgrcv</a:t>
            </a:r>
            <a:r>
              <a:rPr lang="es-AR" sz="1600" dirty="0" smtClean="0">
                <a:solidFill>
                  <a:schemeClr val="tx1"/>
                </a:solidFill>
                <a:latin typeface="Arial" pitchFamily="34" charset="0"/>
                <a:cs typeface="Arial" pitchFamily="34" charset="0"/>
              </a:rPr>
              <a:t>(), </a:t>
            </a:r>
            <a:r>
              <a:rPr lang="es-AR" sz="1600" dirty="0" err="1" smtClean="0">
                <a:solidFill>
                  <a:schemeClr val="tx1"/>
                </a:solidFill>
                <a:latin typeface="Arial" pitchFamily="34" charset="0"/>
                <a:cs typeface="Arial" pitchFamily="34" charset="0"/>
              </a:rPr>
              <a:t>msgctl</a:t>
            </a:r>
            <a:r>
              <a:rPr lang="es-AR" sz="1600" dirty="0" smtClean="0">
                <a:solidFill>
                  <a:schemeClr val="tx1"/>
                </a:solidFill>
                <a:latin typeface="Arial" pitchFamily="34" charset="0"/>
                <a:cs typeface="Arial" pitchFamily="34" charset="0"/>
              </a:rPr>
              <a:t>(), etc.  </a:t>
            </a:r>
            <a:r>
              <a:rPr lang="es-AR" sz="1200" dirty="0" smtClean="0">
                <a:solidFill>
                  <a:schemeClr val="tx1"/>
                </a:solidFill>
                <a:latin typeface="Arial" pitchFamily="34" charset="0"/>
                <a:cs typeface="Arial" pitchFamily="34" charset="0"/>
              </a:rPr>
              <a:t> </a:t>
            </a:r>
            <a:r>
              <a:rPr lang="es-AR" sz="1200" dirty="0" smtClean="0">
                <a:hlinkClick r:id="rId3"/>
              </a:rPr>
              <a:t>http://sopa.dis.ulpgc.es/prog_c/MSG.HTM</a:t>
            </a:r>
            <a:endParaRPr lang="es-AR" sz="1200" dirty="0" smtClean="0"/>
          </a:p>
          <a:p>
            <a:pPr marL="177800" lvl="1" indent="-177800" algn="just"/>
            <a:endParaRPr lang="es-AR" sz="1200" dirty="0" smtClean="0">
              <a:solidFill>
                <a:schemeClr val="tx1"/>
              </a:solidFill>
              <a:latin typeface="Arial" pitchFamily="34" charset="0"/>
              <a:cs typeface="Arial" pitchFamily="34" charset="0"/>
            </a:endParaRPr>
          </a:p>
          <a:p>
            <a:pPr marL="177800" lvl="1" indent="-177800" algn="just"/>
            <a:r>
              <a:rPr lang="es-AR" sz="1600" dirty="0" smtClean="0">
                <a:solidFill>
                  <a:schemeClr val="tx1"/>
                </a:solidFill>
                <a:latin typeface="Arial" pitchFamily="34" charset="0"/>
                <a:cs typeface="Arial" pitchFamily="34" charset="0"/>
              </a:rPr>
              <a:t>P1 y P2 pueden estar en distintas máquinas.</a:t>
            </a:r>
          </a:p>
          <a:p>
            <a:pPr marL="177800" lvl="1" indent="-177800" algn="just"/>
            <a:r>
              <a:rPr lang="es-AR" sz="1600" dirty="0" smtClean="0">
                <a:solidFill>
                  <a:schemeClr val="tx1"/>
                </a:solidFill>
                <a:latin typeface="Arial" pitchFamily="34" charset="0"/>
                <a:cs typeface="Arial" pitchFamily="34" charset="0"/>
              </a:rPr>
              <a:t>Los mensajes pueden tener un tamaño fijo o variable.</a:t>
            </a:r>
          </a:p>
          <a:p>
            <a:pPr marL="177800" lvl="1" indent="-177800" algn="just"/>
            <a:r>
              <a:rPr lang="es-AR" sz="1600" dirty="0" smtClean="0">
                <a:solidFill>
                  <a:schemeClr val="tx1"/>
                </a:solidFill>
                <a:latin typeface="Arial" pitchFamily="34" charset="0"/>
                <a:cs typeface="Arial" pitchFamily="34" charset="0"/>
              </a:rPr>
              <a:t>Para que P1 y P2 se puedan comunicar se debe establecer un </a:t>
            </a:r>
            <a:r>
              <a:rPr lang="es-AR" sz="1600" b="1" dirty="0" smtClean="0">
                <a:solidFill>
                  <a:schemeClr val="tx1"/>
                </a:solidFill>
                <a:latin typeface="Arial" pitchFamily="34" charset="0"/>
                <a:cs typeface="Arial" pitchFamily="34" charset="0"/>
              </a:rPr>
              <a:t>enlace de comunicaciones</a:t>
            </a:r>
            <a:r>
              <a:rPr lang="es-AR" sz="1600" dirty="0" smtClean="0">
                <a:solidFill>
                  <a:schemeClr val="tx1"/>
                </a:solidFill>
                <a:latin typeface="Arial" pitchFamily="34" charset="0"/>
                <a:cs typeface="Arial" pitchFamily="34" charset="0"/>
              </a:rPr>
              <a:t> entre ellos.</a:t>
            </a:r>
          </a:p>
          <a:p>
            <a:pPr marL="177800" lvl="1" indent="-177800" algn="just"/>
            <a:r>
              <a:rPr lang="es-AR" sz="1600" dirty="0" smtClean="0">
                <a:solidFill>
                  <a:schemeClr val="tx1"/>
                </a:solidFill>
                <a:latin typeface="Arial" pitchFamily="34" charset="0"/>
                <a:cs typeface="Arial" pitchFamily="34" charset="0"/>
              </a:rPr>
              <a:t>Hay varios métodos para implementar el enlace y las operaciones de envío y recepción:</a:t>
            </a:r>
          </a:p>
          <a:p>
            <a:pPr marL="723900" lvl="1" indent="-279400" algn="just">
              <a:buFont typeface="Wingdings" pitchFamily="2" charset="2"/>
              <a:buChar char="Ø"/>
            </a:pPr>
            <a:r>
              <a:rPr lang="es-AR" sz="1600" dirty="0" smtClean="0">
                <a:solidFill>
                  <a:schemeClr val="tx1"/>
                </a:solidFill>
                <a:latin typeface="Arial" pitchFamily="34" charset="0"/>
                <a:cs typeface="Arial" pitchFamily="34" charset="0"/>
              </a:rPr>
              <a:t>Comunicación directa o indirecta</a:t>
            </a:r>
          </a:p>
          <a:p>
            <a:pPr marL="723900" lvl="1" indent="-279400" algn="just">
              <a:buFont typeface="Wingdings" pitchFamily="2" charset="2"/>
              <a:buChar char="Ø"/>
            </a:pPr>
            <a:r>
              <a:rPr lang="es-AR" sz="1600" dirty="0" smtClean="0">
                <a:solidFill>
                  <a:schemeClr val="tx1"/>
                </a:solidFill>
                <a:latin typeface="Arial" pitchFamily="34" charset="0"/>
                <a:cs typeface="Arial" pitchFamily="34" charset="0"/>
              </a:rPr>
              <a:t>Comunicación síncrona o asíncrona</a:t>
            </a:r>
          </a:p>
          <a:p>
            <a:pPr marL="723900" lvl="1" indent="-279400" algn="just">
              <a:buFont typeface="Wingdings" pitchFamily="2" charset="2"/>
              <a:buChar char="Ø"/>
            </a:pPr>
            <a:r>
              <a:rPr lang="es-AR" sz="1600" dirty="0" smtClean="0">
                <a:solidFill>
                  <a:schemeClr val="tx1"/>
                </a:solidFill>
                <a:latin typeface="Arial" pitchFamily="34" charset="0"/>
                <a:cs typeface="Arial" pitchFamily="34" charset="0"/>
              </a:rPr>
              <a:t>Almacenamiento en buffer explícito o automático </a:t>
            </a:r>
          </a:p>
          <a:p>
            <a:pPr marL="723900" lvl="1" indent="-279400" algn="just"/>
            <a:endParaRPr lang="es-AR" sz="1600" dirty="0" smtClean="0">
              <a:solidFill>
                <a:schemeClr val="tx1"/>
              </a:solidFill>
              <a:latin typeface="Arial" pitchFamily="34" charset="0"/>
              <a:cs typeface="Arial" pitchFamily="34" charset="0"/>
            </a:endParaRPr>
          </a:p>
        </p:txBody>
      </p:sp>
      <p:grpSp>
        <p:nvGrpSpPr>
          <p:cNvPr id="2" name="13 Grupo"/>
          <p:cNvGrpSpPr/>
          <p:nvPr/>
        </p:nvGrpSpPr>
        <p:grpSpPr>
          <a:xfrm>
            <a:off x="1995488" y="2843214"/>
            <a:ext cx="4624387" cy="1170914"/>
            <a:chOff x="1585913" y="3179763"/>
            <a:chExt cx="5078412" cy="1285875"/>
          </a:xfrm>
        </p:grpSpPr>
        <p:pic>
          <p:nvPicPr>
            <p:cNvPr id="69636" name="Picture 4"/>
            <p:cNvPicPr>
              <a:picLocks noChangeAspect="1" noChangeArrowheads="1"/>
            </p:cNvPicPr>
            <p:nvPr/>
          </p:nvPicPr>
          <p:blipFill>
            <a:blip r:embed="rId4" cstate="print">
              <a:clrChange>
                <a:clrFrom>
                  <a:srgbClr val="FEFEFE"/>
                </a:clrFrom>
                <a:clrTo>
                  <a:srgbClr val="FEFEFE">
                    <a:alpha val="0"/>
                  </a:srgbClr>
                </a:clrTo>
              </a:clrChange>
            </a:blip>
            <a:srcRect/>
            <a:stretch>
              <a:fillRect/>
            </a:stretch>
          </p:blipFill>
          <p:spPr bwMode="auto">
            <a:xfrm>
              <a:off x="1585913" y="3179763"/>
              <a:ext cx="2314575" cy="1285875"/>
            </a:xfrm>
            <a:prstGeom prst="rect">
              <a:avLst/>
            </a:prstGeom>
            <a:ln>
              <a:noFill/>
            </a:ln>
            <a:effectLst>
              <a:outerShdw blurRad="292100" dist="139700" dir="2700000" algn="tl" rotWithShape="0">
                <a:srgbClr val="333333">
                  <a:alpha val="65000"/>
                </a:srgbClr>
              </a:outerShdw>
            </a:effectLst>
          </p:spPr>
        </p:pic>
        <p:pic>
          <p:nvPicPr>
            <p:cNvPr id="69637" name="Picture 5"/>
            <p:cNvPicPr>
              <a:picLocks noChangeAspect="1" noChangeArrowheads="1"/>
            </p:cNvPicPr>
            <p:nvPr/>
          </p:nvPicPr>
          <p:blipFill>
            <a:blip r:embed="rId5" cstate="print">
              <a:clrChange>
                <a:clrFrom>
                  <a:srgbClr val="AEAEAE"/>
                </a:clrFrom>
                <a:clrTo>
                  <a:srgbClr val="AEAEAE">
                    <a:alpha val="0"/>
                  </a:srgbClr>
                </a:clrTo>
              </a:clrChange>
            </a:blip>
            <a:srcRect/>
            <a:stretch>
              <a:fillRect/>
            </a:stretch>
          </p:blipFill>
          <p:spPr bwMode="auto">
            <a:xfrm>
              <a:off x="4359275" y="3179763"/>
              <a:ext cx="2305050" cy="1285875"/>
            </a:xfrm>
            <a:prstGeom prst="rect">
              <a:avLst/>
            </a:prstGeom>
            <a:ln>
              <a:noFill/>
            </a:ln>
            <a:effectLst>
              <a:outerShdw blurRad="292100" dist="139700" dir="2700000" algn="tl" rotWithShape="0">
                <a:srgbClr val="333333">
                  <a:alpha val="65000"/>
                </a:srgbClr>
              </a:outerShdw>
            </a:effectLst>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p>
          <a:p>
            <a:pPr marL="0" marR="0" lvl="0" indent="0" defTabSz="914400" rtl="0" eaLnBrk="1" fontAlgn="auto" latinLnBrk="0" hangingPunct="1">
              <a:lnSpc>
                <a:spcPct val="100000"/>
              </a:lnSpc>
              <a:spcBef>
                <a:spcPct val="0"/>
              </a:spcBef>
              <a:spcAft>
                <a:spcPts val="0"/>
              </a:spcAft>
              <a:buClrTx/>
              <a:buSzTx/>
              <a:buFontTx/>
              <a:buNone/>
              <a:tabLst/>
              <a:defRPr/>
            </a:pPr>
            <a:r>
              <a:rPr lang="es-AR" sz="1700" dirty="0" smtClean="0">
                <a:solidFill>
                  <a:schemeClr val="tx1"/>
                </a:solidFill>
                <a:latin typeface="+mj-lt"/>
                <a:ea typeface="+mj-ea"/>
                <a:cs typeface="+mj-cs"/>
              </a:rPr>
              <a:t>(mensajes)</a:t>
            </a:r>
            <a:endParaRPr kumimoji="0" lang="es-AR" sz="17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492839" y="977900"/>
            <a:ext cx="8130461" cy="5663089"/>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Comunicación directa:</a:t>
            </a:r>
            <a:endParaRPr lang="es-AR" sz="1600" dirty="0" smtClean="0">
              <a:solidFill>
                <a:schemeClr val="tx1"/>
              </a:solidFill>
              <a:latin typeface="Arial" pitchFamily="34" charset="0"/>
              <a:cs typeface="Arial" pitchFamily="34" charset="0"/>
            </a:endParaRPr>
          </a:p>
          <a:p>
            <a:pPr marL="177800" lvl="1"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Cada proceso implicado  debe indicar explícitamente el nombre del receptor o emisor.</a:t>
            </a: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a:p>
            <a:pPr marL="177800" lvl="1" indent="-177800" algn="just"/>
            <a:r>
              <a:rPr lang="es-AR" sz="1600" dirty="0" smtClean="0">
                <a:solidFill>
                  <a:schemeClr val="tx1"/>
                </a:solidFill>
                <a:latin typeface="Arial" pitchFamily="34" charset="0"/>
                <a:cs typeface="Arial" pitchFamily="34" charset="0"/>
              </a:rPr>
              <a:t>Sus propiedades son:</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Los enlaces se establecen en forma automática y los procesos solamente deben conocer la identidad del otro para comunicarse.</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Cada enlace solo asocia 2 procesos</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Entre cada par de procesos existe un solo enlace</a:t>
            </a: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r>
              <a:rPr lang="es-AR" sz="1600" dirty="0" smtClean="0">
                <a:solidFill>
                  <a:schemeClr val="tx1"/>
                </a:solidFill>
                <a:latin typeface="Arial" pitchFamily="34" charset="0"/>
                <a:cs typeface="Arial" pitchFamily="34" charset="0"/>
              </a:rPr>
              <a:t>Este esquema presenta </a:t>
            </a:r>
            <a:r>
              <a:rPr lang="es-AR" sz="1600" b="1" dirty="0" smtClean="0">
                <a:solidFill>
                  <a:schemeClr val="tx1"/>
                </a:solidFill>
                <a:latin typeface="Arial" pitchFamily="34" charset="0"/>
                <a:cs typeface="Arial" pitchFamily="34" charset="0"/>
              </a:rPr>
              <a:t>simetría</a:t>
            </a:r>
            <a:r>
              <a:rPr lang="es-AR" sz="1600" dirty="0" smtClean="0">
                <a:solidFill>
                  <a:schemeClr val="tx1"/>
                </a:solidFill>
                <a:latin typeface="Arial" pitchFamily="34" charset="0"/>
                <a:cs typeface="Arial" pitchFamily="34" charset="0"/>
              </a:rPr>
              <a:t> en el direccionamiento ya que el transmisor debe referenciar al receptor y viceversa, </a:t>
            </a:r>
          </a:p>
          <a:p>
            <a:pPr marL="177800" lvl="1" indent="-177800" algn="just"/>
            <a:r>
              <a:rPr lang="es-AR" sz="1600" dirty="0" smtClean="0">
                <a:solidFill>
                  <a:schemeClr val="tx1"/>
                </a:solidFill>
                <a:latin typeface="Arial" pitchFamily="34" charset="0"/>
                <a:cs typeface="Arial" pitchFamily="34" charset="0"/>
              </a:rPr>
              <a:t>Hay una variante que emplea </a:t>
            </a:r>
            <a:r>
              <a:rPr lang="es-AR" sz="1600" b="1" dirty="0" smtClean="0">
                <a:solidFill>
                  <a:schemeClr val="tx1"/>
                </a:solidFill>
                <a:latin typeface="Arial" pitchFamily="34" charset="0"/>
                <a:cs typeface="Arial" pitchFamily="34" charset="0"/>
              </a:rPr>
              <a:t>asimetría</a:t>
            </a:r>
            <a:r>
              <a:rPr lang="es-AR" sz="1600" dirty="0" smtClean="0">
                <a:solidFill>
                  <a:schemeClr val="tx1"/>
                </a:solidFill>
                <a:latin typeface="Arial" pitchFamily="34" charset="0"/>
                <a:cs typeface="Arial" pitchFamily="34" charset="0"/>
              </a:rPr>
              <a:t> en el direccionamiento en el que el transmisor nombra al receptor pero el receptor puede recibir mensajes de cualquier proceso y tiene una variable que tendrá el valor del proceso que logró la comunicación.</a:t>
            </a:r>
          </a:p>
          <a:p>
            <a:pPr marL="177800" lvl="1" indent="-177800" algn="just">
              <a:spcBef>
                <a:spcPts val="600"/>
              </a:spcBef>
            </a:pPr>
            <a:r>
              <a:rPr lang="es-AR" sz="1600" dirty="0" smtClean="0">
                <a:solidFill>
                  <a:schemeClr val="tx1"/>
                </a:solidFill>
                <a:latin typeface="Arial" pitchFamily="34" charset="0"/>
                <a:cs typeface="Arial" pitchFamily="34" charset="0"/>
              </a:rPr>
              <a:t>   		</a:t>
            </a:r>
            <a:r>
              <a:rPr lang="es-AR" sz="1600" dirty="0" err="1" smtClean="0">
                <a:solidFill>
                  <a:srgbClr val="7030A0"/>
                </a:solidFill>
                <a:latin typeface="Arial" pitchFamily="34" charset="0"/>
                <a:cs typeface="Arial" pitchFamily="34" charset="0"/>
              </a:rPr>
              <a:t>send</a:t>
            </a:r>
            <a:r>
              <a:rPr lang="es-AR" sz="1600" dirty="0" smtClean="0">
                <a:solidFill>
                  <a:srgbClr val="7030A0"/>
                </a:solidFill>
                <a:latin typeface="Arial" pitchFamily="34" charset="0"/>
                <a:cs typeface="Arial" pitchFamily="34" charset="0"/>
              </a:rPr>
              <a:t>(P1, mensaje) ;</a:t>
            </a:r>
            <a:r>
              <a:rPr lang="es-AR" sz="1600" dirty="0" smtClean="0">
                <a:solidFill>
                  <a:schemeClr val="tx1"/>
                </a:solidFill>
                <a:latin typeface="Arial" pitchFamily="34" charset="0"/>
                <a:cs typeface="Arial" pitchFamily="34" charset="0"/>
              </a:rPr>
              <a:t>             y             </a:t>
            </a:r>
            <a:r>
              <a:rPr lang="es-AR" sz="1600" dirty="0" err="1" smtClean="0">
                <a:solidFill>
                  <a:srgbClr val="7030A0"/>
                </a:solidFill>
                <a:latin typeface="Arial" pitchFamily="34" charset="0"/>
                <a:cs typeface="Arial" pitchFamily="34" charset="0"/>
              </a:rPr>
              <a:t>receive</a:t>
            </a:r>
            <a:r>
              <a:rPr lang="es-AR" sz="1600" dirty="0" smtClean="0">
                <a:solidFill>
                  <a:srgbClr val="7030A0"/>
                </a:solidFill>
                <a:latin typeface="Arial" pitchFamily="34" charset="0"/>
                <a:cs typeface="Arial" pitchFamily="34" charset="0"/>
              </a:rPr>
              <a:t> (id, mensaje);</a:t>
            </a:r>
          </a:p>
          <a:p>
            <a:pPr marL="177800" lvl="1" indent="-177800" algn="just"/>
            <a:r>
              <a:rPr lang="es-AR" sz="1600" dirty="0" smtClean="0">
                <a:solidFill>
                  <a:schemeClr val="tx1"/>
                </a:solidFill>
                <a:latin typeface="Arial" pitchFamily="34" charset="0"/>
                <a:cs typeface="Arial" pitchFamily="34" charset="0"/>
              </a:rPr>
              <a:t>     </a:t>
            </a:r>
          </a:p>
        </p:txBody>
      </p:sp>
      <p:pic>
        <p:nvPicPr>
          <p:cNvPr id="7065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146300" y="1870075"/>
            <a:ext cx="4359275" cy="1260264"/>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p>
          <a:p>
            <a:pPr marL="0" marR="0" lvl="0" indent="0" defTabSz="914400" rtl="0" eaLnBrk="1" fontAlgn="auto" latinLnBrk="0" hangingPunct="1">
              <a:lnSpc>
                <a:spcPct val="100000"/>
              </a:lnSpc>
              <a:spcBef>
                <a:spcPct val="0"/>
              </a:spcBef>
              <a:spcAft>
                <a:spcPts val="0"/>
              </a:spcAft>
              <a:buClrTx/>
              <a:buSzTx/>
              <a:buFontTx/>
              <a:buNone/>
              <a:tabLst/>
              <a:defRPr/>
            </a:pPr>
            <a:r>
              <a:rPr lang="es-AR" sz="1700" dirty="0" smtClean="0">
                <a:solidFill>
                  <a:schemeClr val="tx1"/>
                </a:solidFill>
                <a:latin typeface="+mj-lt"/>
                <a:ea typeface="+mj-ea"/>
                <a:cs typeface="+mj-cs"/>
              </a:rPr>
              <a:t>(mensajes)</a:t>
            </a:r>
            <a:endParaRPr kumimoji="0" lang="es-AR" sz="17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119271" y="977900"/>
            <a:ext cx="8918713" cy="6155531"/>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Comunicación indirecta:</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Los mensajes se reciben en </a:t>
            </a:r>
            <a:r>
              <a:rPr lang="es-AR" sz="1600" b="1" dirty="0" smtClean="0">
                <a:solidFill>
                  <a:schemeClr val="tx1"/>
                </a:solidFill>
                <a:latin typeface="Arial" pitchFamily="34" charset="0"/>
                <a:cs typeface="Arial" pitchFamily="34" charset="0"/>
              </a:rPr>
              <a:t>buzones </a:t>
            </a:r>
            <a:r>
              <a:rPr lang="es-AR" sz="1600" dirty="0" smtClean="0">
                <a:solidFill>
                  <a:schemeClr val="tx1"/>
                </a:solidFill>
                <a:latin typeface="Arial" pitchFamily="34" charset="0"/>
                <a:cs typeface="Arial" pitchFamily="34" charset="0"/>
              </a:rPr>
              <a:t>o</a:t>
            </a:r>
            <a:r>
              <a:rPr lang="es-AR" sz="1600" b="1" dirty="0" smtClean="0">
                <a:solidFill>
                  <a:schemeClr val="tx1"/>
                </a:solidFill>
                <a:latin typeface="Arial" pitchFamily="34" charset="0"/>
                <a:cs typeface="Arial" pitchFamily="34" charset="0"/>
              </a:rPr>
              <a:t> puertos</a:t>
            </a:r>
            <a:r>
              <a:rPr lang="es-AR" sz="1600" dirty="0" smtClean="0">
                <a:solidFill>
                  <a:schemeClr val="tx1"/>
                </a:solidFill>
                <a:latin typeface="Arial" pitchFamily="34" charset="0"/>
                <a:cs typeface="Arial" pitchFamily="34" charset="0"/>
              </a:rPr>
              <a:t>. Estos pueden ser </a:t>
            </a:r>
            <a:r>
              <a:rPr lang="es-AR" sz="1600" b="1" dirty="0" smtClean="0">
                <a:solidFill>
                  <a:schemeClr val="tx1"/>
                </a:solidFill>
                <a:latin typeface="Arial" pitchFamily="34" charset="0"/>
                <a:cs typeface="Arial" pitchFamily="34" charset="0"/>
              </a:rPr>
              <a:t>propiedad del proceso </a:t>
            </a:r>
            <a:r>
              <a:rPr lang="es-AR" sz="1600" dirty="0" smtClean="0">
                <a:solidFill>
                  <a:schemeClr val="tx1"/>
                </a:solidFill>
                <a:latin typeface="Arial" pitchFamily="34" charset="0"/>
                <a:cs typeface="Arial" pitchFamily="34" charset="0"/>
              </a:rPr>
              <a:t>que los crea (solo puede ser usado por él) (los buzones podrán ser usados por varios procesos), en este caso </a:t>
            </a:r>
            <a:r>
              <a:rPr lang="es-AR" sz="1600" b="1" dirty="0" smtClean="0">
                <a:solidFill>
                  <a:schemeClr val="tx1"/>
                </a:solidFill>
                <a:latin typeface="Arial" pitchFamily="34" charset="0"/>
                <a:cs typeface="Arial" pitchFamily="34" charset="0"/>
              </a:rPr>
              <a:t>o del sistema operativo </a:t>
            </a:r>
            <a:r>
              <a:rPr lang="es-AR" sz="1600" dirty="0" smtClean="0">
                <a:solidFill>
                  <a:schemeClr val="tx1"/>
                </a:solidFill>
                <a:latin typeface="Arial" pitchFamily="34" charset="0"/>
                <a:cs typeface="Arial" pitchFamily="34" charset="0"/>
              </a:rPr>
              <a:t>el sistema operativo debe proporcionar mecanismos para: crear buzones, enviar y recibir mensajes a través del buzón y borrar buzones.</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Los mensajes se envían y reciben a/de buzones o puertos, no a procesos.</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Los buzones son compartidos</a:t>
            </a:r>
          </a:p>
          <a:p>
            <a:pPr marL="0" lvl="1" algn="just"/>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spcBef>
                <a:spcPts val="600"/>
              </a:spcBef>
            </a:pPr>
            <a:r>
              <a:rPr lang="es-AR" sz="1600" dirty="0" smtClean="0">
                <a:solidFill>
                  <a:schemeClr val="tx1"/>
                </a:solidFill>
                <a:latin typeface="Arial" pitchFamily="34" charset="0"/>
                <a:cs typeface="Arial" pitchFamily="34" charset="0"/>
              </a:rPr>
              <a:t>Sus propiedades son:</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Se establece un enlace entre un par de procesos sólo si éstos tiene un buzón compartido.</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Un enlace puede asociarse con más de 2 procesos</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Entre cada par de procesos en comunicación hay una serie de enlaces diferentes correspondiendo cada enlace a un buzón de correo.</a:t>
            </a:r>
          </a:p>
          <a:p>
            <a:pPr marL="177800" lvl="1" indent="-177800" algn="just">
              <a:spcBef>
                <a:spcPts val="600"/>
              </a:spcBef>
            </a:pPr>
            <a:r>
              <a:rPr lang="es-AR" sz="1600" dirty="0" smtClean="0">
                <a:solidFill>
                  <a:schemeClr val="tx1"/>
                </a:solidFill>
                <a:latin typeface="Arial" pitchFamily="34" charset="0"/>
                <a:cs typeface="Arial" pitchFamily="34" charset="0"/>
              </a:rPr>
              <a:t>Cada puerto o buzón tiene un identificador único en el sistema. </a:t>
            </a:r>
          </a:p>
          <a:p>
            <a:pPr marL="177800" lvl="1" indent="-177800" algn="just"/>
            <a:r>
              <a:rPr lang="es-AR" sz="1600" dirty="0" smtClean="0">
                <a:solidFill>
                  <a:schemeClr val="tx1"/>
                </a:solidFill>
                <a:latin typeface="Arial" pitchFamily="34" charset="0"/>
                <a:cs typeface="Arial" pitchFamily="34" charset="0"/>
              </a:rPr>
              <a:t>Ejemplo: TCP/IP utiliza puertos bien conocidos. (FTP: TCP 20 y 21, HTTP: TCP 80).</a:t>
            </a: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p:txBody>
      </p:sp>
      <p:pic>
        <p:nvPicPr>
          <p:cNvPr id="71682"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703442" y="3008865"/>
            <a:ext cx="3756853" cy="1976007"/>
          </a:xfrm>
          <a:prstGeom prst="rect">
            <a:avLst/>
          </a:prstGeom>
          <a:ln>
            <a:noFill/>
          </a:ln>
          <a:effectLst>
            <a:outerShdw blurRad="292100" dist="139700" dir="2700000" algn="tl" rotWithShape="0">
              <a:srgbClr val="333333">
                <a:alpha val="65000"/>
              </a:srgbClr>
            </a:outerShdw>
          </a:effectLst>
        </p:spPr>
      </p:pic>
      <p:sp>
        <p:nvSpPr>
          <p:cNvPr id="8" name="7 Rectángulo"/>
          <p:cNvSpPr/>
          <p:nvPr/>
        </p:nvSpPr>
        <p:spPr>
          <a:xfrm>
            <a:off x="9369286" y="1589038"/>
            <a:ext cx="3114813" cy="3293209"/>
          </a:xfrm>
          <a:prstGeom prst="rect">
            <a:avLst/>
          </a:prstGeom>
        </p:spPr>
        <p:txBody>
          <a:bodyPr wrap="square">
            <a:spAutoFit/>
          </a:bodyPr>
          <a:lstStyle/>
          <a:p>
            <a:r>
              <a:rPr lang="es-AR" sz="1600" dirty="0" smtClean="0">
                <a:solidFill>
                  <a:schemeClr val="tx1"/>
                </a:solidFill>
                <a:latin typeface="Arial" pitchFamily="34" charset="0"/>
                <a:cs typeface="Arial" pitchFamily="34" charset="0"/>
              </a:rPr>
              <a:t>Los buzones tienen un dueño y un usuario en donde el dueño es el receptor y el usuario es el emisor</a:t>
            </a:r>
            <a:r>
              <a:rPr lang="es-AR" sz="1600" dirty="0" smtClean="0">
                <a:latin typeface="Arial" pitchFamily="34" charset="0"/>
                <a:cs typeface="Arial" pitchFamily="34" charset="0"/>
              </a:rPr>
              <a:t>.</a:t>
            </a:r>
          </a:p>
          <a:p>
            <a:endParaRPr lang="es-AR" sz="1600" dirty="0" smtClean="0">
              <a:latin typeface="Arial" pitchFamily="34" charset="0"/>
              <a:cs typeface="Arial" pitchFamily="34" charset="0"/>
            </a:endParaRPr>
          </a:p>
          <a:p>
            <a:endParaRPr lang="es-AR" sz="1600" dirty="0" smtClean="0">
              <a:latin typeface="Arial" pitchFamily="34" charset="0"/>
              <a:cs typeface="Arial" pitchFamily="34" charset="0"/>
            </a:endParaRPr>
          </a:p>
          <a:p>
            <a:r>
              <a:rPr lang="es-AR" sz="1600" dirty="0" smtClean="0">
                <a:solidFill>
                  <a:schemeClr val="tx1"/>
                </a:solidFill>
                <a:latin typeface="Arial" pitchFamily="34" charset="0"/>
                <a:cs typeface="Arial" pitchFamily="34" charset="0"/>
              </a:rPr>
              <a:t>https://uc-facyt.gitbooks.io/sistemas-operativos/Procesos/comunicacion.html</a:t>
            </a:r>
          </a:p>
          <a:p>
            <a:r>
              <a:rPr lang="es-AR" sz="1600" dirty="0" smtClean="0">
                <a:latin typeface="Arial" pitchFamily="34" charset="0"/>
                <a:cs typeface="Arial" pitchFamily="34" charset="0"/>
              </a:rPr>
              <a:t>+</a:t>
            </a:r>
          </a:p>
          <a:p>
            <a:r>
              <a:rPr lang="es-AR" sz="1600" dirty="0" smtClean="0">
                <a:latin typeface="Arial" pitchFamily="34" charset="0"/>
                <a:cs typeface="Arial" pitchFamily="34" charset="0"/>
              </a:rPr>
              <a:t/>
            </a:r>
            <a:br>
              <a:rPr lang="es-AR" sz="1600" dirty="0" smtClean="0">
                <a:latin typeface="Arial" pitchFamily="34" charset="0"/>
                <a:cs typeface="Arial" pitchFamily="34" charset="0"/>
              </a:rPr>
            </a:br>
            <a:endParaRPr lang="es-AR" sz="16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entre procesos …</a:t>
            </a:r>
          </a:p>
          <a:p>
            <a:pPr marL="0" marR="0" lvl="0" indent="0" defTabSz="914400" rtl="0" eaLnBrk="1" fontAlgn="auto" latinLnBrk="0" hangingPunct="1">
              <a:lnSpc>
                <a:spcPct val="100000"/>
              </a:lnSpc>
              <a:spcBef>
                <a:spcPct val="0"/>
              </a:spcBef>
              <a:spcAft>
                <a:spcPts val="0"/>
              </a:spcAft>
              <a:buClrTx/>
              <a:buSzTx/>
              <a:buFontTx/>
              <a:buNone/>
              <a:tabLst/>
              <a:defRPr/>
            </a:pPr>
            <a:r>
              <a:rPr lang="es-AR" sz="1700" dirty="0" smtClean="0">
                <a:solidFill>
                  <a:schemeClr val="tx1"/>
                </a:solidFill>
                <a:latin typeface="+mj-lt"/>
                <a:ea typeface="+mj-ea"/>
                <a:cs typeface="+mj-cs"/>
              </a:rPr>
              <a:t>(mensajes)</a:t>
            </a:r>
            <a:endParaRPr kumimoji="0" lang="es-AR" sz="17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492839" y="977900"/>
            <a:ext cx="8130461" cy="6124754"/>
          </a:xfrm>
          <a:prstGeom prst="rect">
            <a:avLst/>
          </a:prstGeom>
          <a:noFill/>
        </p:spPr>
        <p:txBody>
          <a:bodyPr wrap="square" rtlCol="0">
            <a:spAutoFit/>
          </a:bodyPr>
          <a:lstStyle/>
          <a:p>
            <a:pPr marL="0" lvl="1" algn="just"/>
            <a:r>
              <a:rPr lang="es-AR" sz="1600" b="1" dirty="0" smtClean="0">
                <a:solidFill>
                  <a:schemeClr val="tx1"/>
                </a:solidFill>
                <a:latin typeface="Arial" pitchFamily="34" charset="0"/>
                <a:cs typeface="Arial" pitchFamily="34" charset="0"/>
              </a:rPr>
              <a:t>Modo de comunicación </a:t>
            </a:r>
            <a:r>
              <a:rPr lang="es-AR" sz="1600" b="1" dirty="0" smtClean="0">
                <a:solidFill>
                  <a:srgbClr val="FF0000"/>
                </a:solidFill>
                <a:latin typeface="Arial" pitchFamily="34" charset="0"/>
                <a:cs typeface="Arial" pitchFamily="34" charset="0"/>
              </a:rPr>
              <a:t>síncrono</a:t>
            </a:r>
            <a:r>
              <a:rPr lang="es-AR" sz="1600" b="1" dirty="0" smtClean="0">
                <a:solidFill>
                  <a:schemeClr val="tx1"/>
                </a:solidFill>
                <a:latin typeface="Arial" pitchFamily="34" charset="0"/>
                <a:cs typeface="Arial" pitchFamily="34" charset="0"/>
              </a:rPr>
              <a:t> o con bloqueo:</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Envío:  el proceso que envía se bloquea hasta que el receptor o buzón reciben el mensaje.</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Recepción:  el proceso que recibe se bloquea hasta que hay un mensaje disponible </a:t>
            </a:r>
          </a:p>
          <a:p>
            <a:pPr marL="177800" lvl="1" indent="-177800" algn="just"/>
            <a:endParaRPr lang="es-AR" sz="1600" dirty="0" smtClean="0">
              <a:solidFill>
                <a:schemeClr val="tx1"/>
              </a:solidFill>
              <a:latin typeface="Arial" pitchFamily="34" charset="0"/>
              <a:cs typeface="Arial" pitchFamily="34" charset="0"/>
            </a:endParaRPr>
          </a:p>
          <a:p>
            <a:pPr marL="0" lvl="1" algn="just"/>
            <a:r>
              <a:rPr lang="es-AR" sz="1600" b="1" dirty="0" smtClean="0">
                <a:solidFill>
                  <a:schemeClr val="tx1"/>
                </a:solidFill>
                <a:latin typeface="Arial" pitchFamily="34" charset="0"/>
                <a:cs typeface="Arial" pitchFamily="34" charset="0"/>
              </a:rPr>
              <a:t>Modo de comunicación </a:t>
            </a:r>
            <a:r>
              <a:rPr lang="es-AR" sz="1600" b="1" dirty="0" smtClean="0">
                <a:solidFill>
                  <a:srgbClr val="FF0000"/>
                </a:solidFill>
                <a:latin typeface="Arial" pitchFamily="34" charset="0"/>
                <a:cs typeface="Arial" pitchFamily="34" charset="0"/>
              </a:rPr>
              <a:t>asíncrono</a:t>
            </a:r>
            <a:r>
              <a:rPr lang="es-AR" sz="1600" b="1" dirty="0" smtClean="0">
                <a:solidFill>
                  <a:schemeClr val="tx1"/>
                </a:solidFill>
                <a:latin typeface="Arial" pitchFamily="34" charset="0"/>
                <a:cs typeface="Arial" pitchFamily="34" charset="0"/>
              </a:rPr>
              <a:t> o sin bloqueo:</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Envío:  el proceso transmisor envía el mensaje y sigue operando.</a:t>
            </a:r>
          </a:p>
          <a:p>
            <a:pPr marL="177800" lvl="1" indent="-177800" algn="just">
              <a:buFont typeface="Arial" pitchFamily="34" charset="0"/>
              <a:buChar char="•"/>
            </a:pPr>
            <a:r>
              <a:rPr lang="es-AR" sz="1600" dirty="0" smtClean="0">
                <a:solidFill>
                  <a:schemeClr val="tx1"/>
                </a:solidFill>
                <a:latin typeface="Arial" pitchFamily="34" charset="0"/>
                <a:cs typeface="Arial" pitchFamily="34" charset="0"/>
              </a:rPr>
              <a:t>Recepción:  el proceso receptor extrae un mensaje válido o un mensaje nulo.</a:t>
            </a:r>
          </a:p>
          <a:p>
            <a:pPr marL="177800" lvl="1"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lvl="1" indent="-177800" algn="just"/>
            <a:r>
              <a:rPr lang="es-ES_tradnl" sz="1600" dirty="0" err="1" smtClean="0">
                <a:solidFill>
                  <a:srgbClr val="7030A0"/>
                </a:solidFill>
                <a:latin typeface="Comic Sans MS" pitchFamily="66" charset="0"/>
                <a:sym typeface="ZapfDingbats BT" pitchFamily="2" charset="2"/>
              </a:rPr>
              <a:t>Rendezvous</a:t>
            </a:r>
            <a:r>
              <a:rPr lang="es-AR" sz="1600" dirty="0" smtClean="0">
                <a:solidFill>
                  <a:schemeClr val="tx1"/>
                </a:solidFill>
                <a:latin typeface="Arial" pitchFamily="34" charset="0"/>
                <a:cs typeface="Arial" pitchFamily="34" charset="0"/>
                <a:sym typeface="ZapfDingbats BT" pitchFamily="2" charset="2"/>
              </a:rPr>
              <a:t>: Síncrono,  si el emisor queda bloqueado hasta que el receptor está listo para recibir el mensaje y el receptor esta bloqueado hasta que hay un mensaje disponible.</a:t>
            </a:r>
          </a:p>
          <a:p>
            <a:pPr marL="177800" lvl="1" indent="-177800" algn="just"/>
            <a:endParaRPr lang="es-AR" sz="1600" b="1" dirty="0" smtClean="0">
              <a:solidFill>
                <a:schemeClr val="tx1"/>
              </a:solidFill>
              <a:latin typeface="Arial" pitchFamily="34" charset="0"/>
              <a:cs typeface="Arial" pitchFamily="34" charset="0"/>
              <a:sym typeface="ZapfDingbats BT" pitchFamily="2" charset="2"/>
            </a:endParaRPr>
          </a:p>
          <a:p>
            <a:pPr marL="177800" lvl="1" indent="-177800" algn="just"/>
            <a:r>
              <a:rPr lang="es-AR" sz="1600" b="1" dirty="0" smtClean="0">
                <a:solidFill>
                  <a:schemeClr val="tx1"/>
                </a:solidFill>
                <a:latin typeface="Arial" pitchFamily="34" charset="0"/>
                <a:cs typeface="Arial" pitchFamily="34" charset="0"/>
                <a:sym typeface="ZapfDingbats BT" pitchFamily="2" charset="2"/>
              </a:rPr>
              <a:t>Almacenamiento en buffer</a:t>
            </a:r>
            <a:endParaRPr lang="es-AR" sz="1600" b="1" dirty="0" smtClean="0">
              <a:solidFill>
                <a:schemeClr val="tx1"/>
              </a:solidFill>
              <a:latin typeface="Arial" pitchFamily="34" charset="0"/>
              <a:cs typeface="Arial" pitchFamily="34" charset="0"/>
            </a:endParaRPr>
          </a:p>
          <a:p>
            <a:pPr marL="177800" lvl="1" indent="-177800" algn="just"/>
            <a:r>
              <a:rPr lang="es-AR" sz="1600" dirty="0" smtClean="0">
                <a:solidFill>
                  <a:schemeClr val="tx1"/>
                </a:solidFill>
                <a:latin typeface="Arial" pitchFamily="34" charset="0"/>
                <a:cs typeface="Arial" pitchFamily="34" charset="0"/>
              </a:rPr>
              <a:t>Los mensajes ya sea en forma directa o indirecta se almacenan en una cola temporal que puede implementarse de 3 maneras:</a:t>
            </a:r>
          </a:p>
          <a:p>
            <a:pPr marL="177800" lvl="1" indent="-177800" algn="just"/>
            <a:r>
              <a:rPr lang="es-ES_tradnl" sz="1600" dirty="0" smtClean="0">
                <a:solidFill>
                  <a:srgbClr val="C00000"/>
                </a:solidFill>
                <a:latin typeface="Arial" pitchFamily="34" charset="0"/>
                <a:cs typeface="Arial" pitchFamily="34" charset="0"/>
                <a:sym typeface="ZapfDingbats BT" pitchFamily="2" charset="2"/>
              </a:rPr>
              <a:t>Capacidad limitada (n mensajes):</a:t>
            </a:r>
          </a:p>
          <a:p>
            <a:pPr marL="895350" lvl="1" indent="-266700" algn="just">
              <a:buFont typeface="Arial" pitchFamily="34" charset="0"/>
              <a:buChar char="•"/>
            </a:pPr>
            <a:r>
              <a:rPr lang="es-AR" sz="1600" dirty="0" smtClean="0">
                <a:solidFill>
                  <a:schemeClr val="tx1"/>
                </a:solidFill>
                <a:latin typeface="Arial" pitchFamily="34" charset="0"/>
                <a:cs typeface="Arial" pitchFamily="34" charset="0"/>
              </a:rPr>
              <a:t>Si hay espacio </a:t>
            </a:r>
            <a:r>
              <a:rPr lang="es-ES_tradnl" sz="1600" dirty="0" smtClean="0">
                <a:solidFill>
                  <a:schemeClr val="tx1"/>
                </a:solidFill>
                <a:latin typeface="Arial" pitchFamily="34" charset="0"/>
                <a:cs typeface="Arial" pitchFamily="34" charset="0"/>
                <a:sym typeface="Symbol" pitchFamily="18" charset="2"/>
              </a:rPr>
              <a:t></a:t>
            </a:r>
            <a:r>
              <a:rPr lang="es-AR" sz="1600" dirty="0" smtClean="0">
                <a:solidFill>
                  <a:schemeClr val="tx1"/>
                </a:solidFill>
                <a:latin typeface="Arial" pitchFamily="34" charset="0"/>
                <a:cs typeface="Arial" pitchFamily="34" charset="0"/>
              </a:rPr>
              <a:t> El emisor continúa la ejecución después del envío</a:t>
            </a:r>
          </a:p>
          <a:p>
            <a:pPr marL="895350" lvl="1" indent="-266700" algn="just">
              <a:buFont typeface="Arial" pitchFamily="34" charset="0"/>
              <a:buChar char="•"/>
            </a:pPr>
            <a:r>
              <a:rPr lang="es-ES_tradnl" sz="1600" dirty="0" smtClean="0">
                <a:solidFill>
                  <a:schemeClr val="tx1"/>
                </a:solidFill>
                <a:latin typeface="Arial" pitchFamily="34" charset="0"/>
                <a:cs typeface="Arial" pitchFamily="34" charset="0"/>
              </a:rPr>
              <a:t>Si está lleno </a:t>
            </a:r>
            <a:r>
              <a:rPr lang="es-ES_tradnl" sz="1600" dirty="0" smtClean="0">
                <a:solidFill>
                  <a:schemeClr val="tx1"/>
                </a:solidFill>
                <a:latin typeface="Arial" pitchFamily="34" charset="0"/>
                <a:cs typeface="Arial" pitchFamily="34" charset="0"/>
                <a:sym typeface="Symbol" pitchFamily="18" charset="2"/>
              </a:rPr>
              <a:t> </a:t>
            </a:r>
            <a:r>
              <a:rPr lang="es-ES_tradnl" sz="1600" dirty="0" smtClean="0">
                <a:solidFill>
                  <a:schemeClr val="tx1"/>
                </a:solidFill>
                <a:latin typeface="Arial" pitchFamily="34" charset="0"/>
                <a:cs typeface="Arial" pitchFamily="34" charset="0"/>
                <a:sym typeface="ZapfDingbats BT" pitchFamily="2" charset="2"/>
              </a:rPr>
              <a:t>El emisor queda bloqueado hasta que haya espacio en el buzón para dejar un mensaje  ó</a:t>
            </a:r>
            <a:r>
              <a:rPr lang="es-ES_tradnl" sz="1600" dirty="0" smtClean="0">
                <a:solidFill>
                  <a:schemeClr val="tx1"/>
                </a:solidFill>
                <a:latin typeface="Arial" pitchFamily="34" charset="0"/>
                <a:cs typeface="Arial" pitchFamily="34" charset="0"/>
                <a:sym typeface="Symbol" pitchFamily="18" charset="2"/>
              </a:rPr>
              <a:t>  se devuelve un status = lleno</a:t>
            </a:r>
          </a:p>
          <a:p>
            <a:pPr marL="177800" lvl="1" indent="-177800" algn="just"/>
            <a:r>
              <a:rPr lang="es-ES_tradnl" sz="1600" dirty="0" smtClean="0">
                <a:solidFill>
                  <a:srgbClr val="C00000"/>
                </a:solidFill>
                <a:latin typeface="Arial" pitchFamily="34" charset="0"/>
                <a:cs typeface="Arial" pitchFamily="34" charset="0"/>
                <a:sym typeface="ZapfDingbats BT" pitchFamily="2" charset="2"/>
              </a:rPr>
              <a:t>Capacidad ilimitada</a:t>
            </a:r>
            <a:r>
              <a:rPr lang="es-ES_tradnl" sz="1600" dirty="0" smtClean="0">
                <a:solidFill>
                  <a:schemeClr val="tx1"/>
                </a:solidFill>
                <a:latin typeface="Arial" pitchFamily="34" charset="0"/>
                <a:cs typeface="Arial" pitchFamily="34" charset="0"/>
                <a:sym typeface="ZapfDingbats BT" pitchFamily="2" charset="2"/>
              </a:rPr>
              <a:t>: </a:t>
            </a:r>
            <a:r>
              <a:rPr lang="es-AR" sz="1600" dirty="0" smtClean="0">
                <a:solidFill>
                  <a:schemeClr val="tx1"/>
                </a:solidFill>
                <a:latin typeface="Arial" pitchFamily="34" charset="0"/>
                <a:cs typeface="Arial" pitchFamily="34" charset="0"/>
                <a:sym typeface="ZapfDingbats BT" pitchFamily="2" charset="2"/>
              </a:rPr>
              <a:t>El emisor nunca se bloquea en el envío de mensajes</a:t>
            </a:r>
            <a:endParaRPr lang="es-ES_tradnl" sz="1600" dirty="0" smtClean="0">
              <a:solidFill>
                <a:schemeClr val="tx1"/>
              </a:solidFill>
              <a:latin typeface="Arial" pitchFamily="34" charset="0"/>
              <a:cs typeface="Arial" pitchFamily="34" charset="0"/>
            </a:endParaRPr>
          </a:p>
          <a:p>
            <a:pPr marL="177800" lvl="1" indent="-177800" algn="just"/>
            <a:r>
              <a:rPr lang="es-ES_tradnl" sz="1600" dirty="0" smtClean="0">
                <a:solidFill>
                  <a:srgbClr val="C00000"/>
                </a:solidFill>
                <a:latin typeface="Arial" pitchFamily="34" charset="0"/>
                <a:cs typeface="Arial" pitchFamily="34" charset="0"/>
                <a:sym typeface="ZapfDingbats BT" pitchFamily="2" charset="2"/>
              </a:rPr>
              <a:t>Capacidad nula (</a:t>
            </a:r>
            <a:r>
              <a:rPr lang="es-ES_tradnl" sz="1600" dirty="0" err="1" smtClean="0">
                <a:solidFill>
                  <a:srgbClr val="C00000"/>
                </a:solidFill>
                <a:latin typeface="Arial" pitchFamily="34" charset="0"/>
                <a:cs typeface="Arial" pitchFamily="34" charset="0"/>
                <a:sym typeface="ZapfDingbats BT" pitchFamily="2" charset="2"/>
              </a:rPr>
              <a:t>rendezvous</a:t>
            </a:r>
            <a:r>
              <a:rPr lang="es-ES_tradnl" sz="1600" dirty="0" smtClean="0">
                <a:solidFill>
                  <a:srgbClr val="C00000"/>
                </a:solidFill>
                <a:latin typeface="Arial" pitchFamily="34" charset="0"/>
                <a:cs typeface="Arial" pitchFamily="34" charset="0"/>
                <a:sym typeface="ZapfDingbats BT" pitchFamily="2" charset="2"/>
              </a:rPr>
              <a:t>): </a:t>
            </a:r>
            <a:r>
              <a:rPr lang="es-ES_tradnl" sz="1600" dirty="0" smtClean="0">
                <a:solidFill>
                  <a:schemeClr val="tx1"/>
                </a:solidFill>
                <a:latin typeface="Arial" pitchFamily="34" charset="0"/>
                <a:cs typeface="Arial" pitchFamily="34" charset="0"/>
                <a:sym typeface="ZapfDingbats BT" pitchFamily="2" charset="2"/>
              </a:rPr>
              <a:t>La cola tiene una capacidad 0 por lo que no almacena ningún mensaje y el transmisor debe bloquearse hasta que el receptor reciba el </a:t>
            </a:r>
            <a:r>
              <a:rPr lang="es-ES_tradnl" sz="1600" dirty="0" err="1" smtClean="0">
                <a:solidFill>
                  <a:schemeClr val="tx1"/>
                </a:solidFill>
                <a:latin typeface="Arial" pitchFamily="34" charset="0"/>
                <a:cs typeface="Arial" pitchFamily="34" charset="0"/>
                <a:sym typeface="ZapfDingbats BT" pitchFamily="2" charset="2"/>
              </a:rPr>
              <a:t>msg</a:t>
            </a:r>
            <a:r>
              <a:rPr lang="es-ES_tradnl" sz="1600" dirty="0" smtClean="0">
                <a:solidFill>
                  <a:schemeClr val="tx1"/>
                </a:solidFill>
                <a:latin typeface="Arial" pitchFamily="34" charset="0"/>
                <a:cs typeface="Arial" pitchFamily="34" charset="0"/>
                <a:sym typeface="ZapfDingbats BT" pitchFamily="2" charset="2"/>
              </a:rPr>
              <a:t>.</a:t>
            </a:r>
            <a:endParaRPr lang="es-ES_tradnl" sz="1600" dirty="0" smtClean="0">
              <a:solidFill>
                <a:schemeClr val="tx1"/>
              </a:solidFill>
              <a:latin typeface="Arial" pitchFamily="34" charset="0"/>
              <a:cs typeface="Arial" pitchFamily="34" charset="0"/>
            </a:endParaRPr>
          </a:p>
          <a:p>
            <a:pPr marL="177800" lvl="1" indent="-177800" algn="just"/>
            <a:endParaRPr lang="es-AR" sz="1600" dirty="0" smtClean="0">
              <a:solidFill>
                <a:schemeClr val="tx1"/>
              </a:solidFill>
              <a:latin typeface="Arial" pitchFamily="34" charset="0"/>
              <a:cs typeface="Arial" pitchFamily="34" charset="0"/>
            </a:endParaRPr>
          </a:p>
        </p:txBody>
      </p:sp>
      <p:grpSp>
        <p:nvGrpSpPr>
          <p:cNvPr id="19" name="18 Grupo"/>
          <p:cNvGrpSpPr/>
          <p:nvPr/>
        </p:nvGrpSpPr>
        <p:grpSpPr>
          <a:xfrm>
            <a:off x="409575" y="3781425"/>
            <a:ext cx="8582025" cy="2886075"/>
            <a:chOff x="409575" y="3781425"/>
            <a:chExt cx="8582025" cy="2886075"/>
          </a:xfrm>
        </p:grpSpPr>
        <p:sp>
          <p:nvSpPr>
            <p:cNvPr id="8" name="7 Rectángulo"/>
            <p:cNvSpPr/>
            <p:nvPr/>
          </p:nvSpPr>
          <p:spPr>
            <a:xfrm>
              <a:off x="409575" y="4914900"/>
              <a:ext cx="8553450" cy="1219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8 Rectángulo"/>
            <p:cNvSpPr/>
            <p:nvPr/>
          </p:nvSpPr>
          <p:spPr>
            <a:xfrm>
              <a:off x="4067175" y="3790950"/>
              <a:ext cx="2343150" cy="628650"/>
            </a:xfrm>
            <a:prstGeom prst="rect">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mtClean="0"/>
                <a:t> </a:t>
              </a:r>
              <a:endParaRPr lang="es-AR"/>
            </a:p>
          </p:txBody>
        </p:sp>
        <p:sp>
          <p:nvSpPr>
            <p:cNvPr id="10" name="9 Rectángulo"/>
            <p:cNvSpPr/>
            <p:nvPr/>
          </p:nvSpPr>
          <p:spPr>
            <a:xfrm flipV="1">
              <a:off x="419100" y="6162675"/>
              <a:ext cx="8553450" cy="504825"/>
            </a:xfrm>
            <a:prstGeom prst="rect">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11 Rectángulo"/>
            <p:cNvSpPr/>
            <p:nvPr/>
          </p:nvSpPr>
          <p:spPr>
            <a:xfrm>
              <a:off x="6610350" y="3781425"/>
              <a:ext cx="2343150" cy="6286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mtClean="0"/>
                <a:t> </a:t>
              </a:r>
              <a:endParaRPr lang="es-AR"/>
            </a:p>
          </p:txBody>
        </p:sp>
        <p:cxnSp>
          <p:nvCxnSpPr>
            <p:cNvPr id="14" name="13 Conector recto de flecha"/>
            <p:cNvCxnSpPr/>
            <p:nvPr/>
          </p:nvCxnSpPr>
          <p:spPr>
            <a:xfrm flipV="1">
              <a:off x="7200900" y="4400550"/>
              <a:ext cx="190500" cy="51435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flipV="1">
              <a:off x="5172075" y="4429125"/>
              <a:ext cx="123825" cy="1743075"/>
            </a:xfrm>
            <a:prstGeom prst="straightConnector1">
              <a:avLst/>
            </a:prstGeom>
            <a:ln w="28575">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6591300" y="3857625"/>
              <a:ext cx="2400300" cy="461665"/>
            </a:xfrm>
            <a:prstGeom prst="rect">
              <a:avLst/>
            </a:prstGeom>
            <a:noFill/>
          </p:spPr>
          <p:txBody>
            <a:bodyPr wrap="square" rtlCol="0">
              <a:spAutoFit/>
            </a:bodyPr>
            <a:lstStyle/>
            <a:p>
              <a:r>
                <a:rPr lang="es-AR" sz="1200" b="1" dirty="0" smtClean="0">
                  <a:solidFill>
                    <a:schemeClr val="tx1"/>
                  </a:solidFill>
                  <a:latin typeface="Arial" pitchFamily="34" charset="0"/>
                  <a:cs typeface="Arial" pitchFamily="34" charset="0"/>
                </a:rPr>
                <a:t>Sistema con almacenamiento en buffer automático</a:t>
              </a:r>
              <a:endParaRPr lang="es-AR" sz="1200" b="1" dirty="0">
                <a:solidFill>
                  <a:schemeClr val="tx1"/>
                </a:solidFill>
                <a:latin typeface="Arial" pitchFamily="34" charset="0"/>
                <a:cs typeface="Arial" pitchFamily="34" charset="0"/>
              </a:endParaRPr>
            </a:p>
          </p:txBody>
        </p:sp>
        <p:sp>
          <p:nvSpPr>
            <p:cNvPr id="18" name="17 CuadroTexto"/>
            <p:cNvSpPr txBox="1"/>
            <p:nvPr/>
          </p:nvSpPr>
          <p:spPr>
            <a:xfrm>
              <a:off x="4095750" y="3867150"/>
              <a:ext cx="2400300" cy="461665"/>
            </a:xfrm>
            <a:prstGeom prst="rect">
              <a:avLst/>
            </a:prstGeom>
            <a:noFill/>
          </p:spPr>
          <p:txBody>
            <a:bodyPr wrap="square" rtlCol="0">
              <a:spAutoFit/>
            </a:bodyPr>
            <a:lstStyle/>
            <a:p>
              <a:r>
                <a:rPr lang="es-AR" sz="1200" b="1" dirty="0" smtClean="0">
                  <a:solidFill>
                    <a:schemeClr val="tx1"/>
                  </a:solidFill>
                  <a:latin typeface="Arial" pitchFamily="34" charset="0"/>
                  <a:cs typeface="Arial" pitchFamily="34" charset="0"/>
                </a:rPr>
                <a:t>Sistema sin almacenamiento en buffer </a:t>
              </a:r>
              <a:endParaRPr lang="es-AR" sz="1200" b="1" dirty="0">
                <a:solidFill>
                  <a:schemeClr val="tx1"/>
                </a:solidFill>
                <a:latin typeface="Arial" pitchFamily="34" charset="0"/>
                <a:cs typeface="Arial" pitchFamily="34" charset="0"/>
              </a:endParaRPr>
            </a:p>
          </p:txBody>
        </p:sp>
      </p:grpSp>
      <p:sp>
        <p:nvSpPr>
          <p:cNvPr id="20" name="19 CuadroTexto"/>
          <p:cNvSpPr txBox="1"/>
          <p:nvPr/>
        </p:nvSpPr>
        <p:spPr>
          <a:xfrm>
            <a:off x="9144000" y="1076325"/>
            <a:ext cx="5962650" cy="3231654"/>
          </a:xfrm>
          <a:prstGeom prst="rect">
            <a:avLst/>
          </a:prstGeom>
          <a:solidFill>
            <a:schemeClr val="bg1"/>
          </a:solidFill>
        </p:spPr>
        <p:txBody>
          <a:bodyPr wrap="square" rtlCol="0">
            <a:spAutoFit/>
          </a:bodyPr>
          <a:lstStyle/>
          <a:p>
            <a:pPr algn="just"/>
            <a:r>
              <a:rPr lang="es-AR" sz="1200" b="1" dirty="0" smtClean="0">
                <a:solidFill>
                  <a:schemeClr val="tx1"/>
                </a:solidFill>
                <a:latin typeface="Arial" pitchFamily="34" charset="0"/>
                <a:cs typeface="Arial" pitchFamily="34" charset="0"/>
              </a:rPr>
              <a:t>Problemas de llamadas con bloqueo</a:t>
            </a:r>
          </a:p>
          <a:p>
            <a:pPr algn="just"/>
            <a:endParaRPr lang="es-AR" sz="1200" dirty="0" smtClean="0">
              <a:solidFill>
                <a:schemeClr val="tx1"/>
              </a:solidFill>
              <a:latin typeface="Arial" pitchFamily="34" charset="0"/>
              <a:cs typeface="Arial" pitchFamily="34" charset="0"/>
            </a:endParaRPr>
          </a:p>
          <a:p>
            <a:pPr algn="just"/>
            <a:r>
              <a:rPr lang="es-AR" sz="1200" dirty="0" smtClean="0">
                <a:solidFill>
                  <a:schemeClr val="tx1"/>
                </a:solidFill>
                <a:latin typeface="Arial" pitchFamily="34" charset="0"/>
                <a:cs typeface="Arial" pitchFamily="34" charset="0"/>
              </a:rPr>
              <a:t>Sabemos que un emisor puede enviar mensajes de forma sincrónica a un receptor. Uno de los inconvenientes de las llamadas con bloqueo es la posibilidad de que el receptor puede no estar disponible por haber finalizado, y en este caso el emisor quedaría esperando infinitamente. Para solucionar este problema, se puede mejorar el mecanismo con un </a:t>
            </a:r>
            <a:r>
              <a:rPr lang="es-AR" sz="1200" b="1" dirty="0" smtClean="0">
                <a:solidFill>
                  <a:schemeClr val="tx1"/>
                </a:solidFill>
                <a:latin typeface="Arial" pitchFamily="34" charset="0"/>
                <a:cs typeface="Arial" pitchFamily="34" charset="0"/>
              </a:rPr>
              <a:t>periodo máximo de respuesta (</a:t>
            </a:r>
            <a:r>
              <a:rPr lang="es-AR" sz="1200" b="1" dirty="0" err="1" smtClean="0">
                <a:solidFill>
                  <a:schemeClr val="tx1"/>
                </a:solidFill>
                <a:latin typeface="Arial" pitchFamily="34" charset="0"/>
                <a:cs typeface="Arial" pitchFamily="34" charset="0"/>
              </a:rPr>
              <a:t>timeout</a:t>
            </a:r>
            <a:r>
              <a:rPr lang="es-AR" sz="1200" b="1" dirty="0" smtClean="0">
                <a:solidFill>
                  <a:schemeClr val="tx1"/>
                </a:solidFill>
                <a:latin typeface="Arial" pitchFamily="34" charset="0"/>
                <a:cs typeface="Arial" pitchFamily="34" charset="0"/>
              </a:rPr>
              <a:t>). </a:t>
            </a:r>
            <a:r>
              <a:rPr lang="es-AR" sz="1200" dirty="0" smtClean="0">
                <a:solidFill>
                  <a:schemeClr val="tx1"/>
                </a:solidFill>
                <a:latin typeface="Arial" pitchFamily="34" charset="0"/>
                <a:cs typeface="Arial" pitchFamily="34" charset="0"/>
              </a:rPr>
              <a:t>Esto presenta algunas ventajas:</a:t>
            </a:r>
          </a:p>
          <a:p>
            <a:pPr algn="just"/>
            <a:r>
              <a:rPr lang="es-AR" sz="1200" dirty="0" smtClean="0">
                <a:solidFill>
                  <a:schemeClr val="tx1"/>
                </a:solidFill>
                <a:latin typeface="Arial" pitchFamily="34" charset="0"/>
                <a:cs typeface="Arial" pitchFamily="34" charset="0"/>
              </a:rPr>
              <a:t>Con un </a:t>
            </a:r>
            <a:r>
              <a:rPr lang="es-AR" sz="1200" b="1" dirty="0" err="1" smtClean="0">
                <a:solidFill>
                  <a:schemeClr val="tx1"/>
                </a:solidFill>
                <a:latin typeface="Arial" pitchFamily="34" charset="0"/>
                <a:cs typeface="Arial" pitchFamily="34" charset="0"/>
              </a:rPr>
              <a:t>timeout</a:t>
            </a:r>
            <a:r>
              <a:rPr lang="es-AR" sz="1200" dirty="0" smtClean="0">
                <a:solidFill>
                  <a:schemeClr val="tx1"/>
                </a:solidFill>
                <a:latin typeface="Arial" pitchFamily="34" charset="0"/>
                <a:cs typeface="Arial" pitchFamily="34" charset="0"/>
              </a:rPr>
              <a:t> podemos especificar cuánto tiempo estamos dispuestos a esperar que un envío tenga lugar.</a:t>
            </a:r>
          </a:p>
          <a:p>
            <a:pPr algn="just"/>
            <a:r>
              <a:rPr lang="es-AR" sz="1200" dirty="0" smtClean="0">
                <a:solidFill>
                  <a:schemeClr val="tx1"/>
                </a:solidFill>
                <a:latin typeface="Arial" pitchFamily="34" charset="0"/>
                <a:cs typeface="Arial" pitchFamily="34" charset="0"/>
              </a:rPr>
              <a:t>Incluso en sistemas con cargas elevadas, las hebras deberían ser capaces de responder dentro de un cierto intervalo de tiempo.</a:t>
            </a:r>
          </a:p>
          <a:p>
            <a:pPr algn="just"/>
            <a:r>
              <a:rPr lang="es-AR" sz="1200" dirty="0" smtClean="0">
                <a:solidFill>
                  <a:schemeClr val="tx1"/>
                </a:solidFill>
                <a:latin typeface="Arial" pitchFamily="34" charset="0"/>
                <a:cs typeface="Arial" pitchFamily="34" charset="0"/>
              </a:rPr>
              <a:t>De esta forma, el envío síncrono puede mejorarse de la siguiente forma:</a:t>
            </a:r>
          </a:p>
          <a:p>
            <a:pPr algn="just"/>
            <a:r>
              <a:rPr lang="es-AR" sz="1200" dirty="0" err="1" smtClean="0">
                <a:solidFill>
                  <a:srgbClr val="FF0000"/>
                </a:solidFill>
                <a:latin typeface="Arial" pitchFamily="34" charset="0"/>
                <a:cs typeface="Arial" pitchFamily="34" charset="0"/>
              </a:rPr>
              <a:t>envio_sincrono</a:t>
            </a:r>
            <a:r>
              <a:rPr lang="es-AR" sz="1200" dirty="0" smtClean="0">
                <a:solidFill>
                  <a:srgbClr val="FF0000"/>
                </a:solidFill>
                <a:latin typeface="Arial" pitchFamily="34" charset="0"/>
                <a:cs typeface="Arial" pitchFamily="34" charset="0"/>
              </a:rPr>
              <a:t>(</a:t>
            </a:r>
            <a:r>
              <a:rPr lang="es-AR" sz="1200" dirty="0" err="1" smtClean="0">
                <a:solidFill>
                  <a:srgbClr val="FF0000"/>
                </a:solidFill>
                <a:latin typeface="Arial" pitchFamily="34" charset="0"/>
                <a:cs typeface="Arial" pitchFamily="34" charset="0"/>
              </a:rPr>
              <a:t>receptor,mensaje,timeout,resultado</a:t>
            </a:r>
            <a:r>
              <a:rPr lang="es-AR" sz="1200" dirty="0" smtClean="0">
                <a:solidFill>
                  <a:srgbClr val="FF0000"/>
                </a:solidFill>
                <a:latin typeface="Arial" pitchFamily="34" charset="0"/>
                <a:cs typeface="Arial" pitchFamily="34" charset="0"/>
              </a:rPr>
              <a:t>)</a:t>
            </a:r>
          </a:p>
          <a:p>
            <a:pPr algn="just"/>
            <a:r>
              <a:rPr lang="es-AR" sz="1200" dirty="0" smtClean="0">
                <a:solidFill>
                  <a:schemeClr val="tx1"/>
                </a:solidFill>
                <a:latin typeface="Arial" pitchFamily="34" charset="0"/>
                <a:cs typeface="Arial" pitchFamily="34" charset="0"/>
              </a:rPr>
              <a:t>Si el receptor no recibe un mensaje en un tiempo </a:t>
            </a:r>
            <a:r>
              <a:rPr lang="es-AR" sz="1200" dirty="0" err="1" smtClean="0">
                <a:solidFill>
                  <a:schemeClr val="tx1"/>
                </a:solidFill>
                <a:latin typeface="Arial" pitchFamily="34" charset="0"/>
                <a:cs typeface="Arial" pitchFamily="34" charset="0"/>
              </a:rPr>
              <a:t>timeout</a:t>
            </a:r>
            <a:r>
              <a:rPr lang="es-AR" sz="1200" dirty="0" smtClean="0">
                <a:solidFill>
                  <a:schemeClr val="tx1"/>
                </a:solidFill>
                <a:latin typeface="Arial" pitchFamily="34" charset="0"/>
                <a:cs typeface="Arial" pitchFamily="34" charset="0"/>
              </a:rPr>
              <a:t>, el emisor puede ser informado a través de la variable resultado de forma que pueda decidir como actuar y no quedar esperando infinitamente una respuesta.</a:t>
            </a:r>
            <a:endParaRPr lang="es-AR" sz="1200" dirty="0">
              <a:solidFill>
                <a:schemeClr val="tx1"/>
              </a:solidFill>
              <a:latin typeface="Arial" pitchFamily="34" charset="0"/>
              <a:cs typeface="Arial" pitchFamily="34" charset="0"/>
            </a:endParaRPr>
          </a:p>
        </p:txBody>
      </p:sp>
      <p:pic>
        <p:nvPicPr>
          <p:cNvPr id="88066" name="Picture 2"/>
          <p:cNvPicPr>
            <a:picLocks noChangeAspect="1" noChangeArrowheads="1"/>
          </p:cNvPicPr>
          <p:nvPr/>
        </p:nvPicPr>
        <p:blipFill>
          <a:blip r:embed="rId3" cstate="print"/>
          <a:srcRect/>
          <a:stretch>
            <a:fillRect/>
          </a:stretch>
        </p:blipFill>
        <p:spPr bwMode="auto">
          <a:xfrm>
            <a:off x="9144000" y="4344716"/>
            <a:ext cx="5084762" cy="3180844"/>
          </a:xfrm>
          <a:prstGeom prst="rect">
            <a:avLst/>
          </a:prstGeom>
          <a:noFill/>
          <a:ln w="9525">
            <a:noFill/>
            <a:miter lim="800000"/>
            <a:headEnd/>
            <a:tailEnd/>
          </a:ln>
        </p:spPr>
      </p:pic>
      <p:sp>
        <p:nvSpPr>
          <p:cNvPr id="58370" name="Rectangle 2"/>
          <p:cNvSpPr>
            <a:spLocks noChangeArrowheads="1"/>
          </p:cNvSpPr>
          <p:nvPr/>
        </p:nvSpPr>
        <p:spPr bwMode="auto">
          <a:xfrm>
            <a:off x="-1108362" y="2913079"/>
            <a:ext cx="1062182" cy="877163"/>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s-ES" sz="1200" dirty="0" err="1" smtClean="0">
                <a:solidFill>
                  <a:schemeClr val="tx1"/>
                </a:solidFill>
                <a:latin typeface="inherit"/>
                <a:cs typeface="Arial" pitchFamily="34" charset="0"/>
              </a:rPr>
              <a:t>Pronunciacion</a:t>
            </a:r>
            <a:r>
              <a:rPr lang="es-ES" sz="1200" dirty="0" smtClean="0">
                <a:solidFill>
                  <a:schemeClr val="tx1"/>
                </a:solidFill>
                <a:latin typeface="inherit"/>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1200" b="0" i="0" u="none" strike="noStrike" cap="none" normalizeH="0" baseline="0" dirty="0" smtClean="0">
                <a:ln>
                  <a:noFill/>
                </a:ln>
                <a:solidFill>
                  <a:schemeClr val="tx1"/>
                </a:solidFill>
                <a:effectLst/>
                <a:latin typeface="inherit"/>
                <a:cs typeface="Arial" pitchFamily="34" charset="0"/>
              </a:rPr>
              <a:t>   </a:t>
            </a:r>
            <a:r>
              <a:rPr kumimoji="0" lang="es-ES" sz="1200" b="0" i="0" u="none" strike="noStrike" cap="none" normalizeH="0" baseline="0" dirty="0" err="1" smtClean="0">
                <a:ln>
                  <a:noFill/>
                </a:ln>
                <a:solidFill>
                  <a:schemeClr val="tx1"/>
                </a:solidFill>
                <a:effectLst/>
                <a:latin typeface="inherit"/>
                <a:cs typeface="Arial" pitchFamily="34" charset="0"/>
              </a:rPr>
              <a:t>randeivú</a:t>
            </a:r>
            <a:r>
              <a:rPr kumimoji="0" lang="es-ES" sz="600" b="0" i="0" u="none" strike="noStrike" cap="none" normalizeH="0" baseline="0" dirty="0" smtClean="0">
                <a:ln>
                  <a:noFill/>
                </a:ln>
                <a:solidFill>
                  <a:schemeClr val="tx1"/>
                </a:solidFill>
                <a:effectLst/>
                <a:latin typeface="Arial" pitchFamily="34" charset="0"/>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s-ES" sz="1100" dirty="0" smtClean="0">
              <a:solidFill>
                <a:schemeClr val="tx1"/>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s-ES" sz="1100" dirty="0" smtClean="0">
                <a:solidFill>
                  <a:schemeClr val="tx1"/>
                </a:solidFill>
                <a:latin typeface="Arial" pitchFamily="34" charset="0"/>
                <a:cs typeface="Arial" pitchFamily="34" charset="0"/>
              </a:rPr>
              <a:t>c</a:t>
            </a:r>
            <a:r>
              <a:rPr kumimoji="0" lang="es-ES" sz="1100" b="0" i="0" u="none" strike="noStrike" cap="none" normalizeH="0" baseline="0" dirty="0" smtClean="0">
                <a:ln>
                  <a:noFill/>
                </a:ln>
                <a:solidFill>
                  <a:schemeClr val="tx1"/>
                </a:solidFill>
                <a:effectLst/>
                <a:latin typeface="Arial" pitchFamily="34" charset="0"/>
                <a:cs typeface="Arial" pitchFamily="34" charset="0"/>
              </a:rPr>
              <a:t>ita, encuentro, </a:t>
            </a:r>
            <a:r>
              <a:rPr kumimoji="0" lang="es-ES" sz="1100" b="0" i="0" u="none" strike="noStrike" cap="none" normalizeH="0" baseline="0" dirty="0" err="1" smtClean="0">
                <a:ln>
                  <a:noFill/>
                </a:ln>
                <a:solidFill>
                  <a:schemeClr val="tx1"/>
                </a:solidFill>
                <a:effectLst/>
                <a:latin typeface="Arial" pitchFamily="34" charset="0"/>
                <a:cs typeface="Arial" pitchFamily="34" charset="0"/>
              </a:rPr>
              <a:t>reunion</a:t>
            </a:r>
            <a:r>
              <a:rPr kumimoji="0" lang="es-ES" sz="1100" b="0" i="0" u="none" strike="noStrike" cap="none" normalizeH="0" baseline="0" dirty="0" smtClean="0">
                <a:ln>
                  <a:noFill/>
                </a:ln>
                <a:solidFill>
                  <a:schemeClr val="tx1"/>
                </a:solidFill>
                <a:effectLst/>
                <a:latin typeface="Arial" pitchFamily="34" charset="0"/>
                <a:cs typeface="Arial" pitchFamily="34" charset="0"/>
              </a:rPr>
              <a:t>, </a:t>
            </a:r>
            <a:r>
              <a:rPr kumimoji="0" lang="es-ES" sz="1100" b="0" i="0" u="none" strike="noStrike" cap="none" normalizeH="0" baseline="0" dirty="0" err="1" smtClean="0">
                <a:ln>
                  <a:noFill/>
                </a:ln>
                <a:solidFill>
                  <a:schemeClr val="tx1"/>
                </a:solidFill>
                <a:effectLst/>
                <a:latin typeface="Arial" pitchFamily="34" charset="0"/>
                <a:cs typeface="Arial" pitchFamily="34" charset="0"/>
              </a:rPr>
              <a:t>etc</a:t>
            </a:r>
            <a:endParaRPr kumimoji="0" lang="es-ES" sz="11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strVal val="#ppt_w*2.5"/>
                                          </p:val>
                                        </p:tav>
                                        <p:tav tm="100000">
                                          <p:val>
                                            <p:strVal val="#ppt_w"/>
                                          </p:val>
                                        </p:tav>
                                      </p:tavLst>
                                    </p:anim>
                                    <p:anim calcmode="lin" valueType="num">
                                      <p:cBhvr>
                                        <p:cTn id="8" dur="500" fill="hold"/>
                                        <p:tgtEl>
                                          <p:spTgt spid="19"/>
                                        </p:tgtEl>
                                        <p:attrNameLst>
                                          <p:attrName>ppt_h</p:attrName>
                                        </p:attrNameLst>
                                      </p:cBhvr>
                                      <p:tavLst>
                                        <p:tav tm="0">
                                          <p:val>
                                            <p:strVal val="#ppt_h*0.01"/>
                                          </p:val>
                                        </p:tav>
                                        <p:tav tm="100000">
                                          <p:val>
                                            <p:strVal val="#ppt_h"/>
                                          </p:val>
                                        </p:tav>
                                      </p:tavLst>
                                    </p:anim>
                                    <p:anim calcmode="lin" valueType="num">
                                      <p:cBhvr>
                                        <p:cTn id="9" dur="500" fill="hold"/>
                                        <p:tgtEl>
                                          <p:spTgt spid="19"/>
                                        </p:tgtEl>
                                        <p:attrNameLst>
                                          <p:attrName>ppt_x</p:attrName>
                                        </p:attrNameLst>
                                      </p:cBhvr>
                                      <p:tavLst>
                                        <p:tav tm="0">
                                          <p:val>
                                            <p:strVal val="#ppt_x"/>
                                          </p:val>
                                        </p:tav>
                                        <p:tav tm="100000">
                                          <p:val>
                                            <p:strVal val="#ppt_x"/>
                                          </p:val>
                                        </p:tav>
                                      </p:tavLst>
                                    </p:anim>
                                    <p:anim calcmode="lin" valueType="num">
                                      <p:cBhvr>
                                        <p:cTn id="10" dur="500" fill="hold"/>
                                        <p:tgtEl>
                                          <p:spTgt spid="19"/>
                                        </p:tgtEl>
                                        <p:attrNameLst>
                                          <p:attrName>ppt_y</p:attrName>
                                        </p:attrNameLst>
                                      </p:cBhvr>
                                      <p:tavLst>
                                        <p:tav tm="0">
                                          <p:val>
                                            <p:strVal val="#ppt_h+1"/>
                                          </p:val>
                                        </p:tav>
                                        <p:tav tm="100000">
                                          <p:val>
                                            <p:strVal val="#ppt_y"/>
                                          </p:val>
                                        </p:tav>
                                      </p:tavLst>
                                    </p:anim>
                                    <p:animEffect transition="in" filter="fade">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 Colas de </a:t>
            </a:r>
            <a:r>
              <a:rPr lang="es-AR" sz="3400" b="1" dirty="0" smtClean="0">
                <a:solidFill>
                  <a:srgbClr val="0033CC"/>
                </a:solidFill>
                <a:latin typeface="+mj-lt"/>
                <a:ea typeface="+mj-ea"/>
                <a:cs typeface="+mj-cs"/>
              </a:rPr>
              <a:t>mensajes</a:t>
            </a:r>
            <a:endParaRPr kumimoji="0" lang="es-AR" sz="3400" b="1" i="0" u="none" strike="noStrike" kern="1200" cap="none" spc="0" normalizeH="0" baseline="0" noProof="0" dirty="0">
              <a:ln>
                <a:noFill/>
              </a:ln>
              <a:solidFill>
                <a:srgbClr val="0033CC"/>
              </a:solidFill>
              <a:effectLst/>
              <a:uLnTx/>
              <a:uFillTx/>
              <a:latin typeface="+mn-lt"/>
              <a:ea typeface="+mj-ea"/>
              <a:cs typeface="Arial" pitchFamily="34" charset="0"/>
            </a:endParaRPr>
          </a:p>
        </p:txBody>
      </p:sp>
      <p:sp>
        <p:nvSpPr>
          <p:cNvPr id="9" name="8 CuadroTexto"/>
          <p:cNvSpPr txBox="1"/>
          <p:nvPr/>
        </p:nvSpPr>
        <p:spPr>
          <a:xfrm>
            <a:off x="454739" y="958850"/>
            <a:ext cx="8460661" cy="6294031"/>
          </a:xfrm>
          <a:prstGeom prst="rect">
            <a:avLst/>
          </a:prstGeom>
          <a:noFill/>
        </p:spPr>
        <p:txBody>
          <a:bodyPr wrap="square" rtlCol="0">
            <a:spAutoFit/>
          </a:bodyPr>
          <a:lstStyle/>
          <a:p>
            <a:pPr algn="just">
              <a:spcBef>
                <a:spcPts val="600"/>
              </a:spcBef>
            </a:pPr>
            <a:r>
              <a:rPr lang="es-ES" sz="1800" dirty="0" smtClean="0">
                <a:solidFill>
                  <a:schemeClr val="tx1"/>
                </a:solidFill>
                <a:latin typeface="Arial" pitchFamily="34" charset="0"/>
                <a:cs typeface="Arial" pitchFamily="34" charset="0"/>
              </a:rPr>
              <a:t>Las colas de mensajes son un mecanismo de comunicación entre procesos, su funcionamiento es similar al de las tuberías pero con mayor versatilidad. </a:t>
            </a:r>
          </a:p>
          <a:p>
            <a:pPr algn="just">
              <a:spcBef>
                <a:spcPts val="600"/>
              </a:spcBef>
            </a:pPr>
            <a:r>
              <a:rPr lang="es-ES" sz="1800" dirty="0" smtClean="0">
                <a:solidFill>
                  <a:schemeClr val="tx1"/>
                </a:solidFill>
                <a:latin typeface="Arial" pitchFamily="34" charset="0"/>
                <a:cs typeface="Arial" pitchFamily="34" charset="0"/>
              </a:rPr>
              <a:t>Son gestionadas por el sistema operativos y pueden ser escritas y leídas por varios procesos. Tienen una política FIFO, aunque para agregarle flexibilidad esta puede ser rota agregándole al mensaje un tipo (igualmente todos los mensajes del mismo tipo seguirán operando como FIFO).</a:t>
            </a:r>
          </a:p>
          <a:p>
            <a:pPr algn="just">
              <a:spcBef>
                <a:spcPts val="600"/>
              </a:spcBef>
            </a:pPr>
            <a:r>
              <a:rPr lang="es-ES" sz="1800" dirty="0" smtClean="0">
                <a:solidFill>
                  <a:schemeClr val="tx1"/>
                </a:solidFill>
                <a:latin typeface="Arial" pitchFamily="34" charset="0"/>
                <a:cs typeface="Arial" pitchFamily="34" charset="0"/>
              </a:rPr>
              <a:t>Las llamadas del sistema para operar con colas de mensajes son: </a:t>
            </a:r>
          </a:p>
          <a:p>
            <a:pPr marL="625475" lvl="1" indent="-355600" algn="just">
              <a:spcBef>
                <a:spcPts val="0"/>
              </a:spcBef>
              <a:buFont typeface="Arial" pitchFamily="34" charset="0"/>
              <a:buChar char="•"/>
            </a:pPr>
            <a:r>
              <a:rPr lang="es-ES" sz="1800" b="1" dirty="0" err="1" smtClean="0">
                <a:solidFill>
                  <a:srgbClr val="0033CC"/>
                </a:solidFill>
                <a:latin typeface="Arial" pitchFamily="34" charset="0"/>
                <a:cs typeface="Arial" pitchFamily="34" charset="0"/>
              </a:rPr>
              <a:t>msgget</a:t>
            </a:r>
            <a:r>
              <a:rPr lang="es-ES" sz="1800" dirty="0" smtClean="0">
                <a:solidFill>
                  <a:schemeClr val="tx1"/>
                </a:solidFill>
                <a:latin typeface="Arial" pitchFamily="34" charset="0"/>
                <a:cs typeface="Arial" pitchFamily="34" charset="0"/>
              </a:rPr>
              <a:t>: crear una cola o acceder a una ya existente</a:t>
            </a:r>
          </a:p>
          <a:p>
            <a:pPr marL="625475" lvl="1" indent="-355600" algn="just">
              <a:spcBef>
                <a:spcPts val="0"/>
              </a:spcBef>
              <a:buFont typeface="Arial" pitchFamily="34" charset="0"/>
              <a:buChar char="•"/>
            </a:pPr>
            <a:r>
              <a:rPr lang="es-ES" sz="1800" b="1" dirty="0" err="1" smtClean="0">
                <a:solidFill>
                  <a:srgbClr val="0033CC"/>
                </a:solidFill>
                <a:latin typeface="Arial" pitchFamily="34" charset="0"/>
                <a:cs typeface="Arial" pitchFamily="34" charset="0"/>
              </a:rPr>
              <a:t>msgctl</a:t>
            </a:r>
            <a:r>
              <a:rPr lang="es-ES" sz="1800" dirty="0" smtClean="0">
                <a:solidFill>
                  <a:schemeClr val="tx1"/>
                </a:solidFill>
                <a:latin typeface="Arial" pitchFamily="34" charset="0"/>
                <a:cs typeface="Arial" pitchFamily="34" charset="0"/>
              </a:rPr>
              <a:t>: acceder y modificar la información de control que el </a:t>
            </a:r>
            <a:r>
              <a:rPr lang="es-ES" sz="1800" dirty="0" err="1" smtClean="0">
                <a:solidFill>
                  <a:schemeClr val="tx1"/>
                </a:solidFill>
                <a:latin typeface="Arial" pitchFamily="34" charset="0"/>
                <a:cs typeface="Arial" pitchFamily="34" charset="0"/>
              </a:rPr>
              <a:t>kernel</a:t>
            </a:r>
            <a:r>
              <a:rPr lang="es-ES" sz="1800" dirty="0" smtClean="0">
                <a:solidFill>
                  <a:schemeClr val="tx1"/>
                </a:solidFill>
                <a:latin typeface="Arial" pitchFamily="34" charset="0"/>
                <a:cs typeface="Arial" pitchFamily="34" charset="0"/>
              </a:rPr>
              <a:t> asocia a cada cola de mensajes; </a:t>
            </a:r>
          </a:p>
          <a:p>
            <a:pPr marL="625475" lvl="1" indent="-355600" algn="just">
              <a:spcBef>
                <a:spcPts val="0"/>
              </a:spcBef>
              <a:buFont typeface="Arial" pitchFamily="34" charset="0"/>
              <a:buChar char="•"/>
            </a:pPr>
            <a:r>
              <a:rPr lang="es-ES" sz="1800" b="1" dirty="0" err="1" smtClean="0">
                <a:solidFill>
                  <a:srgbClr val="0033CC"/>
                </a:solidFill>
                <a:latin typeface="Arial" pitchFamily="34" charset="0"/>
                <a:cs typeface="Arial" pitchFamily="34" charset="0"/>
              </a:rPr>
              <a:t>msgsnd</a:t>
            </a:r>
            <a:r>
              <a:rPr lang="es-ES" sz="1800" dirty="0" smtClean="0">
                <a:solidFill>
                  <a:schemeClr val="tx1"/>
                </a:solidFill>
                <a:latin typeface="Arial" pitchFamily="34" charset="0"/>
                <a:cs typeface="Arial" pitchFamily="34" charset="0"/>
              </a:rPr>
              <a:t>: escribir/enviar un mensaje en la cola</a:t>
            </a:r>
          </a:p>
          <a:p>
            <a:pPr marL="625475" lvl="1" indent="-355600" algn="just">
              <a:spcBef>
                <a:spcPts val="0"/>
              </a:spcBef>
              <a:buFont typeface="Arial" pitchFamily="34" charset="0"/>
              <a:buChar char="•"/>
            </a:pPr>
            <a:r>
              <a:rPr lang="es-ES" sz="1800" b="1" dirty="0" err="1" smtClean="0">
                <a:solidFill>
                  <a:srgbClr val="0033CC"/>
                </a:solidFill>
                <a:latin typeface="Arial" pitchFamily="34" charset="0"/>
                <a:cs typeface="Arial" pitchFamily="34" charset="0"/>
              </a:rPr>
              <a:t>msgrcv</a:t>
            </a:r>
            <a:r>
              <a:rPr lang="es-ES" sz="1800" dirty="0" err="1" smtClean="0">
                <a:solidFill>
                  <a:schemeClr val="tx1"/>
                </a:solidFill>
                <a:latin typeface="Arial" pitchFamily="34" charset="0"/>
                <a:cs typeface="Arial" pitchFamily="34" charset="0"/>
              </a:rPr>
              <a:t>:leer</a:t>
            </a:r>
            <a:r>
              <a:rPr lang="es-ES" sz="1800" dirty="0" smtClean="0">
                <a:solidFill>
                  <a:schemeClr val="tx1"/>
                </a:solidFill>
                <a:latin typeface="Arial" pitchFamily="34" charset="0"/>
                <a:cs typeface="Arial" pitchFamily="34" charset="0"/>
              </a:rPr>
              <a:t>/recibir un mensaje de la cola</a:t>
            </a:r>
          </a:p>
          <a:p>
            <a:pPr algn="just">
              <a:spcBef>
                <a:spcPts val="600"/>
              </a:spcBef>
            </a:pPr>
            <a:r>
              <a:rPr lang="es-AR" sz="1800" dirty="0" smtClean="0">
                <a:solidFill>
                  <a:schemeClr val="tx1"/>
                </a:solidFill>
                <a:latin typeface="Arial" pitchFamily="34" charset="0"/>
                <a:cs typeface="Arial" pitchFamily="34" charset="0"/>
              </a:rPr>
              <a:t>Las librerías que se deben incluir en los programas son:</a:t>
            </a:r>
          </a:p>
          <a:p>
            <a:pPr algn="just">
              <a:spcBef>
                <a:spcPts val="0"/>
              </a:spcBef>
            </a:pPr>
            <a:r>
              <a:rPr lang="en-US" sz="1800" b="1" dirty="0" smtClean="0">
                <a:solidFill>
                  <a:srgbClr val="0033CC"/>
                </a:solidFill>
                <a:latin typeface="Courier New" pitchFamily="49" charset="0"/>
                <a:cs typeface="Courier New" pitchFamily="49" charset="0"/>
              </a:rPr>
              <a:t>#include &lt;sys/</a:t>
            </a:r>
            <a:r>
              <a:rPr lang="en-US" sz="1800" b="1" dirty="0" err="1" smtClean="0">
                <a:solidFill>
                  <a:srgbClr val="0033CC"/>
                </a:solidFill>
                <a:latin typeface="Courier New" pitchFamily="49" charset="0"/>
                <a:cs typeface="Courier New" pitchFamily="49" charset="0"/>
              </a:rPr>
              <a:t>types.h</a:t>
            </a:r>
            <a:r>
              <a:rPr lang="en-US" sz="1800" b="1" dirty="0" smtClean="0">
                <a:solidFill>
                  <a:srgbClr val="0033CC"/>
                </a:solidFill>
                <a:latin typeface="Courier New" pitchFamily="49" charset="0"/>
                <a:cs typeface="Courier New" pitchFamily="49" charset="0"/>
              </a:rPr>
              <a:t>&gt;</a:t>
            </a:r>
          </a:p>
          <a:p>
            <a:pPr algn="just">
              <a:spcBef>
                <a:spcPts val="0"/>
              </a:spcBef>
            </a:pPr>
            <a:r>
              <a:rPr lang="en-US" sz="1800" b="1" dirty="0" smtClean="0">
                <a:solidFill>
                  <a:srgbClr val="0033CC"/>
                </a:solidFill>
                <a:latin typeface="Courier New" pitchFamily="49" charset="0"/>
                <a:cs typeface="Courier New" pitchFamily="49" charset="0"/>
              </a:rPr>
              <a:t>#include &lt;sys/</a:t>
            </a:r>
            <a:r>
              <a:rPr lang="en-US" sz="1800" b="1" dirty="0" err="1" smtClean="0">
                <a:solidFill>
                  <a:srgbClr val="0033CC"/>
                </a:solidFill>
                <a:latin typeface="Courier New" pitchFamily="49" charset="0"/>
                <a:cs typeface="Courier New" pitchFamily="49" charset="0"/>
              </a:rPr>
              <a:t>ipc.h</a:t>
            </a:r>
            <a:r>
              <a:rPr lang="en-US" sz="1800" b="1" dirty="0" smtClean="0">
                <a:solidFill>
                  <a:srgbClr val="0033CC"/>
                </a:solidFill>
                <a:latin typeface="Courier New" pitchFamily="49" charset="0"/>
                <a:cs typeface="Courier New" pitchFamily="49" charset="0"/>
              </a:rPr>
              <a:t>&gt;</a:t>
            </a:r>
          </a:p>
          <a:p>
            <a:pPr algn="just">
              <a:spcBef>
                <a:spcPts val="0"/>
              </a:spcBef>
            </a:pPr>
            <a:r>
              <a:rPr lang="en-US" sz="1800" b="1" dirty="0" smtClean="0">
                <a:solidFill>
                  <a:srgbClr val="0033CC"/>
                </a:solidFill>
                <a:latin typeface="Courier New" pitchFamily="49" charset="0"/>
                <a:cs typeface="Courier New" pitchFamily="49" charset="0"/>
              </a:rPr>
              <a:t>#include &lt;sys/</a:t>
            </a:r>
            <a:r>
              <a:rPr lang="en-US" sz="1800" b="1" dirty="0" err="1" smtClean="0">
                <a:solidFill>
                  <a:srgbClr val="0033CC"/>
                </a:solidFill>
                <a:latin typeface="Courier New" pitchFamily="49" charset="0"/>
                <a:cs typeface="Courier New" pitchFamily="49" charset="0"/>
              </a:rPr>
              <a:t>msg.h</a:t>
            </a:r>
            <a:r>
              <a:rPr lang="en-US" sz="1800" b="1" dirty="0" smtClean="0">
                <a:solidFill>
                  <a:srgbClr val="0033CC"/>
                </a:solidFill>
                <a:latin typeface="Courier New" pitchFamily="49" charset="0"/>
                <a:cs typeface="Courier New" pitchFamily="49" charset="0"/>
              </a:rPr>
              <a:t>&gt;</a:t>
            </a:r>
          </a:p>
          <a:p>
            <a:pPr algn="just">
              <a:spcBef>
                <a:spcPts val="600"/>
              </a:spcBef>
            </a:pPr>
            <a:r>
              <a:rPr lang="es-AR" sz="1800" dirty="0" smtClean="0">
                <a:solidFill>
                  <a:schemeClr val="tx1"/>
                </a:solidFill>
                <a:latin typeface="Arial" pitchFamily="34" charset="0"/>
                <a:cs typeface="Arial" pitchFamily="34" charset="0"/>
              </a:rPr>
              <a:t>Los comandos en una consola Linux que puede usar son:</a:t>
            </a:r>
          </a:p>
          <a:p>
            <a:pPr algn="just">
              <a:spcBef>
                <a:spcPts val="0"/>
              </a:spcBef>
            </a:pPr>
            <a:r>
              <a:rPr lang="es-ES" sz="1800" b="1" dirty="0" err="1" smtClean="0">
                <a:solidFill>
                  <a:srgbClr val="0033CC"/>
                </a:solidFill>
                <a:latin typeface="Courier New" pitchFamily="49" charset="0"/>
                <a:cs typeface="Courier New" pitchFamily="49" charset="0"/>
              </a:rPr>
              <a:t>ipcs</a:t>
            </a:r>
            <a:r>
              <a:rPr lang="es-ES" sz="1800" b="1" dirty="0" smtClean="0">
                <a:solidFill>
                  <a:srgbClr val="0033CC"/>
                </a:solidFill>
                <a:latin typeface="Courier New" pitchFamily="49" charset="0"/>
                <a:cs typeface="Courier New" pitchFamily="49" charset="0"/>
              </a:rPr>
              <a:t>:   </a:t>
            </a:r>
            <a:r>
              <a:rPr lang="es-ES" sz="1800" dirty="0" smtClean="0">
                <a:solidFill>
                  <a:schemeClr val="tx1"/>
                </a:solidFill>
                <a:latin typeface="Arial" pitchFamily="34" charset="0"/>
                <a:cs typeface="Arial" pitchFamily="34" charset="0"/>
              </a:rPr>
              <a:t>muestra las colas de mensajes, el </a:t>
            </a:r>
            <a:r>
              <a:rPr lang="es-ES" sz="1800" dirty="0" err="1" smtClean="0">
                <a:solidFill>
                  <a:schemeClr val="tx1"/>
                </a:solidFill>
                <a:latin typeface="Arial" pitchFamily="34" charset="0"/>
                <a:cs typeface="Arial" pitchFamily="34" charset="0"/>
              </a:rPr>
              <a:t>key</a:t>
            </a:r>
            <a:r>
              <a:rPr lang="es-ES" sz="1800" dirty="0" smtClean="0">
                <a:solidFill>
                  <a:schemeClr val="tx1"/>
                </a:solidFill>
                <a:latin typeface="Arial" pitchFamily="34" charset="0"/>
                <a:cs typeface="Arial" pitchFamily="34" charset="0"/>
              </a:rPr>
              <a:t>,  id, bytes, n° de mensajes, etc.</a:t>
            </a:r>
            <a:endParaRPr lang="es-ES" sz="1800" b="1" dirty="0" smtClean="0">
              <a:solidFill>
                <a:srgbClr val="0033CC"/>
              </a:solidFill>
              <a:latin typeface="Courier New" pitchFamily="49" charset="0"/>
              <a:cs typeface="Courier New" pitchFamily="49" charset="0"/>
            </a:endParaRPr>
          </a:p>
          <a:p>
            <a:pPr algn="just">
              <a:spcBef>
                <a:spcPts val="0"/>
              </a:spcBef>
            </a:pPr>
            <a:r>
              <a:rPr lang="es-ES" sz="1800" b="1" dirty="0" err="1" smtClean="0">
                <a:solidFill>
                  <a:srgbClr val="0033CC"/>
                </a:solidFill>
                <a:latin typeface="Courier New" pitchFamily="49" charset="0"/>
                <a:cs typeface="Courier New" pitchFamily="49" charset="0"/>
              </a:rPr>
              <a:t>ipcrm</a:t>
            </a:r>
            <a:r>
              <a:rPr lang="es-ES" sz="1800" b="1" dirty="0" smtClean="0">
                <a:solidFill>
                  <a:srgbClr val="0033CC"/>
                </a:solidFill>
                <a:latin typeface="Courier New" pitchFamily="49" charset="0"/>
                <a:cs typeface="Courier New" pitchFamily="49" charset="0"/>
              </a:rPr>
              <a:t> -q $</a:t>
            </a:r>
            <a:r>
              <a:rPr lang="es-ES" sz="1800" b="1" dirty="0" err="1" smtClean="0">
                <a:solidFill>
                  <a:srgbClr val="0033CC"/>
                </a:solidFill>
                <a:latin typeface="Courier New" pitchFamily="49" charset="0"/>
                <a:cs typeface="Courier New" pitchFamily="49" charset="0"/>
              </a:rPr>
              <a:t>msqid</a:t>
            </a:r>
            <a:r>
              <a:rPr lang="es-ES" sz="1800" b="1" dirty="0" smtClean="0">
                <a:solidFill>
                  <a:srgbClr val="0033CC"/>
                </a:solidFill>
                <a:latin typeface="Courier New" pitchFamily="49" charset="0"/>
                <a:cs typeface="Courier New" pitchFamily="49" charset="0"/>
              </a:rPr>
              <a:t>:  </a:t>
            </a:r>
            <a:r>
              <a:rPr lang="es-ES" sz="1800" dirty="0" smtClean="0">
                <a:solidFill>
                  <a:schemeClr val="tx1"/>
                </a:solidFill>
                <a:latin typeface="Arial" pitchFamily="34" charset="0"/>
                <a:cs typeface="Arial" pitchFamily="34" charset="0"/>
              </a:rPr>
              <a:t>permite eliminar una cola mediante su id</a:t>
            </a:r>
          </a:p>
          <a:p>
            <a:pPr algn="just">
              <a:spcBef>
                <a:spcPts val="0"/>
              </a:spcBef>
            </a:pPr>
            <a:r>
              <a:rPr lang="es-ES" sz="1800" b="1" dirty="0" err="1" smtClean="0">
                <a:solidFill>
                  <a:srgbClr val="0033CC"/>
                </a:solidFill>
                <a:latin typeface="Courier New" pitchFamily="49" charset="0"/>
                <a:cs typeface="Courier New" pitchFamily="49" charset="0"/>
              </a:rPr>
              <a:t>ipcrm</a:t>
            </a:r>
            <a:r>
              <a:rPr lang="es-ES" sz="1800" b="1" dirty="0" smtClean="0">
                <a:solidFill>
                  <a:srgbClr val="0033CC"/>
                </a:solidFill>
                <a:latin typeface="Courier New" pitchFamily="49" charset="0"/>
                <a:cs typeface="Courier New" pitchFamily="49" charset="0"/>
              </a:rPr>
              <a:t> -Q $</a:t>
            </a:r>
            <a:r>
              <a:rPr lang="es-ES" sz="1800" b="1" dirty="0" err="1" smtClean="0">
                <a:solidFill>
                  <a:srgbClr val="0033CC"/>
                </a:solidFill>
                <a:latin typeface="Courier New" pitchFamily="49" charset="0"/>
                <a:cs typeface="Courier New" pitchFamily="49" charset="0"/>
              </a:rPr>
              <a:t>key</a:t>
            </a:r>
            <a:r>
              <a:rPr lang="en-US" sz="1800" b="1" dirty="0" smtClean="0">
                <a:solidFill>
                  <a:srgbClr val="0033CC"/>
                </a:solidFill>
                <a:latin typeface="Courier New" pitchFamily="49" charset="0"/>
                <a:cs typeface="Courier New" pitchFamily="49" charset="0"/>
              </a:rPr>
              <a:t>: </a:t>
            </a:r>
            <a:r>
              <a:rPr lang="es-ES" sz="1800" dirty="0" smtClean="0">
                <a:solidFill>
                  <a:schemeClr val="tx1"/>
                </a:solidFill>
                <a:latin typeface="Arial" pitchFamily="34" charset="0"/>
                <a:cs typeface="Arial" pitchFamily="34" charset="0"/>
              </a:rPr>
              <a:t>permite eliminar una cola mediante su </a:t>
            </a:r>
            <a:r>
              <a:rPr lang="es-ES" sz="1800" dirty="0" err="1" smtClean="0">
                <a:solidFill>
                  <a:schemeClr val="tx1"/>
                </a:solidFill>
                <a:latin typeface="Arial" pitchFamily="34" charset="0"/>
                <a:cs typeface="Arial" pitchFamily="34" charset="0"/>
              </a:rPr>
              <a:t>key</a:t>
            </a:r>
            <a:endParaRPr lang="en-US" sz="1800" b="1" dirty="0" smtClean="0">
              <a:solidFill>
                <a:srgbClr val="0033CC"/>
              </a:solidFill>
              <a:latin typeface="Courier New" pitchFamily="49" charset="0"/>
              <a:cs typeface="Courier New" pitchFamily="49" charset="0"/>
            </a:endParaRPr>
          </a:p>
          <a:p>
            <a:pPr algn="just">
              <a:spcBef>
                <a:spcPts val="600"/>
              </a:spcBef>
            </a:pPr>
            <a:endParaRPr lang="es-AR" sz="18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Comunicación – Pipes (tuberías)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54739" y="958850"/>
            <a:ext cx="8460661" cy="7232749"/>
          </a:xfrm>
          <a:prstGeom prst="rect">
            <a:avLst/>
          </a:prstGeom>
          <a:noFill/>
        </p:spPr>
        <p:txBody>
          <a:bodyPr wrap="square" rtlCol="0">
            <a:spAutoFit/>
          </a:bodyPr>
          <a:lstStyle/>
          <a:p>
            <a:pPr algn="just">
              <a:spcBef>
                <a:spcPts val="600"/>
              </a:spcBef>
            </a:pPr>
            <a:r>
              <a:rPr lang="es-AR" sz="1800" dirty="0" smtClean="0">
                <a:solidFill>
                  <a:schemeClr val="tx1"/>
                </a:solidFill>
                <a:latin typeface="Arial" pitchFamily="34" charset="0"/>
                <a:cs typeface="Arial" pitchFamily="34" charset="0"/>
              </a:rPr>
              <a:t>Los pipes (tuberías), con canales de comunicación que conectan procesos.  para la comunicación. Un canal tiene un extremo de escritura para enviar bytes y el otro de lectura para recibir estos bytes en orden FIFO (primero en entrar, primero en salir).</a:t>
            </a:r>
          </a:p>
          <a:p>
            <a:pPr algn="just">
              <a:spcBef>
                <a:spcPts val="600"/>
              </a:spcBef>
            </a:pPr>
            <a:r>
              <a:rPr lang="es-AR" sz="1800" dirty="0" smtClean="0">
                <a:solidFill>
                  <a:schemeClr val="tx1"/>
                </a:solidFill>
                <a:latin typeface="Arial" pitchFamily="34" charset="0"/>
                <a:cs typeface="Arial" pitchFamily="34" charset="0"/>
              </a:rPr>
              <a:t>Generalmente, un proceso escribe en el canal y otro proceso diferente lee desde este mismo canal.</a:t>
            </a:r>
          </a:p>
          <a:p>
            <a:pPr algn="just">
              <a:spcBef>
                <a:spcPts val="600"/>
              </a:spcBef>
            </a:pPr>
            <a:r>
              <a:rPr lang="es-AR" sz="1800" dirty="0" smtClean="0">
                <a:solidFill>
                  <a:schemeClr val="tx1"/>
                </a:solidFill>
                <a:latin typeface="Arial" pitchFamily="34" charset="0"/>
                <a:cs typeface="Arial" pitchFamily="34" charset="0"/>
              </a:rPr>
              <a:t>Se pueden clasificar las tuberías en:</a:t>
            </a:r>
          </a:p>
          <a:p>
            <a:pPr marL="177800" indent="-177800" algn="just">
              <a:spcBef>
                <a:spcPts val="600"/>
              </a:spcBef>
            </a:pPr>
            <a:endParaRPr lang="es-AR" sz="1800" b="1" dirty="0" smtClean="0">
              <a:solidFill>
                <a:schemeClr val="tx1"/>
              </a:solidFill>
              <a:latin typeface="Arial" pitchFamily="34" charset="0"/>
              <a:cs typeface="Arial" pitchFamily="34" charset="0"/>
            </a:endParaRPr>
          </a:p>
          <a:p>
            <a:pPr marL="177800" indent="-177800" algn="just">
              <a:spcBef>
                <a:spcPts val="600"/>
              </a:spcBef>
            </a:pPr>
            <a:r>
              <a:rPr lang="es-AR" sz="1800" b="1" dirty="0" smtClean="0">
                <a:solidFill>
                  <a:schemeClr val="tx1"/>
                </a:solidFill>
                <a:latin typeface="Arial" pitchFamily="34" charset="0"/>
                <a:cs typeface="Arial" pitchFamily="34" charset="0"/>
              </a:rPr>
              <a:t>Tuberías  sin nombre </a:t>
            </a:r>
            <a:endParaRPr lang="es-AR" sz="18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Son unidireccionales</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En todos los sistemas modernos, la barra vertical | representa una tubería sin nombre en la línea de comando.(ejemplo </a:t>
            </a:r>
            <a:r>
              <a:rPr lang="es-AR" sz="1800" dirty="0" err="1" smtClean="0">
                <a:solidFill>
                  <a:schemeClr val="tx1"/>
                </a:solidFill>
                <a:latin typeface="Arial" pitchFamily="34" charset="0"/>
                <a:cs typeface="Arial" pitchFamily="34" charset="0"/>
              </a:rPr>
              <a:t>ls</a:t>
            </a:r>
            <a:r>
              <a:rPr lang="es-AR" sz="1800" dirty="0" smtClean="0">
                <a:solidFill>
                  <a:schemeClr val="tx1"/>
                </a:solidFill>
                <a:latin typeface="Arial" pitchFamily="34" charset="0"/>
                <a:cs typeface="Arial" pitchFamily="34" charset="0"/>
              </a:rPr>
              <a:t> | </a:t>
            </a:r>
            <a:r>
              <a:rPr lang="es-AR" sz="1800" dirty="0" err="1" smtClean="0">
                <a:solidFill>
                  <a:schemeClr val="tx1"/>
                </a:solidFill>
                <a:latin typeface="Arial" pitchFamily="34" charset="0"/>
                <a:cs typeface="Arial" pitchFamily="34" charset="0"/>
              </a:rPr>
              <a:t>sort</a:t>
            </a:r>
            <a:r>
              <a:rPr lang="es-AR" sz="1800" dirty="0" smtClean="0">
                <a:solidFill>
                  <a:schemeClr val="tx1"/>
                </a:solidFill>
                <a:latin typeface="Arial" pitchFamily="34" charset="0"/>
                <a:cs typeface="Arial" pitchFamily="34" charset="0"/>
              </a:rPr>
              <a:t> )</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Con programación se utiliza la instrucción POSIX </a:t>
            </a:r>
            <a:r>
              <a:rPr lang="es-AR" sz="1800" b="1" dirty="0" smtClean="0">
                <a:solidFill>
                  <a:schemeClr val="tx1"/>
                </a:solidFill>
                <a:latin typeface="Arial" pitchFamily="34" charset="0"/>
                <a:cs typeface="Arial" pitchFamily="34" charset="0"/>
              </a:rPr>
              <a:t>pipe. </a:t>
            </a:r>
            <a:r>
              <a:rPr lang="es-AR" sz="1800" dirty="0" smtClean="0">
                <a:solidFill>
                  <a:schemeClr val="tx1"/>
                </a:solidFill>
                <a:latin typeface="Arial" pitchFamily="34" charset="0"/>
                <a:cs typeface="Arial" pitchFamily="34" charset="0"/>
              </a:rPr>
              <a:t>Para la creación del </a:t>
            </a:r>
            <a:r>
              <a:rPr lang="es-AR" sz="1800" b="1" dirty="0" smtClean="0">
                <a:solidFill>
                  <a:schemeClr val="tx1"/>
                </a:solidFill>
                <a:latin typeface="Arial" pitchFamily="34" charset="0"/>
                <a:cs typeface="Arial" pitchFamily="34" charset="0"/>
              </a:rPr>
              <a:t>pipe</a:t>
            </a:r>
            <a:r>
              <a:rPr lang="es-AR" sz="1800" dirty="0" smtClean="0">
                <a:solidFill>
                  <a:schemeClr val="tx1"/>
                </a:solidFill>
                <a:latin typeface="Arial" pitchFamily="34" charset="0"/>
                <a:cs typeface="Arial" pitchFamily="34" charset="0"/>
              </a:rPr>
              <a:t> es necesario tener 2 descriptores de archivo y se hace mediante la declaración de un arreglo de 2 enteros donde el extremo para la </a:t>
            </a:r>
            <a:r>
              <a:rPr lang="es-AR" sz="1800" u="sng" dirty="0" smtClean="0">
                <a:solidFill>
                  <a:schemeClr val="tx1"/>
                </a:solidFill>
                <a:latin typeface="Arial" pitchFamily="34" charset="0"/>
                <a:cs typeface="Arial" pitchFamily="34" charset="0"/>
              </a:rPr>
              <a:t>lectura corresponde a la posición 0</a:t>
            </a:r>
            <a:r>
              <a:rPr lang="es-AR" sz="1800" dirty="0" smtClean="0">
                <a:solidFill>
                  <a:schemeClr val="tx1"/>
                </a:solidFill>
                <a:latin typeface="Arial" pitchFamily="34" charset="0"/>
                <a:cs typeface="Arial" pitchFamily="34" charset="0"/>
              </a:rPr>
              <a:t> y para la </a:t>
            </a:r>
            <a:r>
              <a:rPr lang="es-AR" sz="1800" u="sng" dirty="0" smtClean="0">
                <a:solidFill>
                  <a:schemeClr val="tx1"/>
                </a:solidFill>
                <a:latin typeface="Arial" pitchFamily="34" charset="0"/>
                <a:cs typeface="Arial" pitchFamily="34" charset="0"/>
              </a:rPr>
              <a:t>escritura a la posición 1</a:t>
            </a:r>
            <a:r>
              <a:rPr lang="es-AR" sz="1800" dirty="0" smtClean="0">
                <a:solidFill>
                  <a:schemeClr val="tx1"/>
                </a:solidFill>
                <a:latin typeface="Arial" pitchFamily="34" charset="0"/>
                <a:cs typeface="Arial" pitchFamily="34" charset="0"/>
              </a:rPr>
              <a:t>. El sistema mantiene un búfer en la memoria para transferir bytes del escritor al lector. Una vez que el escritor y el lector terminan, el búfer se recupera, por lo que la canalización sin nombre desaparece.</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u="sng" dirty="0" smtClean="0">
              <a:solidFill>
                <a:schemeClr val="tx1"/>
              </a:solidFill>
              <a:latin typeface="Arial" pitchFamily="34" charset="0"/>
              <a:cs typeface="Arial" pitchFamily="34" charset="0"/>
            </a:endParaRPr>
          </a:p>
        </p:txBody>
      </p:sp>
      <p:sp>
        <p:nvSpPr>
          <p:cNvPr id="33" name="32 CuadroTexto"/>
          <p:cNvSpPr txBox="1"/>
          <p:nvPr/>
        </p:nvSpPr>
        <p:spPr>
          <a:xfrm>
            <a:off x="4953000" y="2755900"/>
            <a:ext cx="3454400" cy="723275"/>
          </a:xfrm>
          <a:prstGeom prst="rect">
            <a:avLst/>
          </a:prstGeom>
          <a:noFill/>
        </p:spPr>
        <p:txBody>
          <a:bodyPr wrap="square" rtlCol="0">
            <a:spAutoFit/>
          </a:bodyPr>
          <a:lstStyle/>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Sin nombre</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Con nombre</a:t>
            </a:r>
            <a:endParaRPr lang="es-AR" sz="1800" dirty="0"/>
          </a:p>
        </p:txBody>
      </p:sp>
      <p:cxnSp>
        <p:nvCxnSpPr>
          <p:cNvPr id="35" name="34 Conector recto de flecha"/>
          <p:cNvCxnSpPr/>
          <p:nvPr/>
        </p:nvCxnSpPr>
        <p:spPr>
          <a:xfrm>
            <a:off x="4267200" y="2946400"/>
            <a:ext cx="7112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36 Conector recto de flecha"/>
          <p:cNvCxnSpPr/>
          <p:nvPr/>
        </p:nvCxnSpPr>
        <p:spPr>
          <a:xfrm>
            <a:off x="4241800" y="2959100"/>
            <a:ext cx="736600" cy="3429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1386"/>
            <a:ext cx="8229600" cy="83372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3400" b="1" dirty="0" smtClean="0">
                <a:solidFill>
                  <a:schemeClr val="tx1"/>
                </a:solidFill>
                <a:latin typeface="+mj-lt"/>
                <a:ea typeface="+mj-ea"/>
                <a:cs typeface="+mj-cs"/>
              </a:rPr>
              <a:t>Pipe</a:t>
            </a:r>
            <a:r>
              <a:rPr lang="es-AR" sz="3400" dirty="0" smtClean="0">
                <a:solidFill>
                  <a:schemeClr val="tx1"/>
                </a:solidFill>
                <a:latin typeface="+mj-lt"/>
                <a:ea typeface="+mj-ea"/>
                <a:cs typeface="+mj-cs"/>
              </a:rPr>
              <a:t>  (tubería sin nombre)</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5724525" y="736600"/>
            <a:ext cx="3251200" cy="5940088"/>
          </a:xfrm>
          <a:prstGeom prst="rect">
            <a:avLst/>
          </a:prstGeom>
          <a:noFill/>
        </p:spPr>
        <p:txBody>
          <a:bodyPr wrap="square" rtlCol="0">
            <a:spAutoFit/>
          </a:bodyPr>
          <a:lstStyle/>
          <a:p>
            <a:pPr algn="just">
              <a:spcBef>
                <a:spcPts val="600"/>
              </a:spcBef>
            </a:pPr>
            <a:r>
              <a:rPr lang="es-AR" sz="1400" b="1" dirty="0" smtClean="0">
                <a:solidFill>
                  <a:schemeClr val="tx1"/>
                </a:solidFill>
                <a:latin typeface="Arial" pitchFamily="34" charset="0"/>
                <a:cs typeface="Arial" pitchFamily="34" charset="0"/>
              </a:rPr>
              <a:t>Ejemplo</a:t>
            </a:r>
          </a:p>
          <a:p>
            <a:pPr algn="just">
              <a:spcBef>
                <a:spcPts val="600"/>
              </a:spcBef>
            </a:pPr>
            <a:r>
              <a:rPr lang="es-AR" sz="1400" dirty="0" smtClean="0">
                <a:solidFill>
                  <a:schemeClr val="tx1"/>
                </a:solidFill>
                <a:latin typeface="Arial" pitchFamily="34" charset="0"/>
                <a:cs typeface="Arial" pitchFamily="34" charset="0"/>
              </a:rPr>
              <a:t>En el código  de la izquierda, se  crean un proceso con el </a:t>
            </a:r>
            <a:r>
              <a:rPr lang="es-AR" sz="1400" dirty="0" err="1" smtClean="0">
                <a:solidFill>
                  <a:schemeClr val="tx1"/>
                </a:solidFill>
                <a:latin typeface="Arial" pitchFamily="34" charset="0"/>
                <a:cs typeface="Arial" pitchFamily="34" charset="0"/>
              </a:rPr>
              <a:t>fork</a:t>
            </a:r>
            <a:r>
              <a:rPr lang="es-AR" sz="1400" dirty="0" smtClean="0">
                <a:solidFill>
                  <a:schemeClr val="tx1"/>
                </a:solidFill>
                <a:latin typeface="Arial" pitchFamily="34" charset="0"/>
                <a:cs typeface="Arial" pitchFamily="34" charset="0"/>
              </a:rPr>
              <a:t>() y el padre le envía un mensaje al hijo </a:t>
            </a:r>
          </a:p>
          <a:p>
            <a:pPr algn="just">
              <a:spcBef>
                <a:spcPts val="600"/>
              </a:spcBef>
            </a:pPr>
            <a:r>
              <a:rPr lang="es-AR" sz="1400" dirty="0" smtClean="0">
                <a:solidFill>
                  <a:schemeClr val="tx1"/>
                </a:solidFill>
                <a:latin typeface="Arial" pitchFamily="34" charset="0"/>
                <a:cs typeface="Arial" pitchFamily="34" charset="0"/>
              </a:rPr>
              <a:t>Se puede ver en la </a:t>
            </a:r>
            <a:r>
              <a:rPr lang="es-AR" sz="1400" smtClean="0">
                <a:solidFill>
                  <a:schemeClr val="tx1"/>
                </a:solidFill>
                <a:latin typeface="Arial" pitchFamily="34" charset="0"/>
                <a:cs typeface="Arial" pitchFamily="34" charset="0"/>
              </a:rPr>
              <a:t>línea 16 </a:t>
            </a:r>
            <a:r>
              <a:rPr lang="es-AR" sz="1400" dirty="0" smtClean="0">
                <a:solidFill>
                  <a:schemeClr val="tx1"/>
                </a:solidFill>
                <a:latin typeface="Arial" pitchFamily="34" charset="0"/>
                <a:cs typeface="Arial" pitchFamily="34" charset="0"/>
              </a:rPr>
              <a:t>que se crea una tubería utilizando como parámetro del pipe un arreglo (si hay un error devuelve -1). </a:t>
            </a:r>
          </a:p>
          <a:p>
            <a:pPr algn="just">
              <a:spcBef>
                <a:spcPts val="600"/>
              </a:spcBef>
            </a:pPr>
            <a:r>
              <a:rPr lang="es-AR" sz="1400" dirty="0" smtClean="0">
                <a:solidFill>
                  <a:schemeClr val="tx1"/>
                </a:solidFill>
                <a:latin typeface="Arial" pitchFamily="34" charset="0"/>
                <a:cs typeface="Arial" pitchFamily="34" charset="0"/>
              </a:rPr>
              <a:t>Para enviar datos se utiliza la instrucción </a:t>
            </a:r>
            <a:r>
              <a:rPr lang="es-AR" sz="1400" dirty="0" err="1" smtClean="0">
                <a:solidFill>
                  <a:schemeClr val="tx1"/>
                </a:solidFill>
                <a:latin typeface="Arial" pitchFamily="34" charset="0"/>
                <a:cs typeface="Arial" pitchFamily="34" charset="0"/>
              </a:rPr>
              <a:t>write</a:t>
            </a:r>
            <a:r>
              <a:rPr lang="es-AR" sz="1400" dirty="0" smtClean="0">
                <a:solidFill>
                  <a:schemeClr val="tx1"/>
                </a:solidFill>
                <a:latin typeface="Arial" pitchFamily="34" charset="0"/>
                <a:cs typeface="Arial" pitchFamily="34" charset="0"/>
              </a:rPr>
              <a:t> y para recibir datos el </a:t>
            </a:r>
            <a:r>
              <a:rPr lang="es-AR" sz="1400" dirty="0" err="1" smtClean="0">
                <a:solidFill>
                  <a:schemeClr val="tx1"/>
                </a:solidFill>
                <a:latin typeface="Arial" pitchFamily="34" charset="0"/>
                <a:cs typeface="Arial" pitchFamily="34" charset="0"/>
              </a:rPr>
              <a:t>read</a:t>
            </a:r>
            <a:r>
              <a:rPr lang="es-AR" sz="1400" dirty="0" smtClean="0">
                <a:solidFill>
                  <a:schemeClr val="tx1"/>
                </a:solidFill>
                <a:latin typeface="Arial" pitchFamily="34" charset="0"/>
                <a:cs typeface="Arial" pitchFamily="34" charset="0"/>
              </a:rPr>
              <a:t>. Los argumentos de ambas funciones son similares: el </a:t>
            </a:r>
            <a:r>
              <a:rPr lang="es-AR" sz="1400" b="1" dirty="0" smtClean="0">
                <a:solidFill>
                  <a:schemeClr val="tx1"/>
                </a:solidFill>
                <a:latin typeface="Arial" pitchFamily="34" charset="0"/>
                <a:cs typeface="Arial" pitchFamily="34" charset="0"/>
              </a:rPr>
              <a:t>identificador de pipe </a:t>
            </a:r>
            <a:r>
              <a:rPr lang="es-AR" sz="1400" dirty="0" smtClean="0">
                <a:solidFill>
                  <a:schemeClr val="tx1"/>
                </a:solidFill>
                <a:latin typeface="Arial" pitchFamily="34" charset="0"/>
                <a:cs typeface="Arial" pitchFamily="34" charset="0"/>
              </a:rPr>
              <a:t>(</a:t>
            </a:r>
            <a:r>
              <a:rPr lang="es-AR" sz="1400" dirty="0" err="1" smtClean="0">
                <a:solidFill>
                  <a:schemeClr val="tx1"/>
                </a:solidFill>
                <a:latin typeface="Arial" pitchFamily="34" charset="0"/>
                <a:cs typeface="Arial" pitchFamily="34" charset="0"/>
              </a:rPr>
              <a:t>fd</a:t>
            </a:r>
            <a:r>
              <a:rPr lang="es-AR" sz="1400" dirty="0" smtClean="0">
                <a:solidFill>
                  <a:schemeClr val="tx1"/>
                </a:solidFill>
                <a:latin typeface="Arial" pitchFamily="34" charset="0"/>
                <a:cs typeface="Arial" pitchFamily="34" charset="0"/>
              </a:rPr>
              <a:t>[1] para escribir y </a:t>
            </a:r>
            <a:r>
              <a:rPr lang="es-AR" sz="1400" dirty="0" err="1" smtClean="0">
                <a:solidFill>
                  <a:schemeClr val="tx1"/>
                </a:solidFill>
                <a:latin typeface="Arial" pitchFamily="34" charset="0"/>
                <a:cs typeface="Arial" pitchFamily="34" charset="0"/>
              </a:rPr>
              <a:t>fd</a:t>
            </a:r>
            <a:r>
              <a:rPr lang="es-AR" sz="1400" dirty="0" smtClean="0">
                <a:solidFill>
                  <a:schemeClr val="tx1"/>
                </a:solidFill>
                <a:latin typeface="Arial" pitchFamily="34" charset="0"/>
                <a:cs typeface="Arial" pitchFamily="34" charset="0"/>
              </a:rPr>
              <a:t>[0]) para leer),  </a:t>
            </a:r>
            <a:r>
              <a:rPr lang="es-AR" sz="1400" b="1" dirty="0" smtClean="0">
                <a:solidFill>
                  <a:schemeClr val="tx1"/>
                </a:solidFill>
                <a:latin typeface="Arial" pitchFamily="34" charset="0"/>
                <a:cs typeface="Arial" pitchFamily="34" charset="0"/>
              </a:rPr>
              <a:t>puntero a los datos </a:t>
            </a:r>
            <a:r>
              <a:rPr lang="es-AR" sz="1400" dirty="0" smtClean="0">
                <a:solidFill>
                  <a:schemeClr val="tx1"/>
                </a:solidFill>
                <a:latin typeface="Arial" pitchFamily="34" charset="0"/>
                <a:cs typeface="Arial" pitchFamily="34" charset="0"/>
              </a:rPr>
              <a:t>a enviar o recibir y la </a:t>
            </a:r>
            <a:r>
              <a:rPr lang="es-AR" sz="1400" b="1" dirty="0" smtClean="0">
                <a:solidFill>
                  <a:schemeClr val="tx1"/>
                </a:solidFill>
                <a:latin typeface="Arial" pitchFamily="34" charset="0"/>
                <a:cs typeface="Arial" pitchFamily="34" charset="0"/>
              </a:rPr>
              <a:t>cantidad de bytes</a:t>
            </a:r>
            <a:r>
              <a:rPr lang="es-AR" sz="1400" dirty="0" smtClean="0">
                <a:solidFill>
                  <a:schemeClr val="tx1"/>
                </a:solidFill>
                <a:latin typeface="Arial" pitchFamily="34" charset="0"/>
                <a:cs typeface="Arial" pitchFamily="34" charset="0"/>
              </a:rPr>
              <a:t> a leer o escribir. El </a:t>
            </a:r>
            <a:r>
              <a:rPr lang="es-AR" sz="1400" dirty="0" err="1" smtClean="0">
                <a:solidFill>
                  <a:schemeClr val="tx1"/>
                </a:solidFill>
                <a:latin typeface="Arial" pitchFamily="34" charset="0"/>
                <a:cs typeface="Arial" pitchFamily="34" charset="0"/>
              </a:rPr>
              <a:t>read</a:t>
            </a:r>
            <a:r>
              <a:rPr lang="es-AR" sz="1400" dirty="0" smtClean="0">
                <a:solidFill>
                  <a:schemeClr val="tx1"/>
                </a:solidFill>
                <a:latin typeface="Arial" pitchFamily="34" charset="0"/>
                <a:cs typeface="Arial" pitchFamily="34" charset="0"/>
              </a:rPr>
              <a:t> devuelve la cantidad de bytes </a:t>
            </a:r>
            <a:r>
              <a:rPr lang="es-AR" sz="1400" dirty="0" err="1" smtClean="0">
                <a:solidFill>
                  <a:schemeClr val="tx1"/>
                </a:solidFill>
                <a:latin typeface="Arial" pitchFamily="34" charset="0"/>
                <a:cs typeface="Arial" pitchFamily="34" charset="0"/>
              </a:rPr>
              <a:t>leidos</a:t>
            </a:r>
            <a:r>
              <a:rPr lang="es-AR" sz="1400" dirty="0" smtClean="0">
                <a:solidFill>
                  <a:schemeClr val="tx1"/>
                </a:solidFill>
                <a:latin typeface="Arial" pitchFamily="34" charset="0"/>
                <a:cs typeface="Arial" pitchFamily="34" charset="0"/>
              </a:rPr>
              <a:t>.</a:t>
            </a:r>
          </a:p>
          <a:p>
            <a:pPr algn="just">
              <a:spcBef>
                <a:spcPts val="600"/>
              </a:spcBef>
            </a:pPr>
            <a:r>
              <a:rPr lang="es-AR" sz="1400" dirty="0" smtClean="0">
                <a:solidFill>
                  <a:schemeClr val="tx1"/>
                </a:solidFill>
                <a:latin typeface="Arial" pitchFamily="34" charset="0"/>
                <a:cs typeface="Arial" pitchFamily="34" charset="0"/>
              </a:rPr>
              <a:t>Con </a:t>
            </a:r>
            <a:r>
              <a:rPr lang="es-AR" sz="1400" dirty="0" err="1" smtClean="0">
                <a:solidFill>
                  <a:schemeClr val="tx1"/>
                </a:solidFill>
                <a:latin typeface="Arial" pitchFamily="34" charset="0"/>
                <a:cs typeface="Arial" pitchFamily="34" charset="0"/>
              </a:rPr>
              <a:t>close</a:t>
            </a:r>
            <a:r>
              <a:rPr lang="es-AR" sz="1400" dirty="0" smtClean="0">
                <a:solidFill>
                  <a:schemeClr val="tx1"/>
                </a:solidFill>
                <a:latin typeface="Arial" pitchFamily="34" charset="0"/>
                <a:cs typeface="Arial" pitchFamily="34" charset="0"/>
              </a:rPr>
              <a:t>() se cierran los extremos. Antes de acceder al extremo de la lectura en el pipe es conveniente cerrar el extremo de la escritura y viceversa. </a:t>
            </a: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u="sng" dirty="0" smtClean="0">
              <a:solidFill>
                <a:schemeClr val="tx1"/>
              </a:solidFill>
              <a:latin typeface="Arial" pitchFamily="34" charset="0"/>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323849" y="696596"/>
            <a:ext cx="5191125" cy="614692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454739" y="958850"/>
            <a:ext cx="8460661" cy="5570756"/>
          </a:xfrm>
          <a:prstGeom prst="rect">
            <a:avLst/>
          </a:prstGeom>
          <a:noFill/>
        </p:spPr>
        <p:txBody>
          <a:bodyPr wrap="square" rtlCol="0">
            <a:spAutoFit/>
          </a:bodyPr>
          <a:lstStyle/>
          <a:p>
            <a:pPr algn="just">
              <a:spcBef>
                <a:spcPts val="600"/>
              </a:spcBef>
            </a:pPr>
            <a:r>
              <a:rPr lang="es-AR" sz="1800" dirty="0" smtClean="0">
                <a:solidFill>
                  <a:schemeClr val="tx1"/>
                </a:solidFill>
                <a:latin typeface="Arial" pitchFamily="34" charset="0"/>
                <a:cs typeface="Arial" pitchFamily="34" charset="0"/>
              </a:rPr>
              <a:t>Una tubería con nombre también se llama FIFO porque el primer byte de entrada es el primer byte de salida, y así sucesivamente. </a:t>
            </a:r>
          </a:p>
          <a:p>
            <a:pPr algn="just">
              <a:spcBef>
                <a:spcPts val="600"/>
              </a:spcBef>
            </a:pPr>
            <a:r>
              <a:rPr lang="es-AR" sz="1800" dirty="0" smtClean="0">
                <a:solidFill>
                  <a:schemeClr val="tx1"/>
                </a:solidFill>
                <a:latin typeface="Arial" pitchFamily="34" charset="0"/>
                <a:cs typeface="Arial" pitchFamily="34" charset="0"/>
              </a:rPr>
              <a:t>Una tubería con nombre tiene un archivo de respaldo.</a:t>
            </a:r>
          </a:p>
          <a:p>
            <a:pPr algn="just">
              <a:spcBef>
                <a:spcPts val="600"/>
              </a:spcBef>
            </a:pPr>
            <a:r>
              <a:rPr lang="es-AR" sz="1800" dirty="0" smtClean="0">
                <a:solidFill>
                  <a:schemeClr val="tx1"/>
                </a:solidFill>
                <a:latin typeface="Arial" pitchFamily="34" charset="0"/>
                <a:cs typeface="Arial" pitchFamily="34" charset="0"/>
              </a:rPr>
              <a:t>Se puede entender el funcionamiento de la siguiente manera:</a:t>
            </a:r>
          </a:p>
          <a:p>
            <a:pPr marL="342900" indent="-342900" algn="just">
              <a:spcBef>
                <a:spcPts val="600"/>
              </a:spcBef>
              <a:buAutoNum type="arabicPeriod"/>
            </a:pPr>
            <a:r>
              <a:rPr lang="es-AR" sz="1800" dirty="0" smtClean="0">
                <a:solidFill>
                  <a:schemeClr val="tx1"/>
                </a:solidFill>
                <a:latin typeface="Arial" pitchFamily="34" charset="0"/>
                <a:cs typeface="Arial" pitchFamily="34" charset="0"/>
              </a:rPr>
              <a:t>Abrir 2 terminales en el mismo directorio.</a:t>
            </a:r>
          </a:p>
          <a:p>
            <a:pPr marL="342900" indent="-342900" algn="just">
              <a:spcBef>
                <a:spcPts val="600"/>
              </a:spcBef>
              <a:buAutoNum type="arabicPeriod"/>
            </a:pPr>
            <a:r>
              <a:rPr lang="es-AR" sz="1800" dirty="0" smtClean="0">
                <a:solidFill>
                  <a:schemeClr val="tx1"/>
                </a:solidFill>
                <a:latin typeface="Arial" pitchFamily="34" charset="0"/>
                <a:cs typeface="Arial" pitchFamily="34" charset="0"/>
              </a:rPr>
              <a:t>En una terminal escribir </a:t>
            </a:r>
            <a:r>
              <a:rPr lang="es-AR" sz="1800" dirty="0" err="1" smtClean="0">
                <a:solidFill>
                  <a:srgbClr val="0033CC"/>
                </a:solidFill>
                <a:latin typeface="Arial" pitchFamily="34" charset="0"/>
                <a:cs typeface="Arial" pitchFamily="34" charset="0"/>
              </a:rPr>
              <a:t>mkfifo</a:t>
            </a:r>
            <a:r>
              <a:rPr lang="es-AR" sz="1800" dirty="0" smtClean="0">
                <a:solidFill>
                  <a:srgbClr val="0033CC"/>
                </a:solidFill>
                <a:latin typeface="Arial" pitchFamily="34" charset="0"/>
                <a:cs typeface="Arial" pitchFamily="34" charset="0"/>
              </a:rPr>
              <a:t> prueba </a:t>
            </a:r>
          </a:p>
          <a:p>
            <a:pPr marL="342900" indent="-342900" algn="just">
              <a:spcBef>
                <a:spcPts val="600"/>
              </a:spcBef>
              <a:buAutoNum type="arabicPeriod"/>
            </a:pPr>
            <a:r>
              <a:rPr lang="es-AR" sz="1800" dirty="0" smtClean="0">
                <a:solidFill>
                  <a:schemeClr val="tx1"/>
                </a:solidFill>
                <a:latin typeface="Arial" pitchFamily="34" charset="0"/>
                <a:cs typeface="Arial" pitchFamily="34" charset="0"/>
              </a:rPr>
              <a:t>Escribir </a:t>
            </a:r>
            <a:r>
              <a:rPr lang="es-AR" sz="1800" dirty="0" err="1" smtClean="0">
                <a:solidFill>
                  <a:srgbClr val="0033CC"/>
                </a:solidFill>
                <a:latin typeface="Arial" pitchFamily="34" charset="0"/>
                <a:cs typeface="Arial" pitchFamily="34" charset="0"/>
              </a:rPr>
              <a:t>cat</a:t>
            </a:r>
            <a:r>
              <a:rPr lang="es-AR" sz="1800" dirty="0" smtClean="0">
                <a:solidFill>
                  <a:srgbClr val="0033CC"/>
                </a:solidFill>
                <a:latin typeface="Arial" pitchFamily="34" charset="0"/>
                <a:cs typeface="Arial" pitchFamily="34" charset="0"/>
              </a:rPr>
              <a:t> prueba </a:t>
            </a:r>
            <a:r>
              <a:rPr lang="es-AR" sz="1800" dirty="0" smtClean="0">
                <a:solidFill>
                  <a:schemeClr val="tx1"/>
                </a:solidFill>
                <a:latin typeface="Arial" pitchFamily="34" charset="0"/>
                <a:cs typeface="Arial" pitchFamily="34" charset="0"/>
              </a:rPr>
              <a:t>(para mostrar lo que tiene el archivo prueba) (Al principio, no debería aparecer nada en la terminal porque todavía no se ha escrito nada en la canalización con nombre.)</a:t>
            </a:r>
          </a:p>
          <a:p>
            <a:pPr marL="342900" indent="-342900" algn="just">
              <a:spcBef>
                <a:spcPts val="600"/>
              </a:spcBef>
              <a:buAutoNum type="arabicPeriod"/>
            </a:pPr>
            <a:r>
              <a:rPr lang="es-AR" sz="1800" dirty="0" smtClean="0">
                <a:solidFill>
                  <a:schemeClr val="tx1"/>
                </a:solidFill>
                <a:latin typeface="Arial" pitchFamily="34" charset="0"/>
                <a:cs typeface="Arial" pitchFamily="34" charset="0"/>
              </a:rPr>
              <a:t>En la otra terminal, escribir </a:t>
            </a:r>
            <a:r>
              <a:rPr lang="es-AR" sz="1800" dirty="0" err="1" smtClean="0">
                <a:solidFill>
                  <a:srgbClr val="0033CC"/>
                </a:solidFill>
                <a:latin typeface="Arial" pitchFamily="34" charset="0"/>
                <a:cs typeface="Arial" pitchFamily="34" charset="0"/>
              </a:rPr>
              <a:t>ls</a:t>
            </a:r>
            <a:r>
              <a:rPr lang="es-AR" sz="1800" dirty="0" smtClean="0">
                <a:solidFill>
                  <a:srgbClr val="0033CC"/>
                </a:solidFill>
                <a:latin typeface="Arial" pitchFamily="34" charset="0"/>
                <a:cs typeface="Arial" pitchFamily="34" charset="0"/>
              </a:rPr>
              <a:t> &gt; prueba  </a:t>
            </a:r>
            <a:r>
              <a:rPr lang="es-AR" sz="1800" dirty="0" smtClean="0">
                <a:solidFill>
                  <a:schemeClr val="tx1"/>
                </a:solidFill>
                <a:latin typeface="Arial" pitchFamily="34" charset="0"/>
                <a:cs typeface="Arial" pitchFamily="34" charset="0"/>
              </a:rPr>
              <a:t>o  cualquier otro comando que tenga una salida en pantalla.</a:t>
            </a:r>
          </a:p>
          <a:p>
            <a:pPr marL="342900" indent="-342900" algn="just">
              <a:spcBef>
                <a:spcPts val="600"/>
              </a:spcBef>
              <a:buAutoNum type="arabicPeriod"/>
            </a:pPr>
            <a:r>
              <a:rPr lang="es-AR" sz="1800" dirty="0" smtClean="0">
                <a:solidFill>
                  <a:schemeClr val="tx1"/>
                </a:solidFill>
                <a:latin typeface="Arial" pitchFamily="34" charset="0"/>
                <a:cs typeface="Arial" pitchFamily="34" charset="0"/>
              </a:rPr>
              <a:t>Para eliminar la tubería escribir </a:t>
            </a:r>
            <a:r>
              <a:rPr lang="es-AR" sz="1800" dirty="0" err="1" smtClean="0">
                <a:solidFill>
                  <a:srgbClr val="0033CC"/>
                </a:solidFill>
                <a:latin typeface="Arial" pitchFamily="34" charset="0"/>
                <a:cs typeface="Arial" pitchFamily="34" charset="0"/>
              </a:rPr>
              <a:t>unlink</a:t>
            </a:r>
            <a:r>
              <a:rPr lang="es-AR" sz="1800" dirty="0" smtClean="0">
                <a:solidFill>
                  <a:srgbClr val="0033CC"/>
                </a:solidFill>
                <a:latin typeface="Arial" pitchFamily="34" charset="0"/>
                <a:cs typeface="Arial" pitchFamily="34" charset="0"/>
              </a:rPr>
              <a:t> prueba</a:t>
            </a: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r>
              <a:rPr lang="es-AR" sz="1800" dirty="0" smtClean="0">
                <a:solidFill>
                  <a:schemeClr val="tx1"/>
                </a:solidFill>
                <a:latin typeface="Arial" pitchFamily="34" charset="0"/>
                <a:cs typeface="Arial" pitchFamily="34" charset="0"/>
              </a:rPr>
              <a:t>Nota: Si después del punto 2 hubiéramos ejecutado </a:t>
            </a:r>
            <a:r>
              <a:rPr lang="es-AR" sz="1800" dirty="0" err="1" smtClean="0">
                <a:solidFill>
                  <a:schemeClr val="tx1"/>
                </a:solidFill>
                <a:latin typeface="Arial" pitchFamily="34" charset="0"/>
                <a:cs typeface="Arial" pitchFamily="34" charset="0"/>
              </a:rPr>
              <a:t>ls</a:t>
            </a:r>
            <a:r>
              <a:rPr lang="es-AR" sz="1800" dirty="0" smtClean="0">
                <a:solidFill>
                  <a:schemeClr val="tx1"/>
                </a:solidFill>
                <a:latin typeface="Arial" pitchFamily="34" charset="0"/>
                <a:cs typeface="Arial" pitchFamily="34" charset="0"/>
              </a:rPr>
              <a:t> –l se vería el archivo “prueba” que se creó para la comunicación entre procesos, y es una vía de intercambio de datos (se ve que el tipo de archivo es </a:t>
            </a:r>
            <a:r>
              <a:rPr lang="es-AR" sz="1800" b="1" dirty="0" smtClean="0">
                <a:solidFill>
                  <a:schemeClr val="tx1"/>
                </a:solidFill>
                <a:latin typeface="Arial" pitchFamily="34" charset="0"/>
                <a:cs typeface="Arial" pitchFamily="34" charset="0"/>
              </a:rPr>
              <a:t>p</a:t>
            </a:r>
            <a:r>
              <a:rPr lang="es-AR" sz="1800" dirty="0" smtClean="0">
                <a:solidFill>
                  <a:schemeClr val="tx1"/>
                </a:solidFill>
                <a:latin typeface="Arial" pitchFamily="34" charset="0"/>
                <a:cs typeface="Arial" pitchFamily="34" charset="0"/>
              </a:rPr>
              <a:t> de pipe o tubería)</a:t>
            </a:r>
          </a:p>
          <a:p>
            <a:pPr marL="342900" indent="-342900" algn="just">
              <a:spcBef>
                <a:spcPts val="600"/>
              </a:spcBef>
            </a:pPr>
            <a:endParaRPr lang="es-AR" sz="1800" dirty="0" smtClean="0">
              <a:solidFill>
                <a:schemeClr val="tx1"/>
              </a:solidFill>
              <a:latin typeface="Arial" pitchFamily="34" charset="0"/>
              <a:cs typeface="Arial" pitchFamily="34" charset="0"/>
            </a:endParaRPr>
          </a:p>
        </p:txBody>
      </p:sp>
      <p:sp>
        <p:nvSpPr>
          <p:cNvPr id="10" name="1 Título"/>
          <p:cNvSpPr txBox="1">
            <a:spLocks/>
          </p:cNvSpPr>
          <p:nvPr/>
        </p:nvSpPr>
        <p:spPr>
          <a:xfrm>
            <a:off x="457200" y="-11386"/>
            <a:ext cx="8229600" cy="83372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3400" b="1" dirty="0" err="1" smtClean="0">
                <a:solidFill>
                  <a:schemeClr val="tx1"/>
                </a:solidFill>
                <a:latin typeface="+mj-lt"/>
                <a:ea typeface="+mj-ea"/>
                <a:cs typeface="+mj-cs"/>
              </a:rPr>
              <a:t>mkfifo</a:t>
            </a:r>
            <a:r>
              <a:rPr lang="es-AR" sz="3400" dirty="0" smtClean="0">
                <a:solidFill>
                  <a:schemeClr val="tx1"/>
                </a:solidFill>
                <a:latin typeface="+mj-lt"/>
                <a:ea typeface="+mj-ea"/>
                <a:cs typeface="+mj-cs"/>
              </a:rPr>
              <a:t>  (tubería con nombre)</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86018" name="Picture 2"/>
          <p:cNvPicPr>
            <a:picLocks noChangeAspect="1" noChangeArrowheads="1"/>
          </p:cNvPicPr>
          <p:nvPr/>
        </p:nvPicPr>
        <p:blipFill>
          <a:blip r:embed="rId3" cstate="print"/>
          <a:srcRect/>
          <a:stretch>
            <a:fillRect/>
          </a:stretch>
        </p:blipFill>
        <p:spPr bwMode="auto">
          <a:xfrm>
            <a:off x="877888" y="6235700"/>
            <a:ext cx="7905317" cy="295275"/>
          </a:xfrm>
          <a:prstGeom prst="rect">
            <a:avLst/>
          </a:prstGeom>
          <a:ln>
            <a:noFill/>
          </a:ln>
          <a:effectLst>
            <a:outerShdw blurRad="292100" dist="139700" dir="2700000" algn="tl" rotWithShape="0">
              <a:srgbClr val="333333">
                <a:alpha val="65000"/>
              </a:srgbClr>
            </a:outerShdw>
          </a:effectLst>
        </p:spPr>
      </p:pic>
      <p:cxnSp>
        <p:nvCxnSpPr>
          <p:cNvPr id="13" name="12 Conector recto de flecha"/>
          <p:cNvCxnSpPr/>
          <p:nvPr/>
        </p:nvCxnSpPr>
        <p:spPr>
          <a:xfrm flipH="1">
            <a:off x="1092200" y="6134100"/>
            <a:ext cx="114300" cy="1651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190501" y="666750"/>
            <a:ext cx="8674100" cy="1461939"/>
          </a:xfrm>
          <a:prstGeom prst="rect">
            <a:avLst/>
          </a:prstGeom>
          <a:noFill/>
        </p:spPr>
        <p:txBody>
          <a:bodyPr wrap="square" rtlCol="0">
            <a:spAutoFit/>
          </a:bodyPr>
          <a:lstStyle/>
          <a:p>
            <a:pPr marL="342900" indent="-342900" algn="just">
              <a:spcBef>
                <a:spcPts val="600"/>
              </a:spcBef>
            </a:pPr>
            <a:r>
              <a:rPr lang="es-AR" sz="1400" dirty="0" smtClean="0">
                <a:solidFill>
                  <a:schemeClr val="tx1"/>
                </a:solidFill>
                <a:latin typeface="Arial" pitchFamily="34" charset="0"/>
                <a:cs typeface="Arial" pitchFamily="34" charset="0"/>
              </a:rPr>
              <a:t>Con la función de biblioteca llamada </a:t>
            </a:r>
            <a:r>
              <a:rPr lang="es-AR" sz="1400" dirty="0" err="1" smtClean="0">
                <a:solidFill>
                  <a:schemeClr val="tx1"/>
                </a:solidFill>
                <a:latin typeface="Arial" pitchFamily="34" charset="0"/>
                <a:cs typeface="Arial" pitchFamily="34" charset="0"/>
              </a:rPr>
              <a:t>mkfifo</a:t>
            </a:r>
            <a:r>
              <a:rPr lang="es-AR" sz="1400" dirty="0" smtClean="0">
                <a:solidFill>
                  <a:schemeClr val="tx1"/>
                </a:solidFill>
                <a:latin typeface="Arial" pitchFamily="34" charset="0"/>
                <a:cs typeface="Arial" pitchFamily="34" charset="0"/>
              </a:rPr>
              <a:t> que crea una tubería con nombre. </a:t>
            </a:r>
          </a:p>
          <a:p>
            <a:pPr marL="342900" indent="-342900" algn="just">
              <a:spcBef>
                <a:spcPts val="600"/>
              </a:spcBef>
            </a:pPr>
            <a:r>
              <a:rPr lang="es-AR" sz="1400" dirty="0" smtClean="0">
                <a:solidFill>
                  <a:schemeClr val="tx1"/>
                </a:solidFill>
                <a:latin typeface="Arial" pitchFamily="34" charset="0"/>
                <a:cs typeface="Arial" pitchFamily="34" charset="0"/>
              </a:rPr>
              <a:t>En los siguientes programas: en el productor se crea la tubería (llamada ‘</a:t>
            </a:r>
            <a:r>
              <a:rPr lang="es-AR" sz="1400" dirty="0" err="1" smtClean="0">
                <a:solidFill>
                  <a:schemeClr val="tx1"/>
                </a:solidFill>
                <a:latin typeface="Arial" pitchFamily="34" charset="0"/>
                <a:cs typeface="Arial" pitchFamily="34" charset="0"/>
              </a:rPr>
              <a:t>fifo</a:t>
            </a:r>
            <a:r>
              <a:rPr lang="es-AR" sz="1400" dirty="0" smtClean="0">
                <a:solidFill>
                  <a:schemeClr val="tx1"/>
                </a:solidFill>
                <a:latin typeface="Arial" pitchFamily="34" charset="0"/>
                <a:cs typeface="Arial" pitchFamily="34" charset="0"/>
              </a:rPr>
              <a:t>’), se abre para escritura y se escribe, en el consumidor, se abre para lectura, se lee y se elimina la tubería. Los dos programas deben ejecutarse en diferentes terminales con el mismo directorio de trabajo. El productor, se debe ejecutar antes que el consumidor ya que es el que crea la tubería y el consumidor luego accede a esa tubería con nombre ya creada.</a:t>
            </a:r>
          </a:p>
        </p:txBody>
      </p:sp>
      <p:sp>
        <p:nvSpPr>
          <p:cNvPr id="10" name="1 Título"/>
          <p:cNvSpPr txBox="1">
            <a:spLocks/>
          </p:cNvSpPr>
          <p:nvPr/>
        </p:nvSpPr>
        <p:spPr>
          <a:xfrm>
            <a:off x="457200" y="-11386"/>
            <a:ext cx="8229600" cy="83372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3400" dirty="0" err="1" smtClean="0">
                <a:solidFill>
                  <a:schemeClr val="tx1"/>
                </a:solidFill>
                <a:latin typeface="+mj-lt"/>
                <a:ea typeface="+mj-ea"/>
                <a:cs typeface="+mj-cs"/>
              </a:rPr>
              <a:t>mkfifo</a:t>
            </a:r>
            <a:r>
              <a:rPr lang="es-AR" sz="3400" dirty="0" smtClean="0">
                <a:solidFill>
                  <a:schemeClr val="tx1"/>
                </a:solidFill>
                <a:latin typeface="+mj-lt"/>
                <a:ea typeface="+mj-ea"/>
                <a:cs typeface="+mj-cs"/>
              </a:rPr>
              <a:t>  (tubería con nombre)</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87042" name="Picture 2"/>
          <p:cNvPicPr>
            <a:picLocks noChangeAspect="1" noChangeArrowheads="1"/>
          </p:cNvPicPr>
          <p:nvPr/>
        </p:nvPicPr>
        <p:blipFill>
          <a:blip r:embed="rId3" cstate="print"/>
          <a:srcRect/>
          <a:stretch>
            <a:fillRect/>
          </a:stretch>
        </p:blipFill>
        <p:spPr bwMode="auto">
          <a:xfrm>
            <a:off x="50800" y="2066925"/>
            <a:ext cx="5067300" cy="4714875"/>
          </a:xfrm>
          <a:prstGeom prst="rect">
            <a:avLst/>
          </a:prstGeom>
          <a:ln>
            <a:noFill/>
          </a:ln>
          <a:effectLst>
            <a:outerShdw blurRad="292100" dist="139700" dir="2700000" algn="tl" rotWithShape="0">
              <a:srgbClr val="333333">
                <a:alpha val="65000"/>
              </a:srgbClr>
            </a:outerShdw>
          </a:effectLst>
        </p:spPr>
      </p:pic>
      <p:pic>
        <p:nvPicPr>
          <p:cNvPr id="87044" name="Picture 4"/>
          <p:cNvPicPr>
            <a:picLocks noChangeAspect="1" noChangeArrowheads="1"/>
          </p:cNvPicPr>
          <p:nvPr/>
        </p:nvPicPr>
        <p:blipFill>
          <a:blip r:embed="rId4" cstate="print"/>
          <a:srcRect/>
          <a:stretch>
            <a:fillRect/>
          </a:stretch>
        </p:blipFill>
        <p:spPr bwMode="auto">
          <a:xfrm>
            <a:off x="5191125" y="2085975"/>
            <a:ext cx="3952875" cy="4057650"/>
          </a:xfrm>
          <a:prstGeom prst="rect">
            <a:avLst/>
          </a:prstGeom>
          <a:ln>
            <a:noFill/>
          </a:ln>
          <a:effectLst>
            <a:outerShdw blurRad="292100" dist="139700" dir="2700000" algn="tl" rotWithShape="0">
              <a:srgbClr val="333333">
                <a:alpha val="65000"/>
              </a:srgbClr>
            </a:outerShdw>
          </a:effectLst>
        </p:spPr>
      </p:pic>
      <p:sp>
        <p:nvSpPr>
          <p:cNvPr id="11" name="1 Título"/>
          <p:cNvSpPr txBox="1">
            <a:spLocks/>
          </p:cNvSpPr>
          <p:nvPr/>
        </p:nvSpPr>
        <p:spPr>
          <a:xfrm>
            <a:off x="3162300" y="2070100"/>
            <a:ext cx="1447800" cy="50484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1800" b="1" dirty="0" smtClean="0">
                <a:solidFill>
                  <a:srgbClr val="0033CC"/>
                </a:solidFill>
                <a:latin typeface="Arial" pitchFamily="34" charset="0"/>
                <a:ea typeface="+mj-ea"/>
                <a:cs typeface="Arial" pitchFamily="34" charset="0"/>
              </a:rPr>
              <a:t>productor</a:t>
            </a:r>
            <a:endParaRPr kumimoji="0" lang="es-AR" sz="1800" b="1" i="0" u="none" strike="noStrike" kern="1200" cap="none" spc="0" normalizeH="0" baseline="0" noProof="0" dirty="0">
              <a:ln>
                <a:noFill/>
              </a:ln>
              <a:solidFill>
                <a:srgbClr val="0033CC"/>
              </a:solidFill>
              <a:effectLst/>
              <a:uLnTx/>
              <a:uFillTx/>
              <a:latin typeface="Arial" pitchFamily="34" charset="0"/>
              <a:ea typeface="+mj-ea"/>
              <a:cs typeface="Arial" pitchFamily="34" charset="0"/>
            </a:endParaRPr>
          </a:p>
        </p:txBody>
      </p:sp>
      <p:sp>
        <p:nvSpPr>
          <p:cNvPr id="12" name="1 Título"/>
          <p:cNvSpPr txBox="1">
            <a:spLocks/>
          </p:cNvSpPr>
          <p:nvPr/>
        </p:nvSpPr>
        <p:spPr>
          <a:xfrm>
            <a:off x="7175500" y="2082800"/>
            <a:ext cx="1778000" cy="5588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1800" b="1" dirty="0" smtClean="0">
                <a:solidFill>
                  <a:srgbClr val="0033CC"/>
                </a:solidFill>
                <a:latin typeface="Arial" pitchFamily="34" charset="0"/>
                <a:ea typeface="+mj-ea"/>
                <a:cs typeface="Arial" pitchFamily="34" charset="0"/>
              </a:rPr>
              <a:t>consumidor</a:t>
            </a:r>
            <a:endParaRPr kumimoji="0" lang="es-AR" sz="1800" b="1" i="0" u="none" strike="noStrike" kern="1200" cap="none" spc="0" normalizeH="0" baseline="0" noProof="0" dirty="0">
              <a:ln>
                <a:noFill/>
              </a:ln>
              <a:solidFill>
                <a:srgbClr val="0033CC"/>
              </a:solidFill>
              <a:effectLst/>
              <a:uLnTx/>
              <a:uFillTx/>
              <a:latin typeface="Arial" pitchFamily="34" charset="0"/>
              <a:ea typeface="+mj-ea"/>
              <a:cs typeface="Arial" pitchFamily="34" charset="0"/>
            </a:endParaRPr>
          </a:p>
        </p:txBody>
      </p:sp>
      <p:sp>
        <p:nvSpPr>
          <p:cNvPr id="14" name="13 Rectángulo"/>
          <p:cNvSpPr/>
          <p:nvPr/>
        </p:nvSpPr>
        <p:spPr>
          <a:xfrm>
            <a:off x="52392" y="2705100"/>
            <a:ext cx="5068247" cy="330200"/>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17 Rectángulo"/>
          <p:cNvSpPr/>
          <p:nvPr/>
        </p:nvSpPr>
        <p:spPr>
          <a:xfrm>
            <a:off x="297181" y="3342640"/>
            <a:ext cx="1569720" cy="172720"/>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18 Rectángulo"/>
          <p:cNvSpPr/>
          <p:nvPr/>
        </p:nvSpPr>
        <p:spPr>
          <a:xfrm>
            <a:off x="5202224" y="2705100"/>
            <a:ext cx="3935858" cy="330200"/>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21 Rectángulo"/>
          <p:cNvSpPr/>
          <p:nvPr/>
        </p:nvSpPr>
        <p:spPr>
          <a:xfrm>
            <a:off x="5191125" y="5451475"/>
            <a:ext cx="3941778" cy="167954"/>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22 Rectángulo"/>
          <p:cNvSpPr/>
          <p:nvPr/>
        </p:nvSpPr>
        <p:spPr>
          <a:xfrm>
            <a:off x="5450206" y="3342640"/>
            <a:ext cx="1569720" cy="172720"/>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7" name="26 Rectángulo"/>
          <p:cNvSpPr/>
          <p:nvPr/>
        </p:nvSpPr>
        <p:spPr>
          <a:xfrm>
            <a:off x="5202222" y="4984750"/>
            <a:ext cx="3941778" cy="167954"/>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8" name="27 Rectángulo"/>
          <p:cNvSpPr/>
          <p:nvPr/>
        </p:nvSpPr>
        <p:spPr>
          <a:xfrm>
            <a:off x="5202222" y="4660900"/>
            <a:ext cx="3941778" cy="167954"/>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28 Rectángulo"/>
          <p:cNvSpPr/>
          <p:nvPr/>
        </p:nvSpPr>
        <p:spPr>
          <a:xfrm>
            <a:off x="5202222" y="4003675"/>
            <a:ext cx="3941778" cy="167954"/>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29 Rectángulo"/>
          <p:cNvSpPr/>
          <p:nvPr/>
        </p:nvSpPr>
        <p:spPr>
          <a:xfrm>
            <a:off x="27003" y="5765800"/>
            <a:ext cx="5099050" cy="180975"/>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30 Rectángulo"/>
          <p:cNvSpPr/>
          <p:nvPr/>
        </p:nvSpPr>
        <p:spPr>
          <a:xfrm>
            <a:off x="38100" y="5451475"/>
            <a:ext cx="5099050" cy="180975"/>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31 Rectángulo"/>
          <p:cNvSpPr/>
          <p:nvPr/>
        </p:nvSpPr>
        <p:spPr>
          <a:xfrm>
            <a:off x="38100" y="4797425"/>
            <a:ext cx="5099050" cy="180975"/>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32 Rectángulo"/>
          <p:cNvSpPr/>
          <p:nvPr/>
        </p:nvSpPr>
        <p:spPr>
          <a:xfrm>
            <a:off x="38100" y="4318000"/>
            <a:ext cx="5099050" cy="180975"/>
          </a:xfrm>
          <a:prstGeom prst="rect">
            <a:avLst/>
          </a:prstGeom>
          <a:solidFill>
            <a:srgbClr val="FF99FF">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4" name="33 CuadroTexto"/>
          <p:cNvSpPr txBox="1"/>
          <p:nvPr/>
        </p:nvSpPr>
        <p:spPr>
          <a:xfrm>
            <a:off x="5486399" y="6372592"/>
            <a:ext cx="3403601" cy="307777"/>
          </a:xfrm>
          <a:prstGeom prst="rect">
            <a:avLst/>
          </a:prstGeom>
          <a:noFill/>
        </p:spPr>
        <p:txBody>
          <a:bodyPr wrap="square" rtlCol="0">
            <a:spAutoFit/>
          </a:bodyPr>
          <a:lstStyle/>
          <a:p>
            <a:pPr marL="342900" indent="-342900" algn="just">
              <a:spcBef>
                <a:spcPts val="600"/>
              </a:spcBef>
            </a:pPr>
            <a:r>
              <a:rPr lang="es-AR" sz="1400" dirty="0" smtClean="0">
                <a:solidFill>
                  <a:schemeClr val="tx1"/>
                </a:solidFill>
                <a:latin typeface="Arial" pitchFamily="34" charset="0"/>
                <a:cs typeface="Arial" pitchFamily="34" charset="0"/>
              </a:rPr>
              <a:t>El atributo del </a:t>
            </a:r>
            <a:r>
              <a:rPr lang="es-AR" sz="1400" dirty="0" err="1" smtClean="0">
                <a:solidFill>
                  <a:schemeClr val="tx1"/>
                </a:solidFill>
                <a:latin typeface="Arial" pitchFamily="34" charset="0"/>
                <a:cs typeface="Arial" pitchFamily="34" charset="0"/>
              </a:rPr>
              <a:t>mkfifo</a:t>
            </a:r>
            <a:r>
              <a:rPr lang="es-AR" sz="1400" dirty="0" smtClean="0">
                <a:solidFill>
                  <a:schemeClr val="tx1"/>
                </a:solidFill>
                <a:latin typeface="Arial" pitchFamily="34" charset="0"/>
                <a:cs typeface="Arial" pitchFamily="34" charset="0"/>
              </a:rPr>
              <a:t> puede ser 0666</a:t>
            </a:r>
          </a:p>
        </p:txBody>
      </p:sp>
      <p:cxnSp>
        <p:nvCxnSpPr>
          <p:cNvPr id="36" name="35 Conector recto de flecha"/>
          <p:cNvCxnSpPr/>
          <p:nvPr/>
        </p:nvCxnSpPr>
        <p:spPr>
          <a:xfrm flipH="1" flipV="1">
            <a:off x="3568700" y="4546600"/>
            <a:ext cx="2273300" cy="181610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38" name="37 Conector recto"/>
          <p:cNvCxnSpPr/>
          <p:nvPr/>
        </p:nvCxnSpPr>
        <p:spPr>
          <a:xfrm flipV="1">
            <a:off x="2120900" y="4495800"/>
            <a:ext cx="2844800" cy="12700"/>
          </a:xfrm>
          <a:prstGeom prst="line">
            <a:avLst/>
          </a:prstGeom>
          <a:ln>
            <a:solidFill>
              <a:srgbClr val="0033CC"/>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Concurrencia y 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54739" y="1295401"/>
            <a:ext cx="8460661" cy="4462760"/>
          </a:xfrm>
          <a:prstGeom prst="rect">
            <a:avLst/>
          </a:prstGeom>
          <a:noFill/>
        </p:spPr>
        <p:txBody>
          <a:bodyPr wrap="square" rtlCol="0">
            <a:spAutoFit/>
          </a:bodyPr>
          <a:lstStyle/>
          <a:p>
            <a:pPr algn="just">
              <a:spcBef>
                <a:spcPts val="600"/>
              </a:spcBef>
            </a:pPr>
            <a:r>
              <a:rPr lang="es-ES" sz="1800" dirty="0" smtClean="0">
                <a:solidFill>
                  <a:schemeClr val="tx1"/>
                </a:solidFill>
                <a:latin typeface="Arial" pitchFamily="34" charset="0"/>
                <a:cs typeface="Arial" pitchFamily="34" charset="0"/>
              </a:rPr>
              <a:t>La </a:t>
            </a:r>
            <a:r>
              <a:rPr lang="es-ES" sz="1800" b="1" dirty="0" smtClean="0">
                <a:solidFill>
                  <a:schemeClr val="tx1"/>
                </a:solidFill>
                <a:latin typeface="Arial" pitchFamily="34" charset="0"/>
                <a:cs typeface="Arial" pitchFamily="34" charset="0"/>
              </a:rPr>
              <a:t>concurrencia</a:t>
            </a:r>
            <a:r>
              <a:rPr lang="es-ES" sz="1800" dirty="0" smtClean="0">
                <a:solidFill>
                  <a:schemeClr val="tx1"/>
                </a:solidFill>
                <a:latin typeface="Arial" pitchFamily="34" charset="0"/>
                <a:cs typeface="Arial" pitchFamily="34" charset="0"/>
              </a:rPr>
              <a:t> es la capacidad de un sistema para ejecutar múltiples procesos o hilos en intervalos de tiempo superpuestos, ya sea para </a:t>
            </a:r>
            <a:r>
              <a:rPr lang="es-ES" sz="1800" b="1" dirty="0" smtClean="0">
                <a:solidFill>
                  <a:schemeClr val="tx1"/>
                </a:solidFill>
                <a:latin typeface="Arial" pitchFamily="34" charset="0"/>
                <a:cs typeface="Arial" pitchFamily="34" charset="0"/>
              </a:rPr>
              <a:t>competir</a:t>
            </a:r>
            <a:r>
              <a:rPr lang="es-ES" sz="1800" dirty="0" smtClean="0">
                <a:solidFill>
                  <a:schemeClr val="tx1"/>
                </a:solidFill>
                <a:latin typeface="Arial" pitchFamily="34" charset="0"/>
                <a:cs typeface="Arial" pitchFamily="34" charset="0"/>
              </a:rPr>
              <a:t> por recursos compartidos o para </a:t>
            </a:r>
            <a:r>
              <a:rPr lang="es-ES" sz="1800" b="1" dirty="0" smtClean="0">
                <a:solidFill>
                  <a:schemeClr val="tx1"/>
                </a:solidFill>
                <a:latin typeface="Arial" pitchFamily="34" charset="0"/>
                <a:cs typeface="Arial" pitchFamily="34" charset="0"/>
              </a:rPr>
              <a:t>cooperar</a:t>
            </a:r>
            <a:r>
              <a:rPr lang="es-ES" sz="1800" dirty="0" smtClean="0">
                <a:solidFill>
                  <a:schemeClr val="tx1"/>
                </a:solidFill>
                <a:latin typeface="Arial" pitchFamily="34" charset="0"/>
                <a:cs typeface="Arial" pitchFamily="34" charset="0"/>
              </a:rPr>
              <a:t> en una tarea común.</a:t>
            </a:r>
          </a:p>
          <a:p>
            <a:pPr algn="just">
              <a:spcBef>
                <a:spcPts val="1200"/>
              </a:spcBef>
            </a:pPr>
            <a:r>
              <a:rPr lang="es-AR" sz="1800" dirty="0" smtClean="0">
                <a:solidFill>
                  <a:schemeClr val="tx1"/>
                </a:solidFill>
                <a:latin typeface="Arial" pitchFamily="34" charset="0"/>
                <a:cs typeface="Arial" pitchFamily="34" charset="0"/>
              </a:rPr>
              <a:t>La concurrencia se puede dar entre:</a:t>
            </a:r>
          </a:p>
          <a:p>
            <a:pPr indent="266700" algn="just">
              <a:spcBef>
                <a:spcPts val="600"/>
              </a:spcBef>
              <a:buFont typeface="Arial" pitchFamily="34" charset="0"/>
              <a:buChar char="•"/>
            </a:pPr>
            <a:r>
              <a:rPr lang="es-AR" sz="1800" dirty="0" smtClean="0">
                <a:solidFill>
                  <a:schemeClr val="tx1"/>
                </a:solidFill>
                <a:latin typeface="Arial" pitchFamily="34" charset="0"/>
                <a:cs typeface="Arial" pitchFamily="34" charset="0"/>
              </a:rPr>
              <a:t>Dos o más hilos del mismo proceso.</a:t>
            </a:r>
          </a:p>
          <a:p>
            <a:pPr indent="266700" algn="just">
              <a:spcBef>
                <a:spcPts val="600"/>
              </a:spcBef>
              <a:buFont typeface="Arial" pitchFamily="34" charset="0"/>
              <a:buChar char="•"/>
            </a:pPr>
            <a:r>
              <a:rPr lang="es-AR" sz="1800" dirty="0" smtClean="0">
                <a:solidFill>
                  <a:schemeClr val="tx1"/>
                </a:solidFill>
                <a:latin typeface="Arial" pitchFamily="34" charset="0"/>
                <a:cs typeface="Arial" pitchFamily="34" charset="0"/>
              </a:rPr>
              <a:t>Dos más procesos de la misma computadora.</a:t>
            </a:r>
          </a:p>
          <a:p>
            <a:pPr indent="266700" algn="just">
              <a:spcBef>
                <a:spcPts val="600"/>
              </a:spcBef>
              <a:buFont typeface="Arial" pitchFamily="34" charset="0"/>
              <a:buChar char="•"/>
            </a:pPr>
            <a:r>
              <a:rPr lang="es-AR" sz="1800" dirty="0" smtClean="0">
                <a:solidFill>
                  <a:schemeClr val="tx1"/>
                </a:solidFill>
                <a:latin typeface="Arial" pitchFamily="34" charset="0"/>
                <a:cs typeface="Arial" pitchFamily="34" charset="0"/>
              </a:rPr>
              <a:t>Dos o más procesos en computadoras separadas conectadas por red</a:t>
            </a:r>
          </a:p>
          <a:p>
            <a:pPr marL="266700" indent="-266700" algn="just">
              <a:spcBef>
                <a:spcPts val="600"/>
              </a:spcBef>
              <a:buFont typeface="Arial" pitchFamily="34" charset="0"/>
              <a:buChar char="•"/>
              <a:tabLst>
                <a:tab pos="182563" algn="l"/>
              </a:tabLst>
            </a:pPr>
            <a:r>
              <a:rPr lang="es-AR" sz="1800" dirty="0" smtClean="0">
                <a:solidFill>
                  <a:schemeClr val="tx1"/>
                </a:solidFill>
                <a:latin typeface="Arial" pitchFamily="34" charset="0"/>
                <a:cs typeface="Arial" pitchFamily="34" charset="0"/>
              </a:rPr>
              <a:t>Dos o más procesos que ocurran sin conexión alguna (asincrónicas) y posteriormente requieran sincronización</a:t>
            </a:r>
          </a:p>
          <a:p>
            <a:pPr indent="266700" algn="just">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u="sng" dirty="0" smtClean="0">
              <a:solidFill>
                <a:schemeClr val="tx1"/>
              </a:solidFill>
              <a:latin typeface="Arial" pitchFamily="34" charset="0"/>
              <a:cs typeface="Arial" pitchFamily="34" charset="0"/>
            </a:endParaRPr>
          </a:p>
        </p:txBody>
      </p:sp>
      <p:sp>
        <p:nvSpPr>
          <p:cNvPr id="26" name="25 CuadroTexto"/>
          <p:cNvSpPr txBox="1"/>
          <p:nvPr/>
        </p:nvSpPr>
        <p:spPr>
          <a:xfrm>
            <a:off x="0" y="4663440"/>
            <a:ext cx="3497580" cy="738664"/>
          </a:xfrm>
          <a:prstGeom prst="rect">
            <a:avLst/>
          </a:prstGeom>
          <a:noFill/>
        </p:spPr>
        <p:txBody>
          <a:bodyPr wrap="square" rtlCol="0">
            <a:spAutoFit/>
          </a:bodyPr>
          <a:lstStyle/>
          <a:p>
            <a:pPr algn="l"/>
            <a:r>
              <a:rPr lang="es-ES" sz="1400" dirty="0" err="1" smtClean="0">
                <a:solidFill>
                  <a:schemeClr val="tx1"/>
                </a:solidFill>
                <a:latin typeface="+mn-lt"/>
              </a:rPr>
              <a:t>Explicacion</a:t>
            </a:r>
            <a:r>
              <a:rPr lang="es-ES" sz="1400" dirty="0" smtClean="0">
                <a:solidFill>
                  <a:schemeClr val="tx1"/>
                </a:solidFill>
                <a:latin typeface="+mn-lt"/>
              </a:rPr>
              <a:t>: la </a:t>
            </a:r>
            <a:r>
              <a:rPr lang="es-ES" sz="1400" b="1" dirty="0" smtClean="0">
                <a:solidFill>
                  <a:schemeClr val="tx1"/>
                </a:solidFill>
                <a:latin typeface="+mn-lt"/>
              </a:rPr>
              <a:t>ejecución asíncrona</a:t>
            </a:r>
            <a:r>
              <a:rPr lang="es-ES" sz="1400" dirty="0" smtClean="0">
                <a:solidFill>
                  <a:schemeClr val="tx1"/>
                </a:solidFill>
                <a:latin typeface="+mn-lt"/>
              </a:rPr>
              <a:t> que deriva en un punto de </a:t>
            </a:r>
            <a:r>
              <a:rPr lang="es-ES" sz="1400" b="1" dirty="0" smtClean="0">
                <a:solidFill>
                  <a:schemeClr val="tx1"/>
                </a:solidFill>
                <a:latin typeface="+mn-lt"/>
              </a:rPr>
              <a:t>sincronización lógica</a:t>
            </a:r>
            <a:r>
              <a:rPr lang="es-ES" sz="1400" dirty="0" smtClean="0">
                <a:solidFill>
                  <a:schemeClr val="tx1"/>
                </a:solidFill>
                <a:latin typeface="+mn-lt"/>
              </a:rPr>
              <a:t>. Hay 2 momentos;:</a:t>
            </a:r>
            <a:endParaRPr lang="es-ES" sz="1400" dirty="0">
              <a:solidFill>
                <a:schemeClr val="tx1"/>
              </a:solidFill>
              <a:latin typeface="+mn-lt"/>
            </a:endParaRPr>
          </a:p>
        </p:txBody>
      </p:sp>
      <p:cxnSp>
        <p:nvCxnSpPr>
          <p:cNvPr id="30" name="29 Conector recto de flecha"/>
          <p:cNvCxnSpPr/>
          <p:nvPr/>
        </p:nvCxnSpPr>
        <p:spPr>
          <a:xfrm>
            <a:off x="1478280" y="4373880"/>
            <a:ext cx="556260" cy="320040"/>
          </a:xfrm>
          <a:prstGeom prst="straightConnector1">
            <a:avLst/>
          </a:prstGeom>
          <a:ln>
            <a:solidFill>
              <a:srgbClr val="0033CC"/>
            </a:solidFill>
            <a:tailEnd type="arrow"/>
          </a:ln>
        </p:spPr>
        <p:style>
          <a:lnRef idx="3">
            <a:schemeClr val="accent6"/>
          </a:lnRef>
          <a:fillRef idx="0">
            <a:schemeClr val="accent6"/>
          </a:fillRef>
          <a:effectRef idx="2">
            <a:schemeClr val="accent6"/>
          </a:effectRef>
          <a:fontRef idx="minor">
            <a:schemeClr val="tx1"/>
          </a:fontRef>
        </p:style>
      </p:cxnSp>
      <p:cxnSp>
        <p:nvCxnSpPr>
          <p:cNvPr id="31" name="30 Conector recto de flecha"/>
          <p:cNvCxnSpPr/>
          <p:nvPr/>
        </p:nvCxnSpPr>
        <p:spPr>
          <a:xfrm>
            <a:off x="3223260" y="4914900"/>
            <a:ext cx="373380" cy="1588"/>
          </a:xfrm>
          <a:prstGeom prst="straightConnector1">
            <a:avLst/>
          </a:prstGeom>
          <a:ln>
            <a:solidFill>
              <a:srgbClr val="0033CC"/>
            </a:solidFill>
            <a:tailEnd type="arrow"/>
          </a:ln>
        </p:spPr>
        <p:style>
          <a:lnRef idx="3">
            <a:schemeClr val="accent6"/>
          </a:lnRef>
          <a:fillRef idx="0">
            <a:schemeClr val="accent6"/>
          </a:fillRef>
          <a:effectRef idx="2">
            <a:schemeClr val="accent6"/>
          </a:effectRef>
          <a:fontRef idx="minor">
            <a:schemeClr val="tx1"/>
          </a:fontRef>
        </p:style>
      </p:cxnSp>
      <p:sp>
        <p:nvSpPr>
          <p:cNvPr id="33" name="32 CuadroTexto"/>
          <p:cNvSpPr txBox="1"/>
          <p:nvPr/>
        </p:nvSpPr>
        <p:spPr>
          <a:xfrm>
            <a:off x="3589020" y="4389121"/>
            <a:ext cx="5623560" cy="2492990"/>
          </a:xfrm>
          <a:prstGeom prst="rect">
            <a:avLst/>
          </a:prstGeom>
          <a:noFill/>
        </p:spPr>
        <p:txBody>
          <a:bodyPr wrap="square" rtlCol="0">
            <a:spAutoFit/>
          </a:bodyPr>
          <a:lstStyle/>
          <a:p>
            <a:pPr algn="l"/>
            <a:r>
              <a:rPr lang="es-ES" sz="1200" b="1" dirty="0" smtClean="0">
                <a:solidFill>
                  <a:schemeClr val="tx1"/>
                </a:solidFill>
                <a:latin typeface="+mn-lt"/>
              </a:rPr>
              <a:t>1 - Asincronismo (Ejecución Independiente)</a:t>
            </a:r>
          </a:p>
          <a:p>
            <a:pPr algn="l"/>
            <a:r>
              <a:rPr lang="es-ES" sz="1200" dirty="0" smtClean="0">
                <a:solidFill>
                  <a:schemeClr val="tx1"/>
                </a:solidFill>
                <a:latin typeface="+mn-lt"/>
              </a:rPr>
              <a:t>Los procesos operan de forma </a:t>
            </a:r>
            <a:r>
              <a:rPr lang="es-ES" sz="1200" b="1" dirty="0" smtClean="0">
                <a:solidFill>
                  <a:schemeClr val="tx1"/>
                </a:solidFill>
                <a:latin typeface="+mn-lt"/>
              </a:rPr>
              <a:t>autónoma y paralela</a:t>
            </a:r>
            <a:r>
              <a:rPr lang="es-ES" sz="1200" dirty="0" smtClean="0">
                <a:solidFill>
                  <a:schemeClr val="tx1"/>
                </a:solidFill>
                <a:latin typeface="+mn-lt"/>
              </a:rPr>
              <a:t> sin interactuar entre sí.</a:t>
            </a:r>
          </a:p>
          <a:p>
            <a:pPr algn="l"/>
            <a:r>
              <a:rPr lang="es-ES" sz="1200" b="1" dirty="0" smtClean="0">
                <a:solidFill>
                  <a:schemeClr val="tx1"/>
                </a:solidFill>
                <a:latin typeface="+mn-lt"/>
              </a:rPr>
              <a:t>Independencia:</a:t>
            </a:r>
            <a:r>
              <a:rPr lang="es-ES" sz="1200" dirty="0" smtClean="0">
                <a:solidFill>
                  <a:schemeClr val="tx1"/>
                </a:solidFill>
                <a:latin typeface="+mn-lt"/>
              </a:rPr>
              <a:t> Cada proceso avanza a su propio ritmo (sin reloj común).</a:t>
            </a:r>
          </a:p>
          <a:p>
            <a:pPr algn="l"/>
            <a:r>
              <a:rPr lang="es-ES" sz="1200" b="1" dirty="0" smtClean="0">
                <a:solidFill>
                  <a:schemeClr val="tx1"/>
                </a:solidFill>
                <a:latin typeface="+mn-lt"/>
              </a:rPr>
              <a:t>Desconexión:</a:t>
            </a:r>
            <a:r>
              <a:rPr lang="es-ES" sz="1200" dirty="0" smtClean="0">
                <a:solidFill>
                  <a:schemeClr val="tx1"/>
                </a:solidFill>
                <a:latin typeface="+mn-lt"/>
              </a:rPr>
              <a:t> No existe intercambio de señales ni datos durante sus tareas individuales.</a:t>
            </a:r>
          </a:p>
          <a:p>
            <a:pPr algn="l"/>
            <a:r>
              <a:rPr lang="es-ES" sz="1200" b="1" dirty="0" smtClean="0">
                <a:solidFill>
                  <a:schemeClr val="tx1"/>
                </a:solidFill>
                <a:latin typeface="+mn-lt"/>
              </a:rPr>
              <a:t>Estado:</a:t>
            </a:r>
            <a:r>
              <a:rPr lang="es-ES" sz="1200" dirty="0" smtClean="0">
                <a:solidFill>
                  <a:schemeClr val="tx1"/>
                </a:solidFill>
                <a:latin typeface="+mn-lt"/>
              </a:rPr>
              <a:t> Un proceso ignora por completo el progreso o estado del otro.</a:t>
            </a:r>
          </a:p>
          <a:p>
            <a:pPr algn="l"/>
            <a:endParaRPr lang="es-ES" sz="1200" dirty="0" smtClean="0">
              <a:solidFill>
                <a:schemeClr val="tx1"/>
              </a:solidFill>
              <a:latin typeface="+mn-lt"/>
            </a:endParaRPr>
          </a:p>
          <a:p>
            <a:pPr algn="l"/>
            <a:r>
              <a:rPr lang="es-ES" sz="1200" b="1" dirty="0" smtClean="0">
                <a:solidFill>
                  <a:schemeClr val="tx1"/>
                </a:solidFill>
                <a:latin typeface="+mn-lt"/>
              </a:rPr>
              <a:t>2 Sincronización (Interdependencia)</a:t>
            </a:r>
          </a:p>
          <a:p>
            <a:pPr algn="l"/>
            <a:r>
              <a:rPr lang="es-ES" sz="1200" dirty="0" smtClean="0">
                <a:solidFill>
                  <a:schemeClr val="tx1"/>
                </a:solidFill>
                <a:latin typeface="+mn-lt"/>
              </a:rPr>
              <a:t>Es el punto donde los procesos deben </a:t>
            </a:r>
            <a:r>
              <a:rPr lang="es-ES" sz="1200" b="1" dirty="0" smtClean="0">
                <a:solidFill>
                  <a:schemeClr val="tx1"/>
                </a:solidFill>
                <a:latin typeface="+mn-lt"/>
              </a:rPr>
              <a:t>coordinarse</a:t>
            </a:r>
            <a:r>
              <a:rPr lang="es-ES" sz="1200" dirty="0" smtClean="0">
                <a:solidFill>
                  <a:schemeClr val="tx1"/>
                </a:solidFill>
                <a:latin typeface="+mn-lt"/>
              </a:rPr>
              <a:t> para evitar errores o inconsistencias.</a:t>
            </a:r>
          </a:p>
          <a:p>
            <a:pPr algn="l"/>
            <a:r>
              <a:rPr lang="es-ES" sz="1200" b="1" dirty="0" smtClean="0">
                <a:solidFill>
                  <a:schemeClr val="tx1"/>
                </a:solidFill>
                <a:latin typeface="+mn-lt"/>
              </a:rPr>
              <a:t>Cooperación: </a:t>
            </a:r>
            <a:r>
              <a:rPr lang="es-ES" sz="1200" dirty="0" smtClean="0">
                <a:solidFill>
                  <a:schemeClr val="tx1"/>
                </a:solidFill>
                <a:latin typeface="+mn-lt"/>
              </a:rPr>
              <a:t>Un proceso espera el resultado de otro para poder avanzar.</a:t>
            </a:r>
          </a:p>
          <a:p>
            <a:pPr algn="l"/>
            <a:r>
              <a:rPr lang="es-ES" sz="1200" b="1" dirty="0" smtClean="0">
                <a:solidFill>
                  <a:schemeClr val="tx1"/>
                </a:solidFill>
                <a:latin typeface="+mn-lt"/>
              </a:rPr>
              <a:t>Competencia: </a:t>
            </a:r>
            <a:r>
              <a:rPr lang="es-ES" sz="1200" dirty="0" smtClean="0">
                <a:solidFill>
                  <a:schemeClr val="tx1"/>
                </a:solidFill>
                <a:latin typeface="+mn-lt"/>
              </a:rPr>
              <a:t>Se turnan para usar un recurso compartido (evita que se "pisen").</a:t>
            </a:r>
          </a:p>
          <a:p>
            <a:pPr algn="l"/>
            <a:r>
              <a:rPr lang="es-ES" sz="1200" b="1" dirty="0" smtClean="0">
                <a:solidFill>
                  <a:schemeClr val="tx1"/>
                </a:solidFill>
                <a:latin typeface="+mn-lt"/>
              </a:rPr>
              <a:t>Orden: </a:t>
            </a:r>
            <a:r>
              <a:rPr lang="es-ES" sz="1200" dirty="0" smtClean="0">
                <a:solidFill>
                  <a:schemeClr val="tx1"/>
                </a:solidFill>
                <a:latin typeface="+mn-lt"/>
              </a:rPr>
              <a:t>Se establece una secuencia lógica (A debe terminar para que B empiece).</a:t>
            </a:r>
          </a:p>
          <a:p>
            <a:pPr algn="l"/>
            <a:endParaRPr lang="es-ES" sz="1200" dirty="0" smtClean="0">
              <a:solidFill>
                <a:schemeClr val="tx1"/>
              </a:solidFill>
              <a:latin typeface="+mn-lt"/>
            </a:endParaRPr>
          </a:p>
          <a:p>
            <a:pPr algn="l"/>
            <a:r>
              <a:rPr lang="es-ES" sz="1200" dirty="0" smtClean="0">
                <a:solidFill>
                  <a:schemeClr val="tx1"/>
                </a:solidFill>
                <a:latin typeface="+mn-lt"/>
              </a:rPr>
              <a:t>.</a:t>
            </a:r>
          </a:p>
        </p:txBody>
      </p:sp>
      <p:sp>
        <p:nvSpPr>
          <p:cNvPr id="37" name="36 CuadroTexto"/>
          <p:cNvSpPr txBox="1"/>
          <p:nvPr/>
        </p:nvSpPr>
        <p:spPr>
          <a:xfrm>
            <a:off x="9243060" y="4365010"/>
            <a:ext cx="2247900" cy="3046988"/>
          </a:xfrm>
          <a:prstGeom prst="rect">
            <a:avLst/>
          </a:prstGeom>
          <a:noFill/>
        </p:spPr>
        <p:txBody>
          <a:bodyPr wrap="square" rtlCol="0">
            <a:spAutoFit/>
          </a:bodyPr>
          <a:lstStyle/>
          <a:p>
            <a:pPr algn="l"/>
            <a:r>
              <a:rPr lang="es-ES" sz="1200" b="1" dirty="0" smtClean="0">
                <a:solidFill>
                  <a:schemeClr val="tx1"/>
                </a:solidFill>
                <a:latin typeface="+mn-lt"/>
              </a:rPr>
              <a:t>Ejemplo análogo:</a:t>
            </a:r>
          </a:p>
          <a:p>
            <a:pPr algn="l"/>
            <a:r>
              <a:rPr lang="es-ES" sz="1200" b="1" dirty="0" smtClean="0">
                <a:solidFill>
                  <a:schemeClr val="tx1"/>
                </a:solidFill>
                <a:latin typeface="+mn-lt"/>
              </a:rPr>
              <a:t>Organizar un asado con amigos:</a:t>
            </a:r>
          </a:p>
          <a:p>
            <a:pPr algn="l"/>
            <a:r>
              <a:rPr lang="es-ES" sz="1200" b="1" dirty="0" smtClean="0">
                <a:solidFill>
                  <a:schemeClr val="tx1"/>
                </a:solidFill>
                <a:latin typeface="+mn-lt"/>
              </a:rPr>
              <a:t>Sin conexión: </a:t>
            </a:r>
            <a:r>
              <a:rPr lang="es-ES" sz="1200" dirty="0" smtClean="0">
                <a:solidFill>
                  <a:schemeClr val="tx1"/>
                </a:solidFill>
                <a:latin typeface="+mn-lt"/>
              </a:rPr>
              <a:t>Uno va a la carnicería y el otro va a comprar la leña. Cada uno va por su lado, a su ritmo, "sin conexión".  (concurrencia con </a:t>
            </a:r>
            <a:r>
              <a:rPr lang="es-ES" sz="1200" dirty="0" err="1" smtClean="0">
                <a:solidFill>
                  <a:schemeClr val="tx1"/>
                </a:solidFill>
                <a:latin typeface="+mn-lt"/>
              </a:rPr>
              <a:t>cooperacion</a:t>
            </a:r>
            <a:r>
              <a:rPr lang="es-ES" sz="1200" dirty="0" smtClean="0">
                <a:solidFill>
                  <a:schemeClr val="tx1"/>
                </a:solidFill>
                <a:latin typeface="+mn-lt"/>
              </a:rPr>
              <a:t> pero no hay . El objetivo es </a:t>
            </a:r>
            <a:r>
              <a:rPr lang="es-ES" sz="1200" dirty="0" err="1" smtClean="0">
                <a:solidFill>
                  <a:schemeClr val="tx1"/>
                </a:solidFill>
                <a:latin typeface="+mn-lt"/>
              </a:rPr>
              <a:t>carbne+leña</a:t>
            </a:r>
            <a:r>
              <a:rPr lang="es-ES" sz="1200" dirty="0" smtClean="0">
                <a:solidFill>
                  <a:schemeClr val="tx1"/>
                </a:solidFill>
                <a:latin typeface="+mn-lt"/>
              </a:rPr>
              <a:t>=asado) </a:t>
            </a:r>
            <a:r>
              <a:rPr lang="es-ES" sz="1200" b="1" dirty="0" smtClean="0">
                <a:solidFill>
                  <a:schemeClr val="tx1"/>
                </a:solidFill>
                <a:latin typeface="+mn-lt"/>
              </a:rPr>
              <a:t>Sincronización: </a:t>
            </a:r>
            <a:r>
              <a:rPr lang="es-ES" sz="1200" dirty="0" smtClean="0">
                <a:solidFill>
                  <a:schemeClr val="tx1"/>
                </a:solidFill>
                <a:latin typeface="+mn-lt"/>
              </a:rPr>
              <a:t>Ambos deben encontrarse en la casa a las 21:00 hs. Si el de la carne llega pero no hay leña, no puede empezar. Tienen que </a:t>
            </a:r>
            <a:r>
              <a:rPr lang="es-ES" sz="1200" b="1" dirty="0" smtClean="0">
                <a:solidFill>
                  <a:schemeClr val="tx1"/>
                </a:solidFill>
                <a:latin typeface="+mn-lt"/>
              </a:rPr>
              <a:t>sincronizar</a:t>
            </a:r>
            <a:r>
              <a:rPr lang="es-ES" sz="1200" dirty="0" smtClean="0">
                <a:solidFill>
                  <a:schemeClr val="tx1"/>
                </a:solidFill>
                <a:latin typeface="+mn-lt"/>
              </a:rPr>
              <a:t> sus estados para que el objetivo final (la cena) ocurra con éxito.</a:t>
            </a:r>
          </a:p>
        </p:txBody>
      </p:sp>
      <p:pic>
        <p:nvPicPr>
          <p:cNvPr id="1026" name="Picture 2"/>
          <p:cNvPicPr>
            <a:picLocks noChangeAspect="1" noChangeArrowheads="1"/>
          </p:cNvPicPr>
          <p:nvPr/>
        </p:nvPicPr>
        <p:blipFill>
          <a:blip r:embed="rId3" cstate="print"/>
          <a:srcRect/>
          <a:stretch>
            <a:fillRect/>
          </a:stretch>
        </p:blipFill>
        <p:spPr bwMode="auto">
          <a:xfrm>
            <a:off x="9308783" y="-1347787"/>
            <a:ext cx="7534275" cy="5514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22015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22015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Concurrencia y 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54739" y="958850"/>
            <a:ext cx="8460661" cy="5863144"/>
          </a:xfrm>
          <a:prstGeom prst="rect">
            <a:avLst/>
          </a:prstGeom>
          <a:noFill/>
        </p:spPr>
        <p:txBody>
          <a:bodyPr wrap="square" rtlCol="0">
            <a:spAutoFit/>
          </a:bodyPr>
          <a:lstStyle/>
          <a:p>
            <a:pPr algn="just">
              <a:spcBef>
                <a:spcPts val="1200"/>
              </a:spcBef>
            </a:pPr>
            <a:r>
              <a:rPr lang="es-AR" sz="1400" b="1" dirty="0" smtClean="0">
                <a:solidFill>
                  <a:schemeClr val="tx1"/>
                </a:solidFill>
                <a:latin typeface="Arial" pitchFamily="34" charset="0"/>
                <a:cs typeface="Arial" pitchFamily="34" charset="0"/>
              </a:rPr>
              <a:t>Un ejemplo de acceso al mismo recurso </a:t>
            </a:r>
            <a:r>
              <a:rPr lang="es-AR" sz="1400" b="1" dirty="0" err="1" smtClean="0">
                <a:solidFill>
                  <a:schemeClr val="tx1"/>
                </a:solidFill>
                <a:latin typeface="Arial" pitchFamily="34" charset="0"/>
                <a:cs typeface="Arial" pitchFamily="34" charset="0"/>
              </a:rPr>
              <a:t>compactido</a:t>
            </a:r>
            <a:r>
              <a:rPr lang="es-AR" sz="1400" b="1" dirty="0" smtClean="0">
                <a:solidFill>
                  <a:schemeClr val="tx1"/>
                </a:solidFill>
                <a:latin typeface="Arial" pitchFamily="34" charset="0"/>
                <a:cs typeface="Arial" pitchFamily="34" charset="0"/>
              </a:rPr>
              <a:t>.</a:t>
            </a:r>
          </a:p>
          <a:p>
            <a:pPr algn="just">
              <a:spcBef>
                <a:spcPts val="1200"/>
              </a:spcBef>
            </a:pPr>
            <a:r>
              <a:rPr lang="es-AR" sz="1400" b="1" dirty="0" smtClean="0">
                <a:solidFill>
                  <a:schemeClr val="tx1"/>
                </a:solidFill>
                <a:latin typeface="Arial" pitchFamily="34" charset="0"/>
                <a:cs typeface="Arial" pitchFamily="34" charset="0"/>
              </a:rPr>
              <a:t>Motivación  y problema </a:t>
            </a:r>
            <a:r>
              <a:rPr lang="es-AR" sz="1400" dirty="0" smtClean="0">
                <a:solidFill>
                  <a:schemeClr val="tx1"/>
                </a:solidFill>
                <a:latin typeface="Arial" pitchFamily="34" charset="0"/>
                <a:cs typeface="Arial" pitchFamily="34" charset="0"/>
              </a:rPr>
              <a:t>(función retirar dinero):</a:t>
            </a: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1200"/>
              </a:spcBef>
            </a:pPr>
            <a:r>
              <a:rPr lang="es-AR" sz="1400" dirty="0" smtClean="0">
                <a:solidFill>
                  <a:schemeClr val="tx1"/>
                </a:solidFill>
                <a:latin typeface="Arial" pitchFamily="34" charset="0"/>
                <a:cs typeface="Arial" pitchFamily="34" charset="0"/>
              </a:rPr>
              <a:t>Si hay 2 </a:t>
            </a:r>
            <a:r>
              <a:rPr lang="es-AR" sz="1400" dirty="0" err="1" smtClean="0">
                <a:solidFill>
                  <a:schemeClr val="tx1"/>
                </a:solidFill>
                <a:latin typeface="Arial" pitchFamily="34" charset="0"/>
                <a:cs typeface="Arial" pitchFamily="34" charset="0"/>
              </a:rPr>
              <a:t>threads</a:t>
            </a:r>
            <a:r>
              <a:rPr lang="es-AR" sz="1400" dirty="0" smtClean="0">
                <a:solidFill>
                  <a:schemeClr val="tx1"/>
                </a:solidFill>
                <a:latin typeface="Arial" pitchFamily="34" charset="0"/>
                <a:cs typeface="Arial" pitchFamily="34" charset="0"/>
              </a:rPr>
              <a:t>, uno por cada persona:</a:t>
            </a:r>
          </a:p>
          <a:p>
            <a:pPr algn="just">
              <a:spcBef>
                <a:spcPts val="1200"/>
              </a:spcBef>
            </a:pPr>
            <a:endParaRPr lang="es-AR" sz="1400" dirty="0" smtClean="0">
              <a:solidFill>
                <a:schemeClr val="tx1"/>
              </a:solidFill>
              <a:latin typeface="Arial" pitchFamily="34" charset="0"/>
              <a:cs typeface="Arial" pitchFamily="34" charset="0"/>
            </a:endParaRPr>
          </a:p>
          <a:p>
            <a:pPr algn="just">
              <a:spcBef>
                <a:spcPts val="1200"/>
              </a:spcBef>
            </a:pPr>
            <a:endParaRPr lang="es-AR" sz="1400" dirty="0" smtClean="0">
              <a:solidFill>
                <a:schemeClr val="tx1"/>
              </a:solidFill>
              <a:latin typeface="Arial" pitchFamily="34" charset="0"/>
              <a:cs typeface="Arial" pitchFamily="34" charset="0"/>
            </a:endParaRPr>
          </a:p>
          <a:p>
            <a:pPr algn="just">
              <a:spcBef>
                <a:spcPts val="1200"/>
              </a:spcBef>
            </a:pPr>
            <a:endParaRPr lang="es-AR" sz="1400" dirty="0" smtClean="0">
              <a:solidFill>
                <a:schemeClr val="tx1"/>
              </a:solidFill>
              <a:latin typeface="Arial" pitchFamily="34" charset="0"/>
              <a:cs typeface="Arial" pitchFamily="34" charset="0"/>
            </a:endParaRPr>
          </a:p>
          <a:p>
            <a:pPr algn="just">
              <a:spcBef>
                <a:spcPts val="2400"/>
              </a:spcBef>
            </a:pPr>
            <a:r>
              <a:rPr lang="es-AR" sz="1400" dirty="0" smtClean="0">
                <a:solidFill>
                  <a:schemeClr val="tx1"/>
                </a:solidFill>
                <a:latin typeface="Arial" pitchFamily="34" charset="0"/>
                <a:cs typeface="Arial" pitchFamily="34" charset="0"/>
              </a:rPr>
              <a:t>En la ejecución se pueden intercalar  los </a:t>
            </a:r>
            <a:r>
              <a:rPr lang="es-AR" sz="1400" dirty="0" err="1" smtClean="0">
                <a:solidFill>
                  <a:schemeClr val="tx1"/>
                </a:solidFill>
                <a:latin typeface="Arial" pitchFamily="34" charset="0"/>
                <a:cs typeface="Arial" pitchFamily="34" charset="0"/>
              </a:rPr>
              <a:t>threads</a:t>
            </a:r>
            <a:r>
              <a:rPr lang="es-AR" sz="1400" dirty="0" smtClean="0">
                <a:solidFill>
                  <a:schemeClr val="tx1"/>
                </a:solidFill>
                <a:latin typeface="Arial" pitchFamily="34" charset="0"/>
                <a:cs typeface="Arial" pitchFamily="34" charset="0"/>
              </a:rPr>
              <a:t>:</a:t>
            </a: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endParaRPr lang="es-AR" sz="1800" u="sng" dirty="0" smtClean="0">
              <a:solidFill>
                <a:schemeClr val="tx1"/>
              </a:solidFill>
              <a:latin typeface="Arial" pitchFamily="34" charset="0"/>
              <a:cs typeface="Arial" pitchFamily="34" charset="0"/>
            </a:endParaRPr>
          </a:p>
        </p:txBody>
      </p:sp>
      <p:pic>
        <p:nvPicPr>
          <p:cNvPr id="52225" name="Picture 1"/>
          <p:cNvPicPr>
            <a:picLocks noChangeAspect="1" noChangeArrowheads="1"/>
          </p:cNvPicPr>
          <p:nvPr/>
        </p:nvPicPr>
        <p:blipFill>
          <a:blip r:embed="rId3" cstate="print"/>
          <a:srcRect/>
          <a:stretch>
            <a:fillRect/>
          </a:stretch>
        </p:blipFill>
        <p:spPr bwMode="auto">
          <a:xfrm>
            <a:off x="3517285" y="1710690"/>
            <a:ext cx="2446236" cy="1009650"/>
          </a:xfrm>
          <a:prstGeom prst="rect">
            <a:avLst/>
          </a:prstGeom>
          <a:ln>
            <a:noFill/>
          </a:ln>
          <a:effectLst>
            <a:outerShdw blurRad="292100" dist="139700" dir="2700000" algn="tl" rotWithShape="0">
              <a:srgbClr val="333333">
                <a:alpha val="65000"/>
              </a:srgbClr>
            </a:outerShdw>
          </a:effectLst>
        </p:spPr>
      </p:pic>
      <p:pic>
        <p:nvPicPr>
          <p:cNvPr id="8" name="Picture 1"/>
          <p:cNvPicPr>
            <a:picLocks noChangeAspect="1" noChangeArrowheads="1"/>
          </p:cNvPicPr>
          <p:nvPr/>
        </p:nvPicPr>
        <p:blipFill>
          <a:blip r:embed="rId3" cstate="print">
            <a:duotone>
              <a:prstClr val="black"/>
              <a:srgbClr val="00B050">
                <a:tint val="45000"/>
                <a:satMod val="400000"/>
              </a:srgbClr>
            </a:duotone>
          </a:blip>
          <a:srcRect/>
          <a:stretch>
            <a:fillRect/>
          </a:stretch>
        </p:blipFill>
        <p:spPr bwMode="auto">
          <a:xfrm>
            <a:off x="4596710" y="3158490"/>
            <a:ext cx="2700091" cy="1114425"/>
          </a:xfrm>
          <a:prstGeom prst="rect">
            <a:avLst/>
          </a:prstGeom>
          <a:ln>
            <a:noFill/>
          </a:ln>
          <a:effectLst>
            <a:outerShdw blurRad="292100" dist="139700" dir="2700000" algn="tl" rotWithShape="0">
              <a:srgbClr val="333333">
                <a:alpha val="65000"/>
              </a:srgbClr>
            </a:outerShdw>
          </a:effectLst>
        </p:spPr>
      </p:pic>
      <p:pic>
        <p:nvPicPr>
          <p:cNvPr id="12" name="Picture 1"/>
          <p:cNvPicPr>
            <a:picLocks noChangeAspect="1" noChangeArrowheads="1"/>
          </p:cNvPicPr>
          <p:nvPr/>
        </p:nvPicPr>
        <p:blipFill>
          <a:blip r:embed="rId3" cstate="print">
            <a:duotone>
              <a:prstClr val="black"/>
              <a:srgbClr val="FFFF00">
                <a:tint val="45000"/>
                <a:satMod val="400000"/>
              </a:srgbClr>
            </a:duotone>
          </a:blip>
          <a:srcRect/>
          <a:stretch>
            <a:fillRect/>
          </a:stretch>
        </p:blipFill>
        <p:spPr bwMode="auto">
          <a:xfrm>
            <a:off x="1323975" y="3158490"/>
            <a:ext cx="2705752" cy="1116761"/>
          </a:xfrm>
          <a:prstGeom prst="rect">
            <a:avLst/>
          </a:prstGeom>
          <a:ln>
            <a:noFill/>
          </a:ln>
          <a:effectLst>
            <a:outerShdw blurRad="292100" dist="139700" dir="2700000" algn="tl" rotWithShape="0">
              <a:srgbClr val="333333">
                <a:alpha val="65000"/>
              </a:srgbClr>
            </a:outerShdw>
          </a:effectLst>
        </p:spPr>
      </p:pic>
      <p:grpSp>
        <p:nvGrpSpPr>
          <p:cNvPr id="2" name="18 Grupo"/>
          <p:cNvGrpSpPr/>
          <p:nvPr/>
        </p:nvGrpSpPr>
        <p:grpSpPr>
          <a:xfrm>
            <a:off x="-19049" y="4806315"/>
            <a:ext cx="5457824" cy="1508110"/>
            <a:chOff x="1162051" y="5105400"/>
            <a:chExt cx="5457824" cy="1508110"/>
          </a:xfrm>
        </p:grpSpPr>
        <p:pic>
          <p:nvPicPr>
            <p:cNvPr id="52226" name="Picture 2"/>
            <p:cNvPicPr>
              <a:picLocks noChangeAspect="1" noChangeArrowheads="1"/>
            </p:cNvPicPr>
            <p:nvPr/>
          </p:nvPicPr>
          <p:blipFill>
            <a:blip r:embed="rId4" cstate="print">
              <a:duotone>
                <a:prstClr val="black"/>
                <a:srgbClr val="FFFF00">
                  <a:tint val="45000"/>
                  <a:satMod val="400000"/>
                </a:srgbClr>
              </a:duotone>
            </a:blip>
            <a:srcRect l="718"/>
            <a:stretch>
              <a:fillRect/>
            </a:stretch>
          </p:blipFill>
          <p:spPr bwMode="auto">
            <a:xfrm>
              <a:off x="2381250" y="5105400"/>
              <a:ext cx="3316234" cy="463474"/>
            </a:xfrm>
            <a:prstGeom prst="rect">
              <a:avLst/>
            </a:prstGeom>
            <a:noFill/>
            <a:ln w="9525">
              <a:noFill/>
              <a:miter lim="800000"/>
              <a:headEnd/>
              <a:tailEnd/>
            </a:ln>
          </p:spPr>
        </p:pic>
        <p:pic>
          <p:nvPicPr>
            <p:cNvPr id="52227" name="Picture 3"/>
            <p:cNvPicPr>
              <a:picLocks noChangeAspect="1" noChangeArrowheads="1"/>
            </p:cNvPicPr>
            <p:nvPr/>
          </p:nvPicPr>
          <p:blipFill>
            <a:blip r:embed="rId5" cstate="print">
              <a:duotone>
                <a:prstClr val="black"/>
                <a:srgbClr val="00B050">
                  <a:tint val="45000"/>
                  <a:satMod val="400000"/>
                </a:srgbClr>
              </a:duotone>
            </a:blip>
            <a:srcRect r="478"/>
            <a:stretch>
              <a:fillRect/>
            </a:stretch>
          </p:blipFill>
          <p:spPr bwMode="auto">
            <a:xfrm>
              <a:off x="2381250" y="5592526"/>
              <a:ext cx="3324225" cy="735165"/>
            </a:xfrm>
            <a:prstGeom prst="rect">
              <a:avLst/>
            </a:prstGeom>
            <a:noFill/>
            <a:ln w="9525">
              <a:noFill/>
              <a:miter lim="800000"/>
              <a:headEnd/>
              <a:tailEnd/>
            </a:ln>
          </p:spPr>
        </p:pic>
        <p:pic>
          <p:nvPicPr>
            <p:cNvPr id="52228" name="Picture 4"/>
            <p:cNvPicPr>
              <a:picLocks noChangeAspect="1" noChangeArrowheads="1"/>
            </p:cNvPicPr>
            <p:nvPr/>
          </p:nvPicPr>
          <p:blipFill>
            <a:blip r:embed="rId6" cstate="print">
              <a:duotone>
                <a:prstClr val="black"/>
                <a:srgbClr val="FFFF00">
                  <a:tint val="45000"/>
                  <a:satMod val="400000"/>
                </a:srgbClr>
              </a:duotone>
            </a:blip>
            <a:srcRect r="957" b="5882"/>
            <a:stretch>
              <a:fillRect/>
            </a:stretch>
          </p:blipFill>
          <p:spPr bwMode="auto">
            <a:xfrm>
              <a:off x="2389241" y="6357800"/>
              <a:ext cx="3308243" cy="255710"/>
            </a:xfrm>
            <a:prstGeom prst="rect">
              <a:avLst/>
            </a:prstGeom>
            <a:noFill/>
            <a:ln w="9525">
              <a:noFill/>
              <a:miter lim="800000"/>
              <a:headEnd/>
              <a:tailEnd/>
            </a:ln>
          </p:spPr>
        </p:pic>
        <p:cxnSp>
          <p:nvCxnSpPr>
            <p:cNvPr id="14" name="13 Conector recto de flecha"/>
            <p:cNvCxnSpPr/>
            <p:nvPr/>
          </p:nvCxnSpPr>
          <p:spPr>
            <a:xfrm>
              <a:off x="2190750" y="5172075"/>
              <a:ext cx="0" cy="142875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1162051" y="5248275"/>
              <a:ext cx="971549" cy="1200329"/>
            </a:xfrm>
            <a:prstGeom prst="rect">
              <a:avLst/>
            </a:prstGeom>
            <a:noFill/>
          </p:spPr>
          <p:txBody>
            <a:bodyPr wrap="square" rtlCol="0">
              <a:spAutoFit/>
            </a:bodyPr>
            <a:lstStyle/>
            <a:p>
              <a:r>
                <a:rPr lang="es-AR" sz="1200" dirty="0" smtClean="0">
                  <a:solidFill>
                    <a:schemeClr val="tx1"/>
                  </a:solidFill>
                  <a:latin typeface="Arial" pitchFamily="34" charset="0"/>
                  <a:cs typeface="Arial" pitchFamily="34" charset="0"/>
                </a:rPr>
                <a:t>Secuencia</a:t>
              </a:r>
            </a:p>
            <a:p>
              <a:r>
                <a:rPr lang="es-AR" sz="1200" dirty="0" smtClean="0">
                  <a:solidFill>
                    <a:schemeClr val="tx1"/>
                  </a:solidFill>
                  <a:latin typeface="Arial" pitchFamily="34" charset="0"/>
                  <a:cs typeface="Arial" pitchFamily="34" charset="0"/>
                </a:rPr>
                <a:t>de </a:t>
              </a:r>
            </a:p>
            <a:p>
              <a:r>
                <a:rPr lang="es-AR" sz="1200" dirty="0" smtClean="0">
                  <a:solidFill>
                    <a:schemeClr val="tx1"/>
                  </a:solidFill>
                  <a:latin typeface="Arial" pitchFamily="34" charset="0"/>
                  <a:cs typeface="Arial" pitchFamily="34" charset="0"/>
                </a:rPr>
                <a:t> ejecución</a:t>
              </a:r>
            </a:p>
            <a:p>
              <a:r>
                <a:rPr lang="es-AR" sz="1200" dirty="0" smtClean="0">
                  <a:solidFill>
                    <a:schemeClr val="tx1"/>
                  </a:solidFill>
                  <a:latin typeface="Arial" pitchFamily="34" charset="0"/>
                  <a:cs typeface="Arial" pitchFamily="34" charset="0"/>
                </a:rPr>
                <a:t> de </a:t>
              </a:r>
            </a:p>
            <a:p>
              <a:r>
                <a:rPr lang="es-AR" sz="1200" dirty="0" smtClean="0">
                  <a:solidFill>
                    <a:schemeClr val="tx1"/>
                  </a:solidFill>
                  <a:latin typeface="Arial" pitchFamily="34" charset="0"/>
                  <a:cs typeface="Arial" pitchFamily="34" charset="0"/>
                </a:rPr>
                <a:t>la </a:t>
              </a:r>
            </a:p>
            <a:p>
              <a:r>
                <a:rPr lang="es-AR" sz="1200" dirty="0" smtClean="0">
                  <a:solidFill>
                    <a:schemeClr val="tx1"/>
                  </a:solidFill>
                  <a:latin typeface="Arial" pitchFamily="34" charset="0"/>
                  <a:cs typeface="Arial" pitchFamily="34" charset="0"/>
                </a:rPr>
                <a:t>CPU</a:t>
              </a:r>
              <a:endParaRPr lang="es-AR" sz="1200" dirty="0">
                <a:solidFill>
                  <a:schemeClr val="tx1"/>
                </a:solidFill>
                <a:latin typeface="Arial" pitchFamily="34" charset="0"/>
                <a:cs typeface="Arial" pitchFamily="34" charset="0"/>
              </a:endParaRPr>
            </a:p>
          </p:txBody>
        </p:sp>
        <p:sp>
          <p:nvSpPr>
            <p:cNvPr id="17" name="16 CuadroTexto"/>
            <p:cNvSpPr txBox="1"/>
            <p:nvPr/>
          </p:nvSpPr>
          <p:spPr>
            <a:xfrm>
              <a:off x="5600700" y="5334000"/>
              <a:ext cx="1009649" cy="461665"/>
            </a:xfrm>
            <a:prstGeom prst="rect">
              <a:avLst/>
            </a:prstGeom>
            <a:noFill/>
          </p:spPr>
          <p:txBody>
            <a:bodyPr wrap="square" rtlCol="0">
              <a:spAutoFit/>
            </a:bodyPr>
            <a:lstStyle/>
            <a:p>
              <a:r>
                <a:rPr lang="es-AR" sz="1200" dirty="0" smtClean="0">
                  <a:solidFill>
                    <a:schemeClr val="tx1"/>
                  </a:solidFill>
                  <a:latin typeface="Arial" pitchFamily="34" charset="0"/>
                  <a:cs typeface="Arial" pitchFamily="34" charset="0"/>
                </a:rPr>
                <a:t>cambio de</a:t>
              </a:r>
            </a:p>
            <a:p>
              <a:r>
                <a:rPr lang="es-AR" sz="1200" dirty="0" smtClean="0">
                  <a:solidFill>
                    <a:schemeClr val="tx1"/>
                  </a:solidFill>
                  <a:latin typeface="Arial" pitchFamily="34" charset="0"/>
                  <a:cs typeface="Arial" pitchFamily="34" charset="0"/>
                </a:rPr>
                <a:t>contexto</a:t>
              </a:r>
              <a:endParaRPr lang="es-AR" sz="1200" dirty="0">
                <a:solidFill>
                  <a:schemeClr val="tx1"/>
                </a:solidFill>
                <a:latin typeface="Arial" pitchFamily="34" charset="0"/>
                <a:cs typeface="Arial" pitchFamily="34" charset="0"/>
              </a:endParaRPr>
            </a:p>
          </p:txBody>
        </p:sp>
        <p:sp>
          <p:nvSpPr>
            <p:cNvPr id="18" name="17 CuadroTexto"/>
            <p:cNvSpPr txBox="1"/>
            <p:nvPr/>
          </p:nvSpPr>
          <p:spPr>
            <a:xfrm>
              <a:off x="5600700" y="6076950"/>
              <a:ext cx="1019175" cy="461665"/>
            </a:xfrm>
            <a:prstGeom prst="rect">
              <a:avLst/>
            </a:prstGeom>
            <a:noFill/>
          </p:spPr>
          <p:txBody>
            <a:bodyPr wrap="square" rtlCol="0">
              <a:spAutoFit/>
            </a:bodyPr>
            <a:lstStyle/>
            <a:p>
              <a:r>
                <a:rPr lang="es-AR" sz="1200" dirty="0" smtClean="0">
                  <a:solidFill>
                    <a:schemeClr val="tx1"/>
                  </a:solidFill>
                  <a:latin typeface="Arial" pitchFamily="34" charset="0"/>
                  <a:cs typeface="Arial" pitchFamily="34" charset="0"/>
                </a:rPr>
                <a:t>cambio de</a:t>
              </a:r>
            </a:p>
            <a:p>
              <a:r>
                <a:rPr lang="es-AR" sz="1200" dirty="0" smtClean="0">
                  <a:solidFill>
                    <a:schemeClr val="tx1"/>
                  </a:solidFill>
                  <a:latin typeface="Arial" pitchFamily="34" charset="0"/>
                  <a:cs typeface="Arial" pitchFamily="34" charset="0"/>
                </a:rPr>
                <a:t>contexto</a:t>
              </a:r>
              <a:endParaRPr lang="es-AR" sz="1200" dirty="0">
                <a:solidFill>
                  <a:schemeClr val="tx1"/>
                </a:solidFill>
                <a:latin typeface="Arial" pitchFamily="34" charset="0"/>
                <a:cs typeface="Arial" pitchFamily="34" charset="0"/>
              </a:endParaRPr>
            </a:p>
          </p:txBody>
        </p:sp>
      </p:grpSp>
      <p:grpSp>
        <p:nvGrpSpPr>
          <p:cNvPr id="3" name="30 Grupo"/>
          <p:cNvGrpSpPr/>
          <p:nvPr/>
        </p:nvGrpSpPr>
        <p:grpSpPr>
          <a:xfrm>
            <a:off x="5693079" y="4696778"/>
            <a:ext cx="3208034" cy="1609725"/>
            <a:chOff x="5512104" y="4872038"/>
            <a:chExt cx="3208034" cy="1609725"/>
          </a:xfrm>
        </p:grpSpPr>
        <p:pic>
          <p:nvPicPr>
            <p:cNvPr id="52229" name="Picture 5"/>
            <p:cNvPicPr>
              <a:picLocks noChangeAspect="1" noChangeArrowheads="1"/>
            </p:cNvPicPr>
            <p:nvPr/>
          </p:nvPicPr>
          <p:blipFill>
            <a:blip r:embed="rId7" cstate="print"/>
            <a:srcRect/>
            <a:stretch>
              <a:fillRect/>
            </a:stretch>
          </p:blipFill>
          <p:spPr bwMode="auto">
            <a:xfrm>
              <a:off x="6843713" y="4872038"/>
              <a:ext cx="1876425" cy="1609725"/>
            </a:xfrm>
            <a:prstGeom prst="rect">
              <a:avLst/>
            </a:prstGeom>
            <a:noFill/>
            <a:ln w="9525">
              <a:noFill/>
              <a:miter lim="800000"/>
              <a:headEnd/>
              <a:tailEnd/>
            </a:ln>
          </p:spPr>
        </p:pic>
        <p:sp>
          <p:nvSpPr>
            <p:cNvPr id="22" name="21 CuadroTexto"/>
            <p:cNvSpPr txBox="1"/>
            <p:nvPr/>
          </p:nvSpPr>
          <p:spPr>
            <a:xfrm>
              <a:off x="5838101" y="6096000"/>
              <a:ext cx="833883" cy="307777"/>
            </a:xfrm>
            <a:prstGeom prst="rect">
              <a:avLst/>
            </a:prstGeom>
            <a:noFill/>
          </p:spPr>
          <p:txBody>
            <a:bodyPr wrap="none" rtlCol="0">
              <a:spAutoFit/>
            </a:bodyPr>
            <a:lstStyle/>
            <a:p>
              <a:r>
                <a:rPr lang="es-AR" sz="1400" dirty="0" smtClean="0">
                  <a:solidFill>
                    <a:srgbClr val="FF0000"/>
                  </a:solidFill>
                  <a:latin typeface="Arial" pitchFamily="34" charset="0"/>
                  <a:cs typeface="Arial" pitchFamily="34" charset="0"/>
                </a:rPr>
                <a:t>ERROR</a:t>
              </a:r>
              <a:endParaRPr lang="es-AR" sz="1400" dirty="0">
                <a:solidFill>
                  <a:srgbClr val="FF0000"/>
                </a:solidFill>
                <a:latin typeface="Arial" pitchFamily="34" charset="0"/>
                <a:cs typeface="Arial" pitchFamily="34" charset="0"/>
              </a:endParaRPr>
            </a:p>
          </p:txBody>
        </p:sp>
        <p:cxnSp>
          <p:nvCxnSpPr>
            <p:cNvPr id="24" name="23 Conector recto de flecha"/>
            <p:cNvCxnSpPr>
              <a:stCxn id="22" idx="3"/>
            </p:cNvCxnSpPr>
            <p:nvPr/>
          </p:nvCxnSpPr>
          <p:spPr>
            <a:xfrm>
              <a:off x="6671984" y="6249889"/>
              <a:ext cx="224116" cy="11281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5512104" y="4876800"/>
              <a:ext cx="1203022" cy="600164"/>
            </a:xfrm>
            <a:prstGeom prst="rect">
              <a:avLst/>
            </a:prstGeom>
            <a:noFill/>
          </p:spPr>
          <p:txBody>
            <a:bodyPr wrap="square" rtlCol="0">
              <a:spAutoFit/>
            </a:bodyPr>
            <a:lstStyle/>
            <a:p>
              <a:r>
                <a:rPr lang="es-AR" sz="1100" dirty="0" smtClean="0">
                  <a:solidFill>
                    <a:schemeClr val="tx1"/>
                  </a:solidFill>
                  <a:latin typeface="Arial" pitchFamily="34" charset="0"/>
                  <a:cs typeface="Arial" pitchFamily="34" charset="0"/>
                </a:rPr>
                <a:t>Ejemplo: valores iniciales</a:t>
              </a:r>
            </a:p>
            <a:p>
              <a:r>
                <a:rPr lang="es-AR" sz="1100" dirty="0" smtClean="0">
                  <a:solidFill>
                    <a:schemeClr val="tx1"/>
                  </a:solidFill>
                  <a:latin typeface="Arial" pitchFamily="34" charset="0"/>
                  <a:cs typeface="Arial" pitchFamily="34" charset="0"/>
                </a:rPr>
                <a:t>en la llamada</a:t>
              </a:r>
            </a:p>
          </p:txBody>
        </p:sp>
        <p:cxnSp>
          <p:nvCxnSpPr>
            <p:cNvPr id="27" name="26 Conector recto de flecha"/>
            <p:cNvCxnSpPr/>
            <p:nvPr/>
          </p:nvCxnSpPr>
          <p:spPr>
            <a:xfrm>
              <a:off x="6429375" y="5038725"/>
              <a:ext cx="428625" cy="152400"/>
            </a:xfrm>
            <a:prstGeom prst="straightConnector1">
              <a:avLst/>
            </a:prstGeom>
            <a:ln w="12700">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sp>
        <p:nvSpPr>
          <p:cNvPr id="29" name="28 CuadroTexto"/>
          <p:cNvSpPr txBox="1"/>
          <p:nvPr/>
        </p:nvSpPr>
        <p:spPr>
          <a:xfrm>
            <a:off x="6369353" y="6278255"/>
            <a:ext cx="2565097" cy="261610"/>
          </a:xfrm>
          <a:prstGeom prst="rect">
            <a:avLst/>
          </a:prstGeom>
          <a:noFill/>
        </p:spPr>
        <p:txBody>
          <a:bodyPr wrap="square" rtlCol="0">
            <a:spAutoFit/>
          </a:bodyPr>
          <a:lstStyle/>
          <a:p>
            <a:r>
              <a:rPr lang="es-AR" sz="1100" dirty="0" smtClean="0">
                <a:solidFill>
                  <a:srgbClr val="FF0000"/>
                </a:solidFill>
                <a:latin typeface="Arial" pitchFamily="34" charset="0"/>
                <a:cs typeface="Arial" pitchFamily="34" charset="0"/>
              </a:rPr>
              <a:t>Debería haber quedado 40 en cuenta</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9" name="8 CuadroTexto"/>
          <p:cNvSpPr txBox="1"/>
          <p:nvPr/>
        </p:nvSpPr>
        <p:spPr>
          <a:xfrm>
            <a:off x="454739" y="1054100"/>
            <a:ext cx="8460661" cy="6001643"/>
          </a:xfrm>
          <a:prstGeom prst="rect">
            <a:avLst/>
          </a:prstGeom>
          <a:noFill/>
        </p:spPr>
        <p:txBody>
          <a:bodyPr wrap="square" rtlCol="0">
            <a:spAutoFit/>
          </a:bodyPr>
          <a:lstStyle/>
          <a:p>
            <a:pPr algn="just">
              <a:spcBef>
                <a:spcPts val="600"/>
              </a:spcBef>
            </a:pPr>
            <a:r>
              <a:rPr lang="es-AR" sz="1400" dirty="0" smtClean="0">
                <a:solidFill>
                  <a:schemeClr val="tx1"/>
                </a:solidFill>
                <a:latin typeface="Arial" pitchFamily="34" charset="0"/>
                <a:cs typeface="Arial" pitchFamily="34" charset="0"/>
              </a:rPr>
              <a:t>Otro ejemplo es el de productor-consumidor, con un buffer limitado. </a:t>
            </a:r>
          </a:p>
          <a:p>
            <a:pPr algn="just">
              <a:spcBef>
                <a:spcPts val="600"/>
              </a:spcBef>
            </a:pPr>
            <a:r>
              <a:rPr lang="es-AR" sz="1400" dirty="0" smtClean="0">
                <a:solidFill>
                  <a:schemeClr val="tx1"/>
                </a:solidFill>
                <a:latin typeface="Arial" pitchFamily="34" charset="0"/>
                <a:cs typeface="Arial" pitchFamily="34" charset="0"/>
              </a:rPr>
              <a:t>Los códigos pueden ser:</a:t>
            </a: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r>
              <a:rPr lang="es-AR" sz="1400" dirty="0" smtClean="0">
                <a:solidFill>
                  <a:schemeClr val="tx1"/>
                </a:solidFill>
                <a:latin typeface="Arial" pitchFamily="34" charset="0"/>
                <a:cs typeface="Arial" pitchFamily="34" charset="0"/>
              </a:rPr>
              <a:t>Productor:</a:t>
            </a: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r>
              <a:rPr lang="es-AR" sz="1400" dirty="0" smtClean="0">
                <a:solidFill>
                  <a:schemeClr val="tx1"/>
                </a:solidFill>
                <a:latin typeface="Arial" pitchFamily="34" charset="0"/>
                <a:cs typeface="Arial" pitchFamily="34" charset="0"/>
              </a:rPr>
              <a:t>Consumidor:</a:t>
            </a: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r>
              <a:rPr lang="es-AR" sz="1400" dirty="0" smtClean="0">
                <a:solidFill>
                  <a:schemeClr val="tx1"/>
                </a:solidFill>
                <a:latin typeface="Arial" pitchFamily="34" charset="0"/>
                <a:cs typeface="Arial" pitchFamily="34" charset="0"/>
              </a:rPr>
              <a:t>Si bien las 2 rutinas funcionan por separado, pueden no funcionar correctamente cuando se ejecutan en forma concurrente. La variable </a:t>
            </a:r>
            <a:r>
              <a:rPr lang="es-AR" sz="1400" dirty="0" err="1" smtClean="0">
                <a:solidFill>
                  <a:srgbClr val="0033CC"/>
                </a:solidFill>
                <a:latin typeface="Arial" pitchFamily="34" charset="0"/>
                <a:cs typeface="Arial" pitchFamily="34" charset="0"/>
              </a:rPr>
              <a:t>cont</a:t>
            </a:r>
            <a:r>
              <a:rPr lang="es-AR" sz="1400" dirty="0" smtClean="0">
                <a:solidFill>
                  <a:schemeClr val="tx1"/>
                </a:solidFill>
                <a:latin typeface="Arial" pitchFamily="34" charset="0"/>
                <a:cs typeface="Arial" pitchFamily="34" charset="0"/>
              </a:rPr>
              <a:t>  indica cuántos elementos se encuentran cargados en el buffer </a:t>
            </a:r>
            <a:r>
              <a:rPr lang="es-AR" sz="1400" dirty="0" smtClean="0">
                <a:solidFill>
                  <a:srgbClr val="0033CC"/>
                </a:solidFill>
                <a:latin typeface="Arial" pitchFamily="34" charset="0"/>
                <a:cs typeface="Arial" pitchFamily="34" charset="0"/>
              </a:rPr>
              <a:t>deposito</a:t>
            </a:r>
            <a:r>
              <a:rPr lang="es-AR" sz="1400" dirty="0" smtClean="0">
                <a:solidFill>
                  <a:schemeClr val="tx1"/>
                </a:solidFill>
                <a:latin typeface="Arial" pitchFamily="34" charset="0"/>
                <a:cs typeface="Arial" pitchFamily="34" charset="0"/>
              </a:rPr>
              <a:t>.</a:t>
            </a:r>
          </a:p>
          <a:p>
            <a:pPr algn="just">
              <a:spcBef>
                <a:spcPts val="600"/>
              </a:spcBef>
            </a:pPr>
            <a:endParaRPr lang="es-AR" sz="14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Concurrencia y 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2708" name="Picture 4"/>
          <p:cNvPicPr>
            <a:picLocks noChangeAspect="1" noChangeArrowheads="1"/>
          </p:cNvPicPr>
          <p:nvPr/>
        </p:nvPicPr>
        <p:blipFill>
          <a:blip r:embed="rId3" cstate="print"/>
          <a:srcRect r="353"/>
          <a:stretch>
            <a:fillRect/>
          </a:stretch>
        </p:blipFill>
        <p:spPr bwMode="auto">
          <a:xfrm>
            <a:off x="2176463" y="1824038"/>
            <a:ext cx="6170601" cy="1650734"/>
          </a:xfrm>
          <a:prstGeom prst="rect">
            <a:avLst/>
          </a:prstGeom>
          <a:ln>
            <a:noFill/>
          </a:ln>
          <a:effectLst>
            <a:outerShdw blurRad="292100" dist="139700" dir="2700000" algn="tl" rotWithShape="0">
              <a:srgbClr val="333333">
                <a:alpha val="65000"/>
              </a:srgbClr>
            </a:outerShdw>
          </a:effectLst>
        </p:spPr>
      </p:pic>
      <p:pic>
        <p:nvPicPr>
          <p:cNvPr id="72709" name="Picture 5"/>
          <p:cNvPicPr>
            <a:picLocks noChangeAspect="1" noChangeArrowheads="1"/>
          </p:cNvPicPr>
          <p:nvPr/>
        </p:nvPicPr>
        <p:blipFill>
          <a:blip r:embed="rId4" cstate="print"/>
          <a:srcRect r="700"/>
          <a:stretch>
            <a:fillRect/>
          </a:stretch>
        </p:blipFill>
        <p:spPr bwMode="auto">
          <a:xfrm>
            <a:off x="2189564" y="3770492"/>
            <a:ext cx="6192436" cy="1834149"/>
          </a:xfrm>
          <a:prstGeom prst="rect">
            <a:avLst/>
          </a:prstGeom>
          <a:ln>
            <a:noFill/>
          </a:ln>
          <a:effectLst>
            <a:outerShdw blurRad="292100" dist="139700" dir="2700000" algn="tl" rotWithShape="0">
              <a:srgbClr val="333333">
                <a:alpha val="65000"/>
              </a:srgbClr>
            </a:outerShdw>
          </a:effectLst>
        </p:spPr>
      </p:pic>
      <p:cxnSp>
        <p:nvCxnSpPr>
          <p:cNvPr id="15" name="14 Conector recto de flecha"/>
          <p:cNvCxnSpPr/>
          <p:nvPr/>
        </p:nvCxnSpPr>
        <p:spPr>
          <a:xfrm flipH="1">
            <a:off x="5114925" y="1685925"/>
            <a:ext cx="800100" cy="485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5842317" y="1524000"/>
            <a:ext cx="1111202" cy="246221"/>
          </a:xfrm>
          <a:prstGeom prst="rect">
            <a:avLst/>
          </a:prstGeom>
          <a:noFill/>
        </p:spPr>
        <p:txBody>
          <a:bodyPr wrap="none" rtlCol="0">
            <a:spAutoFit/>
          </a:bodyPr>
          <a:lstStyle/>
          <a:p>
            <a:r>
              <a:rPr lang="es-AR" sz="1000" dirty="0" smtClean="0">
                <a:solidFill>
                  <a:schemeClr val="tx1"/>
                </a:solidFill>
                <a:latin typeface="Arial" pitchFamily="34" charset="0"/>
                <a:cs typeface="Arial" pitchFamily="34" charset="0"/>
              </a:rPr>
              <a:t>Espera ocupada</a:t>
            </a:r>
            <a:endParaRPr lang="es-AR" sz="10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5224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522413"/>
            <a:ext cx="9144000" cy="0"/>
          </a:xfrm>
          <a:prstGeom prst="rect">
            <a:avLst/>
          </a:prstGeom>
          <a:noFill/>
          <a:ln w="9525">
            <a:noFill/>
            <a:miter lim="800000"/>
            <a:headEnd/>
            <a:tailEnd/>
          </a:ln>
        </p:spPr>
        <p:txBody>
          <a:bodyPr wrap="none" anchor="ctr">
            <a:spAutoFit/>
          </a:bodyPr>
          <a:lstStyle/>
          <a:p>
            <a:endParaRPr lang="es-ES" dirty="0"/>
          </a:p>
        </p:txBody>
      </p:sp>
      <p:sp>
        <p:nvSpPr>
          <p:cNvPr id="9" name="8 CuadroTexto"/>
          <p:cNvSpPr txBox="1"/>
          <p:nvPr/>
        </p:nvSpPr>
        <p:spPr>
          <a:xfrm>
            <a:off x="454739" y="952500"/>
            <a:ext cx="8460661" cy="6063198"/>
          </a:xfrm>
          <a:prstGeom prst="rect">
            <a:avLst/>
          </a:prstGeom>
          <a:noFill/>
        </p:spPr>
        <p:txBody>
          <a:bodyPr wrap="square" rtlCol="0">
            <a:spAutoFit/>
          </a:bodyPr>
          <a:lstStyle/>
          <a:p>
            <a:pPr algn="just">
              <a:spcBef>
                <a:spcPts val="600"/>
              </a:spcBef>
            </a:pPr>
            <a:r>
              <a:rPr lang="es-AR" sz="1400" dirty="0" smtClean="0">
                <a:solidFill>
                  <a:schemeClr val="tx1"/>
                </a:solidFill>
                <a:latin typeface="Arial" pitchFamily="34" charset="0"/>
                <a:cs typeface="Arial" pitchFamily="34" charset="0"/>
              </a:rPr>
              <a:t>Por ejemplo, las instrucciones </a:t>
            </a:r>
            <a:r>
              <a:rPr lang="es-AR" sz="1400" dirty="0" err="1" smtClean="0">
                <a:solidFill>
                  <a:schemeClr val="tx1"/>
                </a:solidFill>
                <a:latin typeface="Arial" pitchFamily="34" charset="0"/>
                <a:cs typeface="Arial" pitchFamily="34" charset="0"/>
              </a:rPr>
              <a:t>cont</a:t>
            </a:r>
            <a:r>
              <a:rPr lang="es-AR" sz="1400" dirty="0" smtClean="0">
                <a:solidFill>
                  <a:schemeClr val="tx1"/>
                </a:solidFill>
                <a:latin typeface="Arial" pitchFamily="34" charset="0"/>
                <a:cs typeface="Arial" pitchFamily="34" charset="0"/>
              </a:rPr>
              <a:t>++  y  </a:t>
            </a:r>
            <a:r>
              <a:rPr lang="es-AR" sz="1400" dirty="0" err="1" smtClean="0">
                <a:solidFill>
                  <a:schemeClr val="tx1"/>
                </a:solidFill>
                <a:latin typeface="Arial" pitchFamily="34" charset="0"/>
                <a:cs typeface="Arial" pitchFamily="34" charset="0"/>
              </a:rPr>
              <a:t>cont</a:t>
            </a:r>
            <a:r>
              <a:rPr lang="es-AR" sz="1400" dirty="0" smtClean="0">
                <a:solidFill>
                  <a:schemeClr val="tx1"/>
                </a:solidFill>
                <a:latin typeface="Arial" pitchFamily="34" charset="0"/>
                <a:cs typeface="Arial" pitchFamily="34" charset="0"/>
              </a:rPr>
              <a:t>-- , en ensamblador podrían definirse como sigue:</a:t>
            </a: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r>
              <a:rPr lang="es-AR" sz="1400" dirty="0" smtClean="0">
                <a:solidFill>
                  <a:schemeClr val="tx1"/>
                </a:solidFill>
                <a:latin typeface="Arial" pitchFamily="34" charset="0"/>
                <a:cs typeface="Arial" pitchFamily="34" charset="0"/>
              </a:rPr>
              <a:t>Ahora, si la variable </a:t>
            </a:r>
            <a:r>
              <a:rPr lang="es-AR" sz="1400" dirty="0" err="1" smtClean="0">
                <a:solidFill>
                  <a:schemeClr val="tx1"/>
                </a:solidFill>
                <a:latin typeface="Arial" pitchFamily="34" charset="0"/>
                <a:cs typeface="Arial" pitchFamily="34" charset="0"/>
              </a:rPr>
              <a:t>cont</a:t>
            </a:r>
            <a:r>
              <a:rPr lang="es-AR" sz="1400" dirty="0" smtClean="0">
                <a:solidFill>
                  <a:schemeClr val="tx1"/>
                </a:solidFill>
                <a:latin typeface="Arial" pitchFamily="34" charset="0"/>
                <a:cs typeface="Arial" pitchFamily="34" charset="0"/>
              </a:rPr>
              <a:t>  tuviera asignado el valor 5 y se ejecutan concurrentemente una vez las rutinas del productor y consumidor, el valor resultante puede ser  4, 5 ó 6 (</a:t>
            </a:r>
            <a:r>
              <a:rPr lang="es-AR" sz="1400" dirty="0" smtClean="0">
                <a:solidFill>
                  <a:srgbClr val="0033CC"/>
                </a:solidFill>
                <a:latin typeface="Arial" pitchFamily="34" charset="0"/>
                <a:cs typeface="Arial" pitchFamily="34" charset="0"/>
              </a:rPr>
              <a:t>el correcto debería ser 5</a:t>
            </a:r>
            <a:r>
              <a:rPr lang="es-AR" sz="1400" dirty="0" smtClean="0">
                <a:solidFill>
                  <a:schemeClr val="tx1"/>
                </a:solidFill>
                <a:latin typeface="Arial" pitchFamily="34" charset="0"/>
                <a:cs typeface="Arial" pitchFamily="34" charset="0"/>
              </a:rPr>
              <a:t>).</a:t>
            </a:r>
          </a:p>
          <a:p>
            <a:pPr algn="just">
              <a:spcBef>
                <a:spcPts val="600"/>
              </a:spcBef>
            </a:pPr>
            <a:r>
              <a:rPr lang="es-AR" sz="1400" dirty="0" smtClean="0">
                <a:solidFill>
                  <a:schemeClr val="tx1"/>
                </a:solidFill>
                <a:latin typeface="Arial" pitchFamily="34" charset="0"/>
                <a:cs typeface="Arial" pitchFamily="34" charset="0"/>
              </a:rPr>
              <a:t>Algunos escenarios posibles son:</a:t>
            </a: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endParaRPr lang="es-AR" sz="1400" dirty="0" smtClean="0">
              <a:solidFill>
                <a:schemeClr val="tx1"/>
              </a:solidFill>
              <a:latin typeface="Arial" pitchFamily="34" charset="0"/>
              <a:cs typeface="Arial" pitchFamily="34" charset="0"/>
            </a:endParaRPr>
          </a:p>
          <a:p>
            <a:pPr algn="just">
              <a:spcBef>
                <a:spcPts val="600"/>
              </a:spcBef>
            </a:pPr>
            <a:r>
              <a:rPr lang="es-AR" sz="1400" dirty="0" smtClean="0">
                <a:solidFill>
                  <a:schemeClr val="tx1"/>
                </a:solidFill>
                <a:latin typeface="Arial" pitchFamily="34" charset="0"/>
                <a:cs typeface="Arial" pitchFamily="34" charset="0"/>
              </a:rPr>
              <a:t>Como se ve, es posible llegar a distintos resultados a que se ha accedido y manipulan el mismo recurso en forma concurrente y el resultado depende del orden de ejecución en que se producen los accesos  (denominado </a:t>
            </a:r>
            <a:r>
              <a:rPr lang="es-AR" sz="1400" b="1" dirty="0" smtClean="0">
                <a:solidFill>
                  <a:schemeClr val="tx1"/>
                </a:solidFill>
                <a:latin typeface="Arial" pitchFamily="34" charset="0"/>
                <a:cs typeface="Arial" pitchFamily="34" charset="0"/>
              </a:rPr>
              <a:t>condición de carrera</a:t>
            </a:r>
            <a:r>
              <a:rPr lang="es-AR" sz="1400" dirty="0" smtClean="0">
                <a:solidFill>
                  <a:schemeClr val="tx1"/>
                </a:solidFill>
                <a:latin typeface="Arial" pitchFamily="34" charset="0"/>
                <a:cs typeface="Arial" pitchFamily="34" charset="0"/>
              </a:rPr>
              <a:t>),  Para evitar estos inconvenientes, es necesario garantizar que la variable </a:t>
            </a:r>
            <a:r>
              <a:rPr lang="es-AR" sz="1400" dirty="0" err="1" smtClean="0">
                <a:solidFill>
                  <a:srgbClr val="0033CC"/>
                </a:solidFill>
                <a:latin typeface="Arial" pitchFamily="34" charset="0"/>
                <a:cs typeface="Arial" pitchFamily="34" charset="0"/>
              </a:rPr>
              <a:t>cont</a:t>
            </a:r>
            <a:r>
              <a:rPr lang="es-AR" sz="1400" dirty="0" smtClean="0">
                <a:solidFill>
                  <a:schemeClr val="tx1"/>
                </a:solidFill>
                <a:latin typeface="Arial" pitchFamily="34" charset="0"/>
                <a:cs typeface="Arial" pitchFamily="34" charset="0"/>
              </a:rPr>
              <a:t> sea accedida por un proceso a la vez. Para lograr esto, es necesario </a:t>
            </a:r>
            <a:r>
              <a:rPr lang="es-AR" sz="1400" b="1" dirty="0" smtClean="0">
                <a:solidFill>
                  <a:schemeClr val="tx1"/>
                </a:solidFill>
                <a:latin typeface="Arial" pitchFamily="34" charset="0"/>
                <a:cs typeface="Arial" pitchFamily="34" charset="0"/>
              </a:rPr>
              <a:t>sincronizar</a:t>
            </a:r>
            <a:r>
              <a:rPr lang="es-AR" sz="1400" dirty="0" smtClean="0">
                <a:solidFill>
                  <a:schemeClr val="tx1"/>
                </a:solidFill>
                <a:latin typeface="Arial" pitchFamily="34" charset="0"/>
                <a:cs typeface="Arial" pitchFamily="34" charset="0"/>
              </a:rPr>
              <a:t> los procesos de alguna forma.</a:t>
            </a:r>
          </a:p>
          <a:p>
            <a:pPr algn="just">
              <a:spcBef>
                <a:spcPts val="600"/>
              </a:spcBef>
            </a:pPr>
            <a:endParaRPr lang="es-AR" sz="14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Concurrencia y 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3734" name="Picture 6"/>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290638" y="3508375"/>
            <a:ext cx="5667375" cy="1543050"/>
          </a:xfrm>
          <a:prstGeom prst="rect">
            <a:avLst/>
          </a:prstGeom>
          <a:ln>
            <a:noFill/>
          </a:ln>
          <a:effectLst>
            <a:outerShdw blurRad="292100" dist="139700" dir="2700000" algn="tl" rotWithShape="0">
              <a:srgbClr val="333333">
                <a:alpha val="65000"/>
              </a:srgbClr>
            </a:outerShdw>
          </a:effectLst>
        </p:spPr>
      </p:pic>
      <p:pic>
        <p:nvPicPr>
          <p:cNvPr id="73735"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109788" y="3622675"/>
            <a:ext cx="5667375" cy="1543050"/>
          </a:xfrm>
          <a:prstGeom prst="rect">
            <a:avLst/>
          </a:prstGeom>
          <a:ln>
            <a:noFill/>
          </a:ln>
          <a:effectLst>
            <a:outerShdw blurRad="292100" dist="139700" dir="2700000" algn="tl" rotWithShape="0">
              <a:srgbClr val="333333">
                <a:alpha val="65000"/>
              </a:srgbClr>
            </a:outerShdw>
          </a:effectLst>
        </p:spPr>
      </p:pic>
      <p:pic>
        <p:nvPicPr>
          <p:cNvPr id="73736" name="Picture 8"/>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2909888" y="3746500"/>
            <a:ext cx="5667375" cy="1543050"/>
          </a:xfrm>
          <a:prstGeom prst="rect">
            <a:avLst/>
          </a:prstGeom>
          <a:ln>
            <a:noFill/>
          </a:ln>
          <a:effectLst>
            <a:outerShdw blurRad="292100" dist="139700" dir="2700000" algn="tl" rotWithShape="0">
              <a:srgbClr val="333333">
                <a:alpha val="65000"/>
              </a:srgbClr>
            </a:outerShdw>
          </a:effectLst>
        </p:spPr>
      </p:pic>
      <p:pic>
        <p:nvPicPr>
          <p:cNvPr id="73737" name="Picture 9"/>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085975" y="3898900"/>
            <a:ext cx="5667375" cy="1543050"/>
          </a:xfrm>
          <a:prstGeom prst="rect">
            <a:avLst/>
          </a:prstGeom>
          <a:ln>
            <a:noFill/>
          </a:ln>
          <a:effectLst>
            <a:outerShdw blurRad="292100" dist="139700" dir="2700000" algn="tl" rotWithShape="0">
              <a:srgbClr val="333333">
                <a:alpha val="65000"/>
              </a:srgbClr>
            </a:outerShdw>
          </a:effectLst>
        </p:spPr>
      </p:pic>
      <p:pic>
        <p:nvPicPr>
          <p:cNvPr id="1027" name="Picture 3"/>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1604963" y="1438276"/>
            <a:ext cx="5830825" cy="1114424"/>
          </a:xfrm>
          <a:prstGeom prst="rect">
            <a:avLst/>
          </a:prstGeom>
          <a:noFill/>
          <a:ln w="9525">
            <a:noFill/>
            <a:miter lim="800000"/>
            <a:headEnd/>
            <a:tailEnd/>
          </a:ln>
          <a:effectLst>
            <a:outerShdw blurRad="76200" dir="18900000" sy="23000" kx="-1200000" algn="bl" rotWithShape="0">
              <a:prstClr val="black">
                <a:alpha val="2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73735"/>
                                        </p:tgtEl>
                                        <p:attrNameLst>
                                          <p:attrName>style.visibility</p:attrName>
                                        </p:attrNameLst>
                                      </p:cBhvr>
                                      <p:to>
                                        <p:strVal val="visible"/>
                                      </p:to>
                                    </p:set>
                                    <p:anim calcmode="lin" valueType="num">
                                      <p:cBhvr>
                                        <p:cTn id="7" dur="500" fill="hold"/>
                                        <p:tgtEl>
                                          <p:spTgt spid="73735"/>
                                        </p:tgtEl>
                                        <p:attrNameLst>
                                          <p:attrName>ppt_w</p:attrName>
                                        </p:attrNameLst>
                                      </p:cBhvr>
                                      <p:tavLst>
                                        <p:tav tm="0">
                                          <p:val>
                                            <p:strVal val="#ppt_w*2.5"/>
                                          </p:val>
                                        </p:tav>
                                        <p:tav tm="100000">
                                          <p:val>
                                            <p:strVal val="#ppt_w"/>
                                          </p:val>
                                        </p:tav>
                                      </p:tavLst>
                                    </p:anim>
                                    <p:anim calcmode="lin" valueType="num">
                                      <p:cBhvr>
                                        <p:cTn id="8" dur="500" fill="hold"/>
                                        <p:tgtEl>
                                          <p:spTgt spid="73735"/>
                                        </p:tgtEl>
                                        <p:attrNameLst>
                                          <p:attrName>ppt_h</p:attrName>
                                        </p:attrNameLst>
                                      </p:cBhvr>
                                      <p:tavLst>
                                        <p:tav tm="0">
                                          <p:val>
                                            <p:strVal val="#ppt_h*0.01"/>
                                          </p:val>
                                        </p:tav>
                                        <p:tav tm="100000">
                                          <p:val>
                                            <p:strVal val="#ppt_h"/>
                                          </p:val>
                                        </p:tav>
                                      </p:tavLst>
                                    </p:anim>
                                    <p:anim calcmode="lin" valueType="num">
                                      <p:cBhvr>
                                        <p:cTn id="9" dur="500" fill="hold"/>
                                        <p:tgtEl>
                                          <p:spTgt spid="73735"/>
                                        </p:tgtEl>
                                        <p:attrNameLst>
                                          <p:attrName>ppt_x</p:attrName>
                                        </p:attrNameLst>
                                      </p:cBhvr>
                                      <p:tavLst>
                                        <p:tav tm="0">
                                          <p:val>
                                            <p:strVal val="#ppt_x"/>
                                          </p:val>
                                        </p:tav>
                                        <p:tav tm="100000">
                                          <p:val>
                                            <p:strVal val="#ppt_x"/>
                                          </p:val>
                                        </p:tav>
                                      </p:tavLst>
                                    </p:anim>
                                    <p:anim calcmode="lin" valueType="num">
                                      <p:cBhvr>
                                        <p:cTn id="10" dur="500" fill="hold"/>
                                        <p:tgtEl>
                                          <p:spTgt spid="73735"/>
                                        </p:tgtEl>
                                        <p:attrNameLst>
                                          <p:attrName>ppt_y</p:attrName>
                                        </p:attrNameLst>
                                      </p:cBhvr>
                                      <p:tavLst>
                                        <p:tav tm="0">
                                          <p:val>
                                            <p:strVal val="#ppt_h+1"/>
                                          </p:val>
                                        </p:tav>
                                        <p:tav tm="100000">
                                          <p:val>
                                            <p:strVal val="#ppt_y"/>
                                          </p:val>
                                        </p:tav>
                                      </p:tavLst>
                                    </p:anim>
                                    <p:animEffect transition="in" filter="fade">
                                      <p:cBhvr>
                                        <p:cTn id="11" dur="500"/>
                                        <p:tgtEl>
                                          <p:spTgt spid="73735"/>
                                        </p:tgtEl>
                                      </p:cBhvr>
                                    </p:animEffect>
                                  </p:childTnLst>
                                </p:cTn>
                              </p:par>
                            </p:childTnLst>
                          </p:cTn>
                        </p:par>
                      </p:childTnLst>
                    </p:cTn>
                  </p:par>
                  <p:par>
                    <p:cTn id="12" fill="hold">
                      <p:stCondLst>
                        <p:cond delay="indefinite"/>
                      </p:stCondLst>
                      <p:childTnLst>
                        <p:par>
                          <p:cTn id="13" fill="hold">
                            <p:stCondLst>
                              <p:cond delay="0"/>
                            </p:stCondLst>
                            <p:childTnLst>
                              <p:par>
                                <p:cTn id="14" presetID="58" presetClass="entr" presetSubtype="0" accel="100000" fill="hold" nodeType="clickEffect">
                                  <p:stCondLst>
                                    <p:cond delay="0"/>
                                  </p:stCondLst>
                                  <p:childTnLst>
                                    <p:set>
                                      <p:cBhvr>
                                        <p:cTn id="15" dur="1" fill="hold">
                                          <p:stCondLst>
                                            <p:cond delay="0"/>
                                          </p:stCondLst>
                                        </p:cTn>
                                        <p:tgtEl>
                                          <p:spTgt spid="73736"/>
                                        </p:tgtEl>
                                        <p:attrNameLst>
                                          <p:attrName>style.visibility</p:attrName>
                                        </p:attrNameLst>
                                      </p:cBhvr>
                                      <p:to>
                                        <p:strVal val="visible"/>
                                      </p:to>
                                    </p:set>
                                    <p:anim calcmode="lin" valueType="num">
                                      <p:cBhvr>
                                        <p:cTn id="16" dur="500" fill="hold"/>
                                        <p:tgtEl>
                                          <p:spTgt spid="73736"/>
                                        </p:tgtEl>
                                        <p:attrNameLst>
                                          <p:attrName>ppt_w</p:attrName>
                                        </p:attrNameLst>
                                      </p:cBhvr>
                                      <p:tavLst>
                                        <p:tav tm="0">
                                          <p:val>
                                            <p:strVal val="#ppt_w*2.5"/>
                                          </p:val>
                                        </p:tav>
                                        <p:tav tm="100000">
                                          <p:val>
                                            <p:strVal val="#ppt_w"/>
                                          </p:val>
                                        </p:tav>
                                      </p:tavLst>
                                    </p:anim>
                                    <p:anim calcmode="lin" valueType="num">
                                      <p:cBhvr>
                                        <p:cTn id="17" dur="500" fill="hold"/>
                                        <p:tgtEl>
                                          <p:spTgt spid="73736"/>
                                        </p:tgtEl>
                                        <p:attrNameLst>
                                          <p:attrName>ppt_h</p:attrName>
                                        </p:attrNameLst>
                                      </p:cBhvr>
                                      <p:tavLst>
                                        <p:tav tm="0">
                                          <p:val>
                                            <p:strVal val="#ppt_h*0.01"/>
                                          </p:val>
                                        </p:tav>
                                        <p:tav tm="100000">
                                          <p:val>
                                            <p:strVal val="#ppt_h"/>
                                          </p:val>
                                        </p:tav>
                                      </p:tavLst>
                                    </p:anim>
                                    <p:anim calcmode="lin" valueType="num">
                                      <p:cBhvr>
                                        <p:cTn id="18" dur="500" fill="hold"/>
                                        <p:tgtEl>
                                          <p:spTgt spid="73736"/>
                                        </p:tgtEl>
                                        <p:attrNameLst>
                                          <p:attrName>ppt_x</p:attrName>
                                        </p:attrNameLst>
                                      </p:cBhvr>
                                      <p:tavLst>
                                        <p:tav tm="0">
                                          <p:val>
                                            <p:strVal val="#ppt_x"/>
                                          </p:val>
                                        </p:tav>
                                        <p:tav tm="100000">
                                          <p:val>
                                            <p:strVal val="#ppt_x"/>
                                          </p:val>
                                        </p:tav>
                                      </p:tavLst>
                                    </p:anim>
                                    <p:anim calcmode="lin" valueType="num">
                                      <p:cBhvr>
                                        <p:cTn id="19" dur="500" fill="hold"/>
                                        <p:tgtEl>
                                          <p:spTgt spid="73736"/>
                                        </p:tgtEl>
                                        <p:attrNameLst>
                                          <p:attrName>ppt_y</p:attrName>
                                        </p:attrNameLst>
                                      </p:cBhvr>
                                      <p:tavLst>
                                        <p:tav tm="0">
                                          <p:val>
                                            <p:strVal val="#ppt_h+1"/>
                                          </p:val>
                                        </p:tav>
                                        <p:tav tm="100000">
                                          <p:val>
                                            <p:strVal val="#ppt_y"/>
                                          </p:val>
                                        </p:tav>
                                      </p:tavLst>
                                    </p:anim>
                                    <p:animEffect transition="in" filter="fade">
                                      <p:cBhvr>
                                        <p:cTn id="20" dur="500"/>
                                        <p:tgtEl>
                                          <p:spTgt spid="73736"/>
                                        </p:tgtEl>
                                      </p:cBhvr>
                                    </p:animEffect>
                                  </p:childTnLst>
                                </p:cTn>
                              </p:par>
                            </p:childTnLst>
                          </p:cTn>
                        </p:par>
                      </p:childTnLst>
                    </p:cTn>
                  </p:par>
                  <p:par>
                    <p:cTn id="21" fill="hold">
                      <p:stCondLst>
                        <p:cond delay="indefinite"/>
                      </p:stCondLst>
                      <p:childTnLst>
                        <p:par>
                          <p:cTn id="22" fill="hold">
                            <p:stCondLst>
                              <p:cond delay="0"/>
                            </p:stCondLst>
                            <p:childTnLst>
                              <p:par>
                                <p:cTn id="23" presetID="58" presetClass="entr" presetSubtype="0" accel="100000" fill="hold" nodeType="clickEffect">
                                  <p:stCondLst>
                                    <p:cond delay="0"/>
                                  </p:stCondLst>
                                  <p:childTnLst>
                                    <p:set>
                                      <p:cBhvr>
                                        <p:cTn id="24" dur="1" fill="hold">
                                          <p:stCondLst>
                                            <p:cond delay="0"/>
                                          </p:stCondLst>
                                        </p:cTn>
                                        <p:tgtEl>
                                          <p:spTgt spid="73737"/>
                                        </p:tgtEl>
                                        <p:attrNameLst>
                                          <p:attrName>style.visibility</p:attrName>
                                        </p:attrNameLst>
                                      </p:cBhvr>
                                      <p:to>
                                        <p:strVal val="visible"/>
                                      </p:to>
                                    </p:set>
                                    <p:anim calcmode="lin" valueType="num">
                                      <p:cBhvr>
                                        <p:cTn id="25" dur="500" fill="hold"/>
                                        <p:tgtEl>
                                          <p:spTgt spid="73737"/>
                                        </p:tgtEl>
                                        <p:attrNameLst>
                                          <p:attrName>ppt_w</p:attrName>
                                        </p:attrNameLst>
                                      </p:cBhvr>
                                      <p:tavLst>
                                        <p:tav tm="0">
                                          <p:val>
                                            <p:strVal val="#ppt_w*2.5"/>
                                          </p:val>
                                        </p:tav>
                                        <p:tav tm="100000">
                                          <p:val>
                                            <p:strVal val="#ppt_w"/>
                                          </p:val>
                                        </p:tav>
                                      </p:tavLst>
                                    </p:anim>
                                    <p:anim calcmode="lin" valueType="num">
                                      <p:cBhvr>
                                        <p:cTn id="26" dur="500" fill="hold"/>
                                        <p:tgtEl>
                                          <p:spTgt spid="73737"/>
                                        </p:tgtEl>
                                        <p:attrNameLst>
                                          <p:attrName>ppt_h</p:attrName>
                                        </p:attrNameLst>
                                      </p:cBhvr>
                                      <p:tavLst>
                                        <p:tav tm="0">
                                          <p:val>
                                            <p:strVal val="#ppt_h*0.01"/>
                                          </p:val>
                                        </p:tav>
                                        <p:tav tm="100000">
                                          <p:val>
                                            <p:strVal val="#ppt_h"/>
                                          </p:val>
                                        </p:tav>
                                      </p:tavLst>
                                    </p:anim>
                                    <p:anim calcmode="lin" valueType="num">
                                      <p:cBhvr>
                                        <p:cTn id="27" dur="500" fill="hold"/>
                                        <p:tgtEl>
                                          <p:spTgt spid="73737"/>
                                        </p:tgtEl>
                                        <p:attrNameLst>
                                          <p:attrName>ppt_x</p:attrName>
                                        </p:attrNameLst>
                                      </p:cBhvr>
                                      <p:tavLst>
                                        <p:tav tm="0">
                                          <p:val>
                                            <p:strVal val="#ppt_x"/>
                                          </p:val>
                                        </p:tav>
                                        <p:tav tm="100000">
                                          <p:val>
                                            <p:strVal val="#ppt_x"/>
                                          </p:val>
                                        </p:tav>
                                      </p:tavLst>
                                    </p:anim>
                                    <p:anim calcmode="lin" valueType="num">
                                      <p:cBhvr>
                                        <p:cTn id="28" dur="500" fill="hold"/>
                                        <p:tgtEl>
                                          <p:spTgt spid="73737"/>
                                        </p:tgtEl>
                                        <p:attrNameLst>
                                          <p:attrName>ppt_y</p:attrName>
                                        </p:attrNameLst>
                                      </p:cBhvr>
                                      <p:tavLst>
                                        <p:tav tm="0">
                                          <p:val>
                                            <p:strVal val="#ppt_h+1"/>
                                          </p:val>
                                        </p:tav>
                                        <p:tav tm="100000">
                                          <p:val>
                                            <p:strVal val="#ppt_y"/>
                                          </p:val>
                                        </p:tav>
                                      </p:tavLst>
                                    </p:anim>
                                    <p:animEffect transition="in" filter="fade">
                                      <p:cBhvr>
                                        <p:cTn id="29" dur="500"/>
                                        <p:tgtEl>
                                          <p:spTgt spid="73737"/>
                                        </p:tgtEl>
                                      </p:cBhvr>
                                    </p:animEffect>
                                  </p:childTnLst>
                                </p:cTn>
                              </p:par>
                            </p:childTnLst>
                          </p:cTn>
                        </p:par>
                        <p:par>
                          <p:cTn id="30" fill="hold">
                            <p:stCondLst>
                              <p:cond delay="500"/>
                            </p:stCondLst>
                            <p:childTnLst>
                              <p:par>
                                <p:cTn id="31" presetID="58" presetClass="entr" presetSubtype="0" accel="100000" fill="hold" nodeType="afterEffect">
                                  <p:stCondLst>
                                    <p:cond delay="0"/>
                                  </p:stCondLst>
                                  <p:childTnLst>
                                    <p:set>
                                      <p:cBhvr>
                                        <p:cTn id="32" dur="1" fill="hold">
                                          <p:stCondLst>
                                            <p:cond delay="0"/>
                                          </p:stCondLst>
                                        </p:cTn>
                                        <p:tgtEl>
                                          <p:spTgt spid="9">
                                            <p:txEl>
                                              <p:pRg st="15" end="15"/>
                                            </p:txEl>
                                          </p:spTgt>
                                        </p:tgtEl>
                                        <p:attrNameLst>
                                          <p:attrName>style.visibility</p:attrName>
                                        </p:attrNameLst>
                                      </p:cBhvr>
                                      <p:to>
                                        <p:strVal val="visible"/>
                                      </p:to>
                                    </p:set>
                                    <p:anim calcmode="lin" valueType="num">
                                      <p:cBhvr>
                                        <p:cTn id="33" dur="500" fill="hold"/>
                                        <p:tgtEl>
                                          <p:spTgt spid="9">
                                            <p:txEl>
                                              <p:pRg st="15" end="15"/>
                                            </p:txEl>
                                          </p:spTgt>
                                        </p:tgtEl>
                                        <p:attrNameLst>
                                          <p:attrName>ppt_w</p:attrName>
                                        </p:attrNameLst>
                                      </p:cBhvr>
                                      <p:tavLst>
                                        <p:tav tm="0">
                                          <p:val>
                                            <p:strVal val="#ppt_w*2.5"/>
                                          </p:val>
                                        </p:tav>
                                        <p:tav tm="100000">
                                          <p:val>
                                            <p:strVal val="#ppt_w"/>
                                          </p:val>
                                        </p:tav>
                                      </p:tavLst>
                                    </p:anim>
                                    <p:anim calcmode="lin" valueType="num">
                                      <p:cBhvr>
                                        <p:cTn id="34" dur="500" fill="hold"/>
                                        <p:tgtEl>
                                          <p:spTgt spid="9">
                                            <p:txEl>
                                              <p:pRg st="15" end="15"/>
                                            </p:txEl>
                                          </p:spTgt>
                                        </p:tgtEl>
                                        <p:attrNameLst>
                                          <p:attrName>ppt_h</p:attrName>
                                        </p:attrNameLst>
                                      </p:cBhvr>
                                      <p:tavLst>
                                        <p:tav tm="0">
                                          <p:val>
                                            <p:strVal val="#ppt_h*0.01"/>
                                          </p:val>
                                        </p:tav>
                                        <p:tav tm="100000">
                                          <p:val>
                                            <p:strVal val="#ppt_h"/>
                                          </p:val>
                                        </p:tav>
                                      </p:tavLst>
                                    </p:anim>
                                    <p:anim calcmode="lin" valueType="num">
                                      <p:cBhvr>
                                        <p:cTn id="35" dur="500" fill="hold"/>
                                        <p:tgtEl>
                                          <p:spTgt spid="9">
                                            <p:txEl>
                                              <p:pRg st="15" end="15"/>
                                            </p:txEl>
                                          </p:spTgt>
                                        </p:tgtEl>
                                        <p:attrNameLst>
                                          <p:attrName>ppt_x</p:attrName>
                                        </p:attrNameLst>
                                      </p:cBhvr>
                                      <p:tavLst>
                                        <p:tav tm="0">
                                          <p:val>
                                            <p:strVal val="#ppt_x"/>
                                          </p:val>
                                        </p:tav>
                                        <p:tav tm="100000">
                                          <p:val>
                                            <p:strVal val="#ppt_x"/>
                                          </p:val>
                                        </p:tav>
                                      </p:tavLst>
                                    </p:anim>
                                    <p:anim calcmode="lin" valueType="num">
                                      <p:cBhvr>
                                        <p:cTn id="36" dur="500" fill="hold"/>
                                        <p:tgtEl>
                                          <p:spTgt spid="9">
                                            <p:txEl>
                                              <p:pRg st="15" end="15"/>
                                            </p:txEl>
                                          </p:spTgt>
                                        </p:tgtEl>
                                        <p:attrNameLst>
                                          <p:attrName>ppt_y</p:attrName>
                                        </p:attrNameLst>
                                      </p:cBhvr>
                                      <p:tavLst>
                                        <p:tav tm="0">
                                          <p:val>
                                            <p:strVal val="#ppt_h+1"/>
                                          </p:val>
                                        </p:tav>
                                        <p:tav tm="100000">
                                          <p:val>
                                            <p:strVal val="#ppt_y"/>
                                          </p:val>
                                        </p:tav>
                                      </p:tavLst>
                                    </p:anim>
                                    <p:animEffect transition="in" filter="fade">
                                      <p:cBhvr>
                                        <p:cTn id="37" dur="500"/>
                                        <p:tgtEl>
                                          <p:spTgt spid="9">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97399"/>
            <a:ext cx="8655240" cy="4739759"/>
          </a:xfrm>
          <a:prstGeom prst="rect">
            <a:avLst/>
          </a:prstGeom>
          <a:noFill/>
        </p:spPr>
        <p:txBody>
          <a:bodyPr wrap="square" rtlCol="0">
            <a:spAutoFit/>
          </a:bodyPr>
          <a:lstStyle/>
          <a:p>
            <a:pPr marL="177800" indent="-177800" algn="l">
              <a:spcBef>
                <a:spcPts val="600"/>
              </a:spcBef>
            </a:pPr>
            <a:r>
              <a:rPr lang="es-AR" sz="1800" dirty="0" smtClean="0">
                <a:solidFill>
                  <a:schemeClr val="tx1"/>
                </a:solidFill>
                <a:latin typeface="Arial" pitchFamily="34" charset="0"/>
                <a:cs typeface="Arial" pitchFamily="34" charset="0"/>
              </a:rPr>
              <a:t>Resumiendo, en el problema se puede determinar que:</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Dos o más procesos o hilos concurrentes acceden a un </a:t>
            </a:r>
            <a:r>
              <a:rPr lang="es-AR" sz="1800" dirty="0" smtClean="0">
                <a:solidFill>
                  <a:srgbClr val="FF0000"/>
                </a:solidFill>
                <a:latin typeface="Arial" pitchFamily="34" charset="0"/>
                <a:cs typeface="Arial" pitchFamily="34" charset="0"/>
              </a:rPr>
              <a:t>recurso compartido</a:t>
            </a:r>
            <a:r>
              <a:rPr lang="es-AR" sz="1800" dirty="0" smtClean="0">
                <a:solidFill>
                  <a:schemeClr val="tx1"/>
                </a:solidFill>
                <a:latin typeface="Arial" pitchFamily="34" charset="0"/>
                <a:cs typeface="Arial" pitchFamily="34" charset="0"/>
              </a:rPr>
              <a:t>.</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Se genera una </a:t>
            </a:r>
            <a:r>
              <a:rPr lang="es-AR" sz="1800" dirty="0" smtClean="0">
                <a:solidFill>
                  <a:srgbClr val="FF0000"/>
                </a:solidFill>
                <a:latin typeface="Arial" pitchFamily="34" charset="0"/>
                <a:cs typeface="Arial" pitchFamily="34" charset="0"/>
              </a:rPr>
              <a:t>condición de carrera </a:t>
            </a:r>
            <a:r>
              <a:rPr lang="es-AR" sz="1800" dirty="0" smtClean="0">
                <a:solidFill>
                  <a:schemeClr val="tx1"/>
                </a:solidFill>
                <a:latin typeface="Arial" pitchFamily="34" charset="0"/>
                <a:cs typeface="Arial" pitchFamily="34" charset="0"/>
              </a:rPr>
              <a:t>(“</a:t>
            </a:r>
            <a:r>
              <a:rPr lang="es-AR" sz="1800" dirty="0" err="1" smtClean="0">
                <a:solidFill>
                  <a:schemeClr val="tx1"/>
                </a:solidFill>
                <a:latin typeface="Arial" pitchFamily="34" charset="0"/>
                <a:cs typeface="Arial" pitchFamily="34" charset="0"/>
              </a:rPr>
              <a:t>race</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condition</a:t>
            </a:r>
            <a:r>
              <a:rPr lang="es-AR" sz="1800" dirty="0" smtClean="0">
                <a:solidFill>
                  <a:schemeClr val="tx1"/>
                </a:solidFill>
                <a:latin typeface="Arial" pitchFamily="34" charset="0"/>
                <a:cs typeface="Arial" pitchFamily="34" charset="0"/>
              </a:rPr>
              <a:t>”),  situación donde el resultado final depende del orden de ejecución de los procesos.</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Para prevenir las condiciones de carrera, los procesos concurrentes cooperativos deben ser sincronizados.  –&gt;  lograr determinismo</a:t>
            </a: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1200"/>
              </a:spcBef>
            </a:pPr>
            <a:r>
              <a:rPr lang="es-AR" sz="1800" b="1" dirty="0" smtClean="0">
                <a:solidFill>
                  <a:schemeClr val="tx1"/>
                </a:solidFill>
                <a:latin typeface="Arial" pitchFamily="34" charset="0"/>
                <a:cs typeface="Arial" pitchFamily="34" charset="0"/>
              </a:rPr>
              <a:t>Sincronizar</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Para generar programas correctos es necesario controlar la cooperación entre </a:t>
            </a:r>
            <a:r>
              <a:rPr lang="es-AR" sz="1800" dirty="0" err="1" smtClean="0">
                <a:solidFill>
                  <a:schemeClr val="tx1"/>
                </a:solidFill>
                <a:latin typeface="Arial" pitchFamily="34" charset="0"/>
                <a:cs typeface="Arial" pitchFamily="34" charset="0"/>
              </a:rPr>
              <a:t>threads</a:t>
            </a:r>
            <a:r>
              <a:rPr lang="es-AR" sz="1800" dirty="0" smtClean="0">
                <a:solidFill>
                  <a:schemeClr val="tx1"/>
                </a:solidFill>
                <a:latin typeface="Arial" pitchFamily="34" charset="0"/>
                <a:cs typeface="Arial" pitchFamily="34" charset="0"/>
              </a:rPr>
              <a:t> </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Los procesos </a:t>
            </a:r>
            <a:r>
              <a:rPr lang="es-AR" sz="1800" dirty="0" err="1" smtClean="0">
                <a:solidFill>
                  <a:schemeClr val="tx1"/>
                </a:solidFill>
                <a:latin typeface="Arial" pitchFamily="34" charset="0"/>
                <a:cs typeface="Arial" pitchFamily="34" charset="0"/>
              </a:rPr>
              <a:t>multithreading</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multihilos</a:t>
            </a:r>
            <a:r>
              <a:rPr lang="es-AR" sz="1800" dirty="0" smtClean="0">
                <a:solidFill>
                  <a:schemeClr val="tx1"/>
                </a:solidFill>
                <a:latin typeface="Arial" pitchFamily="34" charset="0"/>
                <a:cs typeface="Arial" pitchFamily="34" charset="0"/>
              </a:rPr>
              <a:t>) debe producir los mismos resultados más allá del orden y la forma en que se ejecuten los </a:t>
            </a:r>
            <a:r>
              <a:rPr lang="es-AR" sz="1800" dirty="0" err="1" smtClean="0">
                <a:solidFill>
                  <a:schemeClr val="tx1"/>
                </a:solidFill>
                <a:latin typeface="Arial" pitchFamily="34" charset="0"/>
                <a:cs typeface="Arial" pitchFamily="34" charset="0"/>
              </a:rPr>
              <a:t>threads</a:t>
            </a:r>
            <a:endParaRPr lang="es-AR" sz="1800" dirty="0" smtClean="0">
              <a:solidFill>
                <a:schemeClr val="tx1"/>
              </a:solidFill>
              <a:latin typeface="Arial" pitchFamily="34" charset="0"/>
              <a:cs typeface="Arial" pitchFamily="34" charset="0"/>
            </a:endParaRP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Asumir </a:t>
            </a:r>
            <a:r>
              <a:rPr lang="es-AR" sz="1800" dirty="0" err="1" smtClean="0">
                <a:solidFill>
                  <a:schemeClr val="tx1"/>
                </a:solidFill>
                <a:latin typeface="Arial" pitchFamily="34" charset="0"/>
                <a:cs typeface="Arial" pitchFamily="34" charset="0"/>
              </a:rPr>
              <a:t>threads</a:t>
            </a:r>
            <a:r>
              <a:rPr lang="es-AR" sz="1800" dirty="0" smtClean="0">
                <a:solidFill>
                  <a:schemeClr val="tx1"/>
                </a:solidFill>
                <a:latin typeface="Arial" pitchFamily="34" charset="0"/>
                <a:cs typeface="Arial" pitchFamily="34" charset="0"/>
              </a:rPr>
              <a:t> se ejecutan en forma intercalada y a velocidades diferentes</a:t>
            </a:r>
          </a:p>
          <a:p>
            <a:pPr marL="177800" indent="-177800" algn="l">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310960" y="1137099"/>
            <a:ext cx="7232839" cy="369332"/>
          </a:xfrm>
          <a:prstGeom prst="rect">
            <a:avLst/>
          </a:prstGeom>
          <a:noFill/>
        </p:spPr>
        <p:txBody>
          <a:bodyPr wrap="square" rtlCol="0">
            <a:spAutoFit/>
          </a:bodyPr>
          <a:lstStyle/>
          <a:p>
            <a:pPr marL="177800" indent="-177800" algn="l">
              <a:spcBef>
                <a:spcPts val="600"/>
              </a:spcBef>
            </a:pPr>
            <a:r>
              <a:rPr lang="es-AR" sz="1800" dirty="0" smtClean="0">
                <a:solidFill>
                  <a:schemeClr val="tx1"/>
                </a:solidFill>
                <a:latin typeface="Arial" pitchFamily="34" charset="0"/>
                <a:cs typeface="Arial" pitchFamily="34" charset="0"/>
              </a:rPr>
              <a:t>Veamos antes algunas definiciones importantes:</a:t>
            </a:r>
          </a:p>
        </p:txBody>
      </p:sp>
      <p:pic>
        <p:nvPicPr>
          <p:cNvPr id="1026"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92074" y="1712570"/>
            <a:ext cx="8947151" cy="4351680"/>
          </a:xfrm>
          <a:prstGeom prst="rect">
            <a:avLst/>
          </a:prstGeom>
          <a:ln>
            <a:noFill/>
          </a:ln>
          <a:effectLst>
            <a:outerShdw blurRad="292100" dist="139700" dir="2700000" algn="tl" rotWithShape="0">
              <a:srgbClr val="333333">
                <a:alpha val="65000"/>
              </a:srgbClr>
            </a:outerShdw>
          </a:effectLst>
        </p:spPr>
      </p:pic>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8" name="7 Rectángulo"/>
          <p:cNvSpPr/>
          <p:nvPr/>
        </p:nvSpPr>
        <p:spPr>
          <a:xfrm>
            <a:off x="9144000" y="1779687"/>
            <a:ext cx="5054600" cy="5078313"/>
          </a:xfrm>
          <a:prstGeom prst="rect">
            <a:avLst/>
          </a:prstGeom>
        </p:spPr>
        <p:txBody>
          <a:bodyPr wrap="square">
            <a:spAutoFit/>
          </a:bodyPr>
          <a:lstStyle/>
          <a:p>
            <a:pPr algn="just"/>
            <a:r>
              <a:rPr lang="es-AR" sz="1200" dirty="0" smtClean="0">
                <a:solidFill>
                  <a:schemeClr val="tx1"/>
                </a:solidFill>
                <a:latin typeface="Arial" pitchFamily="34" charset="0"/>
                <a:cs typeface="Arial" pitchFamily="34" charset="0"/>
              </a:rPr>
              <a:t>En sistemas operativos, </a:t>
            </a:r>
            <a:r>
              <a:rPr lang="es-AR" sz="1200" b="1" dirty="0" smtClean="0">
                <a:solidFill>
                  <a:srgbClr val="FFFF00"/>
                </a:solidFill>
                <a:latin typeface="Arial" pitchFamily="34" charset="0"/>
                <a:cs typeface="Arial" pitchFamily="34" charset="0"/>
              </a:rPr>
              <a:t>el bloqueo mutuo </a:t>
            </a:r>
            <a:r>
              <a:rPr lang="es-AR" sz="1200" dirty="0" smtClean="0">
                <a:solidFill>
                  <a:schemeClr val="tx1"/>
                </a:solidFill>
                <a:latin typeface="Arial" pitchFamily="34" charset="0"/>
                <a:cs typeface="Arial" pitchFamily="34" charset="0"/>
              </a:rPr>
              <a:t>(también conocido como interbloqueo, traba mortal, </a:t>
            </a:r>
            <a:r>
              <a:rPr lang="es-AR" sz="1200" b="1" dirty="0" err="1" smtClean="0">
                <a:solidFill>
                  <a:srgbClr val="FFFF00"/>
                </a:solidFill>
                <a:latin typeface="Arial" pitchFamily="34" charset="0"/>
                <a:cs typeface="Arial" pitchFamily="34" charset="0"/>
              </a:rPr>
              <a:t>deadlock</a:t>
            </a:r>
            <a:r>
              <a:rPr lang="es-AR" sz="1200" dirty="0" smtClean="0">
                <a:solidFill>
                  <a:schemeClr val="tx1"/>
                </a:solidFill>
                <a:latin typeface="Arial" pitchFamily="34" charset="0"/>
                <a:cs typeface="Arial" pitchFamily="34" charset="0"/>
              </a:rPr>
              <a:t>, abrazo mortal) es el bloqueo permanente de un conjunto de procesos o hilos de ejecución en un sistema concurrente que compiten por recursos del sistema o bien se comunican entre ellos.​ A diferencia de otros problemas de concurrencia de procesos, no existe una solución general para los interbloqueos. Todos los interbloqueos surgen de necesidades que no pueden ser satisfechas, por parte de dos o más procesos. </a:t>
            </a:r>
            <a:r>
              <a:rPr lang="es-AR" sz="1200" dirty="0" smtClean="0">
                <a:solidFill>
                  <a:schemeClr val="bg1"/>
                </a:solidFill>
                <a:latin typeface="Arial" pitchFamily="34" charset="0"/>
                <a:cs typeface="Arial" pitchFamily="34" charset="0"/>
              </a:rPr>
              <a:t>En la vida real, un ejemplo puede ser el de dos niños que intentan jugar al arco y flecha, uno toma el arco, el otro la flecha. Ninguno puede jugar hasta que alguno libere lo que tomó</a:t>
            </a:r>
          </a:p>
          <a:p>
            <a:pPr algn="just"/>
            <a:endParaRPr lang="es-AR" sz="1200" dirty="0" smtClean="0">
              <a:solidFill>
                <a:schemeClr val="bg1"/>
              </a:solidFill>
              <a:latin typeface="Arial" pitchFamily="34" charset="0"/>
              <a:cs typeface="Arial" pitchFamily="34" charset="0"/>
            </a:endParaRPr>
          </a:p>
          <a:p>
            <a:pPr algn="just"/>
            <a:r>
              <a:rPr lang="es-AR" sz="1200" dirty="0" smtClean="0">
                <a:solidFill>
                  <a:schemeClr val="tx1"/>
                </a:solidFill>
                <a:latin typeface="Arial" pitchFamily="34" charset="0"/>
                <a:cs typeface="Arial" pitchFamily="34" charset="0"/>
              </a:rPr>
              <a:t>Un </a:t>
            </a:r>
            <a:r>
              <a:rPr lang="es-AR" sz="1200" b="1" i="1" dirty="0" err="1" smtClean="0">
                <a:solidFill>
                  <a:srgbClr val="FFFF00"/>
                </a:solidFill>
                <a:latin typeface="Arial" pitchFamily="34" charset="0"/>
                <a:cs typeface="Arial" pitchFamily="34" charset="0"/>
              </a:rPr>
              <a:t>livelock</a:t>
            </a:r>
            <a:r>
              <a:rPr lang="es-AR" sz="1200" dirty="0" smtClean="0">
                <a:solidFill>
                  <a:schemeClr val="tx1"/>
                </a:solidFill>
                <a:latin typeface="Arial" pitchFamily="34" charset="0"/>
                <a:cs typeface="Arial" pitchFamily="34" charset="0"/>
              </a:rPr>
              <a:t> es similar a un </a:t>
            </a:r>
            <a:r>
              <a:rPr lang="es-AR" sz="1200" i="1" dirty="0" err="1" smtClean="0">
                <a:solidFill>
                  <a:schemeClr val="tx1"/>
                </a:solidFill>
                <a:latin typeface="Arial" pitchFamily="34" charset="0"/>
                <a:cs typeface="Arial" pitchFamily="34" charset="0"/>
              </a:rPr>
              <a:t>deadlock</a:t>
            </a:r>
            <a:r>
              <a:rPr lang="es-AR" sz="1200" dirty="0" smtClean="0">
                <a:solidFill>
                  <a:schemeClr val="tx1"/>
                </a:solidFill>
                <a:latin typeface="Arial" pitchFamily="34" charset="0"/>
                <a:cs typeface="Arial" pitchFamily="34" charset="0"/>
              </a:rPr>
              <a:t>, excepto que el estado de los dos procesos envueltos en el </a:t>
            </a:r>
            <a:r>
              <a:rPr lang="es-AR" sz="1200" i="1" dirty="0" err="1" smtClean="0">
                <a:solidFill>
                  <a:schemeClr val="tx1"/>
                </a:solidFill>
                <a:latin typeface="Arial" pitchFamily="34" charset="0"/>
                <a:cs typeface="Arial" pitchFamily="34" charset="0"/>
              </a:rPr>
              <a:t>livelock</a:t>
            </a:r>
            <a:r>
              <a:rPr lang="es-AR" sz="1200" dirty="0" smtClean="0">
                <a:solidFill>
                  <a:schemeClr val="tx1"/>
                </a:solidFill>
                <a:latin typeface="Arial" pitchFamily="34" charset="0"/>
                <a:cs typeface="Arial" pitchFamily="34" charset="0"/>
              </a:rPr>
              <a:t> constantemente cambia con respecto al otro. </a:t>
            </a:r>
            <a:r>
              <a:rPr lang="es-AR" sz="1200" i="1" dirty="0" err="1" smtClean="0">
                <a:solidFill>
                  <a:schemeClr val="tx1"/>
                </a:solidFill>
                <a:latin typeface="Arial" pitchFamily="34" charset="0"/>
                <a:cs typeface="Arial" pitchFamily="34" charset="0"/>
              </a:rPr>
              <a:t>Livelock</a:t>
            </a:r>
            <a:r>
              <a:rPr lang="es-AR" sz="1200" dirty="0" smtClean="0">
                <a:solidFill>
                  <a:schemeClr val="tx1"/>
                </a:solidFill>
                <a:latin typeface="Arial" pitchFamily="34" charset="0"/>
                <a:cs typeface="Arial" pitchFamily="34" charset="0"/>
              </a:rPr>
              <a:t> es una forma de inanición y la definición general solo dice que un proceso específico no está procesando.</a:t>
            </a:r>
          </a:p>
          <a:p>
            <a:pPr algn="just"/>
            <a:r>
              <a:rPr lang="es-AR" sz="1200" dirty="0" smtClean="0">
                <a:solidFill>
                  <a:schemeClr val="bg1"/>
                </a:solidFill>
                <a:latin typeface="Arial" pitchFamily="34" charset="0"/>
                <a:cs typeface="Arial" pitchFamily="34" charset="0"/>
              </a:rPr>
              <a:t>En un ejemplo del mundo real, un </a:t>
            </a:r>
            <a:r>
              <a:rPr lang="es-AR" sz="1200" i="1" dirty="0" err="1" smtClean="0">
                <a:solidFill>
                  <a:schemeClr val="bg1"/>
                </a:solidFill>
                <a:latin typeface="Arial" pitchFamily="34" charset="0"/>
                <a:cs typeface="Arial" pitchFamily="34" charset="0"/>
              </a:rPr>
              <a:t>livelock</a:t>
            </a:r>
            <a:r>
              <a:rPr lang="es-AR" sz="1200" dirty="0" smtClean="0">
                <a:solidFill>
                  <a:schemeClr val="bg1"/>
                </a:solidFill>
                <a:latin typeface="Arial" pitchFamily="34" charset="0"/>
                <a:cs typeface="Arial" pitchFamily="34" charset="0"/>
              </a:rPr>
              <a:t> ocurre por ejemplo cuando dos personas, al encontrarse en un pasillo angosto avanzando en sentidos opuestos, y cada una trata de ser amable moviéndose a un lado para dejar a la otra persona pasar, pero terminan moviéndose de lado a lado sin tener ningún progreso, pues ambos se mueven hacia el mismo lado, al mismo tiempo.</a:t>
            </a:r>
          </a:p>
          <a:p>
            <a:pPr algn="just"/>
            <a:r>
              <a:rPr lang="es-AR" sz="1200" i="1" dirty="0" err="1" smtClean="0">
                <a:solidFill>
                  <a:schemeClr val="tx1"/>
                </a:solidFill>
                <a:latin typeface="Arial" pitchFamily="34" charset="0"/>
                <a:cs typeface="Arial" pitchFamily="34" charset="0"/>
              </a:rPr>
              <a:t>Livelock</a:t>
            </a:r>
            <a:r>
              <a:rPr lang="es-AR" sz="1200" dirty="0" smtClean="0">
                <a:solidFill>
                  <a:schemeClr val="tx1"/>
                </a:solidFill>
                <a:latin typeface="Arial" pitchFamily="34" charset="0"/>
                <a:cs typeface="Arial" pitchFamily="34" charset="0"/>
              </a:rPr>
              <a:t> es un riesgo con algunos algoritmos que detectan y recuperan los interbloqueos, pues si más de uno toma cartas en el asunto, la detección del interbloqueo puede ser disparada continuamente; pudiendo ser arreglado asegurándose que solo un proceso (escogido al azar o por prioridad) tome acción.</a:t>
            </a:r>
            <a:endParaRPr lang="es-AR"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5093702"/>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Operación atómica:</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Una secuencia de operaciones que se ejecuta sin interrupciones</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Es </a:t>
            </a:r>
            <a:r>
              <a:rPr lang="es-AR" sz="1800" u="sng" dirty="0" smtClean="0">
                <a:solidFill>
                  <a:schemeClr val="tx1"/>
                </a:solidFill>
                <a:latin typeface="Arial" pitchFamily="34" charset="0"/>
                <a:cs typeface="Arial" pitchFamily="34" charset="0"/>
              </a:rPr>
              <a:t>indivisible</a:t>
            </a:r>
            <a:r>
              <a:rPr lang="es-AR" sz="1800" dirty="0" smtClean="0">
                <a:solidFill>
                  <a:schemeClr val="tx1"/>
                </a:solidFill>
                <a:latin typeface="Arial" pitchFamily="34" charset="0"/>
                <a:cs typeface="Arial" pitchFamily="34" charset="0"/>
              </a:rPr>
              <a:t>: no puede ser detenida en un estado intermedio y ninguna otra operación puede modificar ningún estado intermedio</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Necesaria para trabajar con </a:t>
            </a:r>
            <a:r>
              <a:rPr lang="es-AR" sz="1800" dirty="0" err="1" smtClean="0">
                <a:solidFill>
                  <a:schemeClr val="tx1"/>
                </a:solidFill>
                <a:latin typeface="Arial" pitchFamily="34" charset="0"/>
                <a:cs typeface="Arial" pitchFamily="34" charset="0"/>
              </a:rPr>
              <a:t>threads</a:t>
            </a:r>
            <a:endParaRPr lang="es-AR" sz="18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En la mayoría de los equipos las operaciones de lectura–escritura son atómicas.</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Usar operaciones atómicas para asegurar la cooperación entre </a:t>
            </a:r>
            <a:r>
              <a:rPr lang="es-AR" sz="1800" dirty="0" err="1" smtClean="0">
                <a:solidFill>
                  <a:schemeClr val="tx1"/>
                </a:solidFill>
                <a:latin typeface="Arial" pitchFamily="34" charset="0"/>
                <a:cs typeface="Arial" pitchFamily="34" charset="0"/>
              </a:rPr>
              <a:t>threads</a:t>
            </a:r>
            <a:r>
              <a:rPr lang="es-AR" sz="1800" dirty="0" smtClean="0">
                <a:solidFill>
                  <a:schemeClr val="tx1"/>
                </a:solidFill>
                <a:latin typeface="Arial" pitchFamily="34" charset="0"/>
                <a:cs typeface="Arial" pitchFamily="34" charset="0"/>
              </a:rPr>
              <a:t>.</a:t>
            </a:r>
          </a:p>
          <a:p>
            <a:pPr marL="177800" indent="-177800" algn="just">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a:p>
            <a:pPr marL="177800" indent="-177800" algn="just">
              <a:spcBef>
                <a:spcPts val="600"/>
              </a:spcBef>
            </a:pPr>
            <a:r>
              <a:rPr lang="es-AR" sz="1800" b="1" dirty="0" smtClean="0">
                <a:solidFill>
                  <a:schemeClr val="tx1"/>
                </a:solidFill>
                <a:latin typeface="Arial" pitchFamily="34" charset="0"/>
                <a:cs typeface="Arial" pitchFamily="34" charset="0"/>
              </a:rPr>
              <a:t>Observaciones o consideraciones de la Sección Crítica:</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n procesos todos compitiendo para usar datos compartidos</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Cada proceso tiene un segmento de código llamado sección crítica, en la cual los datos compartidos son accedidos</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Problema – asegurar que cuando un proceso está ejecutando en su sección crítica, no se le permite a otro proceso ejecutar en su respectiva sección crítica. </a:t>
            </a:r>
          </a:p>
          <a:p>
            <a:pPr marL="177800" indent="-177800" algn="just">
              <a:spcBef>
                <a:spcPts val="600"/>
              </a:spcBef>
              <a:buFont typeface="Arial" pitchFamily="34" charset="0"/>
              <a:buChar char="•"/>
            </a:pPr>
            <a:r>
              <a:rPr lang="es-AR" sz="1800" dirty="0" smtClean="0">
                <a:solidFill>
                  <a:schemeClr val="tx1"/>
                </a:solidFill>
                <a:latin typeface="Arial" pitchFamily="34" charset="0"/>
                <a:cs typeface="Arial" pitchFamily="34" charset="0"/>
              </a:rPr>
              <a:t>La sección crítica debe ser lo más chica posible</a:t>
            </a: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22060" y="959299"/>
            <a:ext cx="8693340" cy="4801314"/>
          </a:xfrm>
          <a:prstGeom prst="rect">
            <a:avLst/>
          </a:prstGeom>
          <a:noFill/>
        </p:spPr>
        <p:txBody>
          <a:bodyPr wrap="square" rtlCol="0">
            <a:spAutoFit/>
          </a:bodyPr>
          <a:lstStyle/>
          <a:p>
            <a:pPr marL="177800" indent="-177800" algn="l">
              <a:spcBef>
                <a:spcPts val="600"/>
              </a:spcBef>
            </a:pPr>
            <a:r>
              <a:rPr lang="es-AR" sz="1800" b="1" dirty="0" smtClean="0">
                <a:solidFill>
                  <a:schemeClr val="tx1"/>
                </a:solidFill>
                <a:latin typeface="Arial" pitchFamily="34" charset="0"/>
                <a:cs typeface="Arial" pitchFamily="34" charset="0"/>
              </a:rPr>
              <a:t>Para llegar a una solución al problema de la sección crítica (y evitar la condición de carrera) . </a:t>
            </a:r>
            <a:r>
              <a:rPr lang="es-AR" sz="1800" b="1" dirty="0" smtClean="0">
                <a:solidFill>
                  <a:srgbClr val="FF0000"/>
                </a:solidFill>
                <a:latin typeface="Arial" pitchFamily="34" charset="0"/>
                <a:cs typeface="Arial" pitchFamily="34" charset="0"/>
              </a:rPr>
              <a:t>Se debe satisfacer:</a:t>
            </a:r>
          </a:p>
          <a:p>
            <a:pPr marL="342900" indent="-342900" algn="just">
              <a:spcBef>
                <a:spcPts val="1800"/>
              </a:spcBef>
              <a:buFont typeface="+mj-lt"/>
              <a:buAutoNum type="arabicPeriod"/>
            </a:pPr>
            <a:r>
              <a:rPr lang="es-AR" sz="1800" b="1" dirty="0" smtClean="0">
                <a:solidFill>
                  <a:schemeClr val="tx1"/>
                </a:solidFill>
                <a:latin typeface="Arial" pitchFamily="34" charset="0"/>
                <a:cs typeface="Arial" pitchFamily="34" charset="0"/>
              </a:rPr>
              <a:t>Exclusión Mutua</a:t>
            </a:r>
            <a:r>
              <a:rPr lang="es-AR" sz="1800" dirty="0" smtClean="0">
                <a:solidFill>
                  <a:schemeClr val="tx1"/>
                </a:solidFill>
                <a:latin typeface="Arial" pitchFamily="34" charset="0"/>
                <a:cs typeface="Arial" pitchFamily="34" charset="0"/>
              </a:rPr>
              <a:t>. Si el proceso </a:t>
            </a:r>
            <a:r>
              <a:rPr lang="es-AR" sz="1800" dirty="0" err="1" smtClean="0">
                <a:solidFill>
                  <a:schemeClr val="tx1"/>
                </a:solidFill>
                <a:latin typeface="Arial" pitchFamily="34" charset="0"/>
                <a:cs typeface="Arial" pitchFamily="34" charset="0"/>
              </a:rPr>
              <a:t>Pj</a:t>
            </a:r>
            <a:r>
              <a:rPr lang="es-AR" sz="1800" dirty="0" smtClean="0">
                <a:solidFill>
                  <a:schemeClr val="tx1"/>
                </a:solidFill>
                <a:latin typeface="Arial" pitchFamily="34" charset="0"/>
                <a:cs typeface="Arial" pitchFamily="34" charset="0"/>
              </a:rPr>
              <a:t> está ejecutando en su sección crítica, entonces ningún otro proceso puede estar ejecutando en la sección crítica.</a:t>
            </a:r>
          </a:p>
          <a:p>
            <a:pPr marL="342900" indent="-342900" algn="just">
              <a:spcBef>
                <a:spcPts val="1800"/>
              </a:spcBef>
              <a:buFont typeface="+mj-lt"/>
              <a:buAutoNum type="arabicPeriod"/>
            </a:pPr>
            <a:r>
              <a:rPr lang="es-AR" sz="1800" b="1" dirty="0" smtClean="0">
                <a:solidFill>
                  <a:schemeClr val="tx1"/>
                </a:solidFill>
                <a:latin typeface="Arial" pitchFamily="34" charset="0"/>
                <a:cs typeface="Arial" pitchFamily="34" charset="0"/>
              </a:rPr>
              <a:t>Progreso o Evolución</a:t>
            </a:r>
            <a:r>
              <a:rPr lang="es-AR" sz="1800" dirty="0" smtClean="0">
                <a:solidFill>
                  <a:schemeClr val="tx1"/>
                </a:solidFill>
                <a:latin typeface="Arial" pitchFamily="34" charset="0"/>
                <a:cs typeface="Arial" pitchFamily="34" charset="0"/>
              </a:rPr>
              <a:t>. Ningún proceso que no se encuentre en la sección crítica puede impedir que otro esté en la misma.</a:t>
            </a:r>
          </a:p>
          <a:p>
            <a:pPr marL="342900" indent="-342900" algn="just">
              <a:spcBef>
                <a:spcPts val="1800"/>
              </a:spcBef>
              <a:buFont typeface="+mj-lt"/>
              <a:buAutoNum type="arabicPeriod"/>
            </a:pPr>
            <a:r>
              <a:rPr lang="es-AR" sz="1800" b="1" dirty="0" smtClean="0">
                <a:solidFill>
                  <a:schemeClr val="tx1"/>
                </a:solidFill>
                <a:latin typeface="Arial" pitchFamily="34" charset="0"/>
                <a:cs typeface="Arial" pitchFamily="34" charset="0"/>
              </a:rPr>
              <a:t>Espera Limitada</a:t>
            </a:r>
            <a:r>
              <a:rPr lang="es-AR" sz="1800" dirty="0" smtClean="0">
                <a:solidFill>
                  <a:schemeClr val="tx1"/>
                </a:solidFill>
                <a:latin typeface="Arial" pitchFamily="34" charset="0"/>
                <a:cs typeface="Arial" pitchFamily="34" charset="0"/>
              </a:rPr>
              <a:t>. Ningún proceso tiene que esperar indefinidamente para entrar en su sección crítica. Debe existir un límite en el número de veces que a otros procesos les está permitido entrar en la sección crítica después que un proceso ha hecho un requerimiento para entrar en la sección crítica y antes que ese requerimiento sea completado</a:t>
            </a:r>
          </a:p>
          <a:p>
            <a:pPr marL="177800" indent="-177800" algn="l">
              <a:spcBef>
                <a:spcPts val="600"/>
              </a:spcBef>
            </a:pPr>
            <a:endParaRPr lang="es-AR" sz="1600" dirty="0" smtClean="0">
              <a:solidFill>
                <a:schemeClr val="tx1"/>
              </a:solidFill>
              <a:latin typeface="Arial" pitchFamily="34" charset="0"/>
              <a:cs typeface="Arial" pitchFamily="34" charset="0"/>
            </a:endParaRPr>
          </a:p>
          <a:p>
            <a:pPr marL="177800" indent="-177800" algn="l">
              <a:spcBef>
                <a:spcPts val="600"/>
              </a:spcBef>
            </a:pPr>
            <a:r>
              <a:rPr lang="es-AR" sz="1600" dirty="0" smtClean="0">
                <a:solidFill>
                  <a:schemeClr val="tx1"/>
                </a:solidFill>
                <a:latin typeface="Arial" pitchFamily="34" charset="0"/>
                <a:cs typeface="Arial" pitchFamily="34" charset="0"/>
              </a:rPr>
              <a:t>Se debe suponer también que cada proceso se ejecuta a velocidad distinta de cero.</a:t>
            </a:r>
          </a:p>
          <a:p>
            <a:pPr marL="177800" indent="-177800" algn="l">
              <a:spcBef>
                <a:spcPts val="600"/>
              </a:spcBef>
            </a:pPr>
            <a:r>
              <a:rPr lang="es-AR" sz="1600" dirty="0" smtClean="0">
                <a:solidFill>
                  <a:schemeClr val="tx1"/>
                </a:solidFill>
                <a:latin typeface="Arial" pitchFamily="34" charset="0"/>
                <a:cs typeface="Arial" pitchFamily="34" charset="0"/>
              </a:rPr>
              <a:t>No se asume nada respecto a la velocidad relativa de los n procesos.</a:t>
            </a: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5801588"/>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Soluciones por Software. Algoritmos</a:t>
            </a:r>
          </a:p>
          <a:p>
            <a:pPr marL="177800" indent="-177800" algn="just">
              <a:spcBef>
                <a:spcPts val="600"/>
              </a:spcBef>
            </a:pPr>
            <a:r>
              <a:rPr lang="es-AR" sz="1800" dirty="0" err="1" smtClean="0">
                <a:solidFill>
                  <a:schemeClr val="tx1"/>
                </a:solidFill>
                <a:latin typeface="Arial" pitchFamily="34" charset="0"/>
                <a:cs typeface="Arial" pitchFamily="34" charset="0"/>
              </a:rPr>
              <a:t>Dekker</a:t>
            </a:r>
            <a:r>
              <a:rPr lang="es-AR" sz="1800" dirty="0" smtClean="0">
                <a:solidFill>
                  <a:schemeClr val="tx1"/>
                </a:solidFill>
                <a:latin typeface="Arial" pitchFamily="34" charset="0"/>
                <a:cs typeface="Arial" pitchFamily="34" charset="0"/>
              </a:rPr>
              <a:t> (ver video en plataforma y leer del libro), Peterson, etc.</a:t>
            </a:r>
          </a:p>
          <a:p>
            <a:pPr marL="177800" indent="-177800" algn="just">
              <a:spcBef>
                <a:spcPts val="600"/>
              </a:spcBef>
            </a:pPr>
            <a:r>
              <a:rPr lang="es-AR" sz="1800" dirty="0" smtClean="0">
                <a:solidFill>
                  <a:schemeClr val="tx1"/>
                </a:solidFill>
                <a:latin typeface="Arial" pitchFamily="34" charset="0"/>
                <a:cs typeface="Arial" pitchFamily="34" charset="0"/>
              </a:rPr>
              <a:t>La estructura general del un proceso </a:t>
            </a:r>
            <a:r>
              <a:rPr lang="es-AR" sz="1800" dirty="0" err="1" smtClean="0">
                <a:solidFill>
                  <a:schemeClr val="tx1"/>
                </a:solidFill>
                <a:latin typeface="Arial" pitchFamily="34" charset="0"/>
                <a:cs typeface="Arial" pitchFamily="34" charset="0"/>
              </a:rPr>
              <a:t>Pj</a:t>
            </a:r>
            <a:r>
              <a:rPr lang="es-AR" sz="1800" dirty="0" smtClean="0">
                <a:solidFill>
                  <a:schemeClr val="tx1"/>
                </a:solidFill>
                <a:latin typeface="Arial" pitchFamily="34" charset="0"/>
                <a:cs typeface="Arial" pitchFamily="34" charset="0"/>
              </a:rPr>
              <a:t> es:</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r>
              <a:rPr lang="es-AR" sz="1800" dirty="0" smtClean="0">
                <a:solidFill>
                  <a:schemeClr val="tx1"/>
                </a:solidFill>
                <a:latin typeface="Arial" pitchFamily="34" charset="0"/>
                <a:cs typeface="Arial" pitchFamily="34" charset="0"/>
              </a:rPr>
              <a:t>Los procesos pueden compartir algunas variables comunes para sincronizar sus acciones.</a:t>
            </a:r>
          </a:p>
          <a:p>
            <a:pPr marL="177800" indent="-177800" algn="just">
              <a:spcBef>
                <a:spcPts val="600"/>
              </a:spcBef>
            </a:pPr>
            <a:r>
              <a:rPr lang="es-AR" sz="1800" dirty="0" smtClean="0">
                <a:solidFill>
                  <a:schemeClr val="tx1"/>
                </a:solidFill>
                <a:latin typeface="Arial" pitchFamily="34" charset="0"/>
                <a:cs typeface="Arial" pitchFamily="34" charset="0"/>
              </a:rPr>
              <a:t>Un cerrojo es una variable de sincronización que proporciona exclusión mutua. Solo un hilo puede acceder al estado compartido a la vez, y lo otros están excluidos.</a:t>
            </a:r>
          </a:p>
          <a:p>
            <a:pPr marL="177800" indent="-177800" algn="just">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4754" name="Picture 2"/>
          <p:cNvPicPr>
            <a:picLocks noChangeAspect="1" noChangeArrowheads="1"/>
          </p:cNvPicPr>
          <p:nvPr/>
        </p:nvPicPr>
        <p:blipFill>
          <a:blip r:embed="rId3" cstate="print"/>
          <a:srcRect/>
          <a:stretch>
            <a:fillRect/>
          </a:stretch>
        </p:blipFill>
        <p:spPr bwMode="auto">
          <a:xfrm>
            <a:off x="1323974" y="2257425"/>
            <a:ext cx="2955925" cy="2308642"/>
          </a:xfrm>
          <a:prstGeom prst="rect">
            <a:avLst/>
          </a:prstGeom>
          <a:ln>
            <a:noFill/>
          </a:ln>
          <a:effectLst>
            <a:outerShdw blurRad="292100" dist="139700" dir="2700000" algn="tl" rotWithShape="0">
              <a:srgbClr val="333333">
                <a:alpha val="65000"/>
              </a:srgbClr>
            </a:outerShdw>
          </a:effectLst>
        </p:spPr>
      </p:pic>
      <p:grpSp>
        <p:nvGrpSpPr>
          <p:cNvPr id="26" name="25 Grupo"/>
          <p:cNvGrpSpPr/>
          <p:nvPr/>
        </p:nvGrpSpPr>
        <p:grpSpPr>
          <a:xfrm>
            <a:off x="4975182" y="2031998"/>
            <a:ext cx="3794000" cy="2617942"/>
            <a:chOff x="4975182" y="1752598"/>
            <a:chExt cx="3794000" cy="2617942"/>
          </a:xfrm>
        </p:grpSpPr>
        <p:sp>
          <p:nvSpPr>
            <p:cNvPr id="21" name="20 Flecha curvada hacia la izquierda"/>
            <p:cNvSpPr/>
            <p:nvPr/>
          </p:nvSpPr>
          <p:spPr>
            <a:xfrm rot="17021578">
              <a:off x="7446116" y="1648244"/>
              <a:ext cx="490916" cy="1388006"/>
            </a:xfrm>
            <a:prstGeom prst="curvedLeftArrow">
              <a:avLst>
                <a:gd name="adj1" fmla="val 2018"/>
                <a:gd name="adj2" fmla="val 50000"/>
                <a:gd name="adj3" fmla="val 25000"/>
              </a:avLst>
            </a:prstGeom>
            <a:solidFill>
              <a:srgbClr val="0033CC"/>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22" name="21 Flecha curvada hacia la izquierda"/>
            <p:cNvSpPr/>
            <p:nvPr/>
          </p:nvSpPr>
          <p:spPr>
            <a:xfrm rot="6187923">
              <a:off x="5836383" y="3083865"/>
              <a:ext cx="470674" cy="1378377"/>
            </a:xfrm>
            <a:prstGeom prst="curvedLeftArrow">
              <a:avLst>
                <a:gd name="adj1" fmla="val 2018"/>
                <a:gd name="adj2" fmla="val 50000"/>
                <a:gd name="adj3" fmla="val 25000"/>
              </a:avLst>
            </a:prstGeom>
            <a:solidFill>
              <a:srgbClr val="0033CC"/>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24" name="23 Flecha curvada hacia la izquierda"/>
            <p:cNvSpPr/>
            <p:nvPr/>
          </p:nvSpPr>
          <p:spPr>
            <a:xfrm rot="1332810">
              <a:off x="7765456" y="2877664"/>
              <a:ext cx="453717" cy="1429887"/>
            </a:xfrm>
            <a:prstGeom prst="curvedLeftArrow">
              <a:avLst>
                <a:gd name="adj1" fmla="val 2018"/>
                <a:gd name="adj2" fmla="val 50000"/>
                <a:gd name="adj3" fmla="val 25000"/>
              </a:avLst>
            </a:prstGeom>
            <a:solidFill>
              <a:srgbClr val="0033CC"/>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25" name="24 Flecha curvada hacia la izquierda"/>
            <p:cNvSpPr/>
            <p:nvPr/>
          </p:nvSpPr>
          <p:spPr>
            <a:xfrm rot="11821732">
              <a:off x="5582201" y="1849720"/>
              <a:ext cx="453718" cy="1429887"/>
            </a:xfrm>
            <a:prstGeom prst="curvedLeftArrow">
              <a:avLst>
                <a:gd name="adj1" fmla="val 2018"/>
                <a:gd name="adj2" fmla="val 50000"/>
                <a:gd name="adj3" fmla="val 25000"/>
              </a:avLst>
            </a:prstGeom>
            <a:solidFill>
              <a:srgbClr val="0033CC"/>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grpSp>
          <p:nvGrpSpPr>
            <p:cNvPr id="10" name="9 Grupo"/>
            <p:cNvGrpSpPr/>
            <p:nvPr/>
          </p:nvGrpSpPr>
          <p:grpSpPr>
            <a:xfrm>
              <a:off x="6232482" y="1752598"/>
              <a:ext cx="1203200" cy="700242"/>
              <a:chOff x="6081867" y="1404373"/>
              <a:chExt cx="1399868" cy="785352"/>
            </a:xfrm>
          </p:grpSpPr>
          <p:sp>
            <p:nvSpPr>
              <p:cNvPr id="8" name="7 Elipse"/>
              <p:cNvSpPr/>
              <p:nvPr/>
            </p:nvSpPr>
            <p:spPr>
              <a:xfrm>
                <a:off x="6081867" y="1404373"/>
                <a:ext cx="1399868" cy="785352"/>
              </a:xfrm>
              <a:prstGeom prst="ellips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8100000" scaled="1"/>
                <a:tileRect/>
              </a:gradFill>
              <a:effectLst>
                <a:outerShdw blurRad="50800" dist="50800" dir="5400000" sx="2000" sy="2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 </a:t>
                </a:r>
                <a:endParaRPr lang="es-AR" dirty="0"/>
              </a:p>
            </p:txBody>
          </p:sp>
          <p:sp>
            <p:nvSpPr>
              <p:cNvPr id="9" name="8 CuadroTexto"/>
              <p:cNvSpPr txBox="1"/>
              <p:nvPr/>
            </p:nvSpPr>
            <p:spPr>
              <a:xfrm>
                <a:off x="6281725" y="1574802"/>
                <a:ext cx="966932" cy="369332"/>
              </a:xfrm>
              <a:prstGeom prst="rect">
                <a:avLst/>
              </a:prstGeom>
              <a:noFill/>
            </p:spPr>
            <p:txBody>
              <a:bodyPr wrap="none" rtlCol="0">
                <a:spAutoFit/>
              </a:bodyPr>
              <a:lstStyle/>
              <a:p>
                <a:r>
                  <a:rPr lang="es-AR" sz="1800" dirty="0" smtClean="0">
                    <a:solidFill>
                      <a:schemeClr val="tx1"/>
                    </a:solidFill>
                    <a:latin typeface="Arial" pitchFamily="34" charset="0"/>
                    <a:cs typeface="Arial" pitchFamily="34" charset="0"/>
                  </a:rPr>
                  <a:t>entrada</a:t>
                </a:r>
                <a:endParaRPr lang="es-AR" sz="1800" dirty="0">
                  <a:solidFill>
                    <a:schemeClr val="tx1"/>
                  </a:solidFill>
                  <a:latin typeface="Arial" pitchFamily="34" charset="0"/>
                  <a:cs typeface="Arial" pitchFamily="34" charset="0"/>
                </a:endParaRPr>
              </a:p>
            </p:txBody>
          </p:sp>
        </p:grpSp>
        <p:grpSp>
          <p:nvGrpSpPr>
            <p:cNvPr id="12" name="11 Grupo"/>
            <p:cNvGrpSpPr/>
            <p:nvPr/>
          </p:nvGrpSpPr>
          <p:grpSpPr>
            <a:xfrm>
              <a:off x="7565982" y="2743205"/>
              <a:ext cx="1203200" cy="700245"/>
              <a:chOff x="6081867" y="1404373"/>
              <a:chExt cx="1399868" cy="785352"/>
            </a:xfrm>
          </p:grpSpPr>
          <p:sp>
            <p:nvSpPr>
              <p:cNvPr id="13" name="12 Elipse"/>
              <p:cNvSpPr/>
              <p:nvPr/>
            </p:nvSpPr>
            <p:spPr>
              <a:xfrm>
                <a:off x="6081867" y="1404373"/>
                <a:ext cx="1399868" cy="785352"/>
              </a:xfrm>
              <a:prstGeom prst="ellips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8100000" scaled="1"/>
                <a:tileRect/>
              </a:gradFill>
              <a:effectLst>
                <a:outerShdw blurRad="50800" dist="50800" dir="5400000" sx="2000" sy="2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 </a:t>
                </a:r>
                <a:endParaRPr lang="es-AR" dirty="0"/>
              </a:p>
            </p:txBody>
          </p:sp>
          <p:sp>
            <p:nvSpPr>
              <p:cNvPr id="14" name="13 CuadroTexto"/>
              <p:cNvSpPr txBox="1"/>
              <p:nvPr/>
            </p:nvSpPr>
            <p:spPr>
              <a:xfrm>
                <a:off x="6240634" y="1429358"/>
                <a:ext cx="1107293" cy="740150"/>
              </a:xfrm>
              <a:prstGeom prst="rect">
                <a:avLst/>
              </a:prstGeom>
              <a:noFill/>
            </p:spPr>
            <p:txBody>
              <a:bodyPr wrap="none" rtlCol="0">
                <a:spAutoFit/>
              </a:bodyPr>
              <a:lstStyle/>
              <a:p>
                <a:r>
                  <a:rPr lang="es-AR" sz="1800" dirty="0" smtClean="0">
                    <a:solidFill>
                      <a:schemeClr val="tx1"/>
                    </a:solidFill>
                    <a:latin typeface="Arial" pitchFamily="34" charset="0"/>
                    <a:cs typeface="Arial" pitchFamily="34" charset="0"/>
                  </a:rPr>
                  <a:t>sección</a:t>
                </a:r>
              </a:p>
              <a:p>
                <a:r>
                  <a:rPr lang="es-AR" sz="1800" dirty="0" smtClean="0">
                    <a:solidFill>
                      <a:schemeClr val="tx1"/>
                    </a:solidFill>
                    <a:latin typeface="Arial" pitchFamily="34" charset="0"/>
                    <a:cs typeface="Arial" pitchFamily="34" charset="0"/>
                  </a:rPr>
                  <a:t>crítica</a:t>
                </a:r>
                <a:endParaRPr lang="es-AR" sz="1800" dirty="0">
                  <a:solidFill>
                    <a:schemeClr val="tx1"/>
                  </a:solidFill>
                  <a:latin typeface="Arial" pitchFamily="34" charset="0"/>
                  <a:cs typeface="Arial" pitchFamily="34" charset="0"/>
                </a:endParaRPr>
              </a:p>
            </p:txBody>
          </p:sp>
        </p:grpSp>
        <p:grpSp>
          <p:nvGrpSpPr>
            <p:cNvPr id="15" name="14 Grupo"/>
            <p:cNvGrpSpPr/>
            <p:nvPr/>
          </p:nvGrpSpPr>
          <p:grpSpPr>
            <a:xfrm>
              <a:off x="6321382" y="3670298"/>
              <a:ext cx="1203200" cy="700242"/>
              <a:chOff x="6081867" y="1404373"/>
              <a:chExt cx="1399868" cy="785352"/>
            </a:xfrm>
          </p:grpSpPr>
          <p:sp>
            <p:nvSpPr>
              <p:cNvPr id="16" name="15 Elipse"/>
              <p:cNvSpPr/>
              <p:nvPr/>
            </p:nvSpPr>
            <p:spPr>
              <a:xfrm>
                <a:off x="6081867" y="1404373"/>
                <a:ext cx="1399868" cy="785352"/>
              </a:xfrm>
              <a:prstGeom prst="ellips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8100000" scaled="1"/>
                <a:tileRect/>
              </a:gradFill>
              <a:effectLst>
                <a:outerShdw blurRad="50800" dist="50800" dir="5400000" sx="2000" sy="2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 </a:t>
                </a:r>
                <a:endParaRPr lang="es-AR" dirty="0"/>
              </a:p>
            </p:txBody>
          </p:sp>
          <p:sp>
            <p:nvSpPr>
              <p:cNvPr id="17" name="16 CuadroTexto"/>
              <p:cNvSpPr txBox="1"/>
              <p:nvPr/>
            </p:nvSpPr>
            <p:spPr>
              <a:xfrm>
                <a:off x="6314344" y="1574802"/>
                <a:ext cx="901694" cy="422945"/>
              </a:xfrm>
              <a:prstGeom prst="rect">
                <a:avLst/>
              </a:prstGeom>
              <a:noFill/>
            </p:spPr>
            <p:txBody>
              <a:bodyPr wrap="none" rtlCol="0">
                <a:spAutoFit/>
              </a:bodyPr>
              <a:lstStyle/>
              <a:p>
                <a:r>
                  <a:rPr lang="es-AR" sz="1800" dirty="0" smtClean="0">
                    <a:solidFill>
                      <a:schemeClr val="tx1"/>
                    </a:solidFill>
                    <a:latin typeface="Arial" pitchFamily="34" charset="0"/>
                    <a:cs typeface="Arial" pitchFamily="34" charset="0"/>
                  </a:rPr>
                  <a:t>salida</a:t>
                </a:r>
                <a:endParaRPr lang="es-AR" sz="1800" dirty="0">
                  <a:solidFill>
                    <a:schemeClr val="tx1"/>
                  </a:solidFill>
                  <a:latin typeface="Arial" pitchFamily="34" charset="0"/>
                  <a:cs typeface="Arial" pitchFamily="34" charset="0"/>
                </a:endParaRPr>
              </a:p>
            </p:txBody>
          </p:sp>
        </p:grpSp>
        <p:grpSp>
          <p:nvGrpSpPr>
            <p:cNvPr id="18" name="17 Grupo"/>
            <p:cNvGrpSpPr/>
            <p:nvPr/>
          </p:nvGrpSpPr>
          <p:grpSpPr>
            <a:xfrm>
              <a:off x="4975182" y="2705098"/>
              <a:ext cx="1203200" cy="700242"/>
              <a:chOff x="6081867" y="1404373"/>
              <a:chExt cx="1399868" cy="785352"/>
            </a:xfrm>
          </p:grpSpPr>
          <p:sp>
            <p:nvSpPr>
              <p:cNvPr id="19" name="18 Elipse"/>
              <p:cNvSpPr/>
              <p:nvPr/>
            </p:nvSpPr>
            <p:spPr>
              <a:xfrm>
                <a:off x="6081867" y="1404373"/>
                <a:ext cx="1399868" cy="785352"/>
              </a:xfrm>
              <a:prstGeom prst="ellipse">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8100000" scaled="1"/>
                <a:tileRect/>
              </a:gradFill>
              <a:effectLst>
                <a:outerShdw blurRad="50800" dist="50800" dir="5400000" sx="2000" sy="2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 </a:t>
                </a:r>
                <a:endParaRPr lang="es-AR" dirty="0"/>
              </a:p>
            </p:txBody>
          </p:sp>
          <p:sp>
            <p:nvSpPr>
              <p:cNvPr id="20" name="19 CuadroTexto"/>
              <p:cNvSpPr txBox="1"/>
              <p:nvPr/>
            </p:nvSpPr>
            <p:spPr>
              <a:xfrm>
                <a:off x="6182176" y="1574802"/>
                <a:ext cx="1166035" cy="422945"/>
              </a:xfrm>
              <a:prstGeom prst="rect">
                <a:avLst/>
              </a:prstGeom>
              <a:noFill/>
            </p:spPr>
            <p:txBody>
              <a:bodyPr wrap="none" rtlCol="0">
                <a:spAutoFit/>
              </a:bodyPr>
              <a:lstStyle/>
              <a:p>
                <a:r>
                  <a:rPr lang="es-AR" sz="1800" dirty="0" smtClean="0">
                    <a:solidFill>
                      <a:schemeClr val="tx1"/>
                    </a:solidFill>
                    <a:latin typeface="Arial" pitchFamily="34" charset="0"/>
                    <a:cs typeface="Arial" pitchFamily="34" charset="0"/>
                  </a:rPr>
                  <a:t>restante</a:t>
                </a:r>
                <a:endParaRPr lang="es-AR" sz="1800" dirty="0">
                  <a:solidFill>
                    <a:schemeClr val="tx1"/>
                  </a:solidFill>
                  <a:latin typeface="Arial" pitchFamily="34" charset="0"/>
                  <a:cs typeface="Arial" pitchFamily="34" charset="0"/>
                </a:endParaRPr>
              </a:p>
            </p:txBody>
          </p:sp>
        </p:gr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955750"/>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Soluciones por Software. </a:t>
            </a:r>
          </a:p>
          <a:p>
            <a:pPr marL="177800" indent="-177800" algn="just">
              <a:spcBef>
                <a:spcPts val="600"/>
              </a:spcBef>
            </a:pPr>
            <a:r>
              <a:rPr lang="es-AR" sz="1800" b="1" dirty="0" smtClean="0">
                <a:solidFill>
                  <a:schemeClr val="tx1"/>
                </a:solidFill>
                <a:latin typeface="Arial" pitchFamily="34" charset="0"/>
                <a:cs typeface="Arial" pitchFamily="34" charset="0"/>
              </a:rPr>
              <a:t>Algoritmo 1</a:t>
            </a:r>
            <a:r>
              <a:rPr lang="es-AR" sz="1100" b="1" dirty="0" smtClean="0">
                <a:solidFill>
                  <a:schemeClr val="tx1"/>
                </a:solidFill>
                <a:latin typeface="Arial" pitchFamily="34" charset="0"/>
                <a:cs typeface="Arial" pitchFamily="34" charset="0"/>
              </a:rPr>
              <a:t> </a:t>
            </a:r>
            <a:r>
              <a:rPr lang="es-AR" sz="1100" dirty="0" smtClean="0">
                <a:solidFill>
                  <a:schemeClr val="tx1"/>
                </a:solidFill>
                <a:latin typeface="Arial" pitchFamily="34" charset="0"/>
                <a:cs typeface="Arial" pitchFamily="34" charset="0"/>
              </a:rPr>
              <a:t>(turno compartido)</a:t>
            </a:r>
            <a:r>
              <a:rPr lang="es-AR" sz="1100" b="1" dirty="0" smtClean="0">
                <a:solidFill>
                  <a:schemeClr val="tx1"/>
                </a:solidFill>
                <a:latin typeface="Arial" pitchFamily="34" charset="0"/>
                <a:cs typeface="Arial" pitchFamily="34" charset="0"/>
              </a:rPr>
              <a:t>: </a:t>
            </a:r>
          </a:p>
          <a:p>
            <a:pPr marL="177800" indent="-177800" algn="just">
              <a:spcBef>
                <a:spcPts val="0"/>
              </a:spcBef>
            </a:pPr>
            <a:r>
              <a:rPr lang="es-AR" sz="1600" dirty="0" smtClean="0">
                <a:solidFill>
                  <a:schemeClr val="tx1"/>
                </a:solidFill>
                <a:latin typeface="Arial" pitchFamily="34" charset="0"/>
                <a:cs typeface="Arial" pitchFamily="34" charset="0"/>
              </a:rPr>
              <a:t>Utiliza </a:t>
            </a:r>
            <a:r>
              <a:rPr lang="es-AR" sz="1600" u="sng" dirty="0" smtClean="0">
                <a:solidFill>
                  <a:schemeClr val="tx1"/>
                </a:solidFill>
                <a:latin typeface="Arial" pitchFamily="34" charset="0"/>
                <a:cs typeface="Arial" pitchFamily="34" charset="0"/>
              </a:rPr>
              <a:t>variables compartidas</a:t>
            </a:r>
            <a:r>
              <a:rPr lang="es-AR" sz="1600" dirty="0" smtClean="0">
                <a:solidFill>
                  <a:schemeClr val="tx1"/>
                </a:solidFill>
                <a:latin typeface="Arial" pitchFamily="34" charset="0"/>
                <a:cs typeface="Arial" pitchFamily="34" charset="0"/>
              </a:rPr>
              <a:t> (variabl</a:t>
            </a:r>
            <a:r>
              <a:rPr lang="es-AR" sz="1800" dirty="0" smtClean="0">
                <a:solidFill>
                  <a:schemeClr val="tx1"/>
                </a:solidFill>
                <a:latin typeface="Arial" pitchFamily="34" charset="0"/>
                <a:cs typeface="Arial" pitchFamily="34" charset="0"/>
              </a:rPr>
              <a:t>e turno), un proceso entra a su sección crítica solamente cuando es su turno</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82563" indent="-182563" algn="just">
              <a:spcBef>
                <a:spcPts val="600"/>
              </a:spcBef>
              <a:buFont typeface="Arial" pitchFamily="34" charset="0"/>
              <a:buChar char="•"/>
            </a:pPr>
            <a:r>
              <a:rPr lang="es-ES" sz="1800" dirty="0" smtClean="0">
                <a:solidFill>
                  <a:schemeClr val="tx1"/>
                </a:solidFill>
                <a:latin typeface="Arial" pitchFamily="34" charset="0"/>
                <a:cs typeface="Arial" pitchFamily="34" charset="0"/>
              </a:rPr>
              <a:t>Satisface la exclusión Mutua</a:t>
            </a:r>
          </a:p>
          <a:p>
            <a:pPr marL="182563" indent="-182563" algn="just">
              <a:buFont typeface="Arial" pitchFamily="34" charset="0"/>
              <a:buChar char="•"/>
            </a:pPr>
            <a:r>
              <a:rPr lang="es-ES" sz="1800" dirty="0" smtClean="0">
                <a:solidFill>
                  <a:schemeClr val="tx1"/>
                </a:solidFill>
                <a:latin typeface="Arial" pitchFamily="34" charset="0"/>
                <a:cs typeface="Arial" pitchFamily="34" charset="0"/>
              </a:rPr>
              <a:t>No satisface el Progreso ya que requiere una estricta </a:t>
            </a:r>
            <a:r>
              <a:rPr lang="es-ES" sz="1800" dirty="0" err="1" smtClean="0">
                <a:solidFill>
                  <a:schemeClr val="tx1"/>
                </a:solidFill>
                <a:latin typeface="Arial" pitchFamily="34" charset="0"/>
                <a:cs typeface="Arial" pitchFamily="34" charset="0"/>
              </a:rPr>
              <a:t>alternabilidad</a:t>
            </a:r>
            <a:r>
              <a:rPr lang="es-ES" sz="1800" dirty="0" smtClean="0">
                <a:solidFill>
                  <a:schemeClr val="tx1"/>
                </a:solidFill>
                <a:latin typeface="Arial" pitchFamily="34" charset="0"/>
                <a:cs typeface="Arial" pitchFamily="34" charset="0"/>
              </a:rPr>
              <a:t> entre procesos</a:t>
            </a:r>
          </a:p>
          <a:p>
            <a:pPr marL="639763" lvl="1" indent="-182563" algn="just">
              <a:buFont typeface="Arial" pitchFamily="34" charset="0"/>
              <a:buChar char="•"/>
            </a:pPr>
            <a:r>
              <a:rPr lang="es-ES" sz="1800" dirty="0" smtClean="0">
                <a:solidFill>
                  <a:schemeClr val="tx1"/>
                </a:solidFill>
                <a:latin typeface="Arial" pitchFamily="34" charset="0"/>
                <a:cs typeface="Arial" pitchFamily="34" charset="0"/>
              </a:rPr>
              <a:t> </a:t>
            </a:r>
            <a:r>
              <a:rPr lang="es-ES" sz="1800" dirty="0" smtClean="0">
                <a:solidFill>
                  <a:srgbClr val="FF0000"/>
                </a:solidFill>
                <a:latin typeface="Arial" pitchFamily="34" charset="0"/>
                <a:cs typeface="Arial" pitchFamily="34" charset="0"/>
              </a:rPr>
              <a:t>Un proceso puede quedar bloqueado por otro fuera de su sección crítica</a:t>
            </a:r>
            <a:r>
              <a:rPr lang="es-ES" sz="1800" dirty="0" smtClean="0">
                <a:solidFill>
                  <a:schemeClr val="tx1"/>
                </a:solidFill>
                <a:latin typeface="Arial" pitchFamily="34" charset="0"/>
                <a:cs typeface="Arial" pitchFamily="34" charset="0"/>
              </a:rPr>
              <a:t>. Por ejemplo: Supongamos que el proceso P0 tiene el RS muy extenso y el proceso P1 lo tiene pequeño. Si turno=0, P0 entra a la SC y luego se asigna turno=1 y continúa con su RS largo. El proceso P1 a su vez, entra a su SC y cuando termina pone turno=0 y ejecuta su RS corto y lo termina, Entonces trata de volver a entrar a su SC., pero este requerimiento es rechazado ya que debe esperar hasta que P0 deje su RS.</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4099" name="Picture 3"/>
          <p:cNvPicPr>
            <a:picLocks noChangeAspect="1" noChangeArrowheads="1"/>
          </p:cNvPicPr>
          <p:nvPr/>
        </p:nvPicPr>
        <p:blipFill>
          <a:blip r:embed="rId3" cstate="print"/>
          <a:srcRect/>
          <a:stretch>
            <a:fillRect/>
          </a:stretch>
        </p:blipFill>
        <p:spPr bwMode="auto">
          <a:xfrm>
            <a:off x="2041282" y="2207593"/>
            <a:ext cx="4030679" cy="1704290"/>
          </a:xfrm>
          <a:prstGeom prst="rect">
            <a:avLst/>
          </a:prstGeom>
          <a:ln>
            <a:noFill/>
          </a:ln>
          <a:effectLst>
            <a:outerShdw blurRad="292100" dist="139700" dir="2700000" algn="tl" rotWithShape="0">
              <a:srgbClr val="333333">
                <a:alpha val="65000"/>
              </a:srgbClr>
            </a:outerShdw>
          </a:effectLst>
        </p:spPr>
      </p:pic>
      <p:cxnSp>
        <p:nvCxnSpPr>
          <p:cNvPr id="11" name="10 Conector recto de flecha"/>
          <p:cNvCxnSpPr/>
          <p:nvPr/>
        </p:nvCxnSpPr>
        <p:spPr>
          <a:xfrm rot="10800000">
            <a:off x="3683000" y="3206750"/>
            <a:ext cx="1479550" cy="9525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2" name="1 Título"/>
          <p:cNvSpPr txBox="1">
            <a:spLocks/>
          </p:cNvSpPr>
          <p:nvPr/>
        </p:nvSpPr>
        <p:spPr>
          <a:xfrm>
            <a:off x="5073650" y="3232150"/>
            <a:ext cx="933450" cy="288940"/>
          </a:xfrm>
          <a:prstGeom prst="rect">
            <a:avLst/>
          </a:prstGeom>
        </p:spPr>
        <p:txBody>
          <a:bodyPr vert="horz" lIns="91440" tIns="45720" rIns="91440" bIns="45720" rtlCol="0" anchor="ctr">
            <a:normAutofit fontScale="25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b="1" dirty="0" smtClean="0">
                <a:solidFill>
                  <a:srgbClr val="00B050"/>
                </a:solidFill>
                <a:latin typeface="+mn-lt"/>
                <a:ea typeface="+mj-ea"/>
                <a:cs typeface="Arial" pitchFamily="34" charset="0"/>
              </a:rPr>
              <a:t>Cede el turno a otro proceso</a:t>
            </a:r>
            <a:endParaRPr kumimoji="0" lang="es-AR" sz="34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cxnSp>
        <p:nvCxnSpPr>
          <p:cNvPr id="15" name="14 Conector recto de flecha"/>
          <p:cNvCxnSpPr/>
          <p:nvPr/>
        </p:nvCxnSpPr>
        <p:spPr>
          <a:xfrm rot="10800000" flipV="1">
            <a:off x="4305300" y="2660650"/>
            <a:ext cx="825500" cy="1905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6" name="1 Título"/>
          <p:cNvSpPr txBox="1">
            <a:spLocks/>
          </p:cNvSpPr>
          <p:nvPr/>
        </p:nvSpPr>
        <p:spPr>
          <a:xfrm>
            <a:off x="5041900" y="2590800"/>
            <a:ext cx="933450" cy="127000"/>
          </a:xfrm>
          <a:prstGeom prst="rect">
            <a:avLst/>
          </a:prstGeom>
        </p:spPr>
        <p:txBody>
          <a:bodyPr vert="horz" lIns="91440" tIns="45720" rIns="91440" bIns="45720" rtlCol="0" anchor="ctr">
            <a:normAutofit fontScale="25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b="1" dirty="0" smtClean="0">
                <a:solidFill>
                  <a:srgbClr val="00B050"/>
                </a:solidFill>
                <a:latin typeface="+mn-lt"/>
                <a:ea typeface="+mj-ea"/>
                <a:cs typeface="Arial" pitchFamily="34" charset="0"/>
              </a:rPr>
              <a:t>Espera su turno </a:t>
            </a:r>
            <a:endParaRPr kumimoji="0" lang="es-AR" sz="34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478697"/>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Soluciones por Software. </a:t>
            </a:r>
          </a:p>
          <a:p>
            <a:pPr marL="177800" indent="-177800" algn="just">
              <a:spcBef>
                <a:spcPts val="600"/>
              </a:spcBef>
            </a:pPr>
            <a:r>
              <a:rPr lang="es-AR" sz="1800" b="1" dirty="0" smtClean="0">
                <a:solidFill>
                  <a:schemeClr val="tx1"/>
                </a:solidFill>
                <a:latin typeface="Arial" pitchFamily="34" charset="0"/>
                <a:cs typeface="Arial" pitchFamily="34" charset="0"/>
              </a:rPr>
              <a:t>Algoritmo 2 </a:t>
            </a:r>
            <a:r>
              <a:rPr lang="es-AR" sz="1100" dirty="0" smtClean="0">
                <a:solidFill>
                  <a:schemeClr val="tx1"/>
                </a:solidFill>
                <a:latin typeface="Arial" pitchFamily="34" charset="0"/>
                <a:cs typeface="Arial" pitchFamily="34" charset="0"/>
              </a:rPr>
              <a:t>(</a:t>
            </a:r>
            <a:r>
              <a:rPr lang="es-ES" sz="1100" dirty="0" smtClean="0">
                <a:solidFill>
                  <a:schemeClr val="tx1"/>
                </a:solidFill>
                <a:latin typeface="Arial" pitchFamily="34" charset="0"/>
                <a:cs typeface="Arial" pitchFamily="34" charset="0"/>
              </a:rPr>
              <a:t>Usar banderas para que cada proceso indique si quiere entrar a la sección crítica.</a:t>
            </a:r>
            <a:r>
              <a:rPr lang="es-AR" sz="1100" dirty="0" smtClean="0">
                <a:solidFill>
                  <a:schemeClr val="tx1"/>
                </a:solidFill>
                <a:latin typeface="Arial" pitchFamily="34" charset="0"/>
                <a:cs typeface="Arial" pitchFamily="34" charset="0"/>
              </a:rPr>
              <a:t>): </a:t>
            </a:r>
            <a:endParaRPr lang="es-AR" sz="1800" dirty="0" smtClean="0">
              <a:solidFill>
                <a:schemeClr val="tx1"/>
              </a:solidFill>
              <a:latin typeface="Arial" pitchFamily="34" charset="0"/>
              <a:cs typeface="Arial" pitchFamily="34" charset="0"/>
            </a:endParaRPr>
          </a:p>
          <a:p>
            <a:pPr marL="177800" indent="-177800" algn="just">
              <a:spcBef>
                <a:spcPts val="0"/>
              </a:spcBef>
            </a:pPr>
            <a:r>
              <a:rPr lang="es-AR" sz="1800" dirty="0" smtClean="0">
                <a:solidFill>
                  <a:schemeClr val="tx1"/>
                </a:solidFill>
                <a:latin typeface="Arial" pitchFamily="34" charset="0"/>
                <a:cs typeface="Arial" pitchFamily="34" charset="0"/>
              </a:rPr>
              <a:t>Utiliza </a:t>
            </a:r>
            <a:r>
              <a:rPr lang="es-AR" sz="1800" u="sng" dirty="0" smtClean="0">
                <a:solidFill>
                  <a:schemeClr val="tx1"/>
                </a:solidFill>
                <a:latin typeface="Arial" pitchFamily="34" charset="0"/>
                <a:cs typeface="Arial" pitchFamily="34" charset="0"/>
              </a:rPr>
              <a:t>variables compartidas</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bool</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flag</a:t>
            </a:r>
            <a:r>
              <a:rPr lang="es-AR" sz="1800" dirty="0" smtClean="0">
                <a:solidFill>
                  <a:schemeClr val="tx1"/>
                </a:solidFill>
                <a:latin typeface="Arial" pitchFamily="34" charset="0"/>
                <a:cs typeface="Arial" pitchFamily="34" charset="0"/>
              </a:rPr>
              <a:t>[2]), un proceso entra a su sección crítica solamente cuando es su bandera es true</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82563" indent="-182563" algn="just">
              <a:buFont typeface="Arial" pitchFamily="34" charset="0"/>
              <a:buChar char="•"/>
            </a:pPr>
            <a:r>
              <a:rPr lang="es-ES" sz="1800" dirty="0" smtClean="0">
                <a:solidFill>
                  <a:schemeClr val="tx1"/>
                </a:solidFill>
                <a:latin typeface="Arial" pitchFamily="34" charset="0"/>
                <a:cs typeface="Arial" pitchFamily="34" charset="0"/>
              </a:rPr>
              <a:t>Satisface la exclusión Mutua</a:t>
            </a:r>
          </a:p>
          <a:p>
            <a:pPr marL="182563" indent="-182563" algn="just">
              <a:buFont typeface="Arial" pitchFamily="34" charset="0"/>
              <a:buChar char="•"/>
            </a:pPr>
            <a:r>
              <a:rPr lang="es-ES" sz="1800" dirty="0" smtClean="0">
                <a:solidFill>
                  <a:schemeClr val="tx1"/>
                </a:solidFill>
                <a:latin typeface="Arial" pitchFamily="34" charset="0"/>
                <a:cs typeface="Arial" pitchFamily="34" charset="0"/>
              </a:rPr>
              <a:t>No satisface el Progreso ya que </a:t>
            </a:r>
            <a:r>
              <a:rPr lang="es-ES" sz="1800" dirty="0" smtClean="0">
                <a:solidFill>
                  <a:srgbClr val="FF0000"/>
                </a:solidFill>
                <a:latin typeface="Arial" pitchFamily="34" charset="0"/>
                <a:cs typeface="Arial" pitchFamily="34" charset="0"/>
              </a:rPr>
              <a:t>un proceso podría esperar indefinidamente a otro</a:t>
            </a:r>
            <a:r>
              <a:rPr lang="es-ES" sz="1800" dirty="0" smtClean="0">
                <a:solidFill>
                  <a:schemeClr val="tx1"/>
                </a:solidFill>
                <a:latin typeface="Arial" pitchFamily="34" charset="0"/>
                <a:cs typeface="Arial" pitchFamily="34" charset="0"/>
              </a:rPr>
              <a:t>.</a:t>
            </a:r>
          </a:p>
          <a:p>
            <a:pPr marL="639763" lvl="1" indent="-182563" algn="just">
              <a:buFont typeface="Arial" pitchFamily="34" charset="0"/>
              <a:buChar char="•"/>
            </a:pPr>
            <a:r>
              <a:rPr lang="es-ES" sz="1800" dirty="0" smtClean="0">
                <a:solidFill>
                  <a:schemeClr val="tx1"/>
                </a:solidFill>
                <a:latin typeface="Arial" pitchFamily="34" charset="0"/>
                <a:cs typeface="Arial" pitchFamily="34" charset="0"/>
              </a:rPr>
              <a:t>Si un proceso falla dentro de su SC, el otro proceso queda bloqueado.</a:t>
            </a:r>
          </a:p>
          <a:p>
            <a:pPr marL="639763" lvl="1" indent="-182563" algn="just">
              <a:buFont typeface="Arial" pitchFamily="34" charset="0"/>
              <a:buChar char="•"/>
            </a:pPr>
            <a:r>
              <a:rPr lang="es-ES" sz="1800" dirty="0" smtClean="0">
                <a:solidFill>
                  <a:schemeClr val="tx1"/>
                </a:solidFill>
                <a:latin typeface="Arial" pitchFamily="34" charset="0"/>
                <a:cs typeface="Arial" pitchFamily="34" charset="0"/>
              </a:rPr>
              <a:t>Si ambos procesos colocan sus </a:t>
            </a:r>
            <a:r>
              <a:rPr lang="es-ES" sz="1800" dirty="0" err="1" smtClean="0">
                <a:solidFill>
                  <a:schemeClr val="tx1"/>
                </a:solidFill>
                <a:latin typeface="Arial" pitchFamily="34" charset="0"/>
                <a:cs typeface="Arial" pitchFamily="34" charset="0"/>
              </a:rPr>
              <a:t>flags</a:t>
            </a:r>
            <a:r>
              <a:rPr lang="es-ES" sz="1800" dirty="0" smtClean="0">
                <a:solidFill>
                  <a:schemeClr val="tx1"/>
                </a:solidFill>
                <a:latin typeface="Arial" pitchFamily="34" charset="0"/>
                <a:cs typeface="Arial" pitchFamily="34" charset="0"/>
              </a:rPr>
              <a:t> en true antes de ejecutar el </a:t>
            </a:r>
            <a:r>
              <a:rPr lang="es-ES" sz="1800" dirty="0" err="1" smtClean="0">
                <a:solidFill>
                  <a:schemeClr val="tx1"/>
                </a:solidFill>
                <a:latin typeface="Arial" pitchFamily="34" charset="0"/>
                <a:cs typeface="Arial" pitchFamily="34" charset="0"/>
              </a:rPr>
              <a:t>while</a:t>
            </a:r>
            <a:r>
              <a:rPr lang="es-ES" sz="1800" dirty="0" smtClean="0">
                <a:solidFill>
                  <a:schemeClr val="tx1"/>
                </a:solidFill>
                <a:latin typeface="Arial" pitchFamily="34" charset="0"/>
                <a:cs typeface="Arial" pitchFamily="34" charset="0"/>
              </a:rPr>
              <a:t>, cada uno supondrá que el otro se encuentra en su SC, causando un DEADLOCK.</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5122" name="Picture 2"/>
          <p:cNvPicPr>
            <a:picLocks noChangeAspect="1" noChangeArrowheads="1"/>
          </p:cNvPicPr>
          <p:nvPr/>
        </p:nvPicPr>
        <p:blipFill>
          <a:blip r:embed="rId3" cstate="print"/>
          <a:srcRect/>
          <a:stretch>
            <a:fillRect/>
          </a:stretch>
        </p:blipFill>
        <p:spPr bwMode="auto">
          <a:xfrm>
            <a:off x="779045" y="2188074"/>
            <a:ext cx="7833641" cy="2355050"/>
          </a:xfrm>
          <a:prstGeom prst="rect">
            <a:avLst/>
          </a:prstGeom>
          <a:ln>
            <a:noFill/>
          </a:ln>
          <a:effectLst>
            <a:outerShdw blurRad="292100" dist="139700" dir="2700000" algn="tl" rotWithShape="0">
              <a:srgbClr val="333333">
                <a:alpha val="65000"/>
              </a:srgbClr>
            </a:outerShdw>
          </a:effectLst>
        </p:spPr>
      </p:pic>
      <p:cxnSp>
        <p:nvCxnSpPr>
          <p:cNvPr id="9" name="8 Conector recto de flecha"/>
          <p:cNvCxnSpPr/>
          <p:nvPr/>
        </p:nvCxnSpPr>
        <p:spPr>
          <a:xfrm rot="10800000" flipV="1">
            <a:off x="3155950" y="2863850"/>
            <a:ext cx="825500" cy="1905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0" name="1 Título"/>
          <p:cNvSpPr txBox="1">
            <a:spLocks/>
          </p:cNvSpPr>
          <p:nvPr/>
        </p:nvSpPr>
        <p:spPr>
          <a:xfrm>
            <a:off x="3892550" y="2743200"/>
            <a:ext cx="1377950" cy="234950"/>
          </a:xfrm>
          <a:prstGeom prst="rect">
            <a:avLst/>
          </a:prstGeom>
        </p:spPr>
        <p:txBody>
          <a:bodyPr vert="horz" lIns="91440" tIns="45720" rIns="91440" bIns="45720" rtlCol="0" anchor="ctr">
            <a:normAutofit fontScale="25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b="1" dirty="0" smtClean="0">
                <a:solidFill>
                  <a:srgbClr val="00B050"/>
                </a:solidFill>
                <a:latin typeface="+mn-lt"/>
                <a:ea typeface="+mj-ea"/>
                <a:cs typeface="Arial" pitchFamily="34" charset="0"/>
              </a:rPr>
              <a:t>Indica que quiere entrar</a:t>
            </a:r>
            <a:endParaRPr kumimoji="0" lang="es-AR" sz="34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cxnSp>
        <p:nvCxnSpPr>
          <p:cNvPr id="12" name="11 Conector recto de flecha"/>
          <p:cNvCxnSpPr/>
          <p:nvPr/>
        </p:nvCxnSpPr>
        <p:spPr>
          <a:xfrm rot="10800000" flipV="1">
            <a:off x="3492500" y="2990850"/>
            <a:ext cx="825500" cy="1905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 name="1 Título"/>
          <p:cNvSpPr txBox="1">
            <a:spLocks/>
          </p:cNvSpPr>
          <p:nvPr/>
        </p:nvSpPr>
        <p:spPr>
          <a:xfrm>
            <a:off x="4076700" y="2882900"/>
            <a:ext cx="3048000" cy="234950"/>
          </a:xfrm>
          <a:prstGeom prst="rect">
            <a:avLst/>
          </a:prstGeom>
        </p:spPr>
        <p:txBody>
          <a:bodyPr vert="horz" lIns="91440" tIns="45720" rIns="91440" bIns="45720" rtlCol="0" anchor="ctr">
            <a:normAutofit fontScale="25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b="1" dirty="0" smtClean="0">
                <a:solidFill>
                  <a:srgbClr val="00B050"/>
                </a:solidFill>
                <a:latin typeface="+mn-lt"/>
                <a:ea typeface="+mj-ea"/>
                <a:cs typeface="Arial" pitchFamily="34" charset="0"/>
              </a:rPr>
              <a:t>Espera si el otro también quiere entrar quiere entrar</a:t>
            </a:r>
            <a:endParaRPr kumimoji="0" lang="es-AR" sz="34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sp>
        <p:nvSpPr>
          <p:cNvPr id="14" name="13 CuadroTexto"/>
          <p:cNvSpPr txBox="1"/>
          <p:nvPr/>
        </p:nvSpPr>
        <p:spPr>
          <a:xfrm>
            <a:off x="6362700" y="3803650"/>
            <a:ext cx="2012950" cy="861774"/>
          </a:xfrm>
          <a:prstGeom prst="rect">
            <a:avLst/>
          </a:prstGeom>
          <a:noFill/>
        </p:spPr>
        <p:txBody>
          <a:bodyPr wrap="square" rtlCol="0">
            <a:spAutoFit/>
          </a:bodyPr>
          <a:lstStyle/>
          <a:p>
            <a:pPr algn="just"/>
            <a:r>
              <a:rPr lang="es-ES" sz="1000" u="sng" dirty="0" smtClean="0">
                <a:solidFill>
                  <a:schemeClr val="tx1"/>
                </a:solidFill>
                <a:latin typeface="+mn-lt"/>
              </a:rPr>
              <a:t>Mejora respecto al Algoritmo 1</a:t>
            </a:r>
            <a:r>
              <a:rPr lang="es-ES" sz="1000" dirty="0" smtClean="0">
                <a:solidFill>
                  <a:schemeClr val="tx1"/>
                </a:solidFill>
                <a:latin typeface="+mn-lt"/>
              </a:rPr>
              <a:t>: ya </a:t>
            </a:r>
            <a:r>
              <a:rPr lang="es-ES" sz="1000" b="1" dirty="0" smtClean="0">
                <a:solidFill>
                  <a:schemeClr val="tx1"/>
                </a:solidFill>
                <a:latin typeface="+mn-lt"/>
              </a:rPr>
              <a:t>no depende de turnos fijos</a:t>
            </a:r>
            <a:r>
              <a:rPr lang="es-ES" sz="1000" dirty="0" smtClean="0">
                <a:solidFill>
                  <a:schemeClr val="tx1"/>
                </a:solidFill>
                <a:latin typeface="+mn-lt"/>
              </a:rPr>
              <a:t>, por lo tanto no hay espera innecesaria si el otro proceso no quiere entrar.</a:t>
            </a:r>
          </a:p>
          <a:p>
            <a:pPr algn="just"/>
            <a:endParaRPr lang="es-ES" sz="1000" dirty="0">
              <a:solidFill>
                <a:schemeClr val="tx1"/>
              </a:solidFill>
              <a:latin typeface="+mn-lt"/>
            </a:endParaRPr>
          </a:p>
        </p:txBody>
      </p:sp>
      <p:cxnSp>
        <p:nvCxnSpPr>
          <p:cNvPr id="15" name="14 Conector recto de flecha"/>
          <p:cNvCxnSpPr/>
          <p:nvPr/>
        </p:nvCxnSpPr>
        <p:spPr>
          <a:xfrm rot="10800000">
            <a:off x="3403600" y="3632200"/>
            <a:ext cx="927100" cy="1588"/>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6" name="1 Título"/>
          <p:cNvSpPr txBox="1">
            <a:spLocks/>
          </p:cNvSpPr>
          <p:nvPr/>
        </p:nvSpPr>
        <p:spPr>
          <a:xfrm>
            <a:off x="4279900" y="3467100"/>
            <a:ext cx="2108200" cy="3175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900" b="1" dirty="0" smtClean="0">
                <a:solidFill>
                  <a:srgbClr val="00B050"/>
                </a:solidFill>
                <a:latin typeface="+mn-lt"/>
                <a:ea typeface="+mj-ea"/>
                <a:cs typeface="Arial" pitchFamily="34" charset="0"/>
              </a:rPr>
              <a:t>Salgo</a:t>
            </a:r>
            <a:endParaRPr kumimoji="0" lang="es-AR" sz="9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5170646"/>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Algoritmo 3 (combina 1 y 2) Solución de Peterson para 2 procesos</a:t>
            </a:r>
          </a:p>
          <a:p>
            <a:pPr algn="just">
              <a:spcBef>
                <a:spcPts val="600"/>
              </a:spcBef>
            </a:pPr>
            <a:r>
              <a:rPr lang="es-AR" sz="1800" dirty="0" smtClean="0">
                <a:solidFill>
                  <a:schemeClr val="tx1"/>
                </a:solidFill>
                <a:latin typeface="Arial" pitchFamily="34" charset="0"/>
                <a:cs typeface="Arial" pitchFamily="34" charset="0"/>
              </a:rPr>
              <a:t>Es un algoritmo de programación concurrente para exclusión mutua que permite a 2 o más procesos o hilos de ejecución compartir un recurso sin conflictos, utilizando solo memoria compartida para la comunicación.</a:t>
            </a:r>
          </a:p>
          <a:p>
            <a:pPr marL="177800" indent="-177800" algn="just">
              <a:spcBef>
                <a:spcPts val="1200"/>
              </a:spcBef>
              <a:spcAft>
                <a:spcPts val="600"/>
              </a:spcAft>
            </a:pPr>
            <a:r>
              <a:rPr lang="es-AR" sz="1800" dirty="0" smtClean="0">
                <a:solidFill>
                  <a:schemeClr val="tx1"/>
                </a:solidFill>
                <a:latin typeface="Arial" pitchFamily="34" charset="0"/>
                <a:cs typeface="Arial" pitchFamily="34" charset="0"/>
              </a:rPr>
              <a:t>Variables compartidas</a:t>
            </a:r>
          </a:p>
          <a:p>
            <a:pPr algn="l">
              <a:spcBef>
                <a:spcPts val="0"/>
              </a:spcBef>
            </a:pPr>
            <a:r>
              <a:rPr lang="es-AR" sz="1800" dirty="0" smtClean="0">
                <a:solidFill>
                  <a:schemeClr val="tx1"/>
                </a:solidFill>
                <a:latin typeface="Arial" pitchFamily="34" charset="0"/>
                <a:cs typeface="Arial" pitchFamily="34" charset="0"/>
              </a:rPr>
              <a:t>La variable turno indica que proceso entrará en la sección crítica (SC)  y si </a:t>
            </a:r>
            <a:r>
              <a:rPr lang="es-AR" sz="1800" dirty="0" err="1" smtClean="0">
                <a:solidFill>
                  <a:schemeClr val="tx1"/>
                </a:solidFill>
                <a:latin typeface="Arial" pitchFamily="34" charset="0"/>
                <a:cs typeface="Arial" pitchFamily="34" charset="0"/>
              </a:rPr>
              <a:t>flag</a:t>
            </a:r>
            <a:r>
              <a:rPr lang="es-AR" sz="1800" dirty="0" smtClean="0">
                <a:solidFill>
                  <a:schemeClr val="tx1"/>
                </a:solidFill>
                <a:latin typeface="Arial" pitchFamily="34" charset="0"/>
                <a:cs typeface="Arial" pitchFamily="34" charset="0"/>
              </a:rPr>
              <a:t>[i] es true, el proceso Pi, está preparado para entrar en la SC. </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5779" name="Picture 3"/>
          <p:cNvPicPr>
            <a:picLocks noChangeAspect="1" noChangeArrowheads="1"/>
          </p:cNvPicPr>
          <p:nvPr/>
        </p:nvPicPr>
        <p:blipFill>
          <a:blip r:embed="rId3" cstate="print"/>
          <a:srcRect/>
          <a:stretch>
            <a:fillRect/>
          </a:stretch>
        </p:blipFill>
        <p:spPr bwMode="auto">
          <a:xfrm>
            <a:off x="498476" y="3340100"/>
            <a:ext cx="3116226" cy="1440667"/>
          </a:xfrm>
          <a:prstGeom prst="rect">
            <a:avLst/>
          </a:prstGeom>
          <a:ln>
            <a:noFill/>
          </a:ln>
          <a:effectLst>
            <a:outerShdw blurRad="292100" dist="139700" dir="2700000" algn="tl" rotWithShape="0">
              <a:srgbClr val="333333">
                <a:alpha val="65000"/>
              </a:srgbClr>
            </a:outerShdw>
          </a:effectLst>
        </p:spPr>
      </p:pic>
      <p:sp>
        <p:nvSpPr>
          <p:cNvPr id="26" name="25 CuadroTexto"/>
          <p:cNvSpPr txBox="1"/>
          <p:nvPr/>
        </p:nvSpPr>
        <p:spPr>
          <a:xfrm>
            <a:off x="6467475" y="3638550"/>
            <a:ext cx="2432632" cy="2492990"/>
          </a:xfrm>
          <a:prstGeom prst="rect">
            <a:avLst/>
          </a:prstGeom>
          <a:noFill/>
        </p:spPr>
        <p:txBody>
          <a:bodyPr wrap="square" rtlCol="0">
            <a:spAutoFit/>
          </a:bodyPr>
          <a:lstStyle/>
          <a:p>
            <a:pPr algn="just"/>
            <a:r>
              <a:rPr lang="es-AR" sz="1200" dirty="0" smtClean="0">
                <a:solidFill>
                  <a:schemeClr val="tx1"/>
                </a:solidFill>
                <a:latin typeface="Arial" pitchFamily="34" charset="0"/>
                <a:cs typeface="Arial" pitchFamily="34" charset="0"/>
              </a:rPr>
              <a:t>Los procesos P0 y P1 no pueden estar en la sección crítica al mismo tiempo: </a:t>
            </a:r>
          </a:p>
          <a:p>
            <a:pPr algn="just"/>
            <a:r>
              <a:rPr lang="es-AR" sz="1200" dirty="0" smtClean="0">
                <a:solidFill>
                  <a:schemeClr val="tx1"/>
                </a:solidFill>
                <a:latin typeface="Arial" pitchFamily="34" charset="0"/>
                <a:cs typeface="Arial" pitchFamily="34" charset="0"/>
              </a:rPr>
              <a:t>Si P0 está en la sección crítica, entonces bandera[0] = true, y ocurre que bandera[1] = false, con lo que P1 ha terminado la sección crítica, o que la variable compartida turno = 0, con lo que P1 está esperando para entrar a la sección crítica. En ambos casos, P1 no puede estar en la sección crítica.</a:t>
            </a:r>
            <a:endParaRPr lang="es-AR" sz="1200" dirty="0">
              <a:solidFill>
                <a:schemeClr val="tx1"/>
              </a:solidFill>
              <a:latin typeface="Arial" pitchFamily="34" charset="0"/>
              <a:cs typeface="Arial" pitchFamily="34" charset="0"/>
            </a:endParaRPr>
          </a:p>
        </p:txBody>
      </p:sp>
      <p:pic>
        <p:nvPicPr>
          <p:cNvPr id="75780" name="Picture 4"/>
          <p:cNvPicPr>
            <a:picLocks noChangeAspect="1" noChangeArrowheads="1"/>
          </p:cNvPicPr>
          <p:nvPr/>
        </p:nvPicPr>
        <p:blipFill>
          <a:blip r:embed="rId4" cstate="print"/>
          <a:srcRect/>
          <a:stretch>
            <a:fillRect/>
          </a:stretch>
        </p:blipFill>
        <p:spPr bwMode="auto">
          <a:xfrm>
            <a:off x="1139825" y="4950674"/>
            <a:ext cx="5235575" cy="1151675"/>
          </a:xfrm>
          <a:prstGeom prst="rect">
            <a:avLst/>
          </a:prstGeom>
          <a:noFill/>
          <a:ln w="9525">
            <a:noFill/>
            <a:miter lim="800000"/>
            <a:headEnd/>
            <a:tailEnd/>
          </a:ln>
        </p:spPr>
      </p:pic>
      <p:cxnSp>
        <p:nvCxnSpPr>
          <p:cNvPr id="31" name="30 Conector recto de flecha"/>
          <p:cNvCxnSpPr/>
          <p:nvPr/>
        </p:nvCxnSpPr>
        <p:spPr>
          <a:xfrm flipH="1">
            <a:off x="5915025" y="4445000"/>
            <a:ext cx="542925" cy="5905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27 CuadroTexto"/>
          <p:cNvSpPr txBox="1"/>
          <p:nvPr/>
        </p:nvSpPr>
        <p:spPr>
          <a:xfrm>
            <a:off x="9295856" y="694537"/>
            <a:ext cx="2946400" cy="54476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s-AR" sz="1200" dirty="0" smtClean="0">
                <a:solidFill>
                  <a:schemeClr val="tx1"/>
                </a:solidFill>
                <a:latin typeface="Arial" pitchFamily="34" charset="0"/>
                <a:cs typeface="Arial" pitchFamily="34" charset="0"/>
              </a:rPr>
              <a:t>Considérese el proceso P0. Una vez que ha puesto  bandera[0] a true, P1 no puede entrar en su sección crítica. Si P1 esta aun en su sección crítica, entonces  bandera[1] = true y P0 está bloqueado en su bucle </a:t>
            </a:r>
            <a:r>
              <a:rPr lang="es-AR" sz="1200" dirty="0" err="1" smtClean="0">
                <a:solidFill>
                  <a:schemeClr val="tx1"/>
                </a:solidFill>
                <a:latin typeface="Arial" pitchFamily="34" charset="0"/>
                <a:cs typeface="Arial" pitchFamily="34" charset="0"/>
              </a:rPr>
              <a:t>while</a:t>
            </a:r>
            <a:r>
              <a:rPr lang="es-AR" sz="1200" dirty="0" smtClean="0">
                <a:solidFill>
                  <a:schemeClr val="tx1"/>
                </a:solidFill>
                <a:latin typeface="Arial" pitchFamily="34" charset="0"/>
                <a:cs typeface="Arial" pitchFamily="34" charset="0"/>
              </a:rPr>
              <a:t>. Esto significa que  bandera[1] es true y turno = 1. P0 puede entrar en su sección crítica cuando  bandera[1] se ponga a falso o cuando turno se ponga a 0. </a:t>
            </a:r>
          </a:p>
          <a:p>
            <a:pPr algn="just"/>
            <a:r>
              <a:rPr lang="es-AR" sz="1200" dirty="0" smtClean="0">
                <a:solidFill>
                  <a:schemeClr val="tx1"/>
                </a:solidFill>
                <a:latin typeface="Arial" pitchFamily="34" charset="0"/>
                <a:cs typeface="Arial" pitchFamily="34" charset="0"/>
              </a:rPr>
              <a:t> </a:t>
            </a:r>
          </a:p>
          <a:p>
            <a:pPr algn="just"/>
            <a:r>
              <a:rPr lang="es-AR" sz="1200" dirty="0" smtClean="0">
                <a:solidFill>
                  <a:schemeClr val="tx1"/>
                </a:solidFill>
                <a:latin typeface="Arial" pitchFamily="34" charset="0"/>
                <a:cs typeface="Arial" pitchFamily="34" charset="0"/>
              </a:rPr>
              <a:t>Considérense ahora las siguientes situaciones:</a:t>
            </a:r>
          </a:p>
          <a:p>
            <a:pPr marL="228600" lvl="0" indent="-228600" algn="just">
              <a:buFont typeface="+mj-lt"/>
              <a:buAutoNum type="arabicPeriod"/>
            </a:pPr>
            <a:r>
              <a:rPr lang="es-AR" sz="1200" dirty="0" smtClean="0">
                <a:solidFill>
                  <a:schemeClr val="tx1"/>
                </a:solidFill>
                <a:latin typeface="Arial" pitchFamily="34" charset="0"/>
                <a:cs typeface="Arial" pitchFamily="34" charset="0"/>
              </a:rPr>
              <a:t>P1 no está interesado en entrar en su sección crítica. Este caso es imposible porque implica que  bandera[1] = falso..</a:t>
            </a:r>
          </a:p>
          <a:p>
            <a:pPr marL="228600" lvl="0" indent="-228600" algn="just">
              <a:buFont typeface="+mj-lt"/>
              <a:buAutoNum type="arabicPeriod"/>
            </a:pPr>
            <a:r>
              <a:rPr lang="es-AR" sz="1200" dirty="0" smtClean="0">
                <a:solidFill>
                  <a:schemeClr val="tx1"/>
                </a:solidFill>
                <a:latin typeface="Arial" pitchFamily="34" charset="0"/>
                <a:cs typeface="Arial" pitchFamily="34" charset="0"/>
              </a:rPr>
              <a:t>P1 está esperando entrar en su sección crítica. Este caso es también imposible porque si turno = 1, P1 podría entrar en su sección crítica.</a:t>
            </a:r>
          </a:p>
          <a:p>
            <a:pPr marL="228600" lvl="0" indent="-228600" algn="just">
              <a:buFont typeface="+mj-lt"/>
              <a:buAutoNum type="arabicPeriod"/>
            </a:pPr>
            <a:r>
              <a:rPr lang="es-AR" sz="1200" dirty="0" smtClean="0">
                <a:solidFill>
                  <a:schemeClr val="tx1"/>
                </a:solidFill>
                <a:latin typeface="Arial" pitchFamily="34" charset="0"/>
                <a:cs typeface="Arial" pitchFamily="34" charset="0"/>
              </a:rPr>
              <a:t> P1 entra en su sección crítica varias veces y monopoliza el acceso a ella. Esto no puede pasar porque P1 está obligado a dar a P0 una oportunidad poniendo turno a 0 antes de cada intento de entrar en su sección crítica.</a:t>
            </a:r>
          </a:p>
          <a:p>
            <a:pPr algn="just"/>
            <a:endParaRPr lang="es-AR" sz="1200" dirty="0">
              <a:solidFill>
                <a:schemeClr val="tx1"/>
              </a:solidFill>
              <a:latin typeface="Arial" pitchFamily="34" charset="0"/>
              <a:cs typeface="Arial" pitchFamily="34" charset="0"/>
            </a:endParaRPr>
          </a:p>
        </p:txBody>
      </p:sp>
      <p:sp>
        <p:nvSpPr>
          <p:cNvPr id="12" name="11 CuadroTexto"/>
          <p:cNvSpPr txBox="1"/>
          <p:nvPr/>
        </p:nvSpPr>
        <p:spPr>
          <a:xfrm>
            <a:off x="-3108581" y="925447"/>
            <a:ext cx="2946400" cy="39703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s-ES" sz="1200" dirty="0" smtClean="0">
                <a:solidFill>
                  <a:schemeClr val="tx1"/>
                </a:solidFill>
                <a:latin typeface="Arial" pitchFamily="34" charset="0"/>
                <a:cs typeface="Arial" pitchFamily="34" charset="0"/>
              </a:rPr>
              <a:t>Utilizamos las siguientes variables:</a:t>
            </a:r>
          </a:p>
          <a:p>
            <a:pPr algn="just"/>
            <a:endParaRPr lang="es-ES" sz="1200" dirty="0" smtClean="0">
              <a:solidFill>
                <a:schemeClr val="tx1"/>
              </a:solidFill>
              <a:latin typeface="Arial" pitchFamily="34" charset="0"/>
              <a:cs typeface="Arial" pitchFamily="34" charset="0"/>
            </a:endParaRPr>
          </a:p>
          <a:p>
            <a:pPr algn="just"/>
            <a:r>
              <a:rPr lang="es-ES" sz="1200" dirty="0" err="1" smtClean="0">
                <a:solidFill>
                  <a:schemeClr val="tx1"/>
                </a:solidFill>
                <a:latin typeface="Arial" pitchFamily="34" charset="0"/>
                <a:cs typeface="Arial" pitchFamily="34" charset="0"/>
              </a:rPr>
              <a:t>flags</a:t>
            </a:r>
            <a:r>
              <a:rPr lang="es-ES" sz="1200" dirty="0" smtClean="0">
                <a:solidFill>
                  <a:schemeClr val="tx1"/>
                </a:solidFill>
                <a:latin typeface="Arial" pitchFamily="34" charset="0"/>
                <a:cs typeface="Arial" pitchFamily="34" charset="0"/>
              </a:rPr>
              <a:t>[i], que es un </a:t>
            </a:r>
            <a:r>
              <a:rPr lang="es-ES" sz="1200" dirty="0" err="1" smtClean="0">
                <a:solidFill>
                  <a:schemeClr val="tx1"/>
                </a:solidFill>
                <a:latin typeface="Arial" pitchFamily="34" charset="0"/>
                <a:cs typeface="Arial" pitchFamily="34" charset="0"/>
              </a:rPr>
              <a:t>array</a:t>
            </a:r>
            <a:r>
              <a:rPr lang="es-ES" sz="1200" dirty="0" smtClean="0">
                <a:solidFill>
                  <a:schemeClr val="tx1"/>
                </a:solidFill>
                <a:latin typeface="Arial" pitchFamily="34" charset="0"/>
                <a:cs typeface="Arial" pitchFamily="34" charset="0"/>
              </a:rPr>
              <a:t> y turno, que solo puede valer 0 o 1.</a:t>
            </a:r>
          </a:p>
          <a:p>
            <a:pPr algn="just"/>
            <a:endParaRPr lang="es-ES" sz="1200" dirty="0" smtClean="0">
              <a:solidFill>
                <a:schemeClr val="tx1"/>
              </a:solidFill>
              <a:latin typeface="Arial" pitchFamily="34" charset="0"/>
              <a:cs typeface="Arial" pitchFamily="34" charset="0"/>
            </a:endParaRPr>
          </a:p>
          <a:p>
            <a:pPr algn="just"/>
            <a:r>
              <a:rPr lang="es-ES" sz="1200" dirty="0" smtClean="0">
                <a:solidFill>
                  <a:schemeClr val="tx1"/>
                </a:solidFill>
                <a:latin typeface="Arial" pitchFamily="34" charset="0"/>
                <a:cs typeface="Arial" pitchFamily="34" charset="0"/>
              </a:rPr>
              <a:t>Inicialmente, c[0]=c[1]= falso, y el valor de turno no tiene relevancia (pero debe ser 0 o 1). Para entrar en la sección crítica, el proceso Pi primero asigna el valor verdadero a </a:t>
            </a:r>
            <a:r>
              <a:rPr lang="es-ES" sz="1200" dirty="0" err="1" smtClean="0">
                <a:solidFill>
                  <a:schemeClr val="tx1"/>
                </a:solidFill>
                <a:latin typeface="Arial" pitchFamily="34" charset="0"/>
                <a:cs typeface="Arial" pitchFamily="34" charset="0"/>
              </a:rPr>
              <a:t>flag</a:t>
            </a:r>
            <a:r>
              <a:rPr lang="es-ES" sz="1200" dirty="0" smtClean="0">
                <a:solidFill>
                  <a:schemeClr val="tx1"/>
                </a:solidFill>
                <a:latin typeface="Arial" pitchFamily="34" charset="0"/>
                <a:cs typeface="Arial" pitchFamily="34" charset="0"/>
              </a:rPr>
              <a:t>[i] y luego afirma que es el turno del otro proceso para entrar si así lo desea (turno = j). Si ambos procesos tratan de entrar a la vez, se asignará turno como i y j aproximadamente al mismo tiempo. Sólo una de estas asignaciones durará; la otra ocurrirá, pero será reemplazada de inmediato. El valor eventual de turno decide a cuál de los dos procesos se le permitirá entrar primero en su sección crítica.</a:t>
            </a:r>
            <a:endParaRPr lang="es-AR" sz="1200" dirty="0">
              <a:solidFill>
                <a:schemeClr val="tx1"/>
              </a:solidFill>
              <a:latin typeface="Arial" pitchFamily="34" charset="0"/>
              <a:cs typeface="Arial" pitchFamily="34" charset="0"/>
            </a:endParaRPr>
          </a:p>
        </p:txBody>
      </p:sp>
      <p:sp>
        <p:nvSpPr>
          <p:cNvPr id="14" name="13 CuadroTexto"/>
          <p:cNvSpPr txBox="1"/>
          <p:nvPr/>
        </p:nvSpPr>
        <p:spPr>
          <a:xfrm>
            <a:off x="2717800" y="2254250"/>
            <a:ext cx="6076950" cy="400110"/>
          </a:xfrm>
          <a:prstGeom prst="rect">
            <a:avLst/>
          </a:prstGeom>
          <a:solidFill>
            <a:schemeClr val="bg1"/>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l"/>
            <a:r>
              <a:rPr lang="es-ES" sz="1000" b="1" dirty="0" err="1" smtClean="0">
                <a:solidFill>
                  <a:schemeClr val="tx1"/>
                </a:solidFill>
                <a:latin typeface="Courier New" pitchFamily="49" charset="0"/>
                <a:cs typeface="Courier New" pitchFamily="49" charset="0"/>
              </a:rPr>
              <a:t>int</a:t>
            </a:r>
            <a:r>
              <a:rPr lang="es-ES" sz="1000" b="1" dirty="0" smtClean="0">
                <a:solidFill>
                  <a:schemeClr val="tx1"/>
                </a:solidFill>
                <a:latin typeface="Courier New" pitchFamily="49" charset="0"/>
                <a:cs typeface="Courier New" pitchFamily="49" charset="0"/>
              </a:rPr>
              <a:t> turno = 0;                  // indica a quién le toca si hay conflicto</a:t>
            </a:r>
          </a:p>
          <a:p>
            <a:pPr algn="l"/>
            <a:r>
              <a:rPr lang="es-ES" sz="1000" b="1" dirty="0" err="1" smtClean="0">
                <a:solidFill>
                  <a:schemeClr val="tx1"/>
                </a:solidFill>
                <a:latin typeface="Courier New" pitchFamily="49" charset="0"/>
                <a:cs typeface="Courier New" pitchFamily="49" charset="0"/>
              </a:rPr>
              <a:t>int</a:t>
            </a:r>
            <a:r>
              <a:rPr lang="es-ES" sz="1000" b="1" dirty="0" smtClean="0">
                <a:solidFill>
                  <a:schemeClr val="tx1"/>
                </a:solidFill>
                <a:latin typeface="Courier New" pitchFamily="49" charset="0"/>
                <a:cs typeface="Courier New" pitchFamily="49" charset="0"/>
              </a:rPr>
              <a:t> </a:t>
            </a:r>
            <a:r>
              <a:rPr lang="es-ES" sz="1000" b="1" dirty="0" err="1" smtClean="0">
                <a:solidFill>
                  <a:schemeClr val="tx1"/>
                </a:solidFill>
                <a:latin typeface="Courier New" pitchFamily="49" charset="0"/>
                <a:cs typeface="Courier New" pitchFamily="49" charset="0"/>
              </a:rPr>
              <a:t>flag</a:t>
            </a:r>
            <a:r>
              <a:rPr lang="es-ES" sz="1000" b="1" dirty="0" smtClean="0">
                <a:solidFill>
                  <a:schemeClr val="tx1"/>
                </a:solidFill>
                <a:latin typeface="Courier New" pitchFamily="49" charset="0"/>
                <a:cs typeface="Courier New" pitchFamily="49" charset="0"/>
              </a:rPr>
              <a:t>[2] = {false, false};   // </a:t>
            </a:r>
            <a:r>
              <a:rPr lang="es-ES" sz="1000" b="1" dirty="0" err="1" smtClean="0">
                <a:solidFill>
                  <a:schemeClr val="tx1"/>
                </a:solidFill>
                <a:latin typeface="Courier New" pitchFamily="49" charset="0"/>
                <a:cs typeface="Courier New" pitchFamily="49" charset="0"/>
              </a:rPr>
              <a:t>flag</a:t>
            </a:r>
            <a:r>
              <a:rPr lang="es-ES" sz="1000" b="1" dirty="0" smtClean="0">
                <a:solidFill>
                  <a:schemeClr val="tx1"/>
                </a:solidFill>
                <a:latin typeface="Courier New" pitchFamily="49" charset="0"/>
                <a:cs typeface="Courier New" pitchFamily="49" charset="0"/>
              </a:rPr>
              <a:t>[i] = 1 si el proceso i quiere entrar</a:t>
            </a:r>
          </a:p>
        </p:txBody>
      </p:sp>
      <p:cxnSp>
        <p:nvCxnSpPr>
          <p:cNvPr id="16" name="15 Conector recto de flecha"/>
          <p:cNvCxnSpPr/>
          <p:nvPr/>
        </p:nvCxnSpPr>
        <p:spPr>
          <a:xfrm rot="10800000" flipV="1">
            <a:off x="2108200" y="3460750"/>
            <a:ext cx="1854200" cy="1905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7" name="1 Título"/>
          <p:cNvSpPr txBox="1">
            <a:spLocks/>
          </p:cNvSpPr>
          <p:nvPr/>
        </p:nvSpPr>
        <p:spPr>
          <a:xfrm>
            <a:off x="3898900" y="3333750"/>
            <a:ext cx="901700" cy="23495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900" b="1" dirty="0" smtClean="0">
                <a:solidFill>
                  <a:srgbClr val="00B050"/>
                </a:solidFill>
                <a:latin typeface="+mn-lt"/>
                <a:ea typeface="+mj-ea"/>
                <a:cs typeface="Arial" pitchFamily="34" charset="0"/>
              </a:rPr>
              <a:t>Quiero entrar</a:t>
            </a:r>
            <a:endParaRPr kumimoji="0" lang="es-AR" sz="9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cxnSp>
        <p:nvCxnSpPr>
          <p:cNvPr id="24" name="23 Conector recto de flecha"/>
          <p:cNvCxnSpPr/>
          <p:nvPr/>
        </p:nvCxnSpPr>
        <p:spPr>
          <a:xfrm rot="10800000" flipV="1">
            <a:off x="1733550" y="3651250"/>
            <a:ext cx="2235200" cy="1651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5" name="1 Título"/>
          <p:cNvSpPr txBox="1">
            <a:spLocks/>
          </p:cNvSpPr>
          <p:nvPr/>
        </p:nvSpPr>
        <p:spPr>
          <a:xfrm>
            <a:off x="3911600" y="3524250"/>
            <a:ext cx="1581150" cy="23495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900" b="1" dirty="0" smtClean="0">
                <a:solidFill>
                  <a:srgbClr val="00B050"/>
                </a:solidFill>
                <a:latin typeface="+mn-lt"/>
                <a:ea typeface="+mj-ea"/>
                <a:cs typeface="Arial" pitchFamily="34" charset="0"/>
              </a:rPr>
              <a:t>Le cedo preferencia a otro</a:t>
            </a:r>
            <a:endParaRPr kumimoji="0" lang="es-AR" sz="9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cxnSp>
        <p:nvCxnSpPr>
          <p:cNvPr id="29" name="28 Conector recto de flecha"/>
          <p:cNvCxnSpPr/>
          <p:nvPr/>
        </p:nvCxnSpPr>
        <p:spPr>
          <a:xfrm rot="10800000" flipV="1">
            <a:off x="3289300" y="3854450"/>
            <a:ext cx="660400" cy="762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0" name="1 Título"/>
          <p:cNvSpPr txBox="1">
            <a:spLocks/>
          </p:cNvSpPr>
          <p:nvPr/>
        </p:nvSpPr>
        <p:spPr>
          <a:xfrm>
            <a:off x="3898900" y="3689350"/>
            <a:ext cx="2108200" cy="3175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900" b="1" dirty="0" smtClean="0">
                <a:solidFill>
                  <a:srgbClr val="00B050"/>
                </a:solidFill>
                <a:latin typeface="+mn-lt"/>
                <a:ea typeface="+mj-ea"/>
                <a:cs typeface="Arial" pitchFamily="34" charset="0"/>
              </a:rPr>
              <a:t>Espero si el otro quiere entrar y le toca</a:t>
            </a:r>
            <a:endParaRPr kumimoji="0" lang="es-AR" sz="9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cxnSp>
        <p:nvCxnSpPr>
          <p:cNvPr id="35" name="34 Conector recto de flecha"/>
          <p:cNvCxnSpPr/>
          <p:nvPr/>
        </p:nvCxnSpPr>
        <p:spPr>
          <a:xfrm rot="10800000">
            <a:off x="2311400" y="4343400"/>
            <a:ext cx="1663700" cy="381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6" name="1 Título"/>
          <p:cNvSpPr txBox="1">
            <a:spLocks/>
          </p:cNvSpPr>
          <p:nvPr/>
        </p:nvSpPr>
        <p:spPr>
          <a:xfrm>
            <a:off x="3924300" y="4216400"/>
            <a:ext cx="2108200" cy="3175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900" b="1" dirty="0" smtClean="0">
                <a:solidFill>
                  <a:srgbClr val="00B050"/>
                </a:solidFill>
                <a:latin typeface="+mn-lt"/>
                <a:ea typeface="+mj-ea"/>
                <a:cs typeface="Arial" pitchFamily="34" charset="0"/>
              </a:rPr>
              <a:t>Salgo</a:t>
            </a:r>
            <a:endParaRPr kumimoji="0" lang="es-AR" sz="900" b="1" i="0" u="none" strike="noStrike" kern="1200" cap="none" spc="0" normalizeH="0" baseline="0" noProof="0" dirty="0">
              <a:ln>
                <a:noFill/>
              </a:ln>
              <a:solidFill>
                <a:srgbClr val="00B050"/>
              </a:solidFill>
              <a:effectLst/>
              <a:uLnTx/>
              <a:uFillTx/>
              <a:latin typeface="+mn-lt"/>
              <a:ea typeface="+mj-ea"/>
              <a:cs typeface="Arial" pitchFamily="34" charset="0"/>
            </a:endParaRPr>
          </a:p>
        </p:txBody>
      </p:sp>
      <p:sp>
        <p:nvSpPr>
          <p:cNvPr id="15" name="14 CuadroTexto"/>
          <p:cNvSpPr txBox="1"/>
          <p:nvPr/>
        </p:nvSpPr>
        <p:spPr>
          <a:xfrm>
            <a:off x="424834" y="3283755"/>
            <a:ext cx="8229600"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buFont typeface="Arial" pitchFamily="34" charset="0"/>
              <a:buChar char="•"/>
            </a:pPr>
            <a:r>
              <a:rPr lang="es-ES" sz="1800" dirty="0" smtClean="0">
                <a:solidFill>
                  <a:schemeClr val="tx1"/>
                </a:solidFill>
                <a:latin typeface="Arial" pitchFamily="34" charset="0"/>
                <a:cs typeface="Arial" pitchFamily="34" charset="0"/>
              </a:rPr>
              <a:t> Satisface exclusión Mutua.</a:t>
            </a:r>
          </a:p>
          <a:p>
            <a:pPr algn="just">
              <a:buFont typeface="Arial" pitchFamily="34" charset="0"/>
              <a:buChar char="•"/>
            </a:pPr>
            <a:r>
              <a:rPr lang="es-ES" sz="1800" dirty="0" smtClean="0">
                <a:solidFill>
                  <a:schemeClr val="tx1"/>
                </a:solidFill>
                <a:latin typeface="Arial" pitchFamily="34" charset="0"/>
                <a:cs typeface="Arial" pitchFamily="34" charset="0"/>
              </a:rPr>
              <a:t> Satisface el Progreso. </a:t>
            </a:r>
          </a:p>
          <a:p>
            <a:pPr marL="628650" lvl="1" indent="-171450" algn="just">
              <a:buFont typeface="Arial" pitchFamily="34" charset="0"/>
              <a:buChar char="•"/>
            </a:pPr>
            <a:r>
              <a:rPr lang="es-ES" sz="1800" dirty="0" smtClean="0">
                <a:solidFill>
                  <a:schemeClr val="tx1"/>
                </a:solidFill>
                <a:latin typeface="Arial" pitchFamily="34" charset="0"/>
                <a:cs typeface="Arial" pitchFamily="34" charset="0"/>
              </a:rPr>
              <a:t>Pi no puede entrar a SC solamente, ya que hay un ciclo en el </a:t>
            </a:r>
            <a:r>
              <a:rPr lang="es-ES" sz="1800" dirty="0" err="1" smtClean="0">
                <a:solidFill>
                  <a:schemeClr val="tx1"/>
                </a:solidFill>
                <a:latin typeface="Arial" pitchFamily="34" charset="0"/>
                <a:cs typeface="Arial" pitchFamily="34" charset="0"/>
              </a:rPr>
              <a:t>while</a:t>
            </a:r>
            <a:r>
              <a:rPr lang="es-ES" sz="1800" dirty="0" smtClean="0">
                <a:solidFill>
                  <a:schemeClr val="tx1"/>
                </a:solidFill>
                <a:latin typeface="Arial" pitchFamily="34" charset="0"/>
                <a:cs typeface="Arial" pitchFamily="34" charset="0"/>
              </a:rPr>
              <a:t> con </a:t>
            </a:r>
            <a:r>
              <a:rPr lang="es-ES" sz="1800" dirty="0" err="1" smtClean="0">
                <a:solidFill>
                  <a:schemeClr val="tx1"/>
                </a:solidFill>
                <a:latin typeface="Arial" pitchFamily="34" charset="0"/>
                <a:cs typeface="Arial" pitchFamily="34" charset="0"/>
              </a:rPr>
              <a:t>flag</a:t>
            </a:r>
            <a:r>
              <a:rPr lang="es-ES" sz="1800" dirty="0" smtClean="0">
                <a:solidFill>
                  <a:schemeClr val="tx1"/>
                </a:solidFill>
                <a:latin typeface="Arial" pitchFamily="34" charset="0"/>
                <a:cs typeface="Arial" pitchFamily="34" charset="0"/>
              </a:rPr>
              <a:t>[j]==true y turno==j </a:t>
            </a:r>
          </a:p>
          <a:p>
            <a:pPr marL="628650" lvl="1" indent="-171450" algn="just">
              <a:buFont typeface="Arial" pitchFamily="34" charset="0"/>
              <a:buChar char="•"/>
            </a:pPr>
            <a:r>
              <a:rPr lang="es-ES" sz="1800" dirty="0" smtClean="0">
                <a:solidFill>
                  <a:schemeClr val="tx1"/>
                </a:solidFill>
                <a:latin typeface="Arial" pitchFamily="34" charset="0"/>
                <a:cs typeface="Arial" pitchFamily="34" charset="0"/>
              </a:rPr>
              <a:t>Si </a:t>
            </a:r>
            <a:r>
              <a:rPr lang="es-ES" sz="1800" dirty="0" err="1" smtClean="0">
                <a:solidFill>
                  <a:schemeClr val="tx1"/>
                </a:solidFill>
                <a:latin typeface="Arial" pitchFamily="34" charset="0"/>
                <a:cs typeface="Arial" pitchFamily="34" charset="0"/>
              </a:rPr>
              <a:t>Pj</a:t>
            </a:r>
            <a:r>
              <a:rPr lang="es-ES" sz="1800" dirty="0" smtClean="0">
                <a:solidFill>
                  <a:schemeClr val="tx1"/>
                </a:solidFill>
                <a:latin typeface="Arial" pitchFamily="34" charset="0"/>
                <a:cs typeface="Arial" pitchFamily="34" charset="0"/>
              </a:rPr>
              <a:t> no esta listo para entrar a SC debido a que </a:t>
            </a:r>
            <a:r>
              <a:rPr lang="es-ES" sz="1800" dirty="0" err="1" smtClean="0">
                <a:solidFill>
                  <a:schemeClr val="tx1"/>
                </a:solidFill>
                <a:latin typeface="Arial" pitchFamily="34" charset="0"/>
                <a:cs typeface="Arial" pitchFamily="34" charset="0"/>
              </a:rPr>
              <a:t>flag</a:t>
            </a:r>
            <a:r>
              <a:rPr lang="es-ES" sz="1800" dirty="0" smtClean="0">
                <a:solidFill>
                  <a:schemeClr val="tx1"/>
                </a:solidFill>
                <a:latin typeface="Arial" pitchFamily="34" charset="0"/>
                <a:cs typeface="Arial" pitchFamily="34" charset="0"/>
              </a:rPr>
              <a:t>[j]=false, si lo puede hacer Pi. </a:t>
            </a:r>
          </a:p>
          <a:p>
            <a:pPr algn="just">
              <a:buFont typeface="Arial" pitchFamily="34" charset="0"/>
              <a:buChar char="•"/>
            </a:pPr>
            <a:r>
              <a:rPr lang="es-ES" sz="1800" dirty="0" smtClean="0">
                <a:solidFill>
                  <a:schemeClr val="tx1"/>
                </a:solidFill>
                <a:latin typeface="Arial" pitchFamily="34" charset="0"/>
                <a:cs typeface="Arial" pitchFamily="34" charset="0"/>
              </a:rPr>
              <a:t> Satisface Espera acotada. </a:t>
            </a:r>
          </a:p>
          <a:p>
            <a:pPr algn="just">
              <a:buFont typeface="Arial" pitchFamily="34" charset="0"/>
              <a:buChar char="•"/>
            </a:pPr>
            <a:r>
              <a:rPr lang="es-ES" sz="1800" dirty="0" smtClean="0">
                <a:solidFill>
                  <a:schemeClr val="tx1"/>
                </a:solidFill>
                <a:latin typeface="Arial" pitchFamily="34" charset="0"/>
                <a:cs typeface="Arial" pitchFamily="34" charset="0"/>
              </a:rPr>
              <a:t> Resuelve el problema de SC pero para dos procesos.</a:t>
            </a:r>
            <a:endParaRPr lang="es-AR" sz="18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ou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 y="12340"/>
            <a:ext cx="9144000" cy="679778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146649" y="1977696"/>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146649" y="1977696"/>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898918"/>
            <a:ext cx="8667940" cy="723275"/>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Desventajas de sincronización por Software</a:t>
            </a:r>
          </a:p>
          <a:p>
            <a:pPr marL="177800" indent="-177800" algn="just">
              <a:spcBef>
                <a:spcPts val="600"/>
              </a:spcBef>
            </a:pPr>
            <a:endParaRPr lang="es-AR" sz="1800" b="1"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3082" name="Picture 10"/>
          <p:cNvPicPr>
            <a:picLocks noChangeAspect="1" noChangeArrowheads="1"/>
          </p:cNvPicPr>
          <p:nvPr/>
        </p:nvPicPr>
        <p:blipFill>
          <a:blip r:embed="rId3" cstate="print"/>
          <a:srcRect t="17467" b="5047"/>
          <a:stretch>
            <a:fillRect/>
          </a:stretch>
        </p:blipFill>
        <p:spPr bwMode="auto">
          <a:xfrm>
            <a:off x="747142" y="1311215"/>
            <a:ext cx="4416263" cy="715992"/>
          </a:xfrm>
          <a:prstGeom prst="rect">
            <a:avLst/>
          </a:prstGeom>
          <a:ln>
            <a:noFill/>
          </a:ln>
          <a:effectLst>
            <a:outerShdw blurRad="190500" algn="tl" rotWithShape="0">
              <a:srgbClr val="000000">
                <a:alpha val="70000"/>
              </a:srgbClr>
            </a:outerShdw>
          </a:effectLst>
        </p:spPr>
      </p:pic>
      <p:pic>
        <p:nvPicPr>
          <p:cNvPr id="3083" name="Picture 11"/>
          <p:cNvPicPr>
            <a:picLocks noChangeAspect="1" noChangeArrowheads="1"/>
          </p:cNvPicPr>
          <p:nvPr/>
        </p:nvPicPr>
        <p:blipFill>
          <a:blip r:embed="rId4" cstate="print"/>
          <a:srcRect/>
          <a:stretch>
            <a:fillRect/>
          </a:stretch>
        </p:blipFill>
        <p:spPr bwMode="auto">
          <a:xfrm>
            <a:off x="3832086" y="2102687"/>
            <a:ext cx="4406997" cy="765641"/>
          </a:xfrm>
          <a:prstGeom prst="rect">
            <a:avLst/>
          </a:prstGeom>
          <a:ln>
            <a:noFill/>
          </a:ln>
          <a:effectLst>
            <a:outerShdw blurRad="190500" algn="tl" rotWithShape="0">
              <a:srgbClr val="000000">
                <a:alpha val="70000"/>
              </a:srgbClr>
            </a:outerShdw>
          </a:effectLst>
        </p:spPr>
      </p:pic>
      <p:pic>
        <p:nvPicPr>
          <p:cNvPr id="3084" name="Picture 12"/>
          <p:cNvPicPr>
            <a:picLocks noChangeAspect="1" noChangeArrowheads="1"/>
          </p:cNvPicPr>
          <p:nvPr/>
        </p:nvPicPr>
        <p:blipFill>
          <a:blip r:embed="rId5" cstate="print"/>
          <a:srcRect/>
          <a:stretch>
            <a:fillRect/>
          </a:stretch>
        </p:blipFill>
        <p:spPr bwMode="auto">
          <a:xfrm>
            <a:off x="3884882" y="3998653"/>
            <a:ext cx="4354201" cy="940471"/>
          </a:xfrm>
          <a:prstGeom prst="rect">
            <a:avLst/>
          </a:prstGeom>
          <a:ln>
            <a:noFill/>
          </a:ln>
          <a:effectLst>
            <a:outerShdw blurRad="190500" algn="tl" rotWithShape="0">
              <a:srgbClr val="000000">
                <a:alpha val="70000"/>
              </a:srgbClr>
            </a:outerShdw>
          </a:effectLst>
        </p:spPr>
      </p:pic>
      <p:pic>
        <p:nvPicPr>
          <p:cNvPr id="3085" name="Picture 13"/>
          <p:cNvPicPr>
            <a:picLocks noChangeAspect="1" noChangeArrowheads="1"/>
          </p:cNvPicPr>
          <p:nvPr/>
        </p:nvPicPr>
        <p:blipFill>
          <a:blip r:embed="rId6" cstate="print"/>
          <a:srcRect/>
          <a:stretch>
            <a:fillRect/>
          </a:stretch>
        </p:blipFill>
        <p:spPr bwMode="auto">
          <a:xfrm>
            <a:off x="747142" y="2957737"/>
            <a:ext cx="4437004" cy="962789"/>
          </a:xfrm>
          <a:prstGeom prst="rect">
            <a:avLst/>
          </a:prstGeom>
          <a:ln>
            <a:noFill/>
          </a:ln>
          <a:effectLst>
            <a:outerShdw blurRad="190500" algn="tl" rotWithShape="0">
              <a:srgbClr val="000000">
                <a:alpha val="70000"/>
              </a:srgbClr>
            </a:outerShdw>
          </a:effectLst>
        </p:spPr>
      </p:pic>
      <p:pic>
        <p:nvPicPr>
          <p:cNvPr id="3086" name="Picture 14"/>
          <p:cNvPicPr>
            <a:picLocks noChangeAspect="1" noChangeArrowheads="1"/>
          </p:cNvPicPr>
          <p:nvPr/>
        </p:nvPicPr>
        <p:blipFill>
          <a:blip r:embed="rId7" cstate="print"/>
          <a:srcRect/>
          <a:stretch>
            <a:fillRect/>
          </a:stretch>
        </p:blipFill>
        <p:spPr bwMode="auto">
          <a:xfrm>
            <a:off x="747142" y="5029477"/>
            <a:ext cx="4332222" cy="925156"/>
          </a:xfrm>
          <a:prstGeom prst="rect">
            <a:avLst/>
          </a:prstGeom>
          <a:ln>
            <a:noFill/>
          </a:ln>
          <a:effectLst>
            <a:outerShdw blurRad="190500" algn="tl" rotWithShape="0">
              <a:srgbClr val="000000">
                <a:alpha val="70000"/>
              </a:srgbClr>
            </a:outerShdw>
          </a:effectLst>
        </p:spPr>
      </p:pic>
      <p:pic>
        <p:nvPicPr>
          <p:cNvPr id="3087" name="Picture 15"/>
          <p:cNvPicPr>
            <a:picLocks noChangeAspect="1" noChangeArrowheads="1"/>
          </p:cNvPicPr>
          <p:nvPr/>
        </p:nvPicPr>
        <p:blipFill>
          <a:blip r:embed="rId8" cstate="print"/>
          <a:srcRect/>
          <a:stretch>
            <a:fillRect/>
          </a:stretch>
        </p:blipFill>
        <p:spPr bwMode="auto">
          <a:xfrm>
            <a:off x="3830984" y="6034682"/>
            <a:ext cx="4408099" cy="713010"/>
          </a:xfrm>
          <a:prstGeom prst="rect">
            <a:avLst/>
          </a:prstGeom>
          <a:ln>
            <a:noFill/>
          </a:ln>
          <a:effectLst>
            <a:outerShdw blurRad="190500" algn="tl" rotWithShape="0">
              <a:srgbClr val="000000">
                <a:alpha val="70000"/>
              </a:srgbClr>
            </a:outerShdw>
          </a:effectLst>
        </p:spPr>
      </p:pic>
      <p:pic>
        <p:nvPicPr>
          <p:cNvPr id="3088" name="Picture 16"/>
          <p:cNvPicPr>
            <a:picLocks noChangeAspect="1" noChangeArrowheads="1"/>
          </p:cNvPicPr>
          <p:nvPr/>
        </p:nvPicPr>
        <p:blipFill>
          <a:blip r:embed="rId9" cstate="print"/>
          <a:srcRect/>
          <a:stretch>
            <a:fillRect/>
          </a:stretch>
        </p:blipFill>
        <p:spPr bwMode="auto">
          <a:xfrm>
            <a:off x="9144000" y="2889849"/>
            <a:ext cx="4485187" cy="3055728"/>
          </a:xfrm>
          <a:prstGeom prst="rect">
            <a:avLst/>
          </a:prstGeom>
          <a:noFill/>
          <a:ln w="9525">
            <a:noFill/>
            <a:miter lim="800000"/>
            <a:headEnd/>
            <a:tailEnd/>
          </a:ln>
          <a:effectLst/>
        </p:spPr>
      </p:pic>
      <p:pic>
        <p:nvPicPr>
          <p:cNvPr id="3089" name="Picture 17"/>
          <p:cNvPicPr>
            <a:picLocks noChangeAspect="1" noChangeArrowheads="1"/>
          </p:cNvPicPr>
          <p:nvPr/>
        </p:nvPicPr>
        <p:blipFill>
          <a:blip r:embed="rId10" cstate="print"/>
          <a:srcRect/>
          <a:stretch>
            <a:fillRect/>
          </a:stretch>
        </p:blipFill>
        <p:spPr bwMode="auto">
          <a:xfrm>
            <a:off x="-6076950" y="0"/>
            <a:ext cx="6076950" cy="81057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232475"/>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Soluciones por hardware (basadas en instrucciones del procesador)</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En sistemas de </a:t>
            </a:r>
            <a:r>
              <a:rPr lang="es-AR" sz="1600" b="1" dirty="0" smtClean="0">
                <a:solidFill>
                  <a:schemeClr val="tx1"/>
                </a:solidFill>
                <a:latin typeface="Arial" pitchFamily="34" charset="0"/>
                <a:cs typeface="Arial" pitchFamily="34" charset="0"/>
              </a:rPr>
              <a:t>un procesador</a:t>
            </a:r>
            <a:r>
              <a:rPr lang="es-AR" sz="1600" dirty="0" smtClean="0">
                <a:solidFill>
                  <a:schemeClr val="tx1"/>
                </a:solidFill>
                <a:latin typeface="Arial" pitchFamily="34" charset="0"/>
                <a:cs typeface="Arial" pitchFamily="34" charset="0"/>
              </a:rPr>
              <a:t>, el problema de las secciones críticas podría ser resuelto simplemente si </a:t>
            </a:r>
            <a:r>
              <a:rPr lang="es-AR" sz="1600" i="1" dirty="0" smtClean="0">
                <a:solidFill>
                  <a:schemeClr val="tx1"/>
                </a:solidFill>
                <a:latin typeface="Arial" pitchFamily="34" charset="0"/>
                <a:cs typeface="Arial" pitchFamily="34" charset="0"/>
              </a:rPr>
              <a:t>pudiéramos </a:t>
            </a:r>
            <a:r>
              <a:rPr lang="es-AR" sz="1600" b="1" i="1" dirty="0" smtClean="0">
                <a:solidFill>
                  <a:schemeClr val="tx1"/>
                </a:solidFill>
                <a:latin typeface="Arial" pitchFamily="34" charset="0"/>
                <a:cs typeface="Arial" pitchFamily="34" charset="0"/>
              </a:rPr>
              <a:t>deshabilitar las interrupciones temporalmente </a:t>
            </a:r>
            <a:r>
              <a:rPr lang="es-AR" sz="1600" dirty="0" smtClean="0">
                <a:solidFill>
                  <a:schemeClr val="tx1"/>
                </a:solidFill>
                <a:latin typeface="Arial" pitchFamily="34" charset="0"/>
                <a:cs typeface="Arial" pitchFamily="34" charset="0"/>
              </a:rPr>
              <a:t>mientras se accede a una variable compartida. </a:t>
            </a: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La Exclusión Mutua está preservada sobre un procesador pero la eficiencia de ejecución se degrada ya que el resto de los procesos no pueden interrumpir</a:t>
            </a:r>
          </a:p>
          <a:p>
            <a:pPr marL="635000" lvl="1"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Esta solución no es factible para un sistema con varios procesadores (no cumplen la exclusión mutua) ya que no impide que los demás núcleos interfieran con las operaciones que la primera CPU está haciendo y además el pasaje de mensajes implica mucha demora.</a:t>
            </a:r>
          </a:p>
          <a:p>
            <a:pPr marL="635000" lvl="1"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No aconsejable: queda en manos del usuario cuándo habilitar/inhabilitar las interrupciones (por cuestiones de seguridad)</a:t>
            </a:r>
          </a:p>
          <a:p>
            <a:pPr marL="635000" lvl="1" indent="-177800" algn="just">
              <a:spcBef>
                <a:spcPts val="600"/>
              </a:spcBef>
              <a:buFont typeface="Arial" pitchFamily="34" charset="0"/>
              <a:buChar char="•"/>
            </a:pPr>
            <a:endParaRPr lang="es-AR" sz="14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endParaRPr lang="es-AR" sz="14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6146" name="Picture 2"/>
          <p:cNvPicPr>
            <a:picLocks noChangeAspect="1" noChangeArrowheads="1"/>
          </p:cNvPicPr>
          <p:nvPr/>
        </p:nvPicPr>
        <p:blipFill>
          <a:blip r:embed="rId3" cstate="print"/>
          <a:srcRect/>
          <a:stretch>
            <a:fillRect/>
          </a:stretch>
        </p:blipFill>
        <p:spPr bwMode="auto">
          <a:xfrm>
            <a:off x="442283" y="2157693"/>
            <a:ext cx="8420100" cy="2124075"/>
          </a:xfrm>
          <a:prstGeom prst="rect">
            <a:avLst/>
          </a:prstGeom>
          <a:ln>
            <a:noFill/>
          </a:ln>
          <a:effectLst>
            <a:outerShdw blurRad="292100" dist="139700" dir="2700000" algn="tl" rotWithShape="0">
              <a:srgbClr val="333333">
                <a:alpha val="65000"/>
              </a:srgbClr>
            </a:outerShdw>
          </a:effectLst>
        </p:spPr>
      </p:pic>
      <p:pic>
        <p:nvPicPr>
          <p:cNvPr id="4098" name="Picture 2"/>
          <p:cNvPicPr>
            <a:picLocks noChangeAspect="1" noChangeArrowheads="1"/>
          </p:cNvPicPr>
          <p:nvPr/>
        </p:nvPicPr>
        <p:blipFill>
          <a:blip r:embed="rId4" cstate="print"/>
          <a:srcRect/>
          <a:stretch>
            <a:fillRect/>
          </a:stretch>
        </p:blipFill>
        <p:spPr bwMode="auto">
          <a:xfrm>
            <a:off x="9170376" y="3175239"/>
            <a:ext cx="6179976" cy="368276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586418"/>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Soluciones por hardware (basadas en instrucciones del procesador)</a:t>
            </a:r>
          </a:p>
          <a:p>
            <a:pPr marL="177800" indent="-177800" algn="just">
              <a:spcBef>
                <a:spcPts val="600"/>
              </a:spcBef>
              <a:buFont typeface="Arial" pitchFamily="34" charset="0"/>
              <a:buChar char="•"/>
            </a:pPr>
            <a:r>
              <a:rPr lang="es-ES" sz="1600" dirty="0" smtClean="0">
                <a:solidFill>
                  <a:schemeClr val="tx1"/>
                </a:solidFill>
                <a:latin typeface="Arial" pitchFamily="34" charset="0"/>
                <a:cs typeface="Arial" pitchFamily="34" charset="0"/>
              </a:rPr>
              <a:t>En lugar de deshabilitar interrupciones, los procesadores modernos ofrecen </a:t>
            </a:r>
            <a:r>
              <a:rPr lang="es-ES" sz="1600" dirty="0" smtClean="0">
                <a:solidFill>
                  <a:srgbClr val="FF0000"/>
                </a:solidFill>
                <a:latin typeface="Arial" pitchFamily="34" charset="0"/>
                <a:cs typeface="Arial" pitchFamily="34" charset="0"/>
              </a:rPr>
              <a:t>instrucciones atómicas</a:t>
            </a:r>
            <a:r>
              <a:rPr lang="es-ES" sz="1600" dirty="0" smtClean="0">
                <a:solidFill>
                  <a:schemeClr val="tx1"/>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(recuerda: atómico = no-interrumpible) </a:t>
            </a:r>
            <a:r>
              <a:rPr lang="es-ES" sz="1600" dirty="0" smtClean="0">
                <a:solidFill>
                  <a:schemeClr val="tx1"/>
                </a:solidFill>
                <a:latin typeface="Arial" pitchFamily="34" charset="0"/>
                <a:cs typeface="Arial" pitchFamily="34" charset="0"/>
              </a:rPr>
              <a:t>que permiten realizar ciertas operaciones críticas sin ser interrumpidas y sin condiciones de carrera, incluso en sistemas multiprocesador.</a:t>
            </a:r>
          </a:p>
          <a:p>
            <a:pPr marL="177800" indent="-177800" algn="just">
              <a:spcBef>
                <a:spcPts val="600"/>
              </a:spcBef>
              <a:buFont typeface="Arial" pitchFamily="34" charset="0"/>
              <a:buChar char="•"/>
            </a:pPr>
            <a:r>
              <a:rPr lang="es-ES" sz="1600" dirty="0" smtClean="0">
                <a:solidFill>
                  <a:schemeClr val="tx1"/>
                </a:solidFill>
                <a:latin typeface="Arial" pitchFamily="34" charset="0"/>
                <a:cs typeface="Arial" pitchFamily="34" charset="0"/>
              </a:rPr>
              <a:t>El acceso a una posición de memoria, excluye los accesos a la misma posición, es decir que el hardware no va a permitir a otros procesos o hilos acceder la misma posición en forma simultánea (hay exclusión mutua incluso para varios CPU)</a:t>
            </a:r>
          </a:p>
          <a:p>
            <a:pPr marL="177800" indent="-177800" algn="just">
              <a:spcBef>
                <a:spcPts val="600"/>
              </a:spcBef>
            </a:pPr>
            <a:r>
              <a:rPr lang="es-ES" sz="1600" dirty="0" smtClean="0">
                <a:solidFill>
                  <a:schemeClr val="tx1"/>
                </a:solidFill>
                <a:latin typeface="Arial" pitchFamily="34" charset="0"/>
                <a:cs typeface="Arial" pitchFamily="34" charset="0"/>
              </a:rPr>
              <a:t>   Estas instrucciones atómicas pueden estar:</a:t>
            </a:r>
            <a:endParaRPr lang="es-AR" sz="16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consultando y modificando el contenido de una palabra de memoria</a:t>
            </a:r>
          </a:p>
          <a:p>
            <a:pPr marL="635000" lvl="1"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o intercambiando atómicamente el contenido de dos palabras de memoria</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Algunas instrucciones por hardware (abstraemos el concepto):</a:t>
            </a:r>
          </a:p>
          <a:p>
            <a:pPr marL="635000" lvl="1" indent="-177800" algn="just">
              <a:spcBef>
                <a:spcPts val="600"/>
              </a:spcBef>
              <a:buFont typeface="Arial" pitchFamily="34" charset="0"/>
              <a:buChar char="•"/>
            </a:pPr>
            <a:r>
              <a:rPr lang="es-AR" sz="1600" b="1" dirty="0" err="1" smtClean="0">
                <a:solidFill>
                  <a:schemeClr val="tx1"/>
                </a:solidFill>
                <a:latin typeface="Arial" pitchFamily="34" charset="0"/>
                <a:cs typeface="Arial" pitchFamily="34" charset="0"/>
              </a:rPr>
              <a:t>TestAndSet</a:t>
            </a:r>
            <a:r>
              <a:rPr lang="es-AR" sz="1600" dirty="0" smtClean="0">
                <a:solidFill>
                  <a:schemeClr val="tx1"/>
                </a:solidFill>
                <a:latin typeface="Arial" pitchFamily="34" charset="0"/>
                <a:cs typeface="Arial" pitchFamily="34" charset="0"/>
              </a:rPr>
              <a:t>: consulta y modifica el contenido de una palabra atómicamente.</a:t>
            </a:r>
          </a:p>
          <a:p>
            <a:pPr marL="635000" lvl="1" indent="-177800" algn="just">
              <a:spcBef>
                <a:spcPts val="600"/>
              </a:spcBef>
              <a:buFont typeface="Arial" pitchFamily="34" charset="0"/>
              <a:buChar char="•"/>
            </a:pPr>
            <a:r>
              <a:rPr lang="es-AR" sz="1600" b="1" dirty="0" smtClean="0">
                <a:solidFill>
                  <a:schemeClr val="tx1"/>
                </a:solidFill>
                <a:latin typeface="Arial" pitchFamily="34" charset="0"/>
                <a:cs typeface="Arial" pitchFamily="34" charset="0"/>
              </a:rPr>
              <a:t>Swap</a:t>
            </a:r>
            <a:r>
              <a:rPr lang="es-AR" sz="1600" dirty="0" smtClean="0">
                <a:solidFill>
                  <a:schemeClr val="tx1"/>
                </a:solidFill>
                <a:latin typeface="Arial" pitchFamily="34" charset="0"/>
                <a:cs typeface="Arial" pitchFamily="34" charset="0"/>
              </a:rPr>
              <a:t>: intercambia atómicamente el contenido de 2 variables</a:t>
            </a:r>
          </a:p>
          <a:p>
            <a:pPr marL="635000" lvl="1"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635000" lvl="1"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635000" lvl="1" indent="-177800" algn="just">
              <a:spcBef>
                <a:spcPts val="600"/>
              </a:spcBef>
            </a:pPr>
            <a:r>
              <a:rPr lang="es-AR" sz="1200" dirty="0" smtClean="0">
                <a:solidFill>
                  <a:schemeClr val="tx1"/>
                </a:solidFill>
                <a:latin typeface="Arial" pitchFamily="34" charset="0"/>
                <a:cs typeface="Arial" pitchFamily="34" charset="0"/>
                <a:hlinkClick r:id="rId3"/>
              </a:rPr>
              <a:t>https://gallir.wordpress.com/2015/03/04/principios-de-concurrencia-soluciones-por-hardware/</a:t>
            </a:r>
            <a:endParaRPr lang="es-AR" sz="1200" dirty="0" smtClean="0">
              <a:solidFill>
                <a:schemeClr val="tx1"/>
              </a:solidFill>
              <a:latin typeface="Arial" pitchFamily="34" charset="0"/>
              <a:cs typeface="Arial" pitchFamily="34" charset="0"/>
            </a:endParaRPr>
          </a:p>
          <a:p>
            <a:pPr marL="635000" lvl="1" indent="-177800" algn="just">
              <a:spcBef>
                <a:spcPts val="600"/>
              </a:spcBef>
            </a:pPr>
            <a:r>
              <a:rPr lang="es-AR" sz="1200" dirty="0" smtClean="0">
                <a:solidFill>
                  <a:schemeClr val="tx1"/>
                </a:solidFill>
                <a:hlinkClick r:id="rId3"/>
              </a:rPr>
              <a:t>https://gallir.wordpress.com/2015/03/04/principios-de-concurrencia-soluciones-por-hardware/</a:t>
            </a:r>
            <a:endParaRPr lang="es-AR" sz="1200" dirty="0" smtClean="0">
              <a:solidFill>
                <a:schemeClr val="tx1"/>
              </a:solidFill>
            </a:endParaRPr>
          </a:p>
          <a:p>
            <a:pPr marL="635000" lvl="1" indent="-177800" algn="just">
              <a:spcBef>
                <a:spcPts val="600"/>
              </a:spcBef>
            </a:pPr>
            <a:endParaRPr lang="es-AR" sz="12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247864"/>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Exclusión mutua con el </a:t>
            </a:r>
            <a:r>
              <a:rPr lang="es-AR" sz="1800" b="1" dirty="0" err="1" smtClean="0">
                <a:solidFill>
                  <a:schemeClr val="tx1"/>
                </a:solidFill>
                <a:latin typeface="Arial" pitchFamily="34" charset="0"/>
                <a:cs typeface="Arial" pitchFamily="34" charset="0"/>
              </a:rPr>
              <a:t>TestAndSet</a:t>
            </a:r>
            <a:r>
              <a:rPr lang="es-AR" sz="1800" b="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a:t>
            </a:r>
            <a:r>
              <a:rPr lang="es-AR" sz="1800" b="1" i="1" dirty="0" smtClean="0">
                <a:solidFill>
                  <a:schemeClr val="tx1"/>
                </a:solidFill>
              </a:rPr>
              <a:t>TSL:</a:t>
            </a:r>
            <a:r>
              <a:rPr lang="es-AR" sz="1800" b="1" dirty="0" smtClean="0">
                <a:solidFill>
                  <a:schemeClr val="tx1"/>
                </a:solidFill>
                <a:latin typeface="Arial" pitchFamily="34" charset="0"/>
                <a:cs typeface="Arial" pitchFamily="34" charset="0"/>
              </a:rPr>
              <a:t> </a:t>
            </a:r>
            <a:r>
              <a:rPr lang="es-AR" sz="1800" i="1" dirty="0" smtClean="0">
                <a:solidFill>
                  <a:schemeClr val="tx1"/>
                </a:solidFill>
              </a:rPr>
              <a:t>Test and set </a:t>
            </a:r>
            <a:r>
              <a:rPr lang="es-AR" sz="1800" i="1" dirty="0" err="1" smtClean="0">
                <a:solidFill>
                  <a:schemeClr val="tx1"/>
                </a:solidFill>
              </a:rPr>
              <a:t>lock</a:t>
            </a:r>
            <a:r>
              <a:rPr lang="es-AR" sz="1800" i="1" dirty="0" smtClean="0">
                <a:solidFill>
                  <a:schemeClr val="tx1"/>
                </a:solidFill>
              </a:rPr>
              <a:t> o </a:t>
            </a:r>
            <a:r>
              <a:rPr lang="es-AR" sz="1800" b="1" i="1" dirty="0" smtClean="0">
                <a:solidFill>
                  <a:schemeClr val="tx1"/>
                </a:solidFill>
              </a:rPr>
              <a:t>TAS:</a:t>
            </a:r>
            <a:r>
              <a:rPr lang="es-AR" sz="1800" i="1" dirty="0" smtClean="0">
                <a:solidFill>
                  <a:schemeClr val="tx1"/>
                </a:solidFill>
              </a:rPr>
              <a:t> </a:t>
            </a:r>
            <a:r>
              <a:rPr lang="es-ES" sz="1800" i="1" dirty="0" smtClean="0">
                <a:solidFill>
                  <a:schemeClr val="tx1"/>
                </a:solidFill>
              </a:rPr>
              <a:t>Test-and-Set</a:t>
            </a:r>
            <a:r>
              <a:rPr lang="es-AR" sz="1800" dirty="0" smtClean="0">
                <a:solidFill>
                  <a:schemeClr val="tx1"/>
                </a:solidFill>
              </a:rPr>
              <a:t>)</a:t>
            </a:r>
            <a:endParaRPr lang="es-AR" sz="1800" b="1" dirty="0" smtClean="0">
              <a:solidFill>
                <a:schemeClr val="tx1"/>
              </a:solidFill>
              <a:latin typeface="Arial" pitchFamily="34" charset="0"/>
              <a:cs typeface="Arial" pitchFamily="34" charset="0"/>
            </a:endParaRPr>
          </a:p>
          <a:p>
            <a:pPr marL="177800" indent="-177800" algn="just">
              <a:spcBef>
                <a:spcPts val="600"/>
              </a:spcBef>
            </a:pPr>
            <a:r>
              <a:rPr lang="es-AR" sz="1800" dirty="0" smtClean="0">
                <a:solidFill>
                  <a:schemeClr val="tx1"/>
                </a:solidFill>
                <a:latin typeface="Arial" pitchFamily="34" charset="0"/>
                <a:cs typeface="Arial" pitchFamily="34" charset="0"/>
              </a:rPr>
              <a:t>Variable compartida:</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r>
              <a:rPr lang="es-AR" sz="1800" dirty="0" smtClean="0">
                <a:solidFill>
                  <a:schemeClr val="tx1"/>
                </a:solidFill>
                <a:latin typeface="Arial" pitchFamily="34" charset="0"/>
                <a:cs typeface="Arial" pitchFamily="34" charset="0"/>
              </a:rPr>
              <a:t>Instrucción: Pone el cerrojo en true y devuelve el valor previo de cerrojo:</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1200"/>
              </a:spcBef>
            </a:pPr>
            <a:r>
              <a:rPr lang="es-AR" sz="1800" dirty="0" smtClean="0">
                <a:solidFill>
                  <a:schemeClr val="tx1"/>
                </a:solidFill>
                <a:latin typeface="Arial" pitchFamily="34" charset="0"/>
                <a:cs typeface="Arial" pitchFamily="34" charset="0"/>
              </a:rPr>
              <a:t>Implementación en proceso P</a:t>
            </a:r>
            <a:r>
              <a:rPr lang="es-AR" sz="1800" baseline="-25000" dirty="0" smtClean="0">
                <a:solidFill>
                  <a:schemeClr val="tx1"/>
                </a:solidFill>
                <a:latin typeface="Arial" pitchFamily="34" charset="0"/>
                <a:cs typeface="Arial" pitchFamily="34" charset="0"/>
              </a:rPr>
              <a:t>i 			</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r>
              <a:rPr lang="es-AR" sz="1800" dirty="0" smtClean="0">
                <a:solidFill>
                  <a:schemeClr val="tx1"/>
                </a:solidFill>
                <a:latin typeface="Arial" pitchFamily="34" charset="0"/>
                <a:cs typeface="Arial" pitchFamily="34" charset="0"/>
              </a:rPr>
              <a:t>Si nos encontramos en un sistema multiprocesador, ninguno de los demás procesadores tendrá acceso a la palabra hasta que termine de ejecutarse la instrucción. El procesador que ejecuta la instrucción TSL cierra el bus de la memoria para prohibir a los demás el acceso a la memoria hasta el término de la instrucción</a:t>
            </a:r>
          </a:p>
          <a:p>
            <a:pPr marL="177800" indent="-177800" algn="just">
              <a:spcBef>
                <a:spcPts val="600"/>
              </a:spcBef>
            </a:pPr>
            <a:endParaRPr lang="es-AR" sz="18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6802" name="Picture 2"/>
          <p:cNvPicPr>
            <a:picLocks noChangeAspect="1" noChangeArrowheads="1"/>
          </p:cNvPicPr>
          <p:nvPr/>
        </p:nvPicPr>
        <p:blipFill>
          <a:blip r:embed="rId3" cstate="print"/>
          <a:srcRect/>
          <a:stretch>
            <a:fillRect/>
          </a:stretch>
        </p:blipFill>
        <p:spPr bwMode="auto">
          <a:xfrm>
            <a:off x="2517775" y="1671638"/>
            <a:ext cx="1539876" cy="176591"/>
          </a:xfrm>
          <a:prstGeom prst="rect">
            <a:avLst/>
          </a:prstGeom>
          <a:ln>
            <a:noFill/>
          </a:ln>
          <a:effectLst>
            <a:outerShdw blurRad="292100" dist="139700" dir="2700000" algn="tl" rotWithShape="0">
              <a:srgbClr val="333333">
                <a:alpha val="65000"/>
              </a:srgbClr>
            </a:outerShdw>
          </a:effectLst>
        </p:spPr>
      </p:pic>
      <p:pic>
        <p:nvPicPr>
          <p:cNvPr id="76807" name="Picture 7"/>
          <p:cNvPicPr>
            <a:picLocks noChangeAspect="1" noChangeArrowheads="1"/>
          </p:cNvPicPr>
          <p:nvPr/>
        </p:nvPicPr>
        <p:blipFill>
          <a:blip r:embed="rId4" cstate="print"/>
          <a:srcRect/>
          <a:stretch>
            <a:fillRect/>
          </a:stretch>
        </p:blipFill>
        <p:spPr bwMode="auto">
          <a:xfrm>
            <a:off x="550864" y="3884614"/>
            <a:ext cx="5300662" cy="1277360"/>
          </a:xfrm>
          <a:prstGeom prst="rect">
            <a:avLst/>
          </a:prstGeom>
          <a:ln>
            <a:noFill/>
          </a:ln>
          <a:effectLst>
            <a:outerShdw blurRad="292100" dist="139700" dir="2700000" algn="tl" rotWithShape="0">
              <a:srgbClr val="333333">
                <a:alpha val="65000"/>
              </a:srgbClr>
            </a:outerShdw>
          </a:effectLst>
        </p:spPr>
      </p:pic>
      <p:cxnSp>
        <p:nvCxnSpPr>
          <p:cNvPr id="12" name="11 Conector recto de flecha"/>
          <p:cNvCxnSpPr/>
          <p:nvPr/>
        </p:nvCxnSpPr>
        <p:spPr>
          <a:xfrm flipH="1">
            <a:off x="5753101" y="4470400"/>
            <a:ext cx="1435099" cy="889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5263578" y="2571750"/>
            <a:ext cx="3804222" cy="1015663"/>
          </a:xfrm>
          <a:prstGeom prst="rect">
            <a:avLst/>
          </a:prstGeom>
          <a:noFill/>
        </p:spPr>
        <p:txBody>
          <a:bodyPr wrap="square" rtlCol="0">
            <a:spAutoFit/>
          </a:bodyPr>
          <a:lstStyle/>
          <a:p>
            <a:pPr algn="just"/>
            <a:r>
              <a:rPr lang="es-AR" sz="1200" b="1" dirty="0" smtClean="0">
                <a:solidFill>
                  <a:schemeClr val="tx1"/>
                </a:solidFill>
                <a:latin typeface="Arial" pitchFamily="34" charset="0"/>
                <a:cs typeface="Arial" pitchFamily="34" charset="0"/>
              </a:rPr>
              <a:t>Espera activa </a:t>
            </a:r>
            <a:r>
              <a:rPr lang="es-AR" sz="1200" dirty="0" smtClean="0">
                <a:solidFill>
                  <a:schemeClr val="tx1"/>
                </a:solidFill>
                <a:latin typeface="Arial" pitchFamily="34" charset="0"/>
                <a:cs typeface="Arial" pitchFamily="34" charset="0"/>
              </a:rPr>
              <a:t>(</a:t>
            </a:r>
            <a:r>
              <a:rPr lang="es-AR" sz="1200" b="1" dirty="0" smtClean="0">
                <a:solidFill>
                  <a:schemeClr val="tx1"/>
                </a:solidFill>
                <a:latin typeface="Arial" pitchFamily="34" charset="0"/>
                <a:cs typeface="Arial" pitchFamily="34" charset="0"/>
              </a:rPr>
              <a:t>spin-</a:t>
            </a:r>
            <a:r>
              <a:rPr lang="es-AR" sz="1200" b="1" dirty="0" err="1" smtClean="0">
                <a:solidFill>
                  <a:schemeClr val="tx1"/>
                </a:solidFill>
                <a:latin typeface="Arial" pitchFamily="34" charset="0"/>
                <a:cs typeface="Arial" pitchFamily="34" charset="0"/>
              </a:rPr>
              <a:t>lock</a:t>
            </a:r>
            <a:r>
              <a:rPr lang="es-AR" sz="1200" dirty="0" smtClean="0">
                <a:solidFill>
                  <a:schemeClr val="tx1"/>
                </a:solidFill>
                <a:latin typeface="Arial" pitchFamily="34" charset="0"/>
                <a:cs typeface="Arial" pitchFamily="34" charset="0"/>
              </a:rPr>
              <a:t>) sobre el cerrojo, mediante primitivas de echar el cerrojo (se la suele llamar </a:t>
            </a:r>
            <a:r>
              <a:rPr lang="es-AR" sz="1200" dirty="0" err="1" smtClean="0">
                <a:solidFill>
                  <a:schemeClr val="tx1"/>
                </a:solidFill>
                <a:latin typeface="Arial" pitchFamily="34" charset="0"/>
                <a:cs typeface="Arial" pitchFamily="34" charset="0"/>
              </a:rPr>
              <a:t>lock</a:t>
            </a:r>
            <a:r>
              <a:rPr lang="es-AR" sz="1200" dirty="0" smtClean="0">
                <a:solidFill>
                  <a:schemeClr val="tx1"/>
                </a:solidFill>
                <a:latin typeface="Arial" pitchFamily="34" charset="0"/>
                <a:cs typeface="Arial" pitchFamily="34" charset="0"/>
              </a:rPr>
              <a:t>)</a:t>
            </a:r>
          </a:p>
          <a:p>
            <a:pPr algn="just"/>
            <a:r>
              <a:rPr lang="es-AR" sz="1200" dirty="0" smtClean="0">
                <a:solidFill>
                  <a:schemeClr val="tx1"/>
                </a:solidFill>
                <a:latin typeface="Arial" pitchFamily="34" charset="0"/>
                <a:cs typeface="Arial" pitchFamily="34" charset="0"/>
              </a:rPr>
              <a:t>El proceso siempre está esperando a entrar en su sección crítica, no hace nada productivo hasta que obtiene permiso para entrar en su sección crítica</a:t>
            </a:r>
            <a:endParaRPr lang="es-AR" sz="1200" dirty="0">
              <a:solidFill>
                <a:schemeClr val="tx1"/>
              </a:solidFill>
              <a:latin typeface="Arial" pitchFamily="34" charset="0"/>
              <a:cs typeface="Arial" pitchFamily="34" charset="0"/>
            </a:endParaRPr>
          </a:p>
        </p:txBody>
      </p:sp>
      <p:sp>
        <p:nvSpPr>
          <p:cNvPr id="14" name="13 CuadroTexto"/>
          <p:cNvSpPr txBox="1"/>
          <p:nvPr/>
        </p:nvSpPr>
        <p:spPr>
          <a:xfrm>
            <a:off x="7241604" y="4260850"/>
            <a:ext cx="1495996" cy="461665"/>
          </a:xfrm>
          <a:prstGeom prst="rect">
            <a:avLst/>
          </a:prstGeom>
          <a:noFill/>
        </p:spPr>
        <p:txBody>
          <a:bodyPr wrap="square" rtlCol="0">
            <a:spAutoFit/>
          </a:bodyPr>
          <a:lstStyle/>
          <a:p>
            <a:pPr algn="l"/>
            <a:r>
              <a:rPr lang="es-AR" sz="1200" dirty="0" smtClean="0">
                <a:solidFill>
                  <a:schemeClr val="tx1"/>
                </a:solidFill>
                <a:latin typeface="Arial" pitchFamily="34" charset="0"/>
                <a:cs typeface="Arial" pitchFamily="34" charset="0"/>
              </a:rPr>
              <a:t>Liberar el cerrojo</a:t>
            </a:r>
          </a:p>
          <a:p>
            <a:pPr algn="just"/>
            <a:r>
              <a:rPr lang="es-AR" sz="1200" dirty="0" smtClean="0">
                <a:solidFill>
                  <a:schemeClr val="tx1"/>
                </a:solidFill>
                <a:latin typeface="Arial" pitchFamily="34" charset="0"/>
                <a:cs typeface="Arial" pitchFamily="34" charset="0"/>
              </a:rPr>
              <a:t>(</a:t>
            </a:r>
            <a:r>
              <a:rPr lang="es-AR" sz="1200" dirty="0" err="1" smtClean="0">
                <a:solidFill>
                  <a:schemeClr val="tx1"/>
                </a:solidFill>
                <a:latin typeface="Arial" pitchFamily="34" charset="0"/>
                <a:cs typeface="Arial" pitchFamily="34" charset="0"/>
              </a:rPr>
              <a:t>unlock</a:t>
            </a:r>
            <a:r>
              <a:rPr lang="es-AR" sz="1200" dirty="0" smtClean="0">
                <a:solidFill>
                  <a:schemeClr val="tx1"/>
                </a:solidFill>
                <a:latin typeface="Arial" pitchFamily="34" charset="0"/>
                <a:cs typeface="Arial" pitchFamily="34" charset="0"/>
              </a:rPr>
              <a:t>)</a:t>
            </a:r>
            <a:endParaRPr lang="es-AR" sz="1200" dirty="0">
              <a:solidFill>
                <a:schemeClr val="tx1"/>
              </a:solidFill>
              <a:latin typeface="Arial" pitchFamily="34" charset="0"/>
              <a:cs typeface="Arial" pitchFamily="34" charset="0"/>
            </a:endParaRPr>
          </a:p>
        </p:txBody>
      </p:sp>
      <p:pic>
        <p:nvPicPr>
          <p:cNvPr id="3074" name="Picture 2"/>
          <p:cNvPicPr>
            <a:picLocks noChangeAspect="1" noChangeArrowheads="1"/>
          </p:cNvPicPr>
          <p:nvPr/>
        </p:nvPicPr>
        <p:blipFill>
          <a:blip r:embed="rId5" cstate="print"/>
          <a:srcRect/>
          <a:stretch>
            <a:fillRect/>
          </a:stretch>
        </p:blipFill>
        <p:spPr bwMode="auto">
          <a:xfrm>
            <a:off x="2014644" y="2422142"/>
            <a:ext cx="3086746" cy="1062204"/>
          </a:xfrm>
          <a:prstGeom prst="rect">
            <a:avLst/>
          </a:prstGeom>
          <a:ln>
            <a:noFill/>
          </a:ln>
          <a:effectLst>
            <a:outerShdw blurRad="292100" dist="139700" dir="2700000" algn="tl" rotWithShape="0">
              <a:srgbClr val="333333">
                <a:alpha val="65000"/>
              </a:srgbClr>
            </a:outerShdw>
          </a:effectLst>
        </p:spPr>
      </p:pic>
      <p:cxnSp>
        <p:nvCxnSpPr>
          <p:cNvPr id="10" name="9 Conector recto de flecha"/>
          <p:cNvCxnSpPr/>
          <p:nvPr/>
        </p:nvCxnSpPr>
        <p:spPr>
          <a:xfrm flipH="1">
            <a:off x="4527550" y="3162300"/>
            <a:ext cx="793750" cy="838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239964" y="1451014"/>
            <a:ext cx="7969717" cy="203132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s-ES" sz="1800" b="1" dirty="0" smtClean="0">
                <a:solidFill>
                  <a:schemeClr val="tx1"/>
                </a:solidFill>
                <a:latin typeface="Arial" pitchFamily="34" charset="0"/>
                <a:cs typeface="Arial" pitchFamily="34" charset="0"/>
              </a:rPr>
              <a:t>Test and Set</a:t>
            </a:r>
          </a:p>
          <a:p>
            <a:pPr marL="182563" indent="-182563" algn="just">
              <a:buFont typeface="Arial" pitchFamily="34" charset="0"/>
              <a:buChar char="•"/>
            </a:pPr>
            <a:r>
              <a:rPr lang="es-ES" sz="1800" dirty="0" smtClean="0">
                <a:solidFill>
                  <a:schemeClr val="tx1"/>
                </a:solidFill>
                <a:latin typeface="Arial" pitchFamily="34" charset="0"/>
                <a:cs typeface="Arial" pitchFamily="34" charset="0"/>
              </a:rPr>
              <a:t>Si Pi entra en SC, el otro </a:t>
            </a:r>
            <a:r>
              <a:rPr lang="es-ES" sz="1800" dirty="0" err="1" smtClean="0">
                <a:solidFill>
                  <a:schemeClr val="tx1"/>
                </a:solidFill>
                <a:latin typeface="Arial" pitchFamily="34" charset="0"/>
                <a:cs typeface="Arial" pitchFamily="34" charset="0"/>
              </a:rPr>
              <a:t>Pj</a:t>
            </a:r>
            <a:r>
              <a:rPr lang="es-ES" sz="1800" dirty="0" smtClean="0">
                <a:solidFill>
                  <a:schemeClr val="tx1"/>
                </a:solidFill>
                <a:latin typeface="Arial" pitchFamily="34" charset="0"/>
                <a:cs typeface="Arial" pitchFamily="34" charset="0"/>
              </a:rPr>
              <a:t> está en </a:t>
            </a:r>
            <a:r>
              <a:rPr lang="es-ES" sz="1800" dirty="0" err="1" smtClean="0">
                <a:solidFill>
                  <a:schemeClr val="tx1"/>
                </a:solidFill>
                <a:latin typeface="Arial" pitchFamily="34" charset="0"/>
                <a:cs typeface="Arial" pitchFamily="34" charset="0"/>
              </a:rPr>
              <a:t>busy</a:t>
            </a:r>
            <a:r>
              <a:rPr lang="es-ES" sz="1800" dirty="0" smtClean="0">
                <a:solidFill>
                  <a:schemeClr val="tx1"/>
                </a:solidFill>
                <a:latin typeface="Arial" pitchFamily="34" charset="0"/>
                <a:cs typeface="Arial" pitchFamily="34" charset="0"/>
              </a:rPr>
              <a:t> </a:t>
            </a:r>
            <a:r>
              <a:rPr lang="es-ES" sz="1800" dirty="0" err="1" smtClean="0">
                <a:solidFill>
                  <a:schemeClr val="tx1"/>
                </a:solidFill>
                <a:latin typeface="Arial" pitchFamily="34" charset="0"/>
                <a:cs typeface="Arial" pitchFamily="34" charset="0"/>
              </a:rPr>
              <a:t>waiting</a:t>
            </a:r>
            <a:r>
              <a:rPr lang="es-ES" sz="1800" dirty="0" smtClean="0">
                <a:solidFill>
                  <a:schemeClr val="tx1"/>
                </a:solidFill>
                <a:latin typeface="Arial" pitchFamily="34" charset="0"/>
                <a:cs typeface="Arial" pitchFamily="34" charset="0"/>
              </a:rPr>
              <a:t>. Cumple Exclusión Mutua </a:t>
            </a:r>
          </a:p>
          <a:p>
            <a:pPr marL="182563" indent="-182563" algn="just">
              <a:buFont typeface="Arial" pitchFamily="34" charset="0"/>
              <a:buChar char="•"/>
            </a:pPr>
            <a:r>
              <a:rPr lang="es-ES" sz="1800" dirty="0" smtClean="0">
                <a:solidFill>
                  <a:schemeClr val="tx1"/>
                </a:solidFill>
                <a:latin typeface="Arial" pitchFamily="34" charset="0"/>
                <a:cs typeface="Arial" pitchFamily="34" charset="0"/>
              </a:rPr>
              <a:t>Puede ser usado para cualquier número de procesos. </a:t>
            </a:r>
          </a:p>
          <a:p>
            <a:pPr marL="182563" indent="-182563" algn="just">
              <a:buFont typeface="Arial" pitchFamily="34" charset="0"/>
              <a:buChar char="•"/>
            </a:pPr>
            <a:r>
              <a:rPr lang="es-ES" sz="1800" dirty="0" smtClean="0">
                <a:solidFill>
                  <a:schemeClr val="tx1"/>
                </a:solidFill>
                <a:latin typeface="Arial" pitchFamily="34" charset="0"/>
                <a:cs typeface="Arial" pitchFamily="34" charset="0"/>
              </a:rPr>
              <a:t>Cuando Pi sale, la selección del </a:t>
            </a:r>
            <a:r>
              <a:rPr lang="es-ES" sz="1800" dirty="0" err="1" smtClean="0">
                <a:solidFill>
                  <a:schemeClr val="tx1"/>
                </a:solidFill>
                <a:latin typeface="Arial" pitchFamily="34" charset="0"/>
                <a:cs typeface="Arial" pitchFamily="34" charset="0"/>
              </a:rPr>
              <a:t>Pj</a:t>
            </a:r>
            <a:r>
              <a:rPr lang="es-ES" sz="1800" dirty="0" smtClean="0">
                <a:solidFill>
                  <a:schemeClr val="tx1"/>
                </a:solidFill>
                <a:latin typeface="Arial" pitchFamily="34" charset="0"/>
                <a:cs typeface="Arial" pitchFamily="34" charset="0"/>
              </a:rPr>
              <a:t> que debería entrar es arbitraria. Espera no acotada:</a:t>
            </a:r>
          </a:p>
          <a:p>
            <a:pPr lvl="1" algn="just">
              <a:buFont typeface="Arial" pitchFamily="34" charset="0"/>
              <a:buChar char="•"/>
            </a:pPr>
            <a:r>
              <a:rPr lang="es-ES" sz="1800" dirty="0" smtClean="0">
                <a:solidFill>
                  <a:schemeClr val="tx1"/>
                </a:solidFill>
                <a:latin typeface="Arial" pitchFamily="34" charset="0"/>
                <a:cs typeface="Arial" pitchFamily="34" charset="0"/>
              </a:rPr>
              <a:t> </a:t>
            </a:r>
            <a:r>
              <a:rPr lang="es-ES" sz="1800" dirty="0" err="1" smtClean="0">
                <a:solidFill>
                  <a:schemeClr val="tx1"/>
                </a:solidFill>
                <a:latin typeface="Arial" pitchFamily="34" charset="0"/>
                <a:cs typeface="Arial" pitchFamily="34" charset="0"/>
              </a:rPr>
              <a:t>Starvation</a:t>
            </a:r>
            <a:r>
              <a:rPr lang="es-ES" sz="1800" dirty="0" smtClean="0">
                <a:solidFill>
                  <a:schemeClr val="tx1"/>
                </a:solidFill>
                <a:latin typeface="Arial" pitchFamily="34" charset="0"/>
                <a:cs typeface="Arial" pitchFamily="34" charset="0"/>
              </a:rPr>
              <a:t> (inanición) es posible. </a:t>
            </a:r>
          </a:p>
          <a:p>
            <a:pPr lvl="1" algn="just">
              <a:buFont typeface="Arial" pitchFamily="34" charset="0"/>
              <a:buChar char="•"/>
            </a:pPr>
            <a:r>
              <a:rPr lang="es-ES" sz="1800" dirty="0" smtClean="0">
                <a:solidFill>
                  <a:schemeClr val="tx1"/>
                </a:solidFill>
                <a:latin typeface="Arial" pitchFamily="34" charset="0"/>
                <a:cs typeface="Arial" pitchFamily="34" charset="0"/>
              </a:rPr>
              <a:t> No se produce </a:t>
            </a:r>
            <a:r>
              <a:rPr lang="es-ES" sz="1800" dirty="0" err="1" smtClean="0">
                <a:solidFill>
                  <a:schemeClr val="tx1"/>
                </a:solidFill>
                <a:latin typeface="Arial" pitchFamily="34" charset="0"/>
                <a:cs typeface="Arial" pitchFamily="34" charset="0"/>
              </a:rPr>
              <a:t>deadlock</a:t>
            </a:r>
            <a:r>
              <a:rPr lang="es-ES" sz="1800" dirty="0" smtClean="0">
                <a:solidFill>
                  <a:schemeClr val="tx1"/>
                </a:solidFill>
                <a:latin typeface="Arial" pitchFamily="34" charset="0"/>
                <a:cs typeface="Arial" pitchFamily="34" charset="0"/>
              </a:rPr>
              <a:t> y garantiza progreso.</a:t>
            </a:r>
          </a:p>
        </p:txBody>
      </p:sp>
      <p:pic>
        <p:nvPicPr>
          <p:cNvPr id="5122" name="Picture 2"/>
          <p:cNvPicPr>
            <a:picLocks noChangeAspect="1" noChangeArrowheads="1"/>
          </p:cNvPicPr>
          <p:nvPr/>
        </p:nvPicPr>
        <p:blipFill>
          <a:blip r:embed="rId6" cstate="print"/>
          <a:srcRect/>
          <a:stretch>
            <a:fillRect/>
          </a:stretch>
        </p:blipFill>
        <p:spPr bwMode="auto">
          <a:xfrm>
            <a:off x="9144000" y="948367"/>
            <a:ext cx="3019425" cy="21145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bg/>
                                          </p:spTgt>
                                        </p:tgtEl>
                                        <p:attrNameLst>
                                          <p:attrName>style.visibility</p:attrName>
                                        </p:attrNameLst>
                                      </p:cBhvr>
                                      <p:to>
                                        <p:strVal val="visible"/>
                                      </p:to>
                                    </p:set>
                                    <p:animEffect transition="in" filter="fade">
                                      <p:cBhvr>
                                        <p:cTn id="7" dur="500"/>
                                        <p:tgtEl>
                                          <p:spTgt spid="15">
                                            <p:bg/>
                                          </p:spTgt>
                                        </p:tgtEl>
                                      </p:cBhvr>
                                    </p:animEffect>
                                  </p:childTnLst>
                                </p:cTn>
                              </p:par>
                              <p:par>
                                <p:cTn id="8" presetID="10" presetClass="entr" presetSubtype="0" fill="hold" grpId="0" nodeType="withEffect">
                                  <p:stCondLst>
                                    <p:cond delay="0"/>
                                  </p:stCondLst>
                                  <p:iterate type="lt">
                                    <p:tmPct val="0"/>
                                  </p:iterate>
                                  <p:childTnLst>
                                    <p:set>
                                      <p:cBhvr>
                                        <p:cTn id="9" dur="1" fill="hold">
                                          <p:stCondLst>
                                            <p:cond delay="0"/>
                                          </p:stCondLst>
                                        </p:cTn>
                                        <p:tgtEl>
                                          <p:spTgt spid="15">
                                            <p:txEl>
                                              <p:pRg st="0" end="0"/>
                                            </p:txEl>
                                          </p:spTgt>
                                        </p:tgtEl>
                                        <p:attrNameLst>
                                          <p:attrName>style.visibility</p:attrName>
                                        </p:attrNameLst>
                                      </p:cBhvr>
                                      <p:to>
                                        <p:strVal val="visible"/>
                                      </p:to>
                                    </p:set>
                                    <p:animEffect transition="in" filter="fade">
                                      <p:cBhvr>
                                        <p:cTn id="10" dur="500"/>
                                        <p:tgtEl>
                                          <p:spTgt spid="15">
                                            <p:txEl>
                                              <p:pRg st="0" end="0"/>
                                            </p:txEl>
                                          </p:spTgt>
                                        </p:tgtEl>
                                      </p:cBhvr>
                                    </p:animEffect>
                                  </p:childTnLst>
                                </p:cTn>
                              </p:par>
                              <p:par>
                                <p:cTn id="11" presetID="10" presetClass="entr" presetSubtype="0" fill="hold" grpId="0" nodeType="withEffect">
                                  <p:stCondLst>
                                    <p:cond delay="0"/>
                                  </p:stCondLst>
                                  <p:iterate type="lt">
                                    <p:tmPct val="0"/>
                                  </p:iterate>
                                  <p:childTnLst>
                                    <p:set>
                                      <p:cBhvr>
                                        <p:cTn id="12" dur="1" fill="hold">
                                          <p:stCondLst>
                                            <p:cond delay="0"/>
                                          </p:stCondLst>
                                        </p:cTn>
                                        <p:tgtEl>
                                          <p:spTgt spid="15">
                                            <p:txEl>
                                              <p:pRg st="1" end="1"/>
                                            </p:txEl>
                                          </p:spTgt>
                                        </p:tgtEl>
                                        <p:attrNameLst>
                                          <p:attrName>style.visibility</p:attrName>
                                        </p:attrNameLst>
                                      </p:cBhvr>
                                      <p:to>
                                        <p:strVal val="visible"/>
                                      </p:to>
                                    </p:set>
                                    <p:animEffect transition="in" filter="fade">
                                      <p:cBhvr>
                                        <p:cTn id="13" dur="500"/>
                                        <p:tgtEl>
                                          <p:spTgt spid="15">
                                            <p:txEl>
                                              <p:pRg st="1" end="1"/>
                                            </p:txEl>
                                          </p:spTgt>
                                        </p:tgtEl>
                                      </p:cBhvr>
                                    </p:animEffect>
                                  </p:childTnLst>
                                </p:cTn>
                              </p:par>
                              <p:par>
                                <p:cTn id="14" presetID="10" presetClass="entr" presetSubtype="0" fill="hold" grpId="0" nodeType="withEffect">
                                  <p:stCondLst>
                                    <p:cond delay="0"/>
                                  </p:stCondLst>
                                  <p:iterate type="lt">
                                    <p:tmPct val="0"/>
                                  </p:iterate>
                                  <p:childTnLst>
                                    <p:set>
                                      <p:cBhvr>
                                        <p:cTn id="15" dur="1" fill="hold">
                                          <p:stCondLst>
                                            <p:cond delay="0"/>
                                          </p:stCondLst>
                                        </p:cTn>
                                        <p:tgtEl>
                                          <p:spTgt spid="15">
                                            <p:txEl>
                                              <p:pRg st="2" end="2"/>
                                            </p:txEl>
                                          </p:spTgt>
                                        </p:tgtEl>
                                        <p:attrNameLst>
                                          <p:attrName>style.visibility</p:attrName>
                                        </p:attrNameLst>
                                      </p:cBhvr>
                                      <p:to>
                                        <p:strVal val="visible"/>
                                      </p:to>
                                    </p:set>
                                    <p:animEffect transition="in" filter="fade">
                                      <p:cBhvr>
                                        <p:cTn id="16" dur="500"/>
                                        <p:tgtEl>
                                          <p:spTgt spid="15">
                                            <p:txEl>
                                              <p:pRg st="2" end="2"/>
                                            </p:txEl>
                                          </p:spTgt>
                                        </p:tgtEl>
                                      </p:cBhvr>
                                    </p:animEffect>
                                  </p:childTnLst>
                                </p:cTn>
                              </p:par>
                              <p:par>
                                <p:cTn id="17" presetID="10" presetClass="entr" presetSubtype="0" fill="hold" grpId="0" nodeType="withEffect">
                                  <p:stCondLst>
                                    <p:cond delay="0"/>
                                  </p:stCondLst>
                                  <p:iterate type="lt">
                                    <p:tmPct val="0"/>
                                  </p:iterate>
                                  <p:childTnLst>
                                    <p:set>
                                      <p:cBhvr>
                                        <p:cTn id="18" dur="1" fill="hold">
                                          <p:stCondLst>
                                            <p:cond delay="0"/>
                                          </p:stCondLst>
                                        </p:cTn>
                                        <p:tgtEl>
                                          <p:spTgt spid="15">
                                            <p:txEl>
                                              <p:pRg st="3" end="3"/>
                                            </p:txEl>
                                          </p:spTgt>
                                        </p:tgtEl>
                                        <p:attrNameLst>
                                          <p:attrName>style.visibility</p:attrName>
                                        </p:attrNameLst>
                                      </p:cBhvr>
                                      <p:to>
                                        <p:strVal val="visible"/>
                                      </p:to>
                                    </p:set>
                                    <p:animEffect transition="in" filter="fade">
                                      <p:cBhvr>
                                        <p:cTn id="19" dur="500"/>
                                        <p:tgtEl>
                                          <p:spTgt spid="15">
                                            <p:txEl>
                                              <p:pRg st="3" end="3"/>
                                            </p:txEl>
                                          </p:spTgt>
                                        </p:tgtEl>
                                      </p:cBhvr>
                                    </p:animEffect>
                                  </p:childTnLst>
                                </p:cTn>
                              </p:par>
                              <p:par>
                                <p:cTn id="20" presetID="10" presetClass="entr" presetSubtype="0" fill="hold" grpId="0" nodeType="withEffect">
                                  <p:stCondLst>
                                    <p:cond delay="0"/>
                                  </p:stCondLst>
                                  <p:iterate type="lt">
                                    <p:tmPct val="0"/>
                                  </p:iterate>
                                  <p:childTnLst>
                                    <p:set>
                                      <p:cBhvr>
                                        <p:cTn id="21" dur="1" fill="hold">
                                          <p:stCondLst>
                                            <p:cond delay="0"/>
                                          </p:stCondLst>
                                        </p:cTn>
                                        <p:tgtEl>
                                          <p:spTgt spid="15">
                                            <p:txEl>
                                              <p:pRg st="4" end="4"/>
                                            </p:txEl>
                                          </p:spTgt>
                                        </p:tgtEl>
                                        <p:attrNameLst>
                                          <p:attrName>style.visibility</p:attrName>
                                        </p:attrNameLst>
                                      </p:cBhvr>
                                      <p:to>
                                        <p:strVal val="visible"/>
                                      </p:to>
                                    </p:set>
                                    <p:animEffect transition="in" filter="fade">
                                      <p:cBhvr>
                                        <p:cTn id="22" dur="500"/>
                                        <p:tgtEl>
                                          <p:spTgt spid="15">
                                            <p:txEl>
                                              <p:pRg st="4" end="4"/>
                                            </p:txEl>
                                          </p:spTgt>
                                        </p:tgtEl>
                                      </p:cBhvr>
                                    </p:animEffect>
                                  </p:childTnLst>
                                </p:cTn>
                              </p:par>
                              <p:par>
                                <p:cTn id="23" presetID="10" presetClass="entr" presetSubtype="0" fill="hold" grpId="0" nodeType="withEffect">
                                  <p:stCondLst>
                                    <p:cond delay="0"/>
                                  </p:stCondLst>
                                  <p:iterate type="lt">
                                    <p:tmPct val="0"/>
                                  </p:iterate>
                                  <p:childTnLst>
                                    <p:set>
                                      <p:cBhvr>
                                        <p:cTn id="24" dur="1" fill="hold">
                                          <p:stCondLst>
                                            <p:cond delay="0"/>
                                          </p:stCondLst>
                                        </p:cTn>
                                        <p:tgtEl>
                                          <p:spTgt spid="15">
                                            <p:txEl>
                                              <p:pRg st="5" end="5"/>
                                            </p:txEl>
                                          </p:spTgt>
                                        </p:tgtEl>
                                        <p:attrNameLst>
                                          <p:attrName>style.visibility</p:attrName>
                                        </p:attrNameLst>
                                      </p:cBhvr>
                                      <p:to>
                                        <p:strVal val="visible"/>
                                      </p:to>
                                    </p:set>
                                    <p:animEffect transition="in" filter="fade">
                                      <p:cBhvr>
                                        <p:cTn id="25"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71999"/>
            <a:ext cx="8667940" cy="6432530"/>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Exclusión mutua con el Swap </a:t>
            </a:r>
            <a:r>
              <a:rPr lang="es-AR" sz="1800" dirty="0" smtClean="0">
                <a:solidFill>
                  <a:schemeClr val="tx1"/>
                </a:solidFill>
                <a:latin typeface="Arial" pitchFamily="34" charset="0"/>
                <a:cs typeface="Arial" pitchFamily="34" charset="0"/>
              </a:rPr>
              <a:t>(</a:t>
            </a:r>
            <a:r>
              <a:rPr lang="es-AR" sz="1800" b="1" i="1" dirty="0" smtClean="0">
                <a:solidFill>
                  <a:schemeClr val="tx1"/>
                </a:solidFill>
              </a:rPr>
              <a:t>CAS:</a:t>
            </a:r>
            <a:r>
              <a:rPr lang="es-AR" sz="1800" b="1" dirty="0" smtClean="0">
                <a:solidFill>
                  <a:schemeClr val="tx1"/>
                </a:solidFill>
                <a:latin typeface="Arial" pitchFamily="34" charset="0"/>
                <a:cs typeface="Arial" pitchFamily="34" charset="0"/>
              </a:rPr>
              <a:t> </a:t>
            </a:r>
            <a:r>
              <a:rPr lang="es-AR" sz="1800" i="1" dirty="0" smtClean="0">
                <a:solidFill>
                  <a:schemeClr val="tx1"/>
                </a:solidFill>
              </a:rPr>
              <a:t>Compare and Swap</a:t>
            </a:r>
            <a:r>
              <a:rPr lang="es-AR" sz="1800" dirty="0" smtClean="0">
                <a:solidFill>
                  <a:schemeClr val="tx1"/>
                </a:solidFill>
              </a:rPr>
              <a:t>)</a:t>
            </a:r>
            <a:endParaRPr lang="es-AR" sz="1800" b="1" dirty="0" smtClean="0">
              <a:solidFill>
                <a:schemeClr val="tx1"/>
              </a:solidFill>
              <a:latin typeface="Arial" pitchFamily="34" charset="0"/>
              <a:cs typeface="Arial" pitchFamily="34" charset="0"/>
            </a:endParaRPr>
          </a:p>
          <a:p>
            <a:pPr algn="just">
              <a:spcBef>
                <a:spcPts val="600"/>
              </a:spcBef>
            </a:pPr>
            <a:r>
              <a:rPr lang="es-AR" sz="1800" dirty="0" smtClean="0">
                <a:solidFill>
                  <a:schemeClr val="tx1"/>
                </a:solidFill>
                <a:latin typeface="Arial" pitchFamily="34" charset="0"/>
                <a:cs typeface="Arial" pitchFamily="34" charset="0"/>
              </a:rPr>
              <a:t>Otra alternativa del TSL es Swap (en </a:t>
            </a:r>
            <a:r>
              <a:rPr lang="es-AR" sz="1800" dirty="0" err="1" smtClean="0">
                <a:solidFill>
                  <a:schemeClr val="tx1"/>
                </a:solidFill>
                <a:latin typeface="Arial" pitchFamily="34" charset="0"/>
                <a:cs typeface="Arial" pitchFamily="34" charset="0"/>
              </a:rPr>
              <a:t>asm</a:t>
            </a:r>
            <a:r>
              <a:rPr lang="es-AR" sz="1800" dirty="0" smtClean="0">
                <a:solidFill>
                  <a:schemeClr val="tx1"/>
                </a:solidFill>
                <a:latin typeface="Arial" pitchFamily="34" charset="0"/>
                <a:cs typeface="Arial" pitchFamily="34" charset="0"/>
              </a:rPr>
              <a:t> x86 es XCHG) </a:t>
            </a:r>
            <a:r>
              <a:rPr lang="es-AR" sz="1800" b="1" dirty="0" smtClean="0">
                <a:solidFill>
                  <a:schemeClr val="tx1"/>
                </a:solidFill>
                <a:latin typeface="Arial" pitchFamily="34" charset="0"/>
                <a:cs typeface="Arial" pitchFamily="34" charset="0"/>
              </a:rPr>
              <a:t>que intercambia en forma atómica</a:t>
            </a:r>
            <a:r>
              <a:rPr lang="es-AR" sz="1800" dirty="0" smtClean="0">
                <a:solidFill>
                  <a:schemeClr val="tx1"/>
                </a:solidFill>
                <a:latin typeface="Arial" pitchFamily="34" charset="0"/>
                <a:cs typeface="Arial" pitchFamily="34" charset="0"/>
              </a:rPr>
              <a:t> el contenido de 2 ubicaciones en forma atómica, por ejemplo un registro y una palabra de memoria.</a:t>
            </a:r>
          </a:p>
          <a:p>
            <a:pPr marL="177800" indent="-177800" algn="just">
              <a:spcBef>
                <a:spcPts val="600"/>
              </a:spcBef>
            </a:pPr>
            <a:r>
              <a:rPr lang="es-AR" sz="1800" dirty="0" smtClean="0">
                <a:solidFill>
                  <a:schemeClr val="tx1"/>
                </a:solidFill>
                <a:latin typeface="Arial" pitchFamily="34" charset="0"/>
                <a:cs typeface="Arial" pitchFamily="34" charset="0"/>
              </a:rPr>
              <a:t>Cada proceso tiene una variable local booleana </a:t>
            </a:r>
            <a:r>
              <a:rPr lang="es-AR" sz="1800" dirty="0" err="1" smtClean="0">
                <a:solidFill>
                  <a:schemeClr val="tx1"/>
                </a:solidFill>
                <a:latin typeface="Arial" pitchFamily="34" charset="0"/>
                <a:cs typeface="Arial" pitchFamily="34" charset="0"/>
              </a:rPr>
              <a:t>key</a:t>
            </a:r>
            <a:r>
              <a:rPr lang="es-AR" sz="1800" dirty="0" smtClean="0">
                <a:solidFill>
                  <a:schemeClr val="tx1"/>
                </a:solidFill>
                <a:latin typeface="Arial" pitchFamily="34" charset="0"/>
                <a:cs typeface="Arial" pitchFamily="34" charset="0"/>
              </a:rPr>
              <a:t> inicializada en falso:</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r>
              <a:rPr lang="es-AR" sz="1800" dirty="0" smtClean="0">
                <a:solidFill>
                  <a:schemeClr val="tx1"/>
                </a:solidFill>
                <a:latin typeface="Arial" pitchFamily="34" charset="0"/>
                <a:cs typeface="Arial" pitchFamily="34" charset="0"/>
              </a:rPr>
              <a:t>Esquema de instrucción                                        Utilización en un Proceso P</a:t>
            </a:r>
            <a:r>
              <a:rPr lang="es-AR" sz="1800" baseline="-25000" dirty="0" smtClean="0">
                <a:solidFill>
                  <a:schemeClr val="tx1"/>
                </a:solidFill>
                <a:latin typeface="Arial" pitchFamily="34" charset="0"/>
                <a:cs typeface="Arial" pitchFamily="34" charset="0"/>
              </a:rPr>
              <a:t>i				</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algn="just">
              <a:spcBef>
                <a:spcPts val="600"/>
              </a:spcBef>
            </a:pPr>
            <a:r>
              <a:rPr lang="es-AR" sz="1800" dirty="0" smtClean="0">
                <a:solidFill>
                  <a:schemeClr val="tx1"/>
                </a:solidFill>
                <a:latin typeface="Arial" pitchFamily="34" charset="0"/>
                <a:cs typeface="Arial" pitchFamily="34" charset="0"/>
              </a:rPr>
              <a:t>Como se ve en el código, en esencia es el mismo que la solución con TSL.</a:t>
            </a:r>
          </a:p>
          <a:p>
            <a:pPr algn="just">
              <a:spcBef>
                <a:spcPts val="600"/>
              </a:spcBef>
            </a:pPr>
            <a:r>
              <a:rPr lang="es-AR" sz="1800" dirty="0" smtClean="0">
                <a:solidFill>
                  <a:schemeClr val="tx1"/>
                </a:solidFill>
                <a:latin typeface="Arial" pitchFamily="34" charset="0"/>
                <a:cs typeface="Arial" pitchFamily="34" charset="0"/>
              </a:rPr>
              <a:t>Todas las CPU Intel x86 utilizan la instrucción XCHG para la sincronización de bajo nivel.</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7826" name="Picture 2"/>
          <p:cNvPicPr>
            <a:picLocks noChangeAspect="1" noChangeArrowheads="1"/>
          </p:cNvPicPr>
          <p:nvPr/>
        </p:nvPicPr>
        <p:blipFill>
          <a:blip r:embed="rId3" cstate="print"/>
          <a:srcRect/>
          <a:stretch>
            <a:fillRect/>
          </a:stretch>
        </p:blipFill>
        <p:spPr bwMode="auto">
          <a:xfrm>
            <a:off x="3062289" y="2752725"/>
            <a:ext cx="1954212" cy="293518"/>
          </a:xfrm>
          <a:prstGeom prst="rect">
            <a:avLst/>
          </a:prstGeom>
          <a:ln>
            <a:noFill/>
          </a:ln>
          <a:effectLst>
            <a:outerShdw blurRad="292100" dist="139700" dir="2700000" algn="tl" rotWithShape="0">
              <a:srgbClr val="333333">
                <a:alpha val="65000"/>
              </a:srgbClr>
            </a:outerShdw>
          </a:effectLst>
        </p:spPr>
      </p:pic>
      <p:pic>
        <p:nvPicPr>
          <p:cNvPr id="77827" name="Picture 3"/>
          <p:cNvPicPr>
            <a:picLocks noChangeAspect="1" noChangeArrowheads="1"/>
          </p:cNvPicPr>
          <p:nvPr/>
        </p:nvPicPr>
        <p:blipFill>
          <a:blip r:embed="rId4" cstate="print"/>
          <a:srcRect b="1735"/>
          <a:stretch>
            <a:fillRect/>
          </a:stretch>
        </p:blipFill>
        <p:spPr bwMode="auto">
          <a:xfrm>
            <a:off x="5276850" y="3735388"/>
            <a:ext cx="2978150" cy="1539893"/>
          </a:xfrm>
          <a:prstGeom prst="rect">
            <a:avLst/>
          </a:prstGeom>
          <a:ln>
            <a:noFill/>
          </a:ln>
          <a:effectLst>
            <a:outerShdw blurRad="292100" dist="139700" dir="2700000" algn="tl" rotWithShape="0">
              <a:srgbClr val="333333">
                <a:alpha val="65000"/>
              </a:srgbClr>
            </a:outerShdw>
          </a:effectLst>
        </p:spPr>
      </p:pic>
      <p:pic>
        <p:nvPicPr>
          <p:cNvPr id="77828" name="Picture 4"/>
          <p:cNvPicPr>
            <a:picLocks noChangeAspect="1" noChangeArrowheads="1"/>
          </p:cNvPicPr>
          <p:nvPr/>
        </p:nvPicPr>
        <p:blipFill>
          <a:blip r:embed="rId5" cstate="print"/>
          <a:srcRect/>
          <a:stretch>
            <a:fillRect/>
          </a:stretch>
        </p:blipFill>
        <p:spPr bwMode="auto">
          <a:xfrm>
            <a:off x="338139" y="3749674"/>
            <a:ext cx="3001870" cy="97472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786473"/>
          </a:xfrm>
          <a:prstGeom prst="rect">
            <a:avLst/>
          </a:prstGeom>
          <a:noFill/>
        </p:spPr>
        <p:txBody>
          <a:bodyPr wrap="square" rtlCol="0">
            <a:spAutoFit/>
          </a:bodyPr>
          <a:lstStyle/>
          <a:p>
            <a:pPr marL="177800" indent="-177800" algn="just">
              <a:spcBef>
                <a:spcPts val="600"/>
              </a:spcBef>
            </a:pPr>
            <a:r>
              <a:rPr lang="es-AR" sz="1800" b="1" dirty="0" smtClean="0">
                <a:solidFill>
                  <a:schemeClr val="tx1"/>
                </a:solidFill>
                <a:latin typeface="Arial" pitchFamily="34" charset="0"/>
                <a:cs typeface="Arial" pitchFamily="34" charset="0"/>
              </a:rPr>
              <a:t>Soluciones del Sistema Operativos </a:t>
            </a:r>
            <a:r>
              <a:rPr lang="es-AR" sz="1800" dirty="0" smtClean="0">
                <a:solidFill>
                  <a:schemeClr val="tx1"/>
                </a:solidFill>
                <a:latin typeface="Arial" pitchFamily="34" charset="0"/>
                <a:cs typeface="Arial" pitchFamily="34" charset="0"/>
              </a:rPr>
              <a:t>(proveen algunas funciones y estructuras de datos para el programador)</a:t>
            </a:r>
          </a:p>
          <a:p>
            <a:pPr marL="177800" indent="-177800" algn="just">
              <a:spcBef>
                <a:spcPts val="600"/>
              </a:spcBef>
            </a:pPr>
            <a:r>
              <a:rPr lang="es-AR" sz="1800" b="1" dirty="0" smtClean="0">
                <a:solidFill>
                  <a:schemeClr val="tx1"/>
                </a:solidFill>
                <a:latin typeface="Arial" pitchFamily="34" charset="0"/>
                <a:cs typeface="Arial" pitchFamily="34" charset="0"/>
              </a:rPr>
              <a:t>Semáforos:</a:t>
            </a:r>
          </a:p>
          <a:p>
            <a:pPr marL="177800" indent="-177800" algn="just">
              <a:spcBef>
                <a:spcPts val="600"/>
              </a:spcBef>
            </a:pPr>
            <a:r>
              <a:rPr lang="es-AR" sz="1800" dirty="0" smtClean="0">
                <a:solidFill>
                  <a:schemeClr val="tx1"/>
                </a:solidFill>
                <a:latin typeface="Arial" pitchFamily="34" charset="0"/>
                <a:cs typeface="Arial" pitchFamily="34" charset="0"/>
              </a:rPr>
              <a:t>Las soluciones por hardware presentadas no son fáciles de generalizar a problemas más complejos. Esta dificultad se puede superar usando una herramienta de sincronización llamada semáforo.</a:t>
            </a:r>
          </a:p>
          <a:p>
            <a:pPr marL="177800" indent="-177800" algn="just">
              <a:spcBef>
                <a:spcPts val="600"/>
              </a:spcBef>
            </a:pPr>
            <a:r>
              <a:rPr lang="es-AR" sz="1800" dirty="0" smtClean="0">
                <a:solidFill>
                  <a:schemeClr val="tx1"/>
                </a:solidFill>
                <a:latin typeface="Arial" pitchFamily="34" charset="0"/>
                <a:cs typeface="Arial" pitchFamily="34" charset="0"/>
              </a:rPr>
              <a:t>Un semáforo S es una variable entera que solo es accedida a través de dos operaciones atómicas: </a:t>
            </a:r>
            <a:r>
              <a:rPr lang="es-AR" sz="1800" dirty="0" err="1" smtClean="0">
                <a:solidFill>
                  <a:schemeClr val="tx1"/>
                </a:solidFill>
                <a:latin typeface="Arial" pitchFamily="34" charset="0"/>
                <a:cs typeface="Arial" pitchFamily="34" charset="0"/>
              </a:rPr>
              <a:t>wait</a:t>
            </a:r>
            <a:r>
              <a:rPr lang="es-AR" sz="1800" dirty="0" smtClean="0">
                <a:solidFill>
                  <a:schemeClr val="tx1"/>
                </a:solidFill>
                <a:latin typeface="Arial" pitchFamily="34" charset="0"/>
                <a:cs typeface="Arial" pitchFamily="34" charset="0"/>
              </a:rPr>
              <a:t>  (o P(s)) y </a:t>
            </a:r>
            <a:r>
              <a:rPr lang="es-AR" sz="1800" dirty="0" err="1" smtClean="0">
                <a:solidFill>
                  <a:schemeClr val="tx1"/>
                </a:solidFill>
                <a:latin typeface="Arial" pitchFamily="34" charset="0"/>
                <a:cs typeface="Arial" pitchFamily="34" charset="0"/>
              </a:rPr>
              <a:t>signal</a:t>
            </a:r>
            <a:r>
              <a:rPr lang="es-AR" sz="1800" dirty="0" smtClean="0">
                <a:solidFill>
                  <a:schemeClr val="tx1"/>
                </a:solidFill>
                <a:latin typeface="Arial" pitchFamily="34" charset="0"/>
                <a:cs typeface="Arial" pitchFamily="34" charset="0"/>
              </a:rPr>
              <a:t> (V(s)).</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0"/>
              </a:spcBef>
            </a:pPr>
            <a:r>
              <a:rPr lang="es-AR" sz="1800" dirty="0" smtClean="0">
                <a:solidFill>
                  <a:schemeClr val="tx1"/>
                </a:solidFill>
                <a:latin typeface="Arial" pitchFamily="34" charset="0"/>
                <a:cs typeface="Arial" pitchFamily="34" charset="0"/>
              </a:rPr>
              <a:t>Implementación de la exclusión mutua con semáforos</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r>
              <a:rPr lang="es-AR" sz="1800" dirty="0" smtClean="0">
                <a:solidFill>
                  <a:schemeClr val="tx1"/>
                </a:solidFill>
                <a:latin typeface="Arial" pitchFamily="34" charset="0"/>
                <a:cs typeface="Arial" pitchFamily="34" charset="0"/>
              </a:rPr>
              <a:t>	</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8850" name="Picture 2"/>
          <p:cNvPicPr>
            <a:picLocks noChangeAspect="1" noChangeArrowheads="1"/>
          </p:cNvPicPr>
          <p:nvPr/>
        </p:nvPicPr>
        <p:blipFill>
          <a:blip r:embed="rId3" cstate="print"/>
          <a:srcRect r="62341"/>
          <a:stretch>
            <a:fillRect/>
          </a:stretch>
        </p:blipFill>
        <p:spPr bwMode="auto">
          <a:xfrm>
            <a:off x="319588" y="3586313"/>
            <a:ext cx="1976437" cy="1038225"/>
          </a:xfrm>
          <a:prstGeom prst="rect">
            <a:avLst/>
          </a:prstGeom>
          <a:ln>
            <a:noFill/>
          </a:ln>
          <a:effectLst>
            <a:outerShdw blurRad="292100" dist="139700" dir="2700000" algn="tl" rotWithShape="0">
              <a:srgbClr val="333333">
                <a:alpha val="65000"/>
              </a:srgbClr>
            </a:outerShdw>
          </a:effectLst>
        </p:spPr>
      </p:pic>
      <p:pic>
        <p:nvPicPr>
          <p:cNvPr id="10" name="Picture 2"/>
          <p:cNvPicPr>
            <a:picLocks noChangeAspect="1" noChangeArrowheads="1"/>
          </p:cNvPicPr>
          <p:nvPr/>
        </p:nvPicPr>
        <p:blipFill>
          <a:blip r:embed="rId3" cstate="print"/>
          <a:srcRect l="71295"/>
          <a:stretch>
            <a:fillRect/>
          </a:stretch>
        </p:blipFill>
        <p:spPr bwMode="auto">
          <a:xfrm>
            <a:off x="5605900" y="3586313"/>
            <a:ext cx="1506538" cy="1038225"/>
          </a:xfrm>
          <a:prstGeom prst="rect">
            <a:avLst/>
          </a:prstGeom>
          <a:ln>
            <a:noFill/>
          </a:ln>
          <a:effectLst>
            <a:outerShdw blurRad="292100" dist="139700" dir="2700000" algn="tl" rotWithShape="0">
              <a:srgbClr val="333333">
                <a:alpha val="65000"/>
              </a:srgbClr>
            </a:outerShdw>
          </a:effectLst>
        </p:spPr>
      </p:pic>
      <p:pic>
        <p:nvPicPr>
          <p:cNvPr id="78851" name="Picture 3"/>
          <p:cNvPicPr>
            <a:picLocks noChangeAspect="1" noChangeArrowheads="1"/>
          </p:cNvPicPr>
          <p:nvPr/>
        </p:nvPicPr>
        <p:blipFill>
          <a:blip r:embed="rId4" cstate="print"/>
          <a:srcRect/>
          <a:stretch>
            <a:fillRect/>
          </a:stretch>
        </p:blipFill>
        <p:spPr bwMode="auto">
          <a:xfrm>
            <a:off x="2587625" y="5156538"/>
            <a:ext cx="3790950" cy="1590675"/>
          </a:xfrm>
          <a:prstGeom prst="rect">
            <a:avLst/>
          </a:prstGeom>
          <a:ln>
            <a:noFill/>
          </a:ln>
          <a:effectLst>
            <a:outerShdw blurRad="292100" dist="139700" dir="2700000" algn="tl" rotWithShape="0">
              <a:srgbClr val="333333">
                <a:alpha val="65000"/>
              </a:srgbClr>
            </a:outerShdw>
          </a:effectLst>
        </p:spPr>
      </p:pic>
      <p:sp>
        <p:nvSpPr>
          <p:cNvPr id="12" name="11 CuadroTexto"/>
          <p:cNvSpPr txBox="1"/>
          <p:nvPr/>
        </p:nvSpPr>
        <p:spPr>
          <a:xfrm>
            <a:off x="2422625" y="3610125"/>
            <a:ext cx="2247900" cy="1015663"/>
          </a:xfrm>
          <a:prstGeom prst="rect">
            <a:avLst/>
          </a:prstGeom>
          <a:noFill/>
        </p:spPr>
        <p:txBody>
          <a:bodyPr wrap="square" rtlCol="0">
            <a:spAutoFit/>
          </a:bodyPr>
          <a:lstStyle/>
          <a:p>
            <a:pPr algn="just">
              <a:buFont typeface="Arial" pitchFamily="34" charset="0"/>
              <a:buChar char="•"/>
            </a:pPr>
            <a:r>
              <a:rPr lang="es-AR" sz="1200" dirty="0" smtClean="0">
                <a:solidFill>
                  <a:schemeClr val="tx1"/>
                </a:solidFill>
                <a:latin typeface="Arial" pitchFamily="34" charset="0"/>
                <a:cs typeface="Arial" pitchFamily="34" charset="0"/>
              </a:rPr>
              <a:t> Si </a:t>
            </a:r>
            <a:r>
              <a:rPr lang="es-AR" sz="1200" b="1" u="sng" dirty="0" smtClean="0">
                <a:solidFill>
                  <a:schemeClr val="tx1"/>
                </a:solidFill>
                <a:latin typeface="Arial" pitchFamily="34" charset="0"/>
                <a:cs typeface="Arial" pitchFamily="34" charset="0"/>
              </a:rPr>
              <a:t>s</a:t>
            </a:r>
            <a:r>
              <a:rPr lang="es-AR" sz="1200" dirty="0" smtClean="0">
                <a:solidFill>
                  <a:schemeClr val="tx1"/>
                </a:solidFill>
                <a:latin typeface="Arial" pitchFamily="34" charset="0"/>
                <a:cs typeface="Arial" pitchFamily="34" charset="0"/>
              </a:rPr>
              <a:t> es positiva, </a:t>
            </a:r>
            <a:r>
              <a:rPr lang="es-AR" sz="1200" dirty="0" err="1" smtClean="0">
                <a:solidFill>
                  <a:schemeClr val="tx1"/>
                </a:solidFill>
                <a:latin typeface="Arial" pitchFamily="34" charset="0"/>
                <a:cs typeface="Arial" pitchFamily="34" charset="0"/>
              </a:rPr>
              <a:t>decrementar</a:t>
            </a:r>
            <a:r>
              <a:rPr lang="es-AR" sz="1200" dirty="0" smtClean="0">
                <a:solidFill>
                  <a:schemeClr val="tx1"/>
                </a:solidFill>
                <a:latin typeface="Arial" pitchFamily="34" charset="0"/>
                <a:cs typeface="Arial" pitchFamily="34" charset="0"/>
              </a:rPr>
              <a:t> </a:t>
            </a:r>
            <a:r>
              <a:rPr lang="es-AR" sz="1200" b="1" dirty="0" smtClean="0">
                <a:solidFill>
                  <a:schemeClr val="tx1"/>
                </a:solidFill>
                <a:latin typeface="Arial" pitchFamily="34" charset="0"/>
                <a:cs typeface="Arial" pitchFamily="34" charset="0"/>
              </a:rPr>
              <a:t>s</a:t>
            </a:r>
            <a:r>
              <a:rPr lang="es-AR" sz="1200" dirty="0" smtClean="0">
                <a:solidFill>
                  <a:schemeClr val="tx1"/>
                </a:solidFill>
                <a:latin typeface="Arial" pitchFamily="34" charset="0"/>
                <a:cs typeface="Arial" pitchFamily="34" charset="0"/>
              </a:rPr>
              <a:t> (el control y decremento son atómicas)</a:t>
            </a:r>
          </a:p>
          <a:p>
            <a:pPr algn="just">
              <a:buFont typeface="Arial" pitchFamily="34" charset="0"/>
              <a:buChar char="•"/>
            </a:pPr>
            <a:r>
              <a:rPr lang="es-AR" sz="1200" dirty="0" smtClean="0">
                <a:solidFill>
                  <a:schemeClr val="tx1"/>
                </a:solidFill>
                <a:latin typeface="Arial" pitchFamily="34" charset="0"/>
                <a:cs typeface="Arial" pitchFamily="34" charset="0"/>
              </a:rPr>
              <a:t> Si </a:t>
            </a:r>
            <a:r>
              <a:rPr lang="es-AR" sz="1200" b="1" dirty="0" smtClean="0">
                <a:solidFill>
                  <a:schemeClr val="tx1"/>
                </a:solidFill>
                <a:latin typeface="Arial" pitchFamily="34" charset="0"/>
                <a:cs typeface="Arial" pitchFamily="34" charset="0"/>
              </a:rPr>
              <a:t>s</a:t>
            </a:r>
            <a:r>
              <a:rPr lang="es-AR" sz="1200" dirty="0" smtClean="0">
                <a:solidFill>
                  <a:schemeClr val="tx1"/>
                </a:solidFill>
                <a:latin typeface="Arial" pitchFamily="34" charset="0"/>
                <a:cs typeface="Arial" pitchFamily="34" charset="0"/>
              </a:rPr>
              <a:t> es 0, suspender hilo hasta que sea positiva</a:t>
            </a:r>
            <a:endParaRPr lang="es-AR" sz="1200" dirty="0">
              <a:solidFill>
                <a:schemeClr val="tx1"/>
              </a:solidFill>
              <a:latin typeface="Arial" pitchFamily="34" charset="0"/>
              <a:cs typeface="Arial" pitchFamily="34" charset="0"/>
            </a:endParaRPr>
          </a:p>
        </p:txBody>
      </p:sp>
      <p:sp>
        <p:nvSpPr>
          <p:cNvPr id="13" name="12 CuadroTexto"/>
          <p:cNvSpPr txBox="1"/>
          <p:nvPr/>
        </p:nvSpPr>
        <p:spPr>
          <a:xfrm>
            <a:off x="7186461" y="3783397"/>
            <a:ext cx="1996039" cy="461665"/>
          </a:xfrm>
          <a:prstGeom prst="rect">
            <a:avLst/>
          </a:prstGeom>
          <a:noFill/>
        </p:spPr>
        <p:txBody>
          <a:bodyPr wrap="square" rtlCol="0">
            <a:spAutoFit/>
          </a:bodyPr>
          <a:lstStyle/>
          <a:p>
            <a:pPr algn="just">
              <a:buFont typeface="Arial" pitchFamily="34" charset="0"/>
              <a:buChar char="•"/>
            </a:pPr>
            <a:r>
              <a:rPr lang="es-AR" sz="1200" dirty="0" smtClean="0">
                <a:solidFill>
                  <a:schemeClr val="tx1"/>
                </a:solidFill>
                <a:latin typeface="Arial" pitchFamily="34" charset="0"/>
                <a:cs typeface="Arial" pitchFamily="34" charset="0"/>
              </a:rPr>
              <a:t> Incrementar </a:t>
            </a:r>
            <a:r>
              <a:rPr lang="es-AR" sz="1200" b="1" dirty="0" smtClean="0">
                <a:solidFill>
                  <a:schemeClr val="tx1"/>
                </a:solidFill>
                <a:latin typeface="Arial" pitchFamily="34" charset="0"/>
                <a:cs typeface="Arial" pitchFamily="34" charset="0"/>
              </a:rPr>
              <a:t>s</a:t>
            </a:r>
            <a:r>
              <a:rPr lang="es-AR" sz="1200" dirty="0" smtClean="0">
                <a:solidFill>
                  <a:schemeClr val="tx1"/>
                </a:solidFill>
                <a:latin typeface="Arial" pitchFamily="34" charset="0"/>
                <a:cs typeface="Arial" pitchFamily="34" charset="0"/>
              </a:rPr>
              <a:t> (atómica)</a:t>
            </a:r>
          </a:p>
          <a:p>
            <a:pPr algn="just">
              <a:buFont typeface="Arial" pitchFamily="34" charset="0"/>
              <a:buChar char="•"/>
            </a:pPr>
            <a:endParaRPr lang="es-AR"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6247864"/>
          </a:xfrm>
          <a:prstGeom prst="rect">
            <a:avLst/>
          </a:prstGeom>
          <a:noFill/>
        </p:spPr>
        <p:txBody>
          <a:bodyPr wrap="square" rtlCol="0">
            <a:spAutoFit/>
          </a:bodyPr>
          <a:lstStyle/>
          <a:p>
            <a:pPr marL="177800" indent="-177800" algn="just">
              <a:spcBef>
                <a:spcPts val="600"/>
              </a:spcBef>
            </a:pPr>
            <a:r>
              <a:rPr lang="es-AR" sz="1600" b="1" dirty="0" smtClean="0">
                <a:solidFill>
                  <a:schemeClr val="tx1"/>
                </a:solidFill>
                <a:latin typeface="Arial" pitchFamily="34" charset="0"/>
                <a:cs typeface="Arial" pitchFamily="34" charset="0"/>
              </a:rPr>
              <a:t>Tipos de Semáforos:</a:t>
            </a:r>
          </a:p>
          <a:p>
            <a:pPr marL="177800" indent="-177800" algn="just">
              <a:spcBef>
                <a:spcPts val="600"/>
              </a:spcBef>
            </a:pPr>
            <a:r>
              <a:rPr lang="es-AR" sz="1600" dirty="0" smtClean="0">
                <a:solidFill>
                  <a:schemeClr val="tx1"/>
                </a:solidFill>
                <a:latin typeface="Arial" pitchFamily="34" charset="0"/>
                <a:cs typeface="Arial" pitchFamily="34" charset="0"/>
              </a:rPr>
              <a:t>Dependiendo de la función que cumple el semáforo, vamos a diferenciar los siguientes tipos:</a:t>
            </a:r>
          </a:p>
          <a:p>
            <a:pPr marL="177800" indent="-177800" algn="just">
              <a:spcBef>
                <a:spcPts val="600"/>
              </a:spcBef>
            </a:pPr>
            <a:endParaRPr lang="es-AR" sz="1600" dirty="0" smtClean="0">
              <a:solidFill>
                <a:schemeClr val="tx1"/>
              </a:solidFill>
              <a:latin typeface="Arial" pitchFamily="34" charset="0"/>
              <a:cs typeface="Arial" pitchFamily="34" charset="0"/>
            </a:endParaRPr>
          </a:p>
          <a:p>
            <a:pPr marL="177800" indent="-177800" algn="just">
              <a:spcBef>
                <a:spcPts val="600"/>
              </a:spcBef>
            </a:pPr>
            <a:r>
              <a:rPr lang="es-AR" sz="1600" b="1" dirty="0" smtClean="0">
                <a:solidFill>
                  <a:schemeClr val="tx1"/>
                </a:solidFill>
                <a:latin typeface="Arial" pitchFamily="34" charset="0"/>
                <a:cs typeface="Arial" pitchFamily="34" charset="0"/>
              </a:rPr>
              <a:t>Binarios</a:t>
            </a:r>
            <a:r>
              <a:rPr lang="es-AR" sz="1600" dirty="0" smtClean="0">
                <a:solidFill>
                  <a:schemeClr val="tx1"/>
                </a:solidFill>
                <a:latin typeface="Arial" pitchFamily="34" charset="0"/>
                <a:cs typeface="Arial" pitchFamily="34" charset="0"/>
              </a:rPr>
              <a:t> (o de exclusión mutua)</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Inicialmente su contador vale 1 y permite que haya un único proceso simultáneamente dentro de la sección crítica.</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Valores: 0 o 1</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Pueden ser adquiridos / liberados por diferentes </a:t>
            </a:r>
            <a:r>
              <a:rPr lang="es-AR" sz="1600" dirty="0" err="1" smtClean="0">
                <a:solidFill>
                  <a:schemeClr val="tx1"/>
                </a:solidFill>
                <a:latin typeface="Arial" pitchFamily="34" charset="0"/>
                <a:cs typeface="Arial" pitchFamily="34" charset="0"/>
              </a:rPr>
              <a:t>threads</a:t>
            </a:r>
            <a:endParaRPr lang="es-AR" sz="1600" dirty="0" smtClean="0">
              <a:solidFill>
                <a:schemeClr val="tx1"/>
              </a:solidFill>
              <a:latin typeface="Arial" pitchFamily="34" charset="0"/>
              <a:cs typeface="Arial" pitchFamily="34" charset="0"/>
            </a:endParaRPr>
          </a:p>
          <a:p>
            <a:pPr marL="177800" indent="-177800" algn="just">
              <a:spcBef>
                <a:spcPts val="600"/>
              </a:spcBef>
            </a:pPr>
            <a:endParaRPr lang="es-AR" sz="1600" b="1" dirty="0" smtClean="0">
              <a:solidFill>
                <a:schemeClr val="tx1"/>
              </a:solidFill>
              <a:latin typeface="Arial" pitchFamily="34" charset="0"/>
              <a:cs typeface="Arial" pitchFamily="34" charset="0"/>
            </a:endParaRPr>
          </a:p>
          <a:p>
            <a:pPr marL="177800" indent="-177800" algn="just">
              <a:spcBef>
                <a:spcPts val="600"/>
              </a:spcBef>
            </a:pPr>
            <a:r>
              <a:rPr lang="es-AR" sz="1600" b="1" dirty="0" smtClean="0">
                <a:solidFill>
                  <a:schemeClr val="tx1"/>
                </a:solidFill>
                <a:latin typeface="Arial" pitchFamily="34" charset="0"/>
                <a:cs typeface="Arial" pitchFamily="34" charset="0"/>
              </a:rPr>
              <a:t>Contador</a:t>
            </a:r>
            <a:r>
              <a:rPr lang="es-AR" sz="1600" dirty="0" smtClean="0">
                <a:solidFill>
                  <a:schemeClr val="tx1"/>
                </a:solidFill>
                <a:latin typeface="Arial" pitchFamily="34" charset="0"/>
                <a:cs typeface="Arial" pitchFamily="34" charset="0"/>
              </a:rPr>
              <a:t> (coordinar acceso a recursos compartidos)</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Permiten llevar la cuenta del acceso a un número de unidades de recurso compartido disponible, que va desde 0 hasta N. Cada vez que se utiliza un recurso se </a:t>
            </a:r>
            <a:r>
              <a:rPr lang="es-AR" sz="1600" dirty="0" err="1" smtClean="0">
                <a:solidFill>
                  <a:schemeClr val="tx1"/>
                </a:solidFill>
                <a:latin typeface="Arial" pitchFamily="34" charset="0"/>
                <a:cs typeface="Arial" pitchFamily="34" charset="0"/>
              </a:rPr>
              <a:t>decrementa</a:t>
            </a:r>
            <a:r>
              <a:rPr lang="es-AR" sz="1600" dirty="0" smtClean="0">
                <a:solidFill>
                  <a:schemeClr val="tx1"/>
                </a:solidFill>
                <a:latin typeface="Arial" pitchFamily="34" charset="0"/>
                <a:cs typeface="Arial" pitchFamily="34" charset="0"/>
              </a:rPr>
              <a:t> el valor. </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Se planifican N recursos intercambiables</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Permite N usuarios simultáneos</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Valor inicial semáforo: N</a:t>
            </a:r>
          </a:p>
          <a:p>
            <a:pPr marL="177800" indent="-177800" algn="just">
              <a:spcBef>
                <a:spcPts val="60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600"/>
              </a:spcBef>
            </a:pPr>
            <a:endParaRPr lang="es-AR" sz="1600" dirty="0" smtClean="0">
              <a:solidFill>
                <a:schemeClr val="tx1"/>
              </a:solidFill>
              <a:latin typeface="Arial" pitchFamily="34" charset="0"/>
              <a:cs typeface="Arial" pitchFamily="34" charset="0"/>
            </a:endParaRPr>
          </a:p>
          <a:p>
            <a:pPr marL="177800" indent="-177800" algn="just">
              <a:spcBef>
                <a:spcPts val="600"/>
              </a:spcBef>
            </a:pPr>
            <a:endParaRPr lang="es-AR" sz="1600" dirty="0" smtClean="0">
              <a:solidFill>
                <a:schemeClr val="tx1"/>
              </a:solidFill>
              <a:latin typeface="Arial" pitchFamily="34" charset="0"/>
              <a:cs typeface="Arial" pitchFamily="34" charset="0"/>
            </a:endParaRPr>
          </a:p>
          <a:p>
            <a:pPr marL="177800" indent="-177800" algn="just">
              <a:spcBef>
                <a:spcPts val="600"/>
              </a:spcBef>
            </a:pPr>
            <a:endParaRPr lang="es-AR" sz="16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4924425"/>
          </a:xfrm>
          <a:prstGeom prst="rect">
            <a:avLst/>
          </a:prstGeom>
          <a:noFill/>
        </p:spPr>
        <p:txBody>
          <a:bodyPr wrap="square" rtlCol="0">
            <a:spAutoFit/>
          </a:bodyPr>
          <a:lstStyle/>
          <a:p>
            <a:pPr marL="177800" indent="-177800" algn="just">
              <a:spcBef>
                <a:spcPts val="600"/>
              </a:spcBef>
            </a:pPr>
            <a:r>
              <a:rPr lang="es-AR" sz="1800" b="1" dirty="0" err="1" smtClean="0">
                <a:solidFill>
                  <a:schemeClr val="tx1"/>
                </a:solidFill>
                <a:latin typeface="Arial" pitchFamily="34" charset="0"/>
                <a:cs typeface="Arial" pitchFamily="34" charset="0"/>
              </a:rPr>
              <a:t>Mutex</a:t>
            </a:r>
            <a:r>
              <a:rPr lang="es-AR" sz="1800" b="1" dirty="0" smtClean="0">
                <a:solidFill>
                  <a:schemeClr val="tx1"/>
                </a:solidFill>
                <a:latin typeface="Arial" pitchFamily="34" charset="0"/>
                <a:cs typeface="Arial" pitchFamily="34" charset="0"/>
              </a:rPr>
              <a:t>:</a:t>
            </a:r>
          </a:p>
          <a:p>
            <a:pPr marL="177800" indent="-177800" algn="just">
              <a:spcBef>
                <a:spcPts val="600"/>
              </a:spcBef>
            </a:pPr>
            <a:r>
              <a:rPr lang="es-AR" sz="1600" dirty="0" smtClean="0">
                <a:solidFill>
                  <a:schemeClr val="tx1"/>
                </a:solidFill>
                <a:latin typeface="Arial" pitchFamily="34" charset="0"/>
                <a:cs typeface="Arial" pitchFamily="34" charset="0"/>
              </a:rPr>
              <a:t>Estrictamente hablando, un </a:t>
            </a:r>
            <a:r>
              <a:rPr lang="es-AR" sz="1600" b="1"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 es un mecanismo de bloqueo utilizado para sincronizar el acceso a un recurso. Sólo una tarea (puede ser un hilo o un proceso basado en la abstracción del sistema operativo) puede adquirir el </a:t>
            </a:r>
            <a:r>
              <a:rPr lang="es-AR" sz="1600"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 Significa que hay propiedad asociada con </a:t>
            </a:r>
            <a:r>
              <a:rPr lang="es-AR" sz="1600"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 y </a:t>
            </a:r>
            <a:r>
              <a:rPr lang="es-AR" sz="1600" u="sng" dirty="0" smtClean="0">
                <a:solidFill>
                  <a:schemeClr val="tx1"/>
                </a:solidFill>
                <a:latin typeface="Arial" pitchFamily="34" charset="0"/>
                <a:cs typeface="Arial" pitchFamily="34" charset="0"/>
              </a:rPr>
              <a:t>solo el propietario puede liberar el bloqueo (</a:t>
            </a:r>
            <a:r>
              <a:rPr lang="es-AR" sz="1600"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a:t>
            </a:r>
          </a:p>
          <a:p>
            <a:pPr marL="177800" indent="-177800" algn="just">
              <a:spcBef>
                <a:spcPts val="600"/>
              </a:spcBef>
            </a:pPr>
            <a:r>
              <a:rPr lang="es-AR" sz="1600" dirty="0" smtClean="0">
                <a:solidFill>
                  <a:schemeClr val="tx1"/>
                </a:solidFill>
                <a:latin typeface="Arial" pitchFamily="34" charset="0"/>
                <a:cs typeface="Arial" pitchFamily="34" charset="0"/>
              </a:rPr>
              <a:t>Sólo se asocia un estado (bloqueado / desbloqueado).</a:t>
            </a:r>
          </a:p>
          <a:p>
            <a:pPr marL="177800" indent="-177800" algn="just">
              <a:spcBef>
                <a:spcPts val="600"/>
              </a:spcBef>
            </a:pPr>
            <a:r>
              <a:rPr lang="es-AR" sz="1600" dirty="0" smtClean="0">
                <a:solidFill>
                  <a:schemeClr val="tx1"/>
                </a:solidFill>
                <a:latin typeface="Arial" pitchFamily="34" charset="0"/>
                <a:cs typeface="Arial" pitchFamily="34" charset="0"/>
              </a:rPr>
              <a:t>Si un subproceso que ya había bloqueado un </a:t>
            </a:r>
            <a:r>
              <a:rPr lang="es-AR" sz="1600"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 intenta bloquearlo nuevamente, entrará en la lista de espera de ese </a:t>
            </a:r>
            <a:r>
              <a:rPr lang="es-AR" sz="1600"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 lo que resulta en un interbloqueo. Es porque ningún otro hilo puede desbloquear el </a:t>
            </a:r>
            <a:r>
              <a:rPr lang="es-AR" sz="1600" dirty="0" err="1" smtClean="0">
                <a:solidFill>
                  <a:schemeClr val="tx1"/>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a:t>
            </a:r>
            <a:r>
              <a:rPr lang="es-ES" sz="1600" dirty="0" smtClean="0">
                <a:solidFill>
                  <a:schemeClr val="tx1"/>
                </a:solidFill>
                <a:latin typeface="Arial" pitchFamily="34" charset="0"/>
                <a:cs typeface="Arial" pitchFamily="34" charset="0"/>
              </a:rPr>
              <a:t> Si otro hilo intenta hacer </a:t>
            </a:r>
            <a:r>
              <a:rPr lang="es-ES" sz="1600" dirty="0" err="1" smtClean="0">
                <a:solidFill>
                  <a:schemeClr val="tx1"/>
                </a:solidFill>
                <a:latin typeface="Arial" pitchFamily="34" charset="0"/>
                <a:cs typeface="Arial" pitchFamily="34" charset="0"/>
              </a:rPr>
              <a:t>lock</a:t>
            </a:r>
            <a:r>
              <a:rPr lang="es-ES" sz="1600" dirty="0" smtClean="0">
                <a:solidFill>
                  <a:schemeClr val="tx1"/>
                </a:solidFill>
                <a:latin typeface="Arial" pitchFamily="34" charset="0"/>
                <a:cs typeface="Arial" pitchFamily="34" charset="0"/>
              </a:rPr>
              <a:t>() mientras el </a:t>
            </a:r>
            <a:r>
              <a:rPr lang="es-ES" sz="1600" dirty="0" err="1" smtClean="0">
                <a:solidFill>
                  <a:schemeClr val="tx1"/>
                </a:solidFill>
                <a:latin typeface="Arial" pitchFamily="34" charset="0"/>
                <a:cs typeface="Arial" pitchFamily="34" charset="0"/>
              </a:rPr>
              <a:t>mutex</a:t>
            </a:r>
            <a:r>
              <a:rPr lang="es-ES" sz="1600" dirty="0" smtClean="0">
                <a:solidFill>
                  <a:schemeClr val="tx1"/>
                </a:solidFill>
                <a:latin typeface="Arial" pitchFamily="34" charset="0"/>
                <a:cs typeface="Arial" pitchFamily="34" charset="0"/>
              </a:rPr>
              <a:t> está ocupado, espera (bloquea) hasta que esté disponible.</a:t>
            </a:r>
            <a:endParaRPr lang="es-AR" sz="1600" dirty="0" smtClean="0">
              <a:solidFill>
                <a:schemeClr val="tx1"/>
              </a:solidFill>
              <a:latin typeface="Arial" pitchFamily="34" charset="0"/>
              <a:cs typeface="Arial" pitchFamily="34" charset="0"/>
            </a:endParaRPr>
          </a:p>
          <a:p>
            <a:pPr marL="177800" indent="-177800" algn="just">
              <a:spcBef>
                <a:spcPts val="600"/>
              </a:spcBef>
            </a:pPr>
            <a:r>
              <a:rPr lang="es-AR" sz="1600" dirty="0" smtClean="0">
                <a:solidFill>
                  <a:schemeClr val="tx1"/>
                </a:solidFill>
                <a:latin typeface="Arial" pitchFamily="34" charset="0"/>
                <a:cs typeface="Arial" pitchFamily="34" charset="0"/>
              </a:rPr>
              <a:t>El </a:t>
            </a:r>
            <a:r>
              <a:rPr lang="es-AR" sz="1600" dirty="0" err="1" smtClean="0">
                <a:solidFill>
                  <a:srgbClr val="FF0000"/>
                </a:solidFill>
                <a:latin typeface="Arial" pitchFamily="34" charset="0"/>
                <a:cs typeface="Arial" pitchFamily="34" charset="0"/>
              </a:rPr>
              <a:t>mutex</a:t>
            </a:r>
            <a:r>
              <a:rPr lang="es-AR" sz="1600" dirty="0" smtClean="0">
                <a:solidFill>
                  <a:schemeClr val="tx1"/>
                </a:solidFill>
                <a:latin typeface="Arial" pitchFamily="34" charset="0"/>
                <a:cs typeface="Arial" pitchFamily="34" charset="0"/>
              </a:rPr>
              <a:t> </a:t>
            </a:r>
            <a:r>
              <a:rPr lang="es-AR" sz="1600" b="1" dirty="0" smtClean="0">
                <a:solidFill>
                  <a:schemeClr val="tx1"/>
                </a:solidFill>
                <a:latin typeface="Arial" pitchFamily="34" charset="0"/>
                <a:cs typeface="Arial" pitchFamily="34" charset="0"/>
              </a:rPr>
              <a:t>NO</a:t>
            </a:r>
            <a:r>
              <a:rPr lang="es-AR" sz="1600" dirty="0" smtClean="0">
                <a:solidFill>
                  <a:schemeClr val="tx1"/>
                </a:solidFill>
                <a:latin typeface="Arial" pitchFamily="34" charset="0"/>
                <a:cs typeface="Arial" pitchFamily="34" charset="0"/>
              </a:rPr>
              <a:t> es un semáforo binario y está </a:t>
            </a:r>
            <a:r>
              <a:rPr lang="es-ES" sz="1600" dirty="0" smtClean="0">
                <a:solidFill>
                  <a:schemeClr val="tx1"/>
                </a:solidFill>
                <a:latin typeface="Arial" pitchFamily="34" charset="0"/>
                <a:cs typeface="Arial" pitchFamily="34" charset="0"/>
              </a:rPr>
              <a:t>diseñado específicamente para la exclusión mutua.</a:t>
            </a:r>
            <a:endParaRPr lang="es-AR" sz="1600" dirty="0" smtClean="0">
              <a:solidFill>
                <a:schemeClr val="tx1"/>
              </a:solidFill>
              <a:latin typeface="Arial" pitchFamily="34" charset="0"/>
              <a:cs typeface="Arial" pitchFamily="34" charset="0"/>
            </a:endParaRPr>
          </a:p>
          <a:p>
            <a:pPr marL="177800" indent="-177800" algn="just">
              <a:spcBef>
                <a:spcPts val="600"/>
              </a:spcBef>
            </a:pPr>
            <a:r>
              <a:rPr lang="es-AR" sz="1600" dirty="0" smtClean="0">
                <a:solidFill>
                  <a:schemeClr val="tx1"/>
                </a:solidFill>
                <a:latin typeface="Arial" pitchFamily="34" charset="0"/>
                <a:cs typeface="Arial" pitchFamily="34" charset="0"/>
              </a:rPr>
              <a:t>El </a:t>
            </a:r>
            <a:r>
              <a:rPr lang="es-AR" sz="1600" dirty="0" smtClean="0">
                <a:solidFill>
                  <a:srgbClr val="FF0000"/>
                </a:solidFill>
                <a:latin typeface="Arial" pitchFamily="34" charset="0"/>
                <a:cs typeface="Arial" pitchFamily="34" charset="0"/>
              </a:rPr>
              <a:t>semáforo</a:t>
            </a:r>
            <a:r>
              <a:rPr lang="es-AR" sz="1600" dirty="0" smtClean="0">
                <a:solidFill>
                  <a:schemeClr val="tx1"/>
                </a:solidFill>
                <a:latin typeface="Arial" pitchFamily="34" charset="0"/>
                <a:cs typeface="Arial" pitchFamily="34" charset="0"/>
              </a:rPr>
              <a:t> es un mecanismo de señalización (tipo de señal "He terminado, puede continuar“)</a:t>
            </a:r>
          </a:p>
          <a:p>
            <a:pPr marL="177800" indent="-177800" algn="just">
              <a:spcBef>
                <a:spcPts val="600"/>
              </a:spcBef>
            </a:pPr>
            <a:endParaRPr lang="es-AR" sz="1600" dirty="0" smtClean="0">
              <a:solidFill>
                <a:schemeClr val="tx1"/>
              </a:solidFill>
              <a:latin typeface="Arial" pitchFamily="34" charset="0"/>
              <a:cs typeface="Arial" pitchFamily="34" charset="0"/>
            </a:endParaRPr>
          </a:p>
          <a:p>
            <a:pPr marL="177800" indent="-177800" algn="just">
              <a:spcBef>
                <a:spcPts val="600"/>
              </a:spcBef>
            </a:pPr>
            <a:endParaRPr lang="es-AR" sz="1600" dirty="0" smtClean="0">
              <a:solidFill>
                <a:schemeClr val="tx1"/>
              </a:solidFill>
              <a:latin typeface="Arial" pitchFamily="34" charset="0"/>
              <a:cs typeface="Arial" pitchFamily="34" charset="0"/>
            </a:endParaRPr>
          </a:p>
          <a:p>
            <a:pPr marL="177800" indent="-177800" algn="just">
              <a:spcBef>
                <a:spcPts val="600"/>
              </a:spcBef>
            </a:pPr>
            <a:endParaRPr lang="es-AR" sz="16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170" name="Picture 2"/>
          <p:cNvPicPr>
            <a:picLocks noChangeAspect="1" noChangeArrowheads="1"/>
          </p:cNvPicPr>
          <p:nvPr/>
        </p:nvPicPr>
        <p:blipFill>
          <a:blip r:embed="rId3" cstate="print"/>
          <a:srcRect/>
          <a:stretch>
            <a:fillRect/>
          </a:stretch>
        </p:blipFill>
        <p:spPr bwMode="auto">
          <a:xfrm>
            <a:off x="1790970" y="4737023"/>
            <a:ext cx="4644336" cy="199796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8"/>
            <a:ext cx="8667940" cy="7217360"/>
          </a:xfrm>
          <a:prstGeom prst="rect">
            <a:avLst/>
          </a:prstGeom>
          <a:noFill/>
        </p:spPr>
        <p:txBody>
          <a:bodyPr wrap="square" rtlCol="0">
            <a:spAutoFit/>
          </a:bodyPr>
          <a:lstStyle/>
          <a:p>
            <a:pPr marL="177800" indent="-177800" algn="just">
              <a:spcBef>
                <a:spcPts val="600"/>
              </a:spcBef>
            </a:pPr>
            <a:r>
              <a:rPr lang="es-AR" sz="1800" dirty="0" smtClean="0">
                <a:solidFill>
                  <a:schemeClr val="tx1"/>
                </a:solidFill>
                <a:latin typeface="Arial" pitchFamily="34" charset="0"/>
                <a:cs typeface="Arial" pitchFamily="34" charset="0"/>
              </a:rPr>
              <a:t>La implementación de un semáforo con una cola de espera puede resultar en dos situaciones problemáticas:</a:t>
            </a:r>
          </a:p>
          <a:p>
            <a:pPr marL="342900" indent="-342900" algn="just">
              <a:spcBef>
                <a:spcPts val="600"/>
              </a:spcBef>
              <a:buFont typeface="+mj-lt"/>
              <a:buAutoNum type="arabicPeriod"/>
            </a:pPr>
            <a:r>
              <a:rPr lang="es-AR" sz="1800" b="1" dirty="0" smtClean="0">
                <a:solidFill>
                  <a:schemeClr val="tx1"/>
                </a:solidFill>
                <a:latin typeface="Arial" pitchFamily="34" charset="0"/>
                <a:cs typeface="Arial" pitchFamily="34" charset="0"/>
              </a:rPr>
              <a:t>Bloqueo mutuo (</a:t>
            </a:r>
            <a:r>
              <a:rPr lang="es-AR" sz="1800" b="1" dirty="0" err="1" smtClean="0">
                <a:solidFill>
                  <a:schemeClr val="tx1"/>
                </a:solidFill>
                <a:latin typeface="Arial" pitchFamily="34" charset="0"/>
                <a:cs typeface="Arial" pitchFamily="34" charset="0"/>
              </a:rPr>
              <a:t>DeadLook</a:t>
            </a:r>
            <a:r>
              <a:rPr lang="es-AR" sz="1800" b="1" dirty="0" smtClean="0">
                <a:solidFill>
                  <a:schemeClr val="tx1"/>
                </a:solidFill>
                <a:latin typeface="Arial" pitchFamily="34" charset="0"/>
                <a:cs typeface="Arial" pitchFamily="34" charset="0"/>
              </a:rPr>
              <a:t>)</a:t>
            </a:r>
          </a:p>
          <a:p>
            <a:pPr marL="342900" indent="-342900" algn="just">
              <a:spcBef>
                <a:spcPts val="600"/>
              </a:spcBef>
            </a:pPr>
            <a:r>
              <a:rPr lang="es-AR" sz="1800" dirty="0" smtClean="0">
                <a:solidFill>
                  <a:schemeClr val="tx1"/>
                </a:solidFill>
                <a:latin typeface="Arial" pitchFamily="34" charset="0"/>
                <a:cs typeface="Arial" pitchFamily="34" charset="0"/>
              </a:rPr>
              <a:t>Decimos que un conjunto de procesos está en bloqueo mutuo cuando cada proceso en el conjunto está esperando un evento que puede ser causado solo por otro proceso del conjunto</a:t>
            </a: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pPr>
            <a:endParaRPr lang="es-AR" sz="1800" dirty="0" smtClean="0">
              <a:solidFill>
                <a:schemeClr val="tx1"/>
              </a:solidFill>
              <a:latin typeface="Arial" pitchFamily="34" charset="0"/>
              <a:cs typeface="Arial" pitchFamily="34" charset="0"/>
            </a:endParaRPr>
          </a:p>
          <a:p>
            <a:pPr marL="342900" indent="-342900" algn="just">
              <a:spcBef>
                <a:spcPts val="600"/>
              </a:spcBef>
              <a:buFont typeface="+mj-lt"/>
              <a:buAutoNum type="arabicPeriod" startAt="2"/>
            </a:pPr>
            <a:r>
              <a:rPr lang="es-AR" sz="1800" b="1" dirty="0" smtClean="0">
                <a:solidFill>
                  <a:schemeClr val="tx1"/>
                </a:solidFill>
                <a:latin typeface="Arial" pitchFamily="34" charset="0"/>
                <a:cs typeface="Arial" pitchFamily="34" charset="0"/>
              </a:rPr>
              <a:t>Inanición</a:t>
            </a:r>
          </a:p>
          <a:p>
            <a:pPr marL="342900" indent="-342900" algn="just">
              <a:spcBef>
                <a:spcPts val="600"/>
              </a:spcBef>
            </a:pPr>
            <a:r>
              <a:rPr lang="es-AR" sz="1800" dirty="0" smtClean="0">
                <a:solidFill>
                  <a:schemeClr val="tx1"/>
                </a:solidFill>
                <a:latin typeface="Arial" pitchFamily="34" charset="0"/>
                <a:cs typeface="Arial" pitchFamily="34" charset="0"/>
              </a:rPr>
              <a:t>Los procesos esperan indefinidamente dentro del semáforo.</a:t>
            </a: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a:p>
            <a:pPr marL="177800" indent="-177800" algn="just">
              <a:spcBef>
                <a:spcPts val="600"/>
              </a:spcBef>
            </a:pPr>
            <a:endParaRPr lang="es-AR" sz="1800" dirty="0"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9874" name="Picture 2"/>
          <p:cNvPicPr>
            <a:picLocks noChangeAspect="1" noChangeArrowheads="1"/>
          </p:cNvPicPr>
          <p:nvPr/>
        </p:nvPicPr>
        <p:blipFill>
          <a:blip r:embed="rId3" cstate="print"/>
          <a:srcRect/>
          <a:stretch>
            <a:fillRect/>
          </a:stretch>
        </p:blipFill>
        <p:spPr bwMode="auto">
          <a:xfrm>
            <a:off x="2781300" y="3128964"/>
            <a:ext cx="3378200" cy="2126192"/>
          </a:xfrm>
          <a:prstGeom prst="rect">
            <a:avLst/>
          </a:prstGeom>
          <a:ln>
            <a:noFill/>
          </a:ln>
          <a:effectLst>
            <a:outerShdw blurRad="292100" dist="139700" dir="2700000" algn="tl" rotWithShape="0">
              <a:srgbClr val="333333">
                <a:alpha val="65000"/>
              </a:srgbClr>
            </a:outerShdw>
          </a:effectLst>
        </p:spPr>
      </p:pic>
      <p:pic>
        <p:nvPicPr>
          <p:cNvPr id="8194" name="Picture 2"/>
          <p:cNvPicPr>
            <a:picLocks noChangeAspect="1" noChangeArrowheads="1"/>
          </p:cNvPicPr>
          <p:nvPr/>
        </p:nvPicPr>
        <p:blipFill>
          <a:blip r:embed="rId4" cstate="print"/>
          <a:srcRect/>
          <a:stretch>
            <a:fillRect/>
          </a:stretch>
        </p:blipFill>
        <p:spPr bwMode="auto">
          <a:xfrm>
            <a:off x="9144000" y="19406"/>
            <a:ext cx="4607169" cy="1850042"/>
          </a:xfrm>
          <a:prstGeom prst="rect">
            <a:avLst/>
          </a:prstGeom>
          <a:noFill/>
          <a:ln w="9525">
            <a:noFill/>
            <a:miter lim="800000"/>
            <a:headEnd/>
            <a:tailEnd/>
          </a:ln>
          <a:effectLst/>
        </p:spPr>
      </p:pic>
      <p:pic>
        <p:nvPicPr>
          <p:cNvPr id="8195" name="Picture 3"/>
          <p:cNvPicPr>
            <a:picLocks noChangeAspect="1" noChangeArrowheads="1"/>
          </p:cNvPicPr>
          <p:nvPr/>
        </p:nvPicPr>
        <p:blipFill>
          <a:blip r:embed="rId5" cstate="print"/>
          <a:srcRect/>
          <a:stretch>
            <a:fillRect/>
          </a:stretch>
        </p:blipFill>
        <p:spPr bwMode="auto">
          <a:xfrm>
            <a:off x="9144002" y="3771795"/>
            <a:ext cx="4609149" cy="1547563"/>
          </a:xfrm>
          <a:prstGeom prst="rect">
            <a:avLst/>
          </a:prstGeom>
          <a:noFill/>
          <a:ln w="9525">
            <a:noFill/>
            <a:miter lim="800000"/>
            <a:headEnd/>
            <a:tailEnd/>
          </a:ln>
          <a:effectLst/>
        </p:spPr>
      </p:pic>
      <p:pic>
        <p:nvPicPr>
          <p:cNvPr id="8196" name="Picture 4"/>
          <p:cNvPicPr>
            <a:picLocks noChangeAspect="1" noChangeArrowheads="1"/>
          </p:cNvPicPr>
          <p:nvPr/>
        </p:nvPicPr>
        <p:blipFill>
          <a:blip r:embed="rId6" cstate="print"/>
          <a:srcRect/>
          <a:stretch>
            <a:fillRect/>
          </a:stretch>
        </p:blipFill>
        <p:spPr bwMode="auto">
          <a:xfrm>
            <a:off x="9144001" y="1886073"/>
            <a:ext cx="4612595" cy="1772503"/>
          </a:xfrm>
          <a:prstGeom prst="rect">
            <a:avLst/>
          </a:prstGeom>
          <a:noFill/>
          <a:ln w="9525">
            <a:noFill/>
            <a:miter lim="800000"/>
            <a:headEnd/>
            <a:tailEnd/>
          </a:ln>
          <a:effectLst/>
        </p:spPr>
      </p:pic>
      <p:pic>
        <p:nvPicPr>
          <p:cNvPr id="8197" name="Picture 5"/>
          <p:cNvPicPr>
            <a:picLocks noChangeAspect="1" noChangeArrowheads="1"/>
          </p:cNvPicPr>
          <p:nvPr/>
        </p:nvPicPr>
        <p:blipFill>
          <a:blip r:embed="rId7" cstate="print"/>
          <a:srcRect/>
          <a:stretch>
            <a:fillRect/>
          </a:stretch>
        </p:blipFill>
        <p:spPr bwMode="auto">
          <a:xfrm>
            <a:off x="9144000" y="5348483"/>
            <a:ext cx="4617087" cy="148389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2646878"/>
          </a:xfrm>
          <a:prstGeom prst="rect">
            <a:avLst/>
          </a:prstGeom>
          <a:noFill/>
        </p:spPr>
        <p:txBody>
          <a:bodyPr wrap="square" rtlCol="0">
            <a:spAutoFit/>
          </a:bodyPr>
          <a:lstStyle/>
          <a:p>
            <a:pPr marL="177800" indent="-177800" algn="just">
              <a:spcBef>
                <a:spcPts val="600"/>
              </a:spcBef>
            </a:pPr>
            <a:r>
              <a:rPr lang="es-AR" sz="1400" b="1" dirty="0" smtClean="0">
                <a:solidFill>
                  <a:schemeClr val="tx1"/>
                </a:solidFill>
                <a:latin typeface="Arial" pitchFamily="34" charset="0"/>
                <a:cs typeface="Arial" pitchFamily="34" charset="0"/>
              </a:rPr>
              <a:t>Ejemplos clásicos de sincronización:</a:t>
            </a:r>
          </a:p>
          <a:p>
            <a:pPr marL="177800" indent="-177800" algn="just">
              <a:spcBef>
                <a:spcPts val="600"/>
              </a:spcBef>
            </a:pPr>
            <a:r>
              <a:rPr lang="es-AR" sz="1400" b="1" dirty="0" smtClean="0">
                <a:solidFill>
                  <a:schemeClr val="tx1"/>
                </a:solidFill>
                <a:latin typeface="Arial" pitchFamily="34" charset="0"/>
                <a:cs typeface="Arial" pitchFamily="34" charset="0"/>
              </a:rPr>
              <a:t>Buffer limitado</a:t>
            </a:r>
          </a:p>
          <a:p>
            <a:pPr marL="177800" indent="-177800" algn="just">
              <a:spcBef>
                <a:spcPts val="600"/>
              </a:spcBef>
            </a:pPr>
            <a:r>
              <a:rPr lang="es-AR" sz="1400" dirty="0" smtClean="0">
                <a:solidFill>
                  <a:schemeClr val="tx1"/>
                </a:solidFill>
                <a:latin typeface="Arial" pitchFamily="34" charset="0"/>
                <a:cs typeface="Arial" pitchFamily="34" charset="0"/>
              </a:rPr>
              <a:t>Asumimos un pool de n buffers, cada uno capaz de contener un ítem.</a:t>
            </a:r>
          </a:p>
          <a:p>
            <a:pPr marL="177800" indent="-177800" algn="just">
              <a:spcBef>
                <a:spcPts val="600"/>
              </a:spcBef>
            </a:pPr>
            <a:r>
              <a:rPr lang="es-AR" sz="1400" dirty="0" smtClean="0">
                <a:solidFill>
                  <a:schemeClr val="tx1"/>
                </a:solidFill>
                <a:latin typeface="Arial" pitchFamily="34" charset="0"/>
                <a:cs typeface="Arial" pitchFamily="34" charset="0"/>
              </a:rPr>
              <a:t>• Un semáforo </a:t>
            </a:r>
            <a:r>
              <a:rPr lang="es-AR" sz="1400" b="1" dirty="0" err="1" smtClean="0">
                <a:solidFill>
                  <a:schemeClr val="tx1"/>
                </a:solidFill>
                <a:latin typeface="Arial" pitchFamily="34" charset="0"/>
                <a:cs typeface="Arial" pitchFamily="34" charset="0"/>
              </a:rPr>
              <a:t>mutex</a:t>
            </a:r>
            <a:r>
              <a:rPr lang="es-AR" sz="1400" dirty="0" smtClean="0">
                <a:solidFill>
                  <a:schemeClr val="tx1"/>
                </a:solidFill>
                <a:latin typeface="Arial" pitchFamily="34" charset="0"/>
                <a:cs typeface="Arial" pitchFamily="34" charset="0"/>
              </a:rPr>
              <a:t> provee exclusión mutua para el acceso al pool de buffers </a:t>
            </a:r>
          </a:p>
          <a:p>
            <a:pPr marL="177800" indent="-177800" algn="just">
              <a:spcBef>
                <a:spcPts val="600"/>
              </a:spcBef>
            </a:pPr>
            <a:r>
              <a:rPr lang="es-AR" sz="1400" dirty="0" smtClean="0">
                <a:solidFill>
                  <a:schemeClr val="tx1"/>
                </a:solidFill>
                <a:latin typeface="Arial" pitchFamily="34" charset="0"/>
                <a:cs typeface="Arial" pitchFamily="34" charset="0"/>
              </a:rPr>
              <a:t>• Los semáforos </a:t>
            </a:r>
            <a:r>
              <a:rPr lang="es-AR" sz="1400" b="1" dirty="0" smtClean="0">
                <a:solidFill>
                  <a:schemeClr val="tx1"/>
                </a:solidFill>
                <a:latin typeface="Arial" pitchFamily="34" charset="0"/>
                <a:cs typeface="Arial" pitchFamily="34" charset="0"/>
              </a:rPr>
              <a:t>full </a:t>
            </a:r>
            <a:r>
              <a:rPr lang="es-AR" sz="1400" dirty="0" smtClean="0">
                <a:solidFill>
                  <a:schemeClr val="tx1"/>
                </a:solidFill>
                <a:latin typeface="Arial" pitchFamily="34" charset="0"/>
                <a:cs typeface="Arial" pitchFamily="34" charset="0"/>
              </a:rPr>
              <a:t>y </a:t>
            </a:r>
            <a:r>
              <a:rPr lang="es-AR" sz="1400" b="1" dirty="0" err="1" smtClean="0">
                <a:solidFill>
                  <a:schemeClr val="tx1"/>
                </a:solidFill>
                <a:latin typeface="Arial" pitchFamily="34" charset="0"/>
                <a:cs typeface="Arial" pitchFamily="34" charset="0"/>
              </a:rPr>
              <a:t>empty</a:t>
            </a:r>
            <a:r>
              <a:rPr lang="es-AR" sz="1400" dirty="0" smtClean="0">
                <a:solidFill>
                  <a:schemeClr val="tx1"/>
                </a:solidFill>
                <a:latin typeface="Arial" pitchFamily="34" charset="0"/>
                <a:cs typeface="Arial" pitchFamily="34" charset="0"/>
              </a:rPr>
              <a:t> cuentan el número de semáforos llenos y vacíos respectivamente </a:t>
            </a:r>
          </a:p>
          <a:p>
            <a:pPr marL="177800" indent="-177800" algn="just">
              <a:spcBef>
                <a:spcPts val="600"/>
              </a:spcBef>
            </a:pPr>
            <a:r>
              <a:rPr lang="es-AR" sz="1400" dirty="0" smtClean="0">
                <a:solidFill>
                  <a:schemeClr val="tx1"/>
                </a:solidFill>
                <a:latin typeface="Arial" pitchFamily="34" charset="0"/>
                <a:cs typeface="Arial" pitchFamily="34" charset="0"/>
              </a:rPr>
              <a:t>• Valores iniciales para los semáforos:</a:t>
            </a: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80898" name="Picture 2"/>
          <p:cNvPicPr>
            <a:picLocks noChangeAspect="1" noChangeArrowheads="1"/>
          </p:cNvPicPr>
          <p:nvPr/>
        </p:nvPicPr>
        <p:blipFill>
          <a:blip r:embed="rId3" cstate="print"/>
          <a:srcRect/>
          <a:stretch>
            <a:fillRect/>
          </a:stretch>
        </p:blipFill>
        <p:spPr bwMode="auto">
          <a:xfrm>
            <a:off x="2316163" y="2730500"/>
            <a:ext cx="3995737" cy="286048"/>
          </a:xfrm>
          <a:prstGeom prst="rect">
            <a:avLst/>
          </a:prstGeom>
          <a:noFill/>
          <a:ln w="9525">
            <a:noFill/>
            <a:miter lim="800000"/>
            <a:headEnd/>
            <a:tailEnd/>
          </a:ln>
        </p:spPr>
      </p:pic>
      <p:pic>
        <p:nvPicPr>
          <p:cNvPr id="80899" name="Picture 3"/>
          <p:cNvPicPr>
            <a:picLocks noChangeAspect="1" noChangeArrowheads="1"/>
          </p:cNvPicPr>
          <p:nvPr/>
        </p:nvPicPr>
        <p:blipFill>
          <a:blip r:embed="rId4" cstate="print"/>
          <a:srcRect/>
          <a:stretch>
            <a:fillRect/>
          </a:stretch>
        </p:blipFill>
        <p:spPr bwMode="auto">
          <a:xfrm>
            <a:off x="303213" y="3267075"/>
            <a:ext cx="3990975" cy="3324225"/>
          </a:xfrm>
          <a:prstGeom prst="rect">
            <a:avLst/>
          </a:prstGeom>
          <a:ln>
            <a:noFill/>
          </a:ln>
          <a:effectLst>
            <a:outerShdw blurRad="292100" dist="139700" dir="2700000" algn="tl" rotWithShape="0">
              <a:srgbClr val="333333">
                <a:alpha val="65000"/>
              </a:srgbClr>
            </a:outerShdw>
          </a:effectLst>
        </p:spPr>
      </p:pic>
      <p:pic>
        <p:nvPicPr>
          <p:cNvPr id="80900" name="Picture 4"/>
          <p:cNvPicPr>
            <a:picLocks noChangeAspect="1" noChangeArrowheads="1"/>
          </p:cNvPicPr>
          <p:nvPr/>
        </p:nvPicPr>
        <p:blipFill>
          <a:blip r:embed="rId5" cstate="print"/>
          <a:srcRect/>
          <a:stretch>
            <a:fillRect/>
          </a:stretch>
        </p:blipFill>
        <p:spPr bwMode="auto">
          <a:xfrm>
            <a:off x="4714875" y="3255963"/>
            <a:ext cx="4057650" cy="33432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7125027"/>
          </a:xfrm>
          <a:prstGeom prst="rect">
            <a:avLst/>
          </a:prstGeom>
          <a:noFill/>
        </p:spPr>
        <p:txBody>
          <a:bodyPr wrap="square" rtlCol="0">
            <a:spAutoFit/>
          </a:bodyPr>
          <a:lstStyle/>
          <a:p>
            <a:pPr marL="177800" indent="-177800" algn="just">
              <a:spcBef>
                <a:spcPts val="600"/>
              </a:spcBef>
            </a:pPr>
            <a:r>
              <a:rPr lang="es-AR" sz="1400" b="1" dirty="0" smtClean="0">
                <a:solidFill>
                  <a:schemeClr val="tx1"/>
                </a:solidFill>
                <a:latin typeface="Arial" pitchFamily="34" charset="0"/>
                <a:cs typeface="Arial" pitchFamily="34" charset="0"/>
              </a:rPr>
              <a:t>Algunas instrucciones POSIX para Semáforos </a:t>
            </a:r>
          </a:p>
          <a:p>
            <a:pPr marL="177800" indent="-177800" algn="just">
              <a:spcBef>
                <a:spcPts val="600"/>
              </a:spcBef>
            </a:pPr>
            <a:r>
              <a:rPr lang="es-AR" sz="1400" dirty="0" smtClean="0">
                <a:solidFill>
                  <a:schemeClr val="tx1"/>
                </a:solidFill>
                <a:latin typeface="Arial" pitchFamily="34" charset="0"/>
                <a:cs typeface="Arial" pitchFamily="34" charset="0"/>
              </a:rPr>
              <a:t>Librería:</a:t>
            </a:r>
          </a:p>
          <a:p>
            <a:pPr marL="177800" indent="-177800" algn="just">
              <a:spcBef>
                <a:spcPts val="600"/>
              </a:spcBef>
            </a:pPr>
            <a:r>
              <a:rPr lang="es-AR" sz="1400" b="1" dirty="0" smtClean="0">
                <a:solidFill>
                  <a:srgbClr val="0033CC"/>
                </a:solidFill>
                <a:latin typeface="Courier New" pitchFamily="49" charset="0"/>
                <a:cs typeface="Courier New" pitchFamily="49" charset="0"/>
              </a:rPr>
              <a:t>#</a:t>
            </a:r>
            <a:r>
              <a:rPr lang="es-AR" sz="1400" b="1" dirty="0" err="1" smtClean="0">
                <a:solidFill>
                  <a:srgbClr val="0033CC"/>
                </a:solidFill>
                <a:latin typeface="Courier New" pitchFamily="49" charset="0"/>
                <a:cs typeface="Courier New" pitchFamily="49" charset="0"/>
              </a:rPr>
              <a:t>include</a:t>
            </a:r>
            <a:r>
              <a:rPr lang="es-AR" sz="1400" b="1" dirty="0" smtClean="0">
                <a:solidFill>
                  <a:srgbClr val="0033CC"/>
                </a:solidFill>
                <a:latin typeface="Courier New" pitchFamily="49" charset="0"/>
                <a:cs typeface="Courier New" pitchFamily="49" charset="0"/>
              </a:rPr>
              <a:t> &lt;</a:t>
            </a:r>
            <a:r>
              <a:rPr lang="es-AR" sz="1400" b="1" dirty="0" err="1" smtClean="0">
                <a:solidFill>
                  <a:srgbClr val="0033CC"/>
                </a:solidFill>
                <a:latin typeface="Courier New" pitchFamily="49" charset="0"/>
                <a:cs typeface="Courier New" pitchFamily="49" charset="0"/>
              </a:rPr>
              <a:t>semaphore.h</a:t>
            </a:r>
            <a:r>
              <a:rPr lang="es-AR" sz="1400" b="1" dirty="0" smtClean="0">
                <a:solidFill>
                  <a:srgbClr val="0033CC"/>
                </a:solidFill>
                <a:latin typeface="Courier New" pitchFamily="49" charset="0"/>
                <a:cs typeface="Courier New" pitchFamily="49" charset="0"/>
              </a:rPr>
              <a:t>&gt;</a:t>
            </a:r>
          </a:p>
          <a:p>
            <a:pPr marL="177800" indent="-177800" algn="just">
              <a:spcBef>
                <a:spcPts val="0"/>
              </a:spcBef>
            </a:pPr>
            <a:endParaRPr lang="es-AR" sz="1400" dirty="0" smtClean="0">
              <a:solidFill>
                <a:schemeClr val="tx1"/>
              </a:solidFill>
              <a:latin typeface="Arial" pitchFamily="34" charset="0"/>
              <a:cs typeface="Arial" pitchFamily="34" charset="0"/>
            </a:endParaRPr>
          </a:p>
          <a:p>
            <a:pPr marL="177800" indent="-177800" algn="just">
              <a:spcBef>
                <a:spcPts val="600"/>
              </a:spcBef>
            </a:pPr>
            <a:r>
              <a:rPr lang="es-AR" sz="1400" dirty="0" smtClean="0">
                <a:solidFill>
                  <a:schemeClr val="tx1"/>
                </a:solidFill>
                <a:latin typeface="Arial" pitchFamily="34" charset="0"/>
                <a:cs typeface="Arial" pitchFamily="34" charset="0"/>
              </a:rPr>
              <a:t>Tipo de datos:  </a:t>
            </a:r>
            <a:r>
              <a:rPr lang="es-AR" sz="1400" dirty="0" smtClean="0">
                <a:solidFill>
                  <a:srgbClr val="0033CC"/>
                </a:solidFill>
                <a:latin typeface="Arial" pitchFamily="34" charset="0"/>
                <a:cs typeface="Arial" pitchFamily="34" charset="0"/>
              </a:rPr>
              <a:t> </a:t>
            </a:r>
            <a:r>
              <a:rPr lang="es-AR" sz="1400" b="1" dirty="0" err="1" smtClean="0">
                <a:solidFill>
                  <a:srgbClr val="0033CC"/>
                </a:solidFill>
                <a:latin typeface="Courier New" pitchFamily="49" charset="0"/>
                <a:cs typeface="Courier New" pitchFamily="49" charset="0"/>
              </a:rPr>
              <a:t>sem_t</a:t>
            </a:r>
            <a:endParaRPr lang="es-AR" sz="1400" b="1" dirty="0" smtClean="0">
              <a:solidFill>
                <a:srgbClr val="0033CC"/>
              </a:solidFill>
              <a:latin typeface="Courier New" pitchFamily="49" charset="0"/>
              <a:cs typeface="Courier New" pitchFamily="49" charset="0"/>
            </a:endParaRPr>
          </a:p>
          <a:p>
            <a:pPr marL="177800" indent="-177800" algn="just">
              <a:spcBef>
                <a:spcPts val="0"/>
              </a:spcBef>
            </a:pPr>
            <a:endParaRPr lang="es-AR" sz="1400" b="1" dirty="0" smtClean="0">
              <a:solidFill>
                <a:schemeClr val="tx1"/>
              </a:solidFill>
              <a:latin typeface="Arial" pitchFamily="34" charset="0"/>
              <a:cs typeface="Arial" pitchFamily="34" charset="0"/>
            </a:endParaRPr>
          </a:p>
          <a:p>
            <a:pPr marL="177800" indent="-177800" algn="just">
              <a:spcBef>
                <a:spcPts val="600"/>
              </a:spcBef>
            </a:pPr>
            <a:r>
              <a:rPr lang="en-US" sz="1400" b="1" dirty="0" err="1" smtClean="0">
                <a:solidFill>
                  <a:srgbClr val="0033CC"/>
                </a:solidFill>
                <a:latin typeface="Courier New" pitchFamily="49" charset="0"/>
                <a:cs typeface="Courier New" pitchFamily="49" charset="0"/>
              </a:rPr>
              <a:t>int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sem_init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sem_t</a:t>
            </a:r>
            <a:r>
              <a:rPr lang="en-US" sz="1400" b="1" dirty="0" smtClean="0">
                <a:solidFill>
                  <a:srgbClr val="0033CC"/>
                </a:solidFill>
                <a:latin typeface="Courier New" pitchFamily="49" charset="0"/>
                <a:cs typeface="Courier New" pitchFamily="49" charset="0"/>
              </a:rPr>
              <a:t> * </a:t>
            </a:r>
            <a:r>
              <a:rPr lang="en-US" sz="1400" b="1" dirty="0" err="1" smtClean="0">
                <a:solidFill>
                  <a:srgbClr val="0033CC"/>
                </a:solidFill>
                <a:latin typeface="Courier New" pitchFamily="49" charset="0"/>
                <a:cs typeface="Courier New" pitchFamily="49" charset="0"/>
              </a:rPr>
              <a:t>sem</a:t>
            </a:r>
            <a:r>
              <a:rPr lang="en-US" sz="1400" b="1" dirty="0" smtClean="0">
                <a:solidFill>
                  <a:srgbClr val="0033CC"/>
                </a:solidFill>
                <a:latin typeface="Courier New" pitchFamily="49" charset="0"/>
                <a:cs typeface="Courier New" pitchFamily="49" charset="0"/>
              </a:rPr>
              <a:t> , </a:t>
            </a:r>
            <a:r>
              <a:rPr lang="en-US" sz="1400" b="1" dirty="0" err="1" smtClean="0">
                <a:solidFill>
                  <a:srgbClr val="0033CC"/>
                </a:solidFill>
                <a:latin typeface="Courier New" pitchFamily="49" charset="0"/>
                <a:cs typeface="Courier New" pitchFamily="49" charset="0"/>
              </a:rPr>
              <a:t>int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pshared</a:t>
            </a:r>
            <a:r>
              <a:rPr lang="en-US" sz="1400" b="1" dirty="0" smtClean="0">
                <a:solidFill>
                  <a:srgbClr val="0033CC"/>
                </a:solidFill>
                <a:latin typeface="Courier New" pitchFamily="49" charset="0"/>
                <a:cs typeface="Courier New" pitchFamily="49" charset="0"/>
              </a:rPr>
              <a:t> , unsigned </a:t>
            </a:r>
            <a:r>
              <a:rPr lang="en-US" sz="1400" b="1" dirty="0" err="1" smtClean="0">
                <a:solidFill>
                  <a:srgbClr val="0033CC"/>
                </a:solidFill>
                <a:latin typeface="Courier New" pitchFamily="49" charset="0"/>
                <a:cs typeface="Courier New" pitchFamily="49" charset="0"/>
              </a:rPr>
              <a:t>int</a:t>
            </a:r>
            <a:r>
              <a:rPr lang="en-US" sz="1400" b="1" dirty="0" smtClean="0">
                <a:solidFill>
                  <a:srgbClr val="0033CC"/>
                </a:solidFill>
                <a:latin typeface="Courier New" pitchFamily="49" charset="0"/>
                <a:cs typeface="Courier New" pitchFamily="49" charset="0"/>
              </a:rPr>
              <a:t> value );</a:t>
            </a:r>
          </a:p>
          <a:p>
            <a:pPr marL="177800" indent="-177800" algn="just">
              <a:spcBef>
                <a:spcPts val="600"/>
              </a:spcBef>
            </a:pPr>
            <a:r>
              <a:rPr lang="es-AR" sz="1200" dirty="0" smtClean="0">
                <a:solidFill>
                  <a:srgbClr val="7030A0"/>
                </a:solidFill>
                <a:latin typeface="Arial" pitchFamily="34" charset="0"/>
                <a:cs typeface="Arial" pitchFamily="34" charset="0"/>
                <a:hlinkClick r:id="rId3"/>
              </a:rPr>
              <a:t>http://man7.org/linux/man-pages/man3/sem_init.3.html</a:t>
            </a:r>
            <a:endParaRPr lang="es-AR" sz="1200" dirty="0" smtClean="0">
              <a:solidFill>
                <a:srgbClr val="7030A0"/>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r>
              <a:rPr lang="es-AR" sz="1400" b="1" dirty="0" smtClean="0">
                <a:solidFill>
                  <a:srgbClr val="0033CC"/>
                </a:solidFill>
                <a:latin typeface="Courier New" pitchFamily="49" charset="0"/>
                <a:cs typeface="Courier New" pitchFamily="49" charset="0"/>
              </a:rPr>
              <a:t>int </a:t>
            </a:r>
            <a:r>
              <a:rPr lang="es-AR" sz="1400" b="1" dirty="0" err="1" smtClean="0">
                <a:solidFill>
                  <a:srgbClr val="0033CC"/>
                </a:solidFill>
                <a:latin typeface="Courier New" pitchFamily="49" charset="0"/>
                <a:cs typeface="Courier New" pitchFamily="49" charset="0"/>
              </a:rPr>
              <a:t>sem_post</a:t>
            </a:r>
            <a:r>
              <a:rPr lang="es-AR" sz="1400" b="1" dirty="0" smtClean="0">
                <a:solidFill>
                  <a:srgbClr val="0033CC"/>
                </a:solidFill>
                <a:latin typeface="Courier New" pitchFamily="49" charset="0"/>
                <a:cs typeface="Courier New" pitchFamily="49" charset="0"/>
              </a:rPr>
              <a:t> (</a:t>
            </a:r>
            <a:r>
              <a:rPr lang="es-AR" sz="1400" b="1" dirty="0" err="1" smtClean="0">
                <a:solidFill>
                  <a:srgbClr val="0033CC"/>
                </a:solidFill>
                <a:latin typeface="Courier New" pitchFamily="49" charset="0"/>
                <a:cs typeface="Courier New" pitchFamily="49" charset="0"/>
              </a:rPr>
              <a:t>sem_t</a:t>
            </a:r>
            <a:r>
              <a:rPr lang="es-AR" sz="1400" b="1" dirty="0" smtClean="0">
                <a:solidFill>
                  <a:srgbClr val="0033CC"/>
                </a:solidFill>
                <a:latin typeface="Courier New" pitchFamily="49" charset="0"/>
                <a:cs typeface="Courier New" pitchFamily="49" charset="0"/>
              </a:rPr>
              <a:t> * </a:t>
            </a:r>
            <a:r>
              <a:rPr lang="es-AR" sz="1400" b="1" dirty="0" err="1" smtClean="0">
                <a:solidFill>
                  <a:srgbClr val="0033CC"/>
                </a:solidFill>
                <a:latin typeface="Courier New" pitchFamily="49" charset="0"/>
                <a:cs typeface="Courier New" pitchFamily="49" charset="0"/>
              </a:rPr>
              <a:t>sem</a:t>
            </a:r>
            <a:r>
              <a:rPr lang="es-AR" sz="1400" b="1" dirty="0" smtClean="0">
                <a:solidFill>
                  <a:srgbClr val="0033CC"/>
                </a:solidFill>
                <a:latin typeface="Courier New" pitchFamily="49" charset="0"/>
                <a:cs typeface="Courier New" pitchFamily="49" charset="0"/>
              </a:rPr>
              <a:t> );</a:t>
            </a:r>
          </a:p>
          <a:p>
            <a:pPr marL="177800" indent="-177800" algn="just">
              <a:spcBef>
                <a:spcPts val="600"/>
              </a:spcBef>
            </a:pPr>
            <a:r>
              <a:rPr lang="es-AR" sz="1200" dirty="0" smtClean="0">
                <a:solidFill>
                  <a:srgbClr val="0033CC"/>
                </a:solidFill>
                <a:latin typeface="Arial" pitchFamily="34" charset="0"/>
                <a:cs typeface="Arial" pitchFamily="34" charset="0"/>
                <a:hlinkClick r:id="rId4"/>
              </a:rPr>
              <a:t>http://man7.org/linux/man-pages/man3/sem_post.3.html</a:t>
            </a:r>
            <a:endParaRPr lang="es-AR" sz="1200" dirty="0" smtClean="0">
              <a:solidFill>
                <a:srgbClr val="0033CC"/>
              </a:solidFill>
              <a:latin typeface="Arial" pitchFamily="34" charset="0"/>
              <a:cs typeface="Arial" pitchFamily="34" charset="0"/>
              <a:hlinkClick r:id="rId3"/>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r>
              <a:rPr lang="es-AR" sz="1400" b="1" dirty="0" smtClean="0">
                <a:solidFill>
                  <a:srgbClr val="0033CC"/>
                </a:solidFill>
                <a:latin typeface="Courier New" pitchFamily="49" charset="0"/>
                <a:cs typeface="Courier New" pitchFamily="49" charset="0"/>
              </a:rPr>
              <a:t>int </a:t>
            </a:r>
            <a:r>
              <a:rPr lang="es-AR" sz="1400" b="1" dirty="0" err="1" smtClean="0">
                <a:solidFill>
                  <a:srgbClr val="0033CC"/>
                </a:solidFill>
                <a:latin typeface="Courier New" pitchFamily="49" charset="0"/>
                <a:cs typeface="Courier New" pitchFamily="49" charset="0"/>
              </a:rPr>
              <a:t>sem_wait</a:t>
            </a:r>
            <a:r>
              <a:rPr lang="es-AR" sz="1400" b="1" dirty="0" smtClean="0">
                <a:solidFill>
                  <a:srgbClr val="0033CC"/>
                </a:solidFill>
                <a:latin typeface="Courier New" pitchFamily="49" charset="0"/>
                <a:cs typeface="Courier New" pitchFamily="49" charset="0"/>
              </a:rPr>
              <a:t> (</a:t>
            </a:r>
            <a:r>
              <a:rPr lang="es-AR" sz="1400" b="1" dirty="0" err="1" smtClean="0">
                <a:solidFill>
                  <a:srgbClr val="0033CC"/>
                </a:solidFill>
                <a:latin typeface="Courier New" pitchFamily="49" charset="0"/>
                <a:cs typeface="Courier New" pitchFamily="49" charset="0"/>
              </a:rPr>
              <a:t>sem_t</a:t>
            </a:r>
            <a:r>
              <a:rPr lang="es-AR" sz="1400" b="1" dirty="0" smtClean="0">
                <a:solidFill>
                  <a:srgbClr val="0033CC"/>
                </a:solidFill>
                <a:latin typeface="Courier New" pitchFamily="49" charset="0"/>
                <a:cs typeface="Courier New" pitchFamily="49" charset="0"/>
              </a:rPr>
              <a:t> * </a:t>
            </a:r>
            <a:r>
              <a:rPr lang="es-AR" sz="1400" b="1" dirty="0" err="1" smtClean="0">
                <a:solidFill>
                  <a:srgbClr val="0033CC"/>
                </a:solidFill>
                <a:latin typeface="Courier New" pitchFamily="49" charset="0"/>
                <a:cs typeface="Courier New" pitchFamily="49" charset="0"/>
              </a:rPr>
              <a:t>sem</a:t>
            </a:r>
            <a:r>
              <a:rPr lang="es-AR" sz="1400" b="1" dirty="0" smtClean="0">
                <a:solidFill>
                  <a:srgbClr val="0033CC"/>
                </a:solidFill>
                <a:latin typeface="Courier New" pitchFamily="49" charset="0"/>
                <a:cs typeface="Courier New" pitchFamily="49" charset="0"/>
              </a:rPr>
              <a:t> );</a:t>
            </a:r>
          </a:p>
          <a:p>
            <a:pPr marL="177800" indent="-177800" algn="just">
              <a:spcBef>
                <a:spcPts val="600"/>
              </a:spcBef>
            </a:pPr>
            <a:r>
              <a:rPr lang="es-AR" sz="1200" dirty="0" smtClean="0">
                <a:solidFill>
                  <a:srgbClr val="0033CC"/>
                </a:solidFill>
                <a:latin typeface="Arial" pitchFamily="34" charset="0"/>
                <a:cs typeface="Arial" pitchFamily="34" charset="0"/>
                <a:hlinkClick r:id="rId5"/>
              </a:rPr>
              <a:t>http://man7.org/linux/man-pages/man3/sem_wait.3.html</a:t>
            </a:r>
            <a:endParaRPr lang="es-AR" sz="1200" dirty="0" smtClean="0">
              <a:solidFill>
                <a:srgbClr val="0033CC"/>
              </a:solidFill>
              <a:latin typeface="Arial" pitchFamily="34" charset="0"/>
              <a:cs typeface="Arial" pitchFamily="34" charset="0"/>
              <a:hlinkClick r:id="rId4"/>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r>
              <a:rPr lang="es-AR" sz="1400" b="1" dirty="0" smtClean="0">
                <a:solidFill>
                  <a:srgbClr val="0033CC"/>
                </a:solidFill>
                <a:latin typeface="Courier New" pitchFamily="49" charset="0"/>
                <a:cs typeface="Courier New" pitchFamily="49" charset="0"/>
              </a:rPr>
              <a:t>int </a:t>
            </a:r>
            <a:r>
              <a:rPr lang="es-AR" sz="1400" b="1" dirty="0" err="1" smtClean="0">
                <a:solidFill>
                  <a:srgbClr val="0033CC"/>
                </a:solidFill>
                <a:latin typeface="Courier New" pitchFamily="49" charset="0"/>
                <a:cs typeface="Courier New" pitchFamily="49" charset="0"/>
              </a:rPr>
              <a:t>sem_destroy</a:t>
            </a:r>
            <a:r>
              <a:rPr lang="es-AR" sz="1400" b="1" dirty="0" smtClean="0">
                <a:solidFill>
                  <a:srgbClr val="0033CC"/>
                </a:solidFill>
                <a:latin typeface="Courier New" pitchFamily="49" charset="0"/>
                <a:cs typeface="Courier New" pitchFamily="49" charset="0"/>
              </a:rPr>
              <a:t>(</a:t>
            </a:r>
            <a:r>
              <a:rPr lang="es-AR" sz="1400" b="1" dirty="0" err="1" smtClean="0">
                <a:solidFill>
                  <a:srgbClr val="0033CC"/>
                </a:solidFill>
                <a:latin typeface="Courier New" pitchFamily="49" charset="0"/>
                <a:cs typeface="Courier New" pitchFamily="49" charset="0"/>
              </a:rPr>
              <a:t>sem_t</a:t>
            </a:r>
            <a:r>
              <a:rPr lang="es-AR" sz="1400" b="1" dirty="0" smtClean="0">
                <a:solidFill>
                  <a:srgbClr val="0033CC"/>
                </a:solidFill>
                <a:latin typeface="Courier New" pitchFamily="49" charset="0"/>
                <a:cs typeface="Courier New" pitchFamily="49" charset="0"/>
              </a:rPr>
              <a:t> *</a:t>
            </a:r>
            <a:r>
              <a:rPr lang="es-AR" sz="1400" b="1" dirty="0" err="1" smtClean="0">
                <a:solidFill>
                  <a:srgbClr val="0033CC"/>
                </a:solidFill>
                <a:latin typeface="Courier New" pitchFamily="49" charset="0"/>
                <a:cs typeface="Courier New" pitchFamily="49" charset="0"/>
              </a:rPr>
              <a:t>sem</a:t>
            </a:r>
            <a:r>
              <a:rPr lang="es-AR" sz="1400" b="1" dirty="0" smtClean="0">
                <a:solidFill>
                  <a:srgbClr val="0033CC"/>
                </a:solidFill>
                <a:latin typeface="Courier New" pitchFamily="49" charset="0"/>
                <a:cs typeface="Courier New" pitchFamily="49" charset="0"/>
              </a:rPr>
              <a:t>);</a:t>
            </a:r>
          </a:p>
          <a:p>
            <a:pPr marL="177800" indent="-177800" algn="just">
              <a:spcBef>
                <a:spcPts val="600"/>
              </a:spcBef>
            </a:pPr>
            <a:r>
              <a:rPr lang="es-AR" sz="1200" dirty="0" smtClean="0">
                <a:solidFill>
                  <a:srgbClr val="0033CC"/>
                </a:solidFill>
                <a:latin typeface="Arial" pitchFamily="34" charset="0"/>
                <a:cs typeface="Arial" pitchFamily="34" charset="0"/>
                <a:hlinkClick r:id="rId6"/>
              </a:rPr>
              <a:t>http://man7.org/linux/man-pages/man3/sem_destroy.3.html</a:t>
            </a:r>
            <a:endParaRPr lang="es-AR" sz="1200" dirty="0" smtClean="0">
              <a:solidFill>
                <a:srgbClr val="0033CC"/>
              </a:solidFill>
              <a:latin typeface="Arial" pitchFamily="34" charset="0"/>
              <a:cs typeface="Arial" pitchFamily="34" charset="0"/>
              <a:hlinkClick r:id="rId5"/>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247460" y="959299"/>
            <a:ext cx="8667940" cy="7109639"/>
          </a:xfrm>
          <a:prstGeom prst="rect">
            <a:avLst/>
          </a:prstGeom>
          <a:noFill/>
        </p:spPr>
        <p:txBody>
          <a:bodyPr wrap="square" rtlCol="0">
            <a:spAutoFit/>
          </a:bodyPr>
          <a:lstStyle/>
          <a:p>
            <a:pPr marL="177800" indent="-177800" algn="just">
              <a:spcBef>
                <a:spcPts val="600"/>
              </a:spcBef>
            </a:pPr>
            <a:r>
              <a:rPr lang="es-AR" sz="1400" b="1" dirty="0" smtClean="0">
                <a:solidFill>
                  <a:schemeClr val="tx1"/>
                </a:solidFill>
                <a:latin typeface="Arial" pitchFamily="34" charset="0"/>
                <a:cs typeface="Arial" pitchFamily="34" charset="0"/>
              </a:rPr>
              <a:t>Algunas instrucciones POSIX para </a:t>
            </a:r>
            <a:r>
              <a:rPr lang="es-AR" sz="1400" b="1" dirty="0" err="1" smtClean="0">
                <a:solidFill>
                  <a:schemeClr val="tx1"/>
                </a:solidFill>
                <a:latin typeface="Arial" pitchFamily="34" charset="0"/>
                <a:cs typeface="Arial" pitchFamily="34" charset="0"/>
              </a:rPr>
              <a:t>Mutex</a:t>
            </a:r>
            <a:endParaRPr lang="es-AR" sz="1400" b="1" dirty="0" smtClean="0">
              <a:solidFill>
                <a:schemeClr val="tx1"/>
              </a:solidFill>
              <a:latin typeface="Arial" pitchFamily="34" charset="0"/>
              <a:cs typeface="Arial" pitchFamily="34" charset="0"/>
            </a:endParaRPr>
          </a:p>
          <a:p>
            <a:pPr marL="177800" indent="-177800" algn="just">
              <a:spcBef>
                <a:spcPts val="600"/>
              </a:spcBef>
            </a:pPr>
            <a:r>
              <a:rPr lang="es-AR" sz="1400" dirty="0" smtClean="0">
                <a:solidFill>
                  <a:schemeClr val="tx1"/>
                </a:solidFill>
                <a:latin typeface="Arial" pitchFamily="34" charset="0"/>
                <a:cs typeface="Arial" pitchFamily="34" charset="0"/>
              </a:rPr>
              <a:t>Librería:</a:t>
            </a:r>
          </a:p>
          <a:p>
            <a:pPr marL="177800" indent="-177800" algn="just">
              <a:spcBef>
                <a:spcPts val="600"/>
              </a:spcBef>
            </a:pPr>
            <a:r>
              <a:rPr lang="es-AR" sz="1400" b="1" dirty="0" smtClean="0">
                <a:solidFill>
                  <a:srgbClr val="0033CC"/>
                </a:solidFill>
                <a:latin typeface="Courier New" pitchFamily="49" charset="0"/>
                <a:cs typeface="Courier New" pitchFamily="49" charset="0"/>
              </a:rPr>
              <a:t>#</a:t>
            </a:r>
            <a:r>
              <a:rPr lang="es-AR" sz="1400" b="1" dirty="0" err="1" smtClean="0">
                <a:solidFill>
                  <a:srgbClr val="0033CC"/>
                </a:solidFill>
                <a:latin typeface="Courier New" pitchFamily="49" charset="0"/>
                <a:cs typeface="Courier New" pitchFamily="49" charset="0"/>
              </a:rPr>
              <a:t>include</a:t>
            </a:r>
            <a:r>
              <a:rPr lang="es-AR" sz="1400" b="1" dirty="0" smtClean="0">
                <a:solidFill>
                  <a:srgbClr val="0033CC"/>
                </a:solidFill>
                <a:latin typeface="Courier New" pitchFamily="49" charset="0"/>
                <a:cs typeface="Courier New" pitchFamily="49" charset="0"/>
              </a:rPr>
              <a:t> &lt;</a:t>
            </a:r>
            <a:r>
              <a:rPr lang="es-AR" sz="1400" b="1" dirty="0" err="1" smtClean="0">
                <a:solidFill>
                  <a:srgbClr val="0033CC"/>
                </a:solidFill>
                <a:latin typeface="Courier New" pitchFamily="49" charset="0"/>
                <a:cs typeface="Courier New" pitchFamily="49" charset="0"/>
              </a:rPr>
              <a:t>pthread.h</a:t>
            </a:r>
            <a:r>
              <a:rPr lang="es-AR" sz="1400" b="1" dirty="0" smtClean="0">
                <a:solidFill>
                  <a:srgbClr val="0033CC"/>
                </a:solidFill>
                <a:latin typeface="Courier New" pitchFamily="49" charset="0"/>
                <a:cs typeface="Courier New" pitchFamily="49" charset="0"/>
              </a:rPr>
              <a:t>&gt;</a:t>
            </a:r>
          </a:p>
          <a:p>
            <a:pPr marL="177800" indent="-177800" algn="just">
              <a:spcBef>
                <a:spcPts val="0"/>
              </a:spcBef>
            </a:pPr>
            <a:endParaRPr lang="es-AR" sz="1400" dirty="0" smtClean="0">
              <a:solidFill>
                <a:schemeClr val="tx1"/>
              </a:solidFill>
              <a:latin typeface="Arial" pitchFamily="34" charset="0"/>
              <a:cs typeface="Arial" pitchFamily="34" charset="0"/>
            </a:endParaRPr>
          </a:p>
          <a:p>
            <a:pPr marL="177800" indent="-177800" algn="just">
              <a:spcBef>
                <a:spcPts val="600"/>
              </a:spcBef>
            </a:pPr>
            <a:r>
              <a:rPr lang="es-AR" sz="1400" dirty="0" smtClean="0">
                <a:solidFill>
                  <a:schemeClr val="tx1"/>
                </a:solidFill>
                <a:latin typeface="Arial" pitchFamily="34" charset="0"/>
                <a:cs typeface="Arial" pitchFamily="34" charset="0"/>
              </a:rPr>
              <a:t>Tipo de datos:  </a:t>
            </a:r>
            <a:r>
              <a:rPr lang="es-AR" sz="1400" dirty="0" smtClean="0">
                <a:solidFill>
                  <a:srgbClr val="0033CC"/>
                </a:solidFill>
                <a:latin typeface="Arial" pitchFamily="34" charset="0"/>
                <a:cs typeface="Arial" pitchFamily="34" charset="0"/>
              </a:rPr>
              <a:t> </a:t>
            </a:r>
            <a:r>
              <a:rPr lang="es-AR" sz="1400" b="1" dirty="0" err="1" smtClean="0">
                <a:solidFill>
                  <a:srgbClr val="0033CC"/>
                </a:solidFill>
                <a:latin typeface="Courier New" pitchFamily="49" charset="0"/>
                <a:cs typeface="Courier New" pitchFamily="49" charset="0"/>
              </a:rPr>
              <a:t>pthread_mutex_t</a:t>
            </a:r>
            <a:endParaRPr lang="es-AR" sz="1400" b="1" dirty="0" smtClean="0">
              <a:solidFill>
                <a:srgbClr val="0033CC"/>
              </a:solidFill>
              <a:latin typeface="Courier New" pitchFamily="49" charset="0"/>
              <a:cs typeface="Courier New" pitchFamily="49" charset="0"/>
            </a:endParaRPr>
          </a:p>
          <a:p>
            <a:pPr marL="177800" indent="-177800" algn="just">
              <a:spcBef>
                <a:spcPts val="600"/>
              </a:spcBef>
            </a:pPr>
            <a:r>
              <a:rPr lang="es-AR" sz="1400" dirty="0" smtClean="0">
                <a:solidFill>
                  <a:schemeClr val="tx1"/>
                </a:solidFill>
                <a:latin typeface="Arial" pitchFamily="34" charset="0"/>
                <a:cs typeface="Arial" pitchFamily="34" charset="0"/>
              </a:rPr>
              <a:t>Inicializar</a:t>
            </a:r>
          </a:p>
          <a:p>
            <a:pPr marL="177800" indent="-177800" algn="just">
              <a:spcBef>
                <a:spcPts val="600"/>
              </a:spcBef>
            </a:pPr>
            <a:r>
              <a:rPr lang="en-US" sz="1400" b="1" dirty="0" err="1" smtClean="0">
                <a:solidFill>
                  <a:srgbClr val="0033CC"/>
                </a:solidFill>
                <a:latin typeface="Courier New" pitchFamily="49" charset="0"/>
                <a:cs typeface="Courier New" pitchFamily="49" charset="0"/>
              </a:rPr>
              <a:t>int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pthread_mutex_init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pthread_mutex_t</a:t>
            </a:r>
            <a:r>
              <a:rPr lang="en-US" sz="1400" b="1" dirty="0" smtClean="0">
                <a:solidFill>
                  <a:srgbClr val="0033CC"/>
                </a:solidFill>
                <a:latin typeface="Courier New" pitchFamily="49" charset="0"/>
                <a:cs typeface="Courier New" pitchFamily="49" charset="0"/>
              </a:rPr>
              <a:t> * </a:t>
            </a:r>
            <a:r>
              <a:rPr lang="en-US" sz="1400" b="1" dirty="0" err="1" smtClean="0">
                <a:solidFill>
                  <a:srgbClr val="0033CC"/>
                </a:solidFill>
                <a:latin typeface="Courier New" pitchFamily="49" charset="0"/>
                <a:cs typeface="Courier New" pitchFamily="49" charset="0"/>
              </a:rPr>
              <a:t>restringir</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mutex</a:t>
            </a:r>
            <a:r>
              <a:rPr lang="en-US" sz="1400" b="1" dirty="0" smtClean="0">
                <a:solidFill>
                  <a:srgbClr val="0033CC"/>
                </a:solidFill>
                <a:latin typeface="Courier New" pitchFamily="49" charset="0"/>
                <a:cs typeface="Courier New" pitchFamily="49" charset="0"/>
              </a:rPr>
              <a:t> ,</a:t>
            </a:r>
          </a:p>
          <a:p>
            <a:pPr marL="177800" indent="-177800" algn="just">
              <a:spcBef>
                <a:spcPts val="0"/>
              </a:spcBef>
            </a:pPr>
            <a:r>
              <a:rPr lang="en-US" sz="1400" b="1" dirty="0" smtClean="0">
                <a:solidFill>
                  <a:srgbClr val="0033CC"/>
                </a:solidFill>
                <a:latin typeface="Courier New" pitchFamily="49" charset="0"/>
                <a:cs typeface="Courier New" pitchFamily="49" charset="0"/>
              </a:rPr>
              <a:t>           const </a:t>
            </a:r>
            <a:r>
              <a:rPr lang="en-US" sz="1400" b="1" dirty="0" err="1" smtClean="0">
                <a:solidFill>
                  <a:srgbClr val="0033CC"/>
                </a:solidFill>
                <a:latin typeface="Courier New" pitchFamily="49" charset="0"/>
                <a:cs typeface="Courier New" pitchFamily="49" charset="0"/>
              </a:rPr>
              <a:t>pthread_mutexattr_t</a:t>
            </a:r>
            <a:r>
              <a:rPr lang="en-US" sz="1400" b="1" dirty="0" smtClean="0">
                <a:solidFill>
                  <a:srgbClr val="0033CC"/>
                </a:solidFill>
                <a:latin typeface="Courier New" pitchFamily="49" charset="0"/>
                <a:cs typeface="Courier New" pitchFamily="49" charset="0"/>
              </a:rPr>
              <a:t> * restrict </a:t>
            </a:r>
            <a:r>
              <a:rPr lang="en-US" sz="1400" b="1" dirty="0" err="1" smtClean="0">
                <a:solidFill>
                  <a:srgbClr val="0033CC"/>
                </a:solidFill>
                <a:latin typeface="Courier New" pitchFamily="49" charset="0"/>
                <a:cs typeface="Courier New" pitchFamily="49" charset="0"/>
              </a:rPr>
              <a:t>attr</a:t>
            </a:r>
            <a:r>
              <a:rPr lang="en-US" sz="1400" b="1" dirty="0" smtClean="0">
                <a:solidFill>
                  <a:srgbClr val="0033CC"/>
                </a:solidFill>
                <a:latin typeface="Courier New" pitchFamily="49" charset="0"/>
                <a:cs typeface="Courier New" pitchFamily="49" charset="0"/>
              </a:rPr>
              <a:t> );</a:t>
            </a:r>
          </a:p>
          <a:p>
            <a:pPr marL="177800" indent="-177800" algn="just">
              <a:spcBef>
                <a:spcPts val="600"/>
              </a:spcBef>
            </a:pPr>
            <a:r>
              <a:rPr lang="en-US" sz="1400" dirty="0" smtClean="0">
                <a:solidFill>
                  <a:schemeClr val="tx1"/>
                </a:solidFill>
                <a:latin typeface="Arial" pitchFamily="34" charset="0"/>
                <a:cs typeface="Arial" pitchFamily="34" charset="0"/>
              </a:rPr>
              <a:t>Se </a:t>
            </a:r>
            <a:r>
              <a:rPr lang="en-US" sz="1400" dirty="0" err="1" smtClean="0">
                <a:solidFill>
                  <a:schemeClr val="tx1"/>
                </a:solidFill>
                <a:latin typeface="Arial" pitchFamily="34" charset="0"/>
                <a:cs typeface="Arial" pitchFamily="34" charset="0"/>
              </a:rPr>
              <a:t>puede</a:t>
            </a:r>
            <a:r>
              <a:rPr lang="en-US" sz="1400" dirty="0" smtClean="0">
                <a:solidFill>
                  <a:schemeClr val="tx1"/>
                </a:solidFill>
                <a:latin typeface="Arial" pitchFamily="34" charset="0"/>
                <a:cs typeface="Arial" pitchFamily="34" charset="0"/>
              </a:rPr>
              <a:t> </a:t>
            </a:r>
            <a:r>
              <a:rPr lang="en-US" sz="1400" dirty="0" err="1" smtClean="0">
                <a:solidFill>
                  <a:schemeClr val="tx1"/>
                </a:solidFill>
                <a:latin typeface="Arial" pitchFamily="34" charset="0"/>
                <a:cs typeface="Arial" pitchFamily="34" charset="0"/>
              </a:rPr>
              <a:t>inicializar</a:t>
            </a:r>
            <a:r>
              <a:rPr lang="en-US" sz="1400" dirty="0" smtClean="0">
                <a:solidFill>
                  <a:schemeClr val="tx1"/>
                </a:solidFill>
                <a:latin typeface="Arial" pitchFamily="34" charset="0"/>
                <a:cs typeface="Arial" pitchFamily="34" charset="0"/>
              </a:rPr>
              <a:t> con un macro </a:t>
            </a:r>
            <a:r>
              <a:rPr lang="en-US" sz="1400" b="1" dirty="0" smtClean="0">
                <a:solidFill>
                  <a:srgbClr val="0033CC"/>
                </a:solidFill>
                <a:latin typeface="Courier New" pitchFamily="49" charset="0"/>
                <a:cs typeface="Courier New" pitchFamily="49" charset="0"/>
              </a:rPr>
              <a:t>  </a:t>
            </a:r>
          </a:p>
          <a:p>
            <a:pPr marL="177800" indent="-177800" algn="just">
              <a:spcBef>
                <a:spcPts val="600"/>
              </a:spcBef>
            </a:pPr>
            <a:r>
              <a:rPr lang="en-US" sz="1400" b="1" dirty="0" err="1" smtClean="0">
                <a:solidFill>
                  <a:srgbClr val="0033CC"/>
                </a:solidFill>
                <a:latin typeface="Courier New" pitchFamily="49" charset="0"/>
                <a:cs typeface="Courier New" pitchFamily="49" charset="0"/>
              </a:rPr>
              <a:t>pthread_mutex_t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mutex</a:t>
            </a:r>
            <a:r>
              <a:rPr lang="en-US" sz="1400" b="1" dirty="0" smtClean="0">
                <a:solidFill>
                  <a:srgbClr val="0033CC"/>
                </a:solidFill>
                <a:latin typeface="Courier New" pitchFamily="49" charset="0"/>
                <a:cs typeface="Courier New" pitchFamily="49" charset="0"/>
              </a:rPr>
              <a:t> = PTHREAD_MUTEX_INITIALIZER; </a:t>
            </a:r>
            <a:endParaRPr lang="en-US" sz="1400" b="1" dirty="0" smtClean="0">
              <a:solidFill>
                <a:srgbClr val="0033CC"/>
              </a:solidFill>
              <a:latin typeface="Courier New" pitchFamily="49" charset="0"/>
              <a:cs typeface="Courier New" pitchFamily="49" charset="0"/>
              <a:hlinkClick r:id="rId3"/>
            </a:endParaRPr>
          </a:p>
          <a:p>
            <a:pPr marL="177800" indent="-177800" algn="just">
              <a:spcBef>
                <a:spcPts val="600"/>
              </a:spcBef>
            </a:pPr>
            <a:r>
              <a:rPr lang="en-US" sz="1400" dirty="0" err="1" smtClean="0">
                <a:solidFill>
                  <a:schemeClr val="tx1"/>
                </a:solidFill>
                <a:latin typeface="Arial" pitchFamily="34" charset="0"/>
                <a:cs typeface="Arial" pitchFamily="34" charset="0"/>
              </a:rPr>
              <a:t>Destruir</a:t>
            </a:r>
            <a:endParaRPr lang="en-US" sz="1400" dirty="0" smtClean="0">
              <a:solidFill>
                <a:schemeClr val="tx1"/>
              </a:solidFill>
              <a:latin typeface="Arial" pitchFamily="34" charset="0"/>
              <a:cs typeface="Arial" pitchFamily="34" charset="0"/>
            </a:endParaRPr>
          </a:p>
          <a:p>
            <a:pPr marL="177800" indent="-177800" algn="just">
              <a:spcBef>
                <a:spcPts val="600"/>
              </a:spcBef>
            </a:pPr>
            <a:r>
              <a:rPr lang="en-US" sz="1400" b="1" dirty="0" err="1" smtClean="0">
                <a:solidFill>
                  <a:srgbClr val="0033CC"/>
                </a:solidFill>
                <a:latin typeface="Courier New" pitchFamily="49" charset="0"/>
                <a:cs typeface="Courier New" pitchFamily="49" charset="0"/>
              </a:rPr>
              <a:t>int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pthread_mutex_destroy</a:t>
            </a:r>
            <a:r>
              <a:rPr lang="en-US" sz="1400" b="1" dirty="0" smtClean="0">
                <a:solidFill>
                  <a:srgbClr val="0033CC"/>
                </a:solidFill>
                <a:latin typeface="Courier New" pitchFamily="49" charset="0"/>
                <a:cs typeface="Courier New" pitchFamily="49" charset="0"/>
              </a:rPr>
              <a:t>(</a:t>
            </a:r>
            <a:r>
              <a:rPr lang="en-US" sz="1400" b="1" dirty="0" err="1" smtClean="0">
                <a:solidFill>
                  <a:srgbClr val="0033CC"/>
                </a:solidFill>
                <a:latin typeface="Courier New" pitchFamily="49" charset="0"/>
                <a:cs typeface="Courier New" pitchFamily="49" charset="0"/>
              </a:rPr>
              <a:t>pthread_mutex_t</a:t>
            </a:r>
            <a:r>
              <a:rPr lang="en-US" sz="1400" b="1" dirty="0" smtClean="0">
                <a:solidFill>
                  <a:srgbClr val="0033CC"/>
                </a:solidFill>
                <a:latin typeface="Courier New" pitchFamily="49" charset="0"/>
                <a:cs typeface="Courier New" pitchFamily="49" charset="0"/>
              </a:rPr>
              <a:t> *</a:t>
            </a:r>
            <a:r>
              <a:rPr lang="en-US" sz="1400" b="1" dirty="0" err="1" smtClean="0">
                <a:solidFill>
                  <a:srgbClr val="0033CC"/>
                </a:solidFill>
                <a:latin typeface="Courier New" pitchFamily="49" charset="0"/>
                <a:cs typeface="Courier New" pitchFamily="49" charset="0"/>
              </a:rPr>
              <a:t>mutex</a:t>
            </a:r>
            <a:r>
              <a:rPr lang="en-US" sz="1400" b="1" dirty="0" smtClean="0">
                <a:solidFill>
                  <a:srgbClr val="0033CC"/>
                </a:solidFill>
                <a:latin typeface="Courier New" pitchFamily="49" charset="0"/>
                <a:cs typeface="Courier New" pitchFamily="49" charset="0"/>
              </a:rPr>
              <a:t>)</a:t>
            </a:r>
          </a:p>
          <a:p>
            <a:pPr marL="177800" indent="-177800" algn="just">
              <a:spcBef>
                <a:spcPts val="600"/>
              </a:spcBef>
            </a:pPr>
            <a:r>
              <a:rPr lang="es-AR" sz="1200" dirty="0" smtClean="0">
                <a:solidFill>
                  <a:srgbClr val="0033CC"/>
                </a:solidFill>
                <a:latin typeface="Arial" pitchFamily="34" charset="0"/>
                <a:cs typeface="Arial" pitchFamily="34" charset="0"/>
                <a:hlinkClick r:id="rId4"/>
              </a:rPr>
              <a:t>http://man7.org/linux/man-pages/man3/pthread_mutex_destroy.3p.html</a:t>
            </a:r>
            <a:endParaRPr lang="es-AR" sz="1200" dirty="0" smtClean="0">
              <a:solidFill>
                <a:srgbClr val="0033CC"/>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r>
              <a:rPr lang="es-AR" sz="1400" dirty="0" smtClean="0">
                <a:solidFill>
                  <a:schemeClr val="tx1"/>
                </a:solidFill>
                <a:latin typeface="Arial" pitchFamily="34" charset="0"/>
                <a:cs typeface="Arial" pitchFamily="34" charset="0"/>
              </a:rPr>
              <a:t>Bloquear  y desbloquear</a:t>
            </a:r>
          </a:p>
          <a:p>
            <a:pPr marL="177800" indent="-177800" algn="just">
              <a:spcBef>
                <a:spcPts val="600"/>
              </a:spcBef>
            </a:pPr>
            <a:r>
              <a:rPr lang="es-AR" sz="1400" b="1" dirty="0" smtClean="0">
                <a:solidFill>
                  <a:srgbClr val="0033CC"/>
                </a:solidFill>
                <a:latin typeface="Courier New" pitchFamily="49" charset="0"/>
                <a:cs typeface="Courier New" pitchFamily="49" charset="0"/>
              </a:rPr>
              <a:t>int </a:t>
            </a:r>
            <a:r>
              <a:rPr lang="es-AR" sz="1400" b="1" dirty="0" err="1" smtClean="0">
                <a:solidFill>
                  <a:srgbClr val="0033CC"/>
                </a:solidFill>
                <a:latin typeface="Courier New" pitchFamily="49" charset="0"/>
                <a:cs typeface="Courier New" pitchFamily="49" charset="0"/>
              </a:rPr>
              <a:t>pthread_mutex_lock</a:t>
            </a:r>
            <a:r>
              <a:rPr lang="es-AR" sz="1400" b="1" dirty="0" smtClean="0">
                <a:solidFill>
                  <a:srgbClr val="0033CC"/>
                </a:solidFill>
                <a:latin typeface="Courier New" pitchFamily="49" charset="0"/>
                <a:cs typeface="Courier New" pitchFamily="49" charset="0"/>
              </a:rPr>
              <a:t>(</a:t>
            </a:r>
            <a:r>
              <a:rPr lang="es-AR" sz="1400" b="1" dirty="0" err="1" smtClean="0">
                <a:solidFill>
                  <a:srgbClr val="0033CC"/>
                </a:solidFill>
                <a:latin typeface="Courier New" pitchFamily="49" charset="0"/>
                <a:cs typeface="Courier New" pitchFamily="49" charset="0"/>
              </a:rPr>
              <a:t>pthread_mutex_t</a:t>
            </a:r>
            <a:r>
              <a:rPr lang="es-AR" sz="1400" b="1" dirty="0" smtClean="0">
                <a:solidFill>
                  <a:srgbClr val="0033CC"/>
                </a:solidFill>
                <a:latin typeface="Courier New" pitchFamily="49" charset="0"/>
                <a:cs typeface="Courier New" pitchFamily="49" charset="0"/>
              </a:rPr>
              <a:t> * </a:t>
            </a:r>
            <a:r>
              <a:rPr lang="es-AR" sz="1400" b="1" dirty="0" err="1" smtClean="0">
                <a:solidFill>
                  <a:srgbClr val="0033CC"/>
                </a:solidFill>
                <a:latin typeface="Courier New" pitchFamily="49" charset="0"/>
                <a:cs typeface="Courier New" pitchFamily="49" charset="0"/>
              </a:rPr>
              <a:t>mutex</a:t>
            </a:r>
            <a:r>
              <a:rPr lang="es-AR" sz="1400" b="1" dirty="0" smtClean="0">
                <a:solidFill>
                  <a:srgbClr val="0033CC"/>
                </a:solidFill>
                <a:latin typeface="Courier New" pitchFamily="49" charset="0"/>
                <a:cs typeface="Courier New" pitchFamily="49" charset="0"/>
              </a:rPr>
              <a:t>);</a:t>
            </a:r>
          </a:p>
          <a:p>
            <a:pPr marL="177800" indent="-177800" algn="just">
              <a:spcBef>
                <a:spcPts val="600"/>
              </a:spcBef>
            </a:pPr>
            <a:r>
              <a:rPr lang="es-AR" sz="1400" b="1" dirty="0" smtClean="0">
                <a:solidFill>
                  <a:srgbClr val="0033CC"/>
                </a:solidFill>
                <a:latin typeface="Courier New" pitchFamily="49" charset="0"/>
                <a:cs typeface="Courier New" pitchFamily="49" charset="0"/>
              </a:rPr>
              <a:t>int </a:t>
            </a:r>
            <a:r>
              <a:rPr lang="es-AR" sz="1400" b="1" dirty="0" err="1" smtClean="0">
                <a:solidFill>
                  <a:srgbClr val="0033CC"/>
                </a:solidFill>
                <a:latin typeface="Courier New" pitchFamily="49" charset="0"/>
                <a:cs typeface="Courier New" pitchFamily="49" charset="0"/>
              </a:rPr>
              <a:t>pthread_mutex_unlock</a:t>
            </a:r>
            <a:r>
              <a:rPr lang="es-AR" sz="1400" b="1" dirty="0" smtClean="0">
                <a:solidFill>
                  <a:srgbClr val="0033CC"/>
                </a:solidFill>
                <a:latin typeface="Courier New" pitchFamily="49" charset="0"/>
                <a:cs typeface="Courier New" pitchFamily="49" charset="0"/>
              </a:rPr>
              <a:t> (</a:t>
            </a:r>
            <a:r>
              <a:rPr lang="es-AR" sz="1400" b="1" dirty="0" err="1" smtClean="0">
                <a:solidFill>
                  <a:srgbClr val="0033CC"/>
                </a:solidFill>
                <a:latin typeface="Courier New" pitchFamily="49" charset="0"/>
                <a:cs typeface="Courier New" pitchFamily="49" charset="0"/>
              </a:rPr>
              <a:t>pthread_mutex_t</a:t>
            </a:r>
            <a:r>
              <a:rPr lang="es-AR" sz="1400" b="1" dirty="0" smtClean="0">
                <a:solidFill>
                  <a:srgbClr val="0033CC"/>
                </a:solidFill>
                <a:latin typeface="Courier New" pitchFamily="49" charset="0"/>
                <a:cs typeface="Courier New" pitchFamily="49" charset="0"/>
              </a:rPr>
              <a:t> * </a:t>
            </a:r>
            <a:r>
              <a:rPr lang="es-AR" sz="1400" b="1" dirty="0" err="1" smtClean="0">
                <a:solidFill>
                  <a:srgbClr val="0033CC"/>
                </a:solidFill>
                <a:latin typeface="Courier New" pitchFamily="49" charset="0"/>
                <a:cs typeface="Courier New" pitchFamily="49" charset="0"/>
              </a:rPr>
              <a:t>mutex</a:t>
            </a:r>
            <a:r>
              <a:rPr lang="es-AR" sz="1400" b="1" dirty="0" smtClean="0">
                <a:solidFill>
                  <a:srgbClr val="0033CC"/>
                </a:solidFill>
                <a:latin typeface="Courier New" pitchFamily="49" charset="0"/>
                <a:cs typeface="Courier New" pitchFamily="49" charset="0"/>
              </a:rPr>
              <a:t> );</a:t>
            </a:r>
          </a:p>
          <a:p>
            <a:pPr marL="177800" indent="-177800" algn="just">
              <a:spcBef>
                <a:spcPts val="600"/>
              </a:spcBef>
            </a:pPr>
            <a:r>
              <a:rPr lang="es-AR" sz="1200" dirty="0" smtClean="0">
                <a:solidFill>
                  <a:srgbClr val="0033CC"/>
                </a:solidFill>
                <a:latin typeface="Arial" pitchFamily="34" charset="0"/>
                <a:cs typeface="Arial" pitchFamily="34" charset="0"/>
                <a:hlinkClick r:id="rId5"/>
              </a:rPr>
              <a:t>http://man7.org/linux/man-pages/man3/pthread_mutex_unlock.3p.html</a:t>
            </a: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b="1" dirty="0" smtClean="0">
              <a:solidFill>
                <a:srgbClr val="0033CC"/>
              </a:solidFill>
              <a:latin typeface="Courier New" pitchFamily="49" charset="0"/>
              <a:cs typeface="Courier New" pitchFamily="49"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smtClean="0">
              <a:solidFill>
                <a:schemeClr val="tx1"/>
              </a:solidFill>
              <a:latin typeface="Arial" pitchFamily="34" charset="0"/>
              <a:cs typeface="Arial" pitchFamily="34" charset="0"/>
            </a:endParaRPr>
          </a:p>
          <a:p>
            <a:pPr marL="177800" indent="-177800" algn="just">
              <a:spcBef>
                <a:spcPts val="600"/>
              </a:spcBef>
            </a:pPr>
            <a:endParaRPr lang="es-AR" sz="1400" dirty="0" err="1" smtClean="0">
              <a:solidFill>
                <a:schemeClr val="tx1"/>
              </a:solidFill>
              <a:latin typeface="Arial" pitchFamily="34" charset="0"/>
              <a:cs typeface="Arial" pitchFamily="34" charset="0"/>
            </a:endParaRPr>
          </a:p>
        </p:txBody>
      </p:sp>
      <p:sp>
        <p:nvSpPr>
          <p:cNvPr id="7" name="1 Título"/>
          <p:cNvSpPr txBox="1">
            <a:spLocks/>
          </p:cNvSpPr>
          <p:nvPr/>
        </p:nvSpPr>
        <p:spPr>
          <a:xfrm>
            <a:off x="457200"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Sincronización</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9525" y="73474"/>
            <a:ext cx="9153525" cy="492443"/>
          </a:xfrm>
          <a:prstGeom prst="rect">
            <a:avLst/>
          </a:prstGeom>
          <a:noFill/>
        </p:spPr>
        <p:txBody>
          <a:bodyPr wrap="square" rtlCol="0">
            <a:spAutoFit/>
          </a:bodyPr>
          <a:lstStyle/>
          <a:p>
            <a:pPr marL="177800" indent="-177800" algn="just">
              <a:spcBef>
                <a:spcPts val="600"/>
              </a:spcBef>
            </a:pPr>
            <a:r>
              <a:rPr lang="es-AR" sz="1300" b="1" dirty="0" smtClean="0">
                <a:solidFill>
                  <a:schemeClr val="tx1"/>
                </a:solidFill>
                <a:latin typeface="Arial" pitchFamily="34" charset="0"/>
                <a:cs typeface="Arial" pitchFamily="34" charset="0"/>
              </a:rPr>
              <a:t>Ejemplo : </a:t>
            </a:r>
            <a:r>
              <a:rPr lang="es-AR" sz="1300" dirty="0" smtClean="0">
                <a:solidFill>
                  <a:schemeClr val="tx1"/>
                </a:solidFill>
                <a:latin typeface="Arial" pitchFamily="34" charset="0"/>
                <a:cs typeface="Arial" pitchFamily="34" charset="0"/>
              </a:rPr>
              <a:t>Realizar la sincronización de la siguiente secuencia de ejecución. Cada proceso está asociado con una letra diferente.  La secuencia es    ABCABCABCABCABCABCABCABC……….</a:t>
            </a:r>
          </a:p>
        </p:txBody>
      </p:sp>
      <p:pic>
        <p:nvPicPr>
          <p:cNvPr id="83977" name="Picture 9"/>
          <p:cNvPicPr>
            <a:picLocks noChangeAspect="1" noChangeArrowheads="1"/>
          </p:cNvPicPr>
          <p:nvPr/>
        </p:nvPicPr>
        <p:blipFill>
          <a:blip r:embed="rId3" cstate="print"/>
          <a:srcRect/>
          <a:stretch>
            <a:fillRect/>
          </a:stretch>
        </p:blipFill>
        <p:spPr bwMode="auto">
          <a:xfrm>
            <a:off x="736600" y="668338"/>
            <a:ext cx="3152775" cy="4505325"/>
          </a:xfrm>
          <a:prstGeom prst="rect">
            <a:avLst/>
          </a:prstGeom>
          <a:ln>
            <a:noFill/>
          </a:ln>
          <a:effectLst>
            <a:outerShdw blurRad="292100" dist="139700" dir="2700000" algn="tl" rotWithShape="0">
              <a:srgbClr val="333333">
                <a:alpha val="65000"/>
              </a:srgbClr>
            </a:outerShdw>
          </a:effectLst>
        </p:spPr>
      </p:pic>
      <p:pic>
        <p:nvPicPr>
          <p:cNvPr id="83978" name="Picture 10"/>
          <p:cNvPicPr>
            <a:picLocks noChangeAspect="1" noChangeArrowheads="1"/>
          </p:cNvPicPr>
          <p:nvPr/>
        </p:nvPicPr>
        <p:blipFill>
          <a:blip r:embed="rId4" cstate="print"/>
          <a:srcRect/>
          <a:stretch>
            <a:fillRect/>
          </a:stretch>
        </p:blipFill>
        <p:spPr bwMode="auto">
          <a:xfrm>
            <a:off x="4445000" y="671513"/>
            <a:ext cx="4114800" cy="4524375"/>
          </a:xfrm>
          <a:prstGeom prst="rect">
            <a:avLst/>
          </a:prstGeom>
          <a:ln>
            <a:noFill/>
          </a:ln>
          <a:effectLst>
            <a:outerShdw blurRad="292100" dist="139700" dir="2700000" algn="tl" rotWithShape="0">
              <a:srgbClr val="333333">
                <a:alpha val="65000"/>
              </a:srgbClr>
            </a:outerShdw>
          </a:effectLst>
        </p:spPr>
      </p:pic>
      <p:pic>
        <p:nvPicPr>
          <p:cNvPr id="83979" name="Picture 11"/>
          <p:cNvPicPr>
            <a:picLocks noChangeAspect="1" noChangeArrowheads="1"/>
          </p:cNvPicPr>
          <p:nvPr/>
        </p:nvPicPr>
        <p:blipFill>
          <a:blip r:embed="rId5" cstate="print"/>
          <a:srcRect/>
          <a:stretch>
            <a:fillRect/>
          </a:stretch>
        </p:blipFill>
        <p:spPr bwMode="auto">
          <a:xfrm>
            <a:off x="1893875" y="5256272"/>
            <a:ext cx="6107113" cy="1525528"/>
          </a:xfrm>
          <a:prstGeom prst="rect">
            <a:avLst/>
          </a:prstGeom>
          <a:ln>
            <a:noFill/>
          </a:ln>
          <a:effectLst>
            <a:outerShdw blurRad="292100" dist="139700" dir="2700000" algn="tl" rotWithShape="0">
              <a:srgbClr val="333333">
                <a:alpha val="65000"/>
              </a:srgbClr>
            </a:outerShdw>
          </a:effectLst>
        </p:spPr>
      </p:pic>
      <p:cxnSp>
        <p:nvCxnSpPr>
          <p:cNvPr id="36" name="35 Conector recto de flecha"/>
          <p:cNvCxnSpPr/>
          <p:nvPr/>
        </p:nvCxnSpPr>
        <p:spPr>
          <a:xfrm flipH="1">
            <a:off x="7358743" y="2423886"/>
            <a:ext cx="943428" cy="13062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101600" y="300713"/>
            <a:ext cx="8966200" cy="523220"/>
          </a:xfrm>
          <a:prstGeom prst="rect">
            <a:avLst/>
          </a:prstGeom>
          <a:noFill/>
        </p:spPr>
        <p:txBody>
          <a:bodyPr wrap="square" rtlCol="0">
            <a:spAutoFit/>
          </a:bodyPr>
          <a:lstStyle/>
          <a:p>
            <a:pPr marL="177800" indent="-177800" algn="just">
              <a:spcBef>
                <a:spcPts val="600"/>
              </a:spcBef>
            </a:pPr>
            <a:r>
              <a:rPr lang="es-AR" sz="1400" b="1" dirty="0" smtClean="0">
                <a:solidFill>
                  <a:schemeClr val="tx1"/>
                </a:solidFill>
                <a:latin typeface="Arial" pitchFamily="34" charset="0"/>
                <a:cs typeface="Arial" pitchFamily="34" charset="0"/>
              </a:rPr>
              <a:t>Ejemplo : </a:t>
            </a:r>
            <a:r>
              <a:rPr lang="es-AR" sz="1400" dirty="0" smtClean="0">
                <a:solidFill>
                  <a:schemeClr val="tx1"/>
                </a:solidFill>
                <a:latin typeface="Arial" pitchFamily="34" charset="0"/>
                <a:cs typeface="Arial" pitchFamily="34" charset="0"/>
              </a:rPr>
              <a:t>Realice un programa que calcule la suma de los números que se encuentran entre 2 que se leen por teclado. Utilice 2 hilos donde el primero debe sumar la primera mitad de la lista y el otro la segunda mitad</a:t>
            </a:r>
          </a:p>
        </p:txBody>
      </p:sp>
      <p:grpSp>
        <p:nvGrpSpPr>
          <p:cNvPr id="22" name="21 Grupo"/>
          <p:cNvGrpSpPr/>
          <p:nvPr/>
        </p:nvGrpSpPr>
        <p:grpSpPr>
          <a:xfrm>
            <a:off x="63500" y="1539649"/>
            <a:ext cx="4267200" cy="4351337"/>
            <a:chOff x="63500" y="1539649"/>
            <a:chExt cx="4267200" cy="4351337"/>
          </a:xfrm>
        </p:grpSpPr>
        <p:pic>
          <p:nvPicPr>
            <p:cNvPr id="81923" name="Picture 3"/>
            <p:cNvPicPr>
              <a:picLocks noChangeAspect="1" noChangeArrowheads="1"/>
            </p:cNvPicPr>
            <p:nvPr/>
          </p:nvPicPr>
          <p:blipFill>
            <a:blip r:embed="rId3" cstate="print"/>
            <a:srcRect r="7818"/>
            <a:stretch>
              <a:fillRect/>
            </a:stretch>
          </p:blipFill>
          <p:spPr bwMode="auto">
            <a:xfrm>
              <a:off x="63500" y="1539649"/>
              <a:ext cx="4267200" cy="4351337"/>
            </a:xfrm>
            <a:prstGeom prst="rect">
              <a:avLst/>
            </a:prstGeom>
            <a:solidFill>
              <a:srgbClr val="FF66FF">
                <a:alpha val="25098"/>
              </a:srgbClr>
            </a:solidFill>
            <a:ln w="3175">
              <a:solidFill>
                <a:schemeClr val="bg1">
                  <a:lumMod val="85000"/>
                </a:schemeClr>
              </a:solidFill>
            </a:ln>
            <a:effectLst>
              <a:outerShdw blurRad="292100" dist="139700" dir="2700000" algn="tl" rotWithShape="0">
                <a:srgbClr val="333333">
                  <a:alpha val="65000"/>
                </a:srgbClr>
              </a:outerShdw>
            </a:effectLst>
          </p:spPr>
        </p:pic>
        <p:sp>
          <p:nvSpPr>
            <p:cNvPr id="13" name="12 Rectángulo"/>
            <p:cNvSpPr/>
            <p:nvPr/>
          </p:nvSpPr>
          <p:spPr>
            <a:xfrm>
              <a:off x="476251" y="1866900"/>
              <a:ext cx="2828924" cy="219076"/>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13 Rectángulo"/>
            <p:cNvSpPr/>
            <p:nvPr/>
          </p:nvSpPr>
          <p:spPr>
            <a:xfrm>
              <a:off x="476251" y="2914650"/>
              <a:ext cx="2828924" cy="219076"/>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14 Rectángulo"/>
            <p:cNvSpPr/>
            <p:nvPr/>
          </p:nvSpPr>
          <p:spPr>
            <a:xfrm>
              <a:off x="476251" y="4143375"/>
              <a:ext cx="2828924" cy="219076"/>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15 Rectángulo"/>
            <p:cNvSpPr/>
            <p:nvPr/>
          </p:nvSpPr>
          <p:spPr>
            <a:xfrm>
              <a:off x="466726" y="5019675"/>
              <a:ext cx="2828924" cy="219076"/>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grpSp>
        <p:nvGrpSpPr>
          <p:cNvPr id="24" name="23 Grupo"/>
          <p:cNvGrpSpPr/>
          <p:nvPr/>
        </p:nvGrpSpPr>
        <p:grpSpPr>
          <a:xfrm>
            <a:off x="4560663" y="1256099"/>
            <a:ext cx="4343400" cy="5230432"/>
            <a:chOff x="4676775" y="1560893"/>
            <a:chExt cx="4343400" cy="5230432"/>
          </a:xfrm>
        </p:grpSpPr>
        <p:pic>
          <p:nvPicPr>
            <p:cNvPr id="81926" name="Picture 6"/>
            <p:cNvPicPr>
              <a:picLocks noChangeAspect="1" noChangeArrowheads="1"/>
            </p:cNvPicPr>
            <p:nvPr/>
          </p:nvPicPr>
          <p:blipFill>
            <a:blip r:embed="rId4" cstate="print"/>
            <a:srcRect/>
            <a:stretch>
              <a:fillRect/>
            </a:stretch>
          </p:blipFill>
          <p:spPr bwMode="auto">
            <a:xfrm>
              <a:off x="4676775" y="1560893"/>
              <a:ext cx="4343400" cy="5230432"/>
            </a:xfrm>
            <a:prstGeom prst="rect">
              <a:avLst/>
            </a:prstGeom>
            <a:ln>
              <a:noFill/>
            </a:ln>
            <a:effectLst>
              <a:outerShdw blurRad="292100" dist="139700" dir="2700000" algn="tl" rotWithShape="0">
                <a:srgbClr val="333333">
                  <a:alpha val="65000"/>
                </a:srgbClr>
              </a:outerShdw>
            </a:effectLst>
          </p:spPr>
        </p:pic>
        <p:sp>
          <p:nvSpPr>
            <p:cNvPr id="17" name="16 Rectángulo"/>
            <p:cNvSpPr/>
            <p:nvPr/>
          </p:nvSpPr>
          <p:spPr>
            <a:xfrm>
              <a:off x="5095876" y="2105025"/>
              <a:ext cx="2828924" cy="219076"/>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17 Rectángulo"/>
            <p:cNvSpPr/>
            <p:nvPr/>
          </p:nvSpPr>
          <p:spPr>
            <a:xfrm>
              <a:off x="5086351" y="4533899"/>
              <a:ext cx="2828924" cy="390525"/>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19 Rectángulo"/>
            <p:cNvSpPr/>
            <p:nvPr/>
          </p:nvSpPr>
          <p:spPr>
            <a:xfrm>
              <a:off x="5095876" y="5905499"/>
              <a:ext cx="2828924" cy="390525"/>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9525" y="73474"/>
            <a:ext cx="9153525" cy="292388"/>
          </a:xfrm>
          <a:prstGeom prst="rect">
            <a:avLst/>
          </a:prstGeom>
          <a:noFill/>
        </p:spPr>
        <p:txBody>
          <a:bodyPr wrap="square" rtlCol="0">
            <a:spAutoFit/>
          </a:bodyPr>
          <a:lstStyle/>
          <a:p>
            <a:pPr marL="177800" indent="-177800" algn="just">
              <a:spcBef>
                <a:spcPts val="600"/>
              </a:spcBef>
            </a:pPr>
            <a:r>
              <a:rPr lang="es-AR" sz="1300" b="1" dirty="0" smtClean="0">
                <a:solidFill>
                  <a:schemeClr val="tx1"/>
                </a:solidFill>
                <a:latin typeface="Arial" pitchFamily="34" charset="0"/>
                <a:cs typeface="Arial" pitchFamily="34" charset="0"/>
              </a:rPr>
              <a:t>Ejemplo : </a:t>
            </a:r>
            <a:r>
              <a:rPr lang="es-AR" sz="1300" dirty="0" smtClean="0">
                <a:solidFill>
                  <a:schemeClr val="tx1"/>
                </a:solidFill>
                <a:latin typeface="Arial" pitchFamily="34" charset="0"/>
                <a:cs typeface="Arial" pitchFamily="34" charset="0"/>
              </a:rPr>
              <a:t>Sincronizar los ciclos de las funciones de tal manera que se escriban los valores del 1 al 20 en orden.</a:t>
            </a:r>
          </a:p>
        </p:txBody>
      </p:sp>
      <p:pic>
        <p:nvPicPr>
          <p:cNvPr id="83972" name="Picture 4"/>
          <p:cNvPicPr>
            <a:picLocks noChangeAspect="1" noChangeArrowheads="1"/>
          </p:cNvPicPr>
          <p:nvPr/>
        </p:nvPicPr>
        <p:blipFill>
          <a:blip r:embed="rId3" cstate="print"/>
          <a:srcRect t="451"/>
          <a:stretch>
            <a:fillRect/>
          </a:stretch>
        </p:blipFill>
        <p:spPr bwMode="auto">
          <a:xfrm>
            <a:off x="243342" y="1480451"/>
            <a:ext cx="3838575" cy="4352246"/>
          </a:xfrm>
          <a:prstGeom prst="rect">
            <a:avLst/>
          </a:prstGeom>
          <a:ln>
            <a:noFill/>
          </a:ln>
          <a:effectLst>
            <a:outerShdw blurRad="190500" algn="tl" rotWithShape="0">
              <a:srgbClr val="000000">
                <a:alpha val="70000"/>
              </a:srgbClr>
            </a:outerShdw>
          </a:effectLst>
        </p:spPr>
      </p:pic>
      <p:pic>
        <p:nvPicPr>
          <p:cNvPr id="83973" name="Picture 5"/>
          <p:cNvPicPr>
            <a:picLocks noChangeAspect="1" noChangeArrowheads="1"/>
          </p:cNvPicPr>
          <p:nvPr/>
        </p:nvPicPr>
        <p:blipFill>
          <a:blip r:embed="rId4" cstate="print"/>
          <a:srcRect/>
          <a:stretch>
            <a:fillRect/>
          </a:stretch>
        </p:blipFill>
        <p:spPr bwMode="auto">
          <a:xfrm>
            <a:off x="3826327" y="889222"/>
            <a:ext cx="3581400" cy="5514975"/>
          </a:xfrm>
          <a:prstGeom prst="rect">
            <a:avLst/>
          </a:prstGeom>
          <a:ln>
            <a:noFill/>
          </a:ln>
          <a:effectLst>
            <a:outerShdw blurRad="190500" algn="tl" rotWithShape="0">
              <a:srgbClr val="000000">
                <a:alpha val="70000"/>
              </a:srgbClr>
            </a:outerShdw>
          </a:effectLst>
        </p:spPr>
      </p:pic>
      <p:pic>
        <p:nvPicPr>
          <p:cNvPr id="83974" name="Picture 6"/>
          <p:cNvPicPr>
            <a:picLocks noChangeAspect="1" noChangeArrowheads="1"/>
          </p:cNvPicPr>
          <p:nvPr/>
        </p:nvPicPr>
        <p:blipFill>
          <a:blip r:embed="rId5" cstate="print"/>
          <a:srcRect/>
          <a:stretch>
            <a:fillRect/>
          </a:stretch>
        </p:blipFill>
        <p:spPr bwMode="auto">
          <a:xfrm>
            <a:off x="7734527" y="2455181"/>
            <a:ext cx="1019175" cy="409575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26 Grupo"/>
          <p:cNvGrpSpPr/>
          <p:nvPr/>
        </p:nvGrpSpPr>
        <p:grpSpPr>
          <a:xfrm>
            <a:off x="0" y="1130300"/>
            <a:ext cx="5393987" cy="5380038"/>
            <a:chOff x="0" y="1130300"/>
            <a:chExt cx="5393987" cy="5380038"/>
          </a:xfrm>
        </p:grpSpPr>
        <p:pic>
          <p:nvPicPr>
            <p:cNvPr id="82946" name="Picture 2"/>
            <p:cNvPicPr>
              <a:picLocks noChangeAspect="1" noChangeArrowheads="1"/>
            </p:cNvPicPr>
            <p:nvPr/>
          </p:nvPicPr>
          <p:blipFill>
            <a:blip r:embed="rId3" cstate="print"/>
            <a:srcRect t="430"/>
            <a:stretch>
              <a:fillRect/>
            </a:stretch>
          </p:blipFill>
          <p:spPr bwMode="auto">
            <a:xfrm>
              <a:off x="0" y="1130300"/>
              <a:ext cx="5393987" cy="5380038"/>
            </a:xfrm>
            <a:prstGeom prst="rect">
              <a:avLst/>
            </a:prstGeom>
            <a:ln>
              <a:noFill/>
            </a:ln>
            <a:effectLst>
              <a:outerShdw blurRad="190500" algn="tl" rotWithShape="0">
                <a:srgbClr val="000000">
                  <a:alpha val="70000"/>
                </a:srgbClr>
              </a:outerShdw>
            </a:effectLst>
          </p:spPr>
        </p:pic>
        <p:sp>
          <p:nvSpPr>
            <p:cNvPr id="13" name="12 Rectángulo"/>
            <p:cNvSpPr/>
            <p:nvPr/>
          </p:nvSpPr>
          <p:spPr>
            <a:xfrm>
              <a:off x="381001" y="1581150"/>
              <a:ext cx="1873249" cy="184150"/>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13 Rectángulo"/>
            <p:cNvSpPr/>
            <p:nvPr/>
          </p:nvSpPr>
          <p:spPr>
            <a:xfrm>
              <a:off x="361951" y="3790950"/>
              <a:ext cx="1517649" cy="361950"/>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18 Rectángulo"/>
            <p:cNvSpPr/>
            <p:nvPr/>
          </p:nvSpPr>
          <p:spPr>
            <a:xfrm>
              <a:off x="368301" y="1752600"/>
              <a:ext cx="1873249" cy="18415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1" name="20 Rectángulo"/>
            <p:cNvSpPr/>
            <p:nvPr/>
          </p:nvSpPr>
          <p:spPr>
            <a:xfrm>
              <a:off x="374651" y="3162300"/>
              <a:ext cx="2311399" cy="18415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2" name="21 Rectángulo"/>
            <p:cNvSpPr/>
            <p:nvPr/>
          </p:nvSpPr>
          <p:spPr>
            <a:xfrm>
              <a:off x="361950" y="4425950"/>
              <a:ext cx="3187699" cy="18415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4" name="23 Rectángulo"/>
            <p:cNvSpPr/>
            <p:nvPr/>
          </p:nvSpPr>
          <p:spPr>
            <a:xfrm>
              <a:off x="361950" y="5054600"/>
              <a:ext cx="3187699" cy="18415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5" name="24 Rectángulo"/>
            <p:cNvSpPr/>
            <p:nvPr/>
          </p:nvSpPr>
          <p:spPr>
            <a:xfrm>
              <a:off x="368300" y="5537200"/>
              <a:ext cx="3187699" cy="18415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6" name="25 Rectángulo"/>
            <p:cNvSpPr/>
            <p:nvPr/>
          </p:nvSpPr>
          <p:spPr>
            <a:xfrm>
              <a:off x="368300" y="6165850"/>
              <a:ext cx="3187699" cy="18415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gr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3" name="22 CuadroTexto"/>
          <p:cNvSpPr txBox="1"/>
          <p:nvPr/>
        </p:nvSpPr>
        <p:spPr>
          <a:xfrm>
            <a:off x="-9525" y="73474"/>
            <a:ext cx="3730625" cy="692497"/>
          </a:xfrm>
          <a:prstGeom prst="rect">
            <a:avLst/>
          </a:prstGeom>
          <a:noFill/>
        </p:spPr>
        <p:txBody>
          <a:bodyPr wrap="square" rtlCol="0">
            <a:spAutoFit/>
          </a:bodyPr>
          <a:lstStyle/>
          <a:p>
            <a:pPr marL="177800" indent="-177800" algn="just">
              <a:spcBef>
                <a:spcPts val="600"/>
              </a:spcBef>
            </a:pPr>
            <a:r>
              <a:rPr lang="es-AR" sz="1300" b="1" dirty="0" smtClean="0">
                <a:solidFill>
                  <a:schemeClr val="tx1"/>
                </a:solidFill>
                <a:latin typeface="Arial" pitchFamily="34" charset="0"/>
                <a:cs typeface="Arial" pitchFamily="34" charset="0"/>
              </a:rPr>
              <a:t>Ejemplo : </a:t>
            </a:r>
            <a:r>
              <a:rPr lang="es-AR" sz="1300" dirty="0" smtClean="0">
                <a:solidFill>
                  <a:schemeClr val="tx1"/>
                </a:solidFill>
                <a:latin typeface="Arial" pitchFamily="34" charset="0"/>
                <a:cs typeface="Arial" pitchFamily="34" charset="0"/>
              </a:rPr>
              <a:t>Realice un sistema productor-consumidor con búfer circular utilizando </a:t>
            </a:r>
            <a:r>
              <a:rPr lang="es-AR" sz="1300" dirty="0" err="1" smtClean="0">
                <a:solidFill>
                  <a:schemeClr val="tx1"/>
                </a:solidFill>
                <a:latin typeface="Arial" pitchFamily="34" charset="0"/>
                <a:cs typeface="Arial" pitchFamily="34" charset="0"/>
              </a:rPr>
              <a:t>mutex</a:t>
            </a:r>
            <a:r>
              <a:rPr lang="es-AR" sz="1300" dirty="0" smtClean="0">
                <a:solidFill>
                  <a:schemeClr val="tx1"/>
                </a:solidFill>
                <a:latin typeface="Arial" pitchFamily="34" charset="0"/>
                <a:cs typeface="Arial" pitchFamily="34" charset="0"/>
              </a:rPr>
              <a:t> y semáforos</a:t>
            </a:r>
          </a:p>
        </p:txBody>
      </p:sp>
      <p:grpSp>
        <p:nvGrpSpPr>
          <p:cNvPr id="33" name="32 Grupo"/>
          <p:cNvGrpSpPr/>
          <p:nvPr/>
        </p:nvGrpSpPr>
        <p:grpSpPr>
          <a:xfrm>
            <a:off x="4181475" y="190500"/>
            <a:ext cx="4962525" cy="6667500"/>
            <a:chOff x="4181475" y="190500"/>
            <a:chExt cx="4962525" cy="6667500"/>
          </a:xfrm>
        </p:grpSpPr>
        <p:pic>
          <p:nvPicPr>
            <p:cNvPr id="82947" name="Picture 3"/>
            <p:cNvPicPr>
              <a:picLocks noChangeAspect="1" noChangeArrowheads="1"/>
            </p:cNvPicPr>
            <p:nvPr/>
          </p:nvPicPr>
          <p:blipFill>
            <a:blip r:embed="rId4" cstate="print"/>
            <a:srcRect/>
            <a:stretch>
              <a:fillRect/>
            </a:stretch>
          </p:blipFill>
          <p:spPr bwMode="auto">
            <a:xfrm>
              <a:off x="4181475" y="190500"/>
              <a:ext cx="4962525" cy="6667500"/>
            </a:xfrm>
            <a:prstGeom prst="rect">
              <a:avLst/>
            </a:prstGeom>
            <a:ln>
              <a:noFill/>
            </a:ln>
            <a:effectLst>
              <a:outerShdw blurRad="190500" algn="tl" rotWithShape="0">
                <a:srgbClr val="000000">
                  <a:alpha val="70000"/>
                </a:srgbClr>
              </a:outerShdw>
            </a:effectLst>
          </p:spPr>
        </p:pic>
        <p:sp>
          <p:nvSpPr>
            <p:cNvPr id="17" name="16 Rectángulo"/>
            <p:cNvSpPr/>
            <p:nvPr/>
          </p:nvSpPr>
          <p:spPr>
            <a:xfrm>
              <a:off x="4554856" y="678179"/>
              <a:ext cx="2417444" cy="182881"/>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17 Rectángulo"/>
            <p:cNvSpPr/>
            <p:nvPr/>
          </p:nvSpPr>
          <p:spPr>
            <a:xfrm>
              <a:off x="4568190" y="5059679"/>
              <a:ext cx="3364229" cy="358141"/>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8" name="27 Rectángulo"/>
            <p:cNvSpPr/>
            <p:nvPr/>
          </p:nvSpPr>
          <p:spPr>
            <a:xfrm>
              <a:off x="4554856" y="1181099"/>
              <a:ext cx="2417444" cy="182881"/>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28 Rectángulo"/>
            <p:cNvSpPr/>
            <p:nvPr/>
          </p:nvSpPr>
          <p:spPr>
            <a:xfrm>
              <a:off x="4554856" y="2301239"/>
              <a:ext cx="2417444" cy="182881"/>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29 Rectángulo"/>
            <p:cNvSpPr/>
            <p:nvPr/>
          </p:nvSpPr>
          <p:spPr>
            <a:xfrm>
              <a:off x="4554856" y="2804159"/>
              <a:ext cx="2417444" cy="182881"/>
            </a:xfrm>
            <a:prstGeom prst="rect">
              <a:avLst/>
            </a:prstGeom>
            <a:solidFill>
              <a:srgbClr val="FF0066">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30 Rectángulo"/>
            <p:cNvSpPr/>
            <p:nvPr/>
          </p:nvSpPr>
          <p:spPr>
            <a:xfrm>
              <a:off x="4554856" y="4876801"/>
              <a:ext cx="3385184" cy="190500"/>
            </a:xfrm>
            <a:prstGeom prst="rect">
              <a:avLst/>
            </a:prstGeom>
            <a:solidFill>
              <a:srgbClr val="FFFF00">
                <a:alpha val="10196"/>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31 Rectángulo"/>
            <p:cNvSpPr/>
            <p:nvPr/>
          </p:nvSpPr>
          <p:spPr>
            <a:xfrm>
              <a:off x="4552950" y="4883150"/>
              <a:ext cx="3364230" cy="191770"/>
            </a:xfrm>
            <a:prstGeom prst="rect">
              <a:avLst/>
            </a:prstGeom>
            <a:solidFill>
              <a:srgbClr val="FFFF00">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grpSp>
      <p:pic>
        <p:nvPicPr>
          <p:cNvPr id="82948" name="Picture 4"/>
          <p:cNvPicPr>
            <a:picLocks noChangeAspect="1" noChangeArrowheads="1"/>
          </p:cNvPicPr>
          <p:nvPr/>
        </p:nvPicPr>
        <p:blipFill>
          <a:blip r:embed="rId5" cstate="print"/>
          <a:srcRect/>
          <a:stretch>
            <a:fillRect/>
          </a:stretch>
        </p:blipFill>
        <p:spPr bwMode="auto">
          <a:xfrm>
            <a:off x="9361715" y="576943"/>
            <a:ext cx="5210175" cy="6019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strVal val="#ppt_w*2.5"/>
                                          </p:val>
                                        </p:tav>
                                        <p:tav tm="100000">
                                          <p:val>
                                            <p:strVal val="#ppt_w"/>
                                          </p:val>
                                        </p:tav>
                                      </p:tavLst>
                                    </p:anim>
                                    <p:anim calcmode="lin" valueType="num">
                                      <p:cBhvr>
                                        <p:cTn id="8" dur="500" fill="hold"/>
                                        <p:tgtEl>
                                          <p:spTgt spid="33"/>
                                        </p:tgtEl>
                                        <p:attrNameLst>
                                          <p:attrName>ppt_h</p:attrName>
                                        </p:attrNameLst>
                                      </p:cBhvr>
                                      <p:tavLst>
                                        <p:tav tm="0">
                                          <p:val>
                                            <p:strVal val="#ppt_h*0.01"/>
                                          </p:val>
                                        </p:tav>
                                        <p:tav tm="100000">
                                          <p:val>
                                            <p:strVal val="#ppt_h"/>
                                          </p:val>
                                        </p:tav>
                                      </p:tavLst>
                                    </p:anim>
                                    <p:anim calcmode="lin" valueType="num">
                                      <p:cBhvr>
                                        <p:cTn id="9" dur="500" fill="hold"/>
                                        <p:tgtEl>
                                          <p:spTgt spid="33"/>
                                        </p:tgtEl>
                                        <p:attrNameLst>
                                          <p:attrName>ppt_x</p:attrName>
                                        </p:attrNameLst>
                                      </p:cBhvr>
                                      <p:tavLst>
                                        <p:tav tm="0">
                                          <p:val>
                                            <p:strVal val="#ppt_x"/>
                                          </p:val>
                                        </p:tav>
                                        <p:tav tm="100000">
                                          <p:val>
                                            <p:strVal val="#ppt_x"/>
                                          </p:val>
                                        </p:tav>
                                      </p:tavLst>
                                    </p:anim>
                                    <p:anim calcmode="lin" valueType="num">
                                      <p:cBhvr>
                                        <p:cTn id="10" dur="500" fill="hold"/>
                                        <p:tgtEl>
                                          <p:spTgt spid="33"/>
                                        </p:tgtEl>
                                        <p:attrNameLst>
                                          <p:attrName>ppt_y</p:attrName>
                                        </p:attrNameLst>
                                      </p:cBhvr>
                                      <p:tavLst>
                                        <p:tav tm="0">
                                          <p:val>
                                            <p:strVal val="#ppt_h+1"/>
                                          </p:val>
                                        </p:tav>
                                        <p:tav tm="100000">
                                          <p:val>
                                            <p:strVal val="#ppt_y"/>
                                          </p:val>
                                        </p:tav>
                                      </p:tavLst>
                                    </p:anim>
                                    <p:animEffect transition="in" filter="fade">
                                      <p:cBhvr>
                                        <p:cTn id="1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Repasando…..</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6" name="5 CuadroTexto"/>
          <p:cNvSpPr txBox="1"/>
          <p:nvPr/>
        </p:nvSpPr>
        <p:spPr>
          <a:xfrm>
            <a:off x="190500" y="927100"/>
            <a:ext cx="8699499" cy="5709255"/>
          </a:xfrm>
          <a:prstGeom prst="rect">
            <a:avLst/>
          </a:prstGeom>
          <a:noFill/>
        </p:spPr>
        <p:txBody>
          <a:bodyPr wrap="square" rtlCol="0">
            <a:spAutoFit/>
          </a:bodyPr>
          <a:lstStyle/>
          <a:p>
            <a:pPr algn="just">
              <a:spcAft>
                <a:spcPts val="600"/>
              </a:spcAft>
            </a:pPr>
            <a:r>
              <a:rPr lang="es-AR" sz="2000" dirty="0" smtClean="0">
                <a:solidFill>
                  <a:schemeClr val="tx1"/>
                </a:solidFill>
                <a:latin typeface="Arial" pitchFamily="34" charset="0"/>
                <a:cs typeface="Arial" pitchFamily="34" charset="0"/>
              </a:rPr>
              <a:t>La </a:t>
            </a:r>
            <a:r>
              <a:rPr lang="es-AR" sz="2000" u="sng" dirty="0" smtClean="0">
                <a:solidFill>
                  <a:schemeClr val="tx1"/>
                </a:solidFill>
                <a:latin typeface="Arial" pitchFamily="34" charset="0"/>
                <a:cs typeface="Arial" pitchFamily="34" charset="0"/>
              </a:rPr>
              <a:t>condición de carrera </a:t>
            </a:r>
            <a:r>
              <a:rPr lang="es-AR" sz="2000" dirty="0" smtClean="0">
                <a:solidFill>
                  <a:schemeClr val="tx1"/>
                </a:solidFill>
                <a:latin typeface="Arial" pitchFamily="34" charset="0"/>
                <a:cs typeface="Arial" pitchFamily="34" charset="0"/>
              </a:rPr>
              <a:t>(</a:t>
            </a:r>
            <a:r>
              <a:rPr lang="es-AR" sz="2000" dirty="0" err="1" smtClean="0">
                <a:solidFill>
                  <a:schemeClr val="tx1"/>
                </a:solidFill>
                <a:latin typeface="Arial" pitchFamily="34" charset="0"/>
                <a:cs typeface="Arial" pitchFamily="34" charset="0"/>
              </a:rPr>
              <a:t>race</a:t>
            </a:r>
            <a:r>
              <a:rPr lang="es-AR" sz="2000" dirty="0" smtClean="0">
                <a:solidFill>
                  <a:schemeClr val="tx1"/>
                </a:solidFill>
                <a:latin typeface="Arial" pitchFamily="34" charset="0"/>
                <a:cs typeface="Arial" pitchFamily="34" charset="0"/>
              </a:rPr>
              <a:t> </a:t>
            </a:r>
            <a:r>
              <a:rPr lang="es-AR" sz="2000" dirty="0" err="1" smtClean="0">
                <a:solidFill>
                  <a:schemeClr val="tx1"/>
                </a:solidFill>
                <a:latin typeface="Arial" pitchFamily="34" charset="0"/>
                <a:cs typeface="Arial" pitchFamily="34" charset="0"/>
              </a:rPr>
              <a:t>condition</a:t>
            </a:r>
            <a:r>
              <a:rPr lang="es-AR" sz="2000" dirty="0" smtClean="0">
                <a:solidFill>
                  <a:schemeClr val="tx1"/>
                </a:solidFill>
                <a:latin typeface="Arial" pitchFamily="34" charset="0"/>
                <a:cs typeface="Arial" pitchFamily="34" charset="0"/>
              </a:rPr>
              <a:t>) ocurre cuando dos o más procesos acceden un recurso compartido sin control, de manera que el resultado combinado de este acceso depende del orden de llegada.</a:t>
            </a:r>
          </a:p>
          <a:p>
            <a:pPr algn="just"/>
            <a:r>
              <a:rPr lang="es-AR" sz="2000" dirty="0" smtClean="0">
                <a:solidFill>
                  <a:schemeClr val="tx1"/>
                </a:solidFill>
                <a:latin typeface="Arial" pitchFamily="34" charset="0"/>
                <a:cs typeface="Arial" pitchFamily="34" charset="0"/>
              </a:rPr>
              <a:t>La selección de las operaciones primitivas adecuadas para garantizar la </a:t>
            </a:r>
            <a:r>
              <a:rPr lang="es-AR" sz="2000" u="sng" dirty="0" smtClean="0">
                <a:solidFill>
                  <a:schemeClr val="tx1"/>
                </a:solidFill>
                <a:latin typeface="Arial" pitchFamily="34" charset="0"/>
                <a:cs typeface="Arial" pitchFamily="34" charset="0"/>
              </a:rPr>
              <a:t>exclusión mutua</a:t>
            </a:r>
            <a:r>
              <a:rPr lang="es-AR" sz="2000" dirty="0" smtClean="0">
                <a:solidFill>
                  <a:schemeClr val="tx1"/>
                </a:solidFill>
                <a:latin typeface="Arial" pitchFamily="34" charset="0"/>
                <a:cs typeface="Arial" pitchFamily="34" charset="0"/>
              </a:rPr>
              <a:t> de las secciones críticas deberían cumplir con las condiciones siguientes:</a:t>
            </a:r>
          </a:p>
          <a:p>
            <a:pPr marL="457200" indent="-457200" algn="just">
              <a:buFont typeface="+mj-lt"/>
              <a:buAutoNum type="arabicPeriod"/>
            </a:pPr>
            <a:r>
              <a:rPr lang="es-AR" sz="2000" dirty="0" smtClean="0">
                <a:solidFill>
                  <a:schemeClr val="tx1"/>
                </a:solidFill>
                <a:latin typeface="Arial" pitchFamily="34" charset="0"/>
                <a:cs typeface="Arial" pitchFamily="34" charset="0"/>
              </a:rPr>
              <a:t>Que no haya en ningún momento dos procesos dentro de sus respectivas secciones críticas.</a:t>
            </a:r>
          </a:p>
          <a:p>
            <a:pPr marL="457200" indent="-457200" algn="just">
              <a:buFont typeface="+mj-lt"/>
              <a:buAutoNum type="arabicPeriod"/>
            </a:pPr>
            <a:r>
              <a:rPr lang="es-AR" sz="2000" dirty="0" smtClean="0">
                <a:solidFill>
                  <a:schemeClr val="tx1"/>
                </a:solidFill>
                <a:latin typeface="Arial" pitchFamily="34" charset="0"/>
                <a:cs typeface="Arial" pitchFamily="34" charset="0"/>
              </a:rPr>
              <a:t>Que ningún proceso que esté fuera de su sección crítica pueda bloquear a otros.</a:t>
            </a:r>
          </a:p>
          <a:p>
            <a:pPr marL="457200" indent="-457200" algn="just">
              <a:buFont typeface="+mj-lt"/>
              <a:buAutoNum type="arabicPeriod"/>
            </a:pPr>
            <a:r>
              <a:rPr lang="es-AR" sz="2000" dirty="0" smtClean="0">
                <a:solidFill>
                  <a:schemeClr val="tx1"/>
                </a:solidFill>
                <a:latin typeface="Arial" pitchFamily="34" charset="0"/>
                <a:cs typeface="Arial" pitchFamily="34" charset="0"/>
              </a:rPr>
              <a:t>Que ningún proceso tenga que esperar un intervalo de tiempo arbitrariamente grande para entrar en su sección crítica.</a:t>
            </a:r>
          </a:p>
          <a:p>
            <a:pPr marL="457200" indent="-457200" algn="just">
              <a:buFontTx/>
              <a:buChar char="-"/>
            </a:pPr>
            <a:r>
              <a:rPr lang="es-AR" sz="2000" dirty="0" smtClean="0">
                <a:solidFill>
                  <a:schemeClr val="tx1"/>
                </a:solidFill>
                <a:latin typeface="Arial" pitchFamily="34" charset="0"/>
                <a:cs typeface="Arial" pitchFamily="34" charset="0"/>
              </a:rPr>
              <a:t>Además no hacer suposiciones a priori sobre las velocidades relativas de los procesos o el número de procesadores disponibles</a:t>
            </a:r>
          </a:p>
          <a:p>
            <a:pPr marL="457200" indent="-457200" algn="just"/>
            <a:endParaRPr lang="es-AR" sz="2000" dirty="0" smtClean="0">
              <a:solidFill>
                <a:schemeClr val="tx1"/>
              </a:solidFill>
              <a:latin typeface="Arial" pitchFamily="34" charset="0"/>
              <a:cs typeface="Arial" pitchFamily="34" charset="0"/>
            </a:endParaRPr>
          </a:p>
          <a:p>
            <a:pPr marL="457200" indent="-457200" algn="just"/>
            <a:r>
              <a:rPr lang="es-AR" sz="2000" dirty="0" smtClean="0">
                <a:solidFill>
                  <a:schemeClr val="tx1"/>
                </a:solidFill>
                <a:latin typeface="Arial" pitchFamily="34" charset="0"/>
                <a:cs typeface="Arial" pitchFamily="34" charset="0"/>
              </a:rPr>
              <a:t>Un semáforo es una estructura diseñada para sincronizar dos o más hilos o procesos, de modo que su ejecución se realice de forma ordenada y sin conflictos entre ellos.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42016</TotalTime>
  <Words>6121</Words>
  <Application>Microsoft Office PowerPoint</Application>
  <PresentationFormat>Presentación en pantalla (4:3)</PresentationFormat>
  <Paragraphs>697</Paragraphs>
  <Slides>47</Slides>
  <Notes>44</Notes>
  <HiddenSlides>0</HiddenSlides>
  <MMClips>0</MMClips>
  <ScaleCrop>false</ScaleCrop>
  <HeadingPairs>
    <vt:vector size="4" baseType="variant">
      <vt:variant>
        <vt:lpstr>Tema</vt:lpstr>
      </vt:variant>
      <vt:variant>
        <vt:i4>1</vt:i4>
      </vt:variant>
      <vt:variant>
        <vt:lpstr>Títulos de diapositiva</vt:lpstr>
      </vt:variant>
      <vt:variant>
        <vt:i4>47</vt:i4>
      </vt:variant>
    </vt:vector>
  </HeadingPairs>
  <TitlesOfParts>
    <vt:vector size="48"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vector>
  </TitlesOfParts>
  <Company>East Texas Data Service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Ryzen</cp:lastModifiedBy>
  <cp:revision>1736</cp:revision>
  <cp:lastPrinted>2001-01-13T18:08:51Z</cp:lastPrinted>
  <dcterms:created xsi:type="dcterms:W3CDTF">2000-11-18T17:50:49Z</dcterms:created>
  <dcterms:modified xsi:type="dcterms:W3CDTF">2026-03-09T14:28:04Z</dcterms:modified>
</cp:coreProperties>
</file>