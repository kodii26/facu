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21"/>
  </p:notesMasterIdLst>
  <p:handoutMasterIdLst>
    <p:handoutMasterId r:id="rId22"/>
  </p:handoutMasterIdLst>
  <p:sldIdLst>
    <p:sldId id="353" r:id="rId2"/>
    <p:sldId id="354" r:id="rId3"/>
    <p:sldId id="356" r:id="rId4"/>
    <p:sldId id="355" r:id="rId5"/>
    <p:sldId id="357" r:id="rId6"/>
    <p:sldId id="366" r:id="rId7"/>
    <p:sldId id="358" r:id="rId8"/>
    <p:sldId id="364" r:id="rId9"/>
    <p:sldId id="362" r:id="rId10"/>
    <p:sldId id="359" r:id="rId11"/>
    <p:sldId id="365" r:id="rId12"/>
    <p:sldId id="360" r:id="rId13"/>
    <p:sldId id="361" r:id="rId14"/>
    <p:sldId id="363" r:id="rId15"/>
    <p:sldId id="367" r:id="rId16"/>
    <p:sldId id="368" r:id="rId17"/>
    <p:sldId id="369" r:id="rId18"/>
    <p:sldId id="371" r:id="rId19"/>
    <p:sldId id="370" r:id="rId20"/>
  </p:sldIdLst>
  <p:sldSz cx="9144000" cy="6858000" type="screen4x3"/>
  <p:notesSz cx="6754813" cy="9866313"/>
  <p:defaultTextStyle>
    <a:defPPr>
      <a:defRPr lang="en-US"/>
    </a:defPPr>
    <a:lvl1pPr algn="ctr" rtl="0" fontAlgn="base">
      <a:spcBef>
        <a:spcPct val="0"/>
      </a:spcBef>
      <a:spcAft>
        <a:spcPct val="0"/>
      </a:spcAft>
      <a:defRPr sz="2400" kern="1200">
        <a:solidFill>
          <a:srgbClr val="C0C0C0"/>
        </a:solidFill>
        <a:latin typeface="Times New Roman" pitchFamily="18" charset="0"/>
        <a:ea typeface="+mn-ea"/>
        <a:cs typeface="+mn-cs"/>
      </a:defRPr>
    </a:lvl1pPr>
    <a:lvl2pPr marL="457200" algn="ctr" rtl="0" fontAlgn="base">
      <a:spcBef>
        <a:spcPct val="0"/>
      </a:spcBef>
      <a:spcAft>
        <a:spcPct val="0"/>
      </a:spcAft>
      <a:defRPr sz="2400" kern="1200">
        <a:solidFill>
          <a:srgbClr val="C0C0C0"/>
        </a:solidFill>
        <a:latin typeface="Times New Roman" pitchFamily="18" charset="0"/>
        <a:ea typeface="+mn-ea"/>
        <a:cs typeface="+mn-cs"/>
      </a:defRPr>
    </a:lvl2pPr>
    <a:lvl3pPr marL="914400" algn="ctr" rtl="0" fontAlgn="base">
      <a:spcBef>
        <a:spcPct val="0"/>
      </a:spcBef>
      <a:spcAft>
        <a:spcPct val="0"/>
      </a:spcAft>
      <a:defRPr sz="2400" kern="1200">
        <a:solidFill>
          <a:srgbClr val="C0C0C0"/>
        </a:solidFill>
        <a:latin typeface="Times New Roman" pitchFamily="18" charset="0"/>
        <a:ea typeface="+mn-ea"/>
        <a:cs typeface="+mn-cs"/>
      </a:defRPr>
    </a:lvl3pPr>
    <a:lvl4pPr marL="1371600" algn="ctr" rtl="0" fontAlgn="base">
      <a:spcBef>
        <a:spcPct val="0"/>
      </a:spcBef>
      <a:spcAft>
        <a:spcPct val="0"/>
      </a:spcAft>
      <a:defRPr sz="2400" kern="1200">
        <a:solidFill>
          <a:srgbClr val="C0C0C0"/>
        </a:solidFill>
        <a:latin typeface="Times New Roman" pitchFamily="18" charset="0"/>
        <a:ea typeface="+mn-ea"/>
        <a:cs typeface="+mn-cs"/>
      </a:defRPr>
    </a:lvl4pPr>
    <a:lvl5pPr marL="1828800" algn="ctr" rtl="0" fontAlgn="base">
      <a:spcBef>
        <a:spcPct val="0"/>
      </a:spcBef>
      <a:spcAft>
        <a:spcPct val="0"/>
      </a:spcAft>
      <a:defRPr sz="2400" kern="1200">
        <a:solidFill>
          <a:srgbClr val="C0C0C0"/>
        </a:solidFill>
        <a:latin typeface="Times New Roman" pitchFamily="18" charset="0"/>
        <a:ea typeface="+mn-ea"/>
        <a:cs typeface="+mn-cs"/>
      </a:defRPr>
    </a:lvl5pPr>
    <a:lvl6pPr marL="2286000" algn="l" defTabSz="914400" rtl="0" eaLnBrk="1" latinLnBrk="0" hangingPunct="1">
      <a:defRPr sz="2400" kern="1200">
        <a:solidFill>
          <a:srgbClr val="C0C0C0"/>
        </a:solidFill>
        <a:latin typeface="Times New Roman" pitchFamily="18" charset="0"/>
        <a:ea typeface="+mn-ea"/>
        <a:cs typeface="+mn-cs"/>
      </a:defRPr>
    </a:lvl6pPr>
    <a:lvl7pPr marL="2743200" algn="l" defTabSz="914400" rtl="0" eaLnBrk="1" latinLnBrk="0" hangingPunct="1">
      <a:defRPr sz="2400" kern="1200">
        <a:solidFill>
          <a:srgbClr val="C0C0C0"/>
        </a:solidFill>
        <a:latin typeface="Times New Roman" pitchFamily="18" charset="0"/>
        <a:ea typeface="+mn-ea"/>
        <a:cs typeface="+mn-cs"/>
      </a:defRPr>
    </a:lvl7pPr>
    <a:lvl8pPr marL="3200400" algn="l" defTabSz="914400" rtl="0" eaLnBrk="1" latinLnBrk="0" hangingPunct="1">
      <a:defRPr sz="2400" kern="1200">
        <a:solidFill>
          <a:srgbClr val="C0C0C0"/>
        </a:solidFill>
        <a:latin typeface="Times New Roman" pitchFamily="18" charset="0"/>
        <a:ea typeface="+mn-ea"/>
        <a:cs typeface="+mn-cs"/>
      </a:defRPr>
    </a:lvl8pPr>
    <a:lvl9pPr marL="3657600" algn="l" defTabSz="914400" rtl="0" eaLnBrk="1" latinLnBrk="0" hangingPunct="1">
      <a:defRPr sz="2400" kern="1200">
        <a:solidFill>
          <a:srgbClr val="C0C0C0"/>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ECB8"/>
    <a:srgbClr val="FF00FF"/>
    <a:srgbClr val="CC00CC"/>
    <a:srgbClr val="969696"/>
    <a:srgbClr val="B2B2B2"/>
    <a:srgbClr val="C0C0C0"/>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6797" autoAdjust="0"/>
    <p:restoredTop sz="95238" autoAdjust="0"/>
  </p:normalViewPr>
  <p:slideViewPr>
    <p:cSldViewPr snapToGrid="0">
      <p:cViewPr varScale="1">
        <p:scale>
          <a:sx n="104" d="100"/>
          <a:sy n="104" d="100"/>
        </p:scale>
        <p:origin x="-2472" y="-96"/>
      </p:cViewPr>
      <p:guideLst>
        <p:guide orient="horz" pos="48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644"/>
    </p:cViewPr>
  </p:sorterViewPr>
  <p:notesViewPr>
    <p:cSldViewPr snapToGrid="0">
      <p:cViewPr>
        <p:scale>
          <a:sx n="100" d="100"/>
          <a:sy n="100" d="100"/>
        </p:scale>
        <p:origin x="-894" y="678"/>
      </p:cViewPr>
      <p:guideLst>
        <p:guide orient="horz" pos="3108"/>
        <p:guide pos="2128"/>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bwMode="auto">
          <a:xfrm>
            <a:off x="0"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l" defTabSz="923925">
              <a:defRPr sz="1200">
                <a:solidFill>
                  <a:schemeClr val="tx1"/>
                </a:solidFill>
              </a:defRPr>
            </a:lvl1pPr>
          </a:lstStyle>
          <a:p>
            <a:endParaRPr lang="es-ES"/>
          </a:p>
        </p:txBody>
      </p:sp>
      <p:sp>
        <p:nvSpPr>
          <p:cNvPr id="161795" name="Rectangle 3"/>
          <p:cNvSpPr>
            <a:spLocks noGrp="1" noChangeArrowheads="1"/>
          </p:cNvSpPr>
          <p:nvPr>
            <p:ph type="dt" sz="quarter" idx="1"/>
          </p:nvPr>
        </p:nvSpPr>
        <p:spPr bwMode="auto">
          <a:xfrm>
            <a:off x="3825875"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r" defTabSz="923925">
              <a:defRPr sz="1200">
                <a:solidFill>
                  <a:schemeClr val="tx1"/>
                </a:solidFill>
              </a:defRPr>
            </a:lvl1pPr>
          </a:lstStyle>
          <a:p>
            <a:endParaRPr lang="es-ES"/>
          </a:p>
        </p:txBody>
      </p:sp>
      <p:sp>
        <p:nvSpPr>
          <p:cNvPr id="161796" name="Rectangle 4"/>
          <p:cNvSpPr>
            <a:spLocks noGrp="1" noChangeArrowheads="1"/>
          </p:cNvSpPr>
          <p:nvPr>
            <p:ph type="ftr" sz="quarter" idx="2"/>
          </p:nvPr>
        </p:nvSpPr>
        <p:spPr bwMode="auto">
          <a:xfrm>
            <a:off x="0" y="9371013"/>
            <a:ext cx="2927350" cy="493712"/>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l" defTabSz="923925">
              <a:defRPr sz="1200">
                <a:solidFill>
                  <a:schemeClr val="tx1"/>
                </a:solidFill>
              </a:defRPr>
            </a:lvl1pPr>
          </a:lstStyle>
          <a:p>
            <a:endParaRPr lang="es-ES"/>
          </a:p>
        </p:txBody>
      </p:sp>
      <p:sp>
        <p:nvSpPr>
          <p:cNvPr id="161797" name="Rectangle 5"/>
          <p:cNvSpPr>
            <a:spLocks noGrp="1" noChangeArrowheads="1"/>
          </p:cNvSpPr>
          <p:nvPr>
            <p:ph type="sldNum" sz="quarter" idx="3"/>
          </p:nvPr>
        </p:nvSpPr>
        <p:spPr bwMode="auto">
          <a:xfrm>
            <a:off x="3825875" y="9371013"/>
            <a:ext cx="2927350" cy="493712"/>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r" defTabSz="923925">
              <a:defRPr sz="1200">
                <a:solidFill>
                  <a:schemeClr val="tx1"/>
                </a:solidFill>
              </a:defRPr>
            </a:lvl1pPr>
          </a:lstStyle>
          <a:p>
            <a:fld id="{9CE37C41-A159-4594-91F3-888775DD85B5}" type="slidenum">
              <a:rPr lang="es-ES"/>
              <a:pPr/>
              <a:t>‹Nº›</a:t>
            </a:fld>
            <a:endParaRPr lang="es-E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l" defTabSz="923925">
              <a:defRPr sz="1200">
                <a:solidFill>
                  <a:schemeClr val="tx1"/>
                </a:solidFill>
                <a:latin typeface="Helvetica" pitchFamily="2" charset="0"/>
              </a:defRPr>
            </a:lvl1pPr>
          </a:lstStyle>
          <a:p>
            <a:endParaRPr lang="es-AR"/>
          </a:p>
        </p:txBody>
      </p:sp>
      <p:sp>
        <p:nvSpPr>
          <p:cNvPr id="39939" name="Rectangle 3"/>
          <p:cNvSpPr>
            <a:spLocks noGrp="1" noChangeArrowheads="1"/>
          </p:cNvSpPr>
          <p:nvPr>
            <p:ph type="dt" idx="1"/>
          </p:nvPr>
        </p:nvSpPr>
        <p:spPr bwMode="auto">
          <a:xfrm>
            <a:off x="3827463"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r" defTabSz="923925">
              <a:defRPr sz="1200">
                <a:solidFill>
                  <a:schemeClr val="tx1"/>
                </a:solidFill>
                <a:latin typeface="Helvetica" pitchFamily="2" charset="0"/>
              </a:defRPr>
            </a:lvl1pPr>
          </a:lstStyle>
          <a:p>
            <a:endParaRPr lang="es-AR"/>
          </a:p>
        </p:txBody>
      </p:sp>
      <p:sp>
        <p:nvSpPr>
          <p:cNvPr id="65540" name="Rectangle 4"/>
          <p:cNvSpPr>
            <a:spLocks noGrp="1" noRot="1" noChangeAspect="1" noChangeArrowheads="1" noTextEdit="1"/>
          </p:cNvSpPr>
          <p:nvPr>
            <p:ph type="sldImg" idx="2"/>
          </p:nvPr>
        </p:nvSpPr>
        <p:spPr bwMode="auto">
          <a:xfrm>
            <a:off x="911225" y="739775"/>
            <a:ext cx="4933950" cy="3700463"/>
          </a:xfrm>
          <a:prstGeom prst="rect">
            <a:avLst/>
          </a:prstGeom>
          <a:noFill/>
          <a:ln w="9525">
            <a:solidFill>
              <a:srgbClr val="000000"/>
            </a:solidFill>
            <a:miter lim="800000"/>
            <a:headEnd/>
            <a:tailEnd/>
          </a:ln>
        </p:spPr>
      </p:sp>
      <p:sp>
        <p:nvSpPr>
          <p:cNvPr id="39941" name="Rectangle 5"/>
          <p:cNvSpPr>
            <a:spLocks noGrp="1" noChangeArrowheads="1"/>
          </p:cNvSpPr>
          <p:nvPr>
            <p:ph type="body" sz="quarter" idx="3"/>
          </p:nvPr>
        </p:nvSpPr>
        <p:spPr bwMode="auto">
          <a:xfrm>
            <a:off x="901700" y="4687888"/>
            <a:ext cx="4951413" cy="4438650"/>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9942" name="Rectangle 6"/>
          <p:cNvSpPr>
            <a:spLocks noGrp="1" noChangeArrowheads="1"/>
          </p:cNvSpPr>
          <p:nvPr>
            <p:ph type="ftr" sz="quarter" idx="4"/>
          </p:nvPr>
        </p:nvSpPr>
        <p:spPr bwMode="auto">
          <a:xfrm>
            <a:off x="0" y="9372600"/>
            <a:ext cx="2927350" cy="493713"/>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l" defTabSz="923925">
              <a:defRPr sz="1200">
                <a:solidFill>
                  <a:schemeClr val="tx1"/>
                </a:solidFill>
                <a:latin typeface="Helvetica" pitchFamily="2" charset="0"/>
              </a:defRPr>
            </a:lvl1pPr>
          </a:lstStyle>
          <a:p>
            <a:endParaRPr lang="es-AR"/>
          </a:p>
        </p:txBody>
      </p:sp>
      <p:sp>
        <p:nvSpPr>
          <p:cNvPr id="39943" name="Rectangle 7"/>
          <p:cNvSpPr>
            <a:spLocks noGrp="1" noChangeArrowheads="1"/>
          </p:cNvSpPr>
          <p:nvPr>
            <p:ph type="sldNum" sz="quarter" idx="5"/>
          </p:nvPr>
        </p:nvSpPr>
        <p:spPr bwMode="auto">
          <a:xfrm>
            <a:off x="3827463" y="9372600"/>
            <a:ext cx="2927350" cy="493713"/>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r" defTabSz="923925">
              <a:defRPr sz="1200">
                <a:solidFill>
                  <a:schemeClr val="tx1"/>
                </a:solidFill>
                <a:latin typeface="Helvetica" pitchFamily="2" charset="0"/>
              </a:defRPr>
            </a:lvl1pPr>
          </a:lstStyle>
          <a:p>
            <a:fld id="{98A73CF5-616C-4868-81A9-4AC3700A2DB9}" type="slidenum">
              <a:rPr lang="en-US"/>
              <a:pPr/>
              <a:t>‹Nº›</a:t>
            </a:fld>
            <a:endParaRPr 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1</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2</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3</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4</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5</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6</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7</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8</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9</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10</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11</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12</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13</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14</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15</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16</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17</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18</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97E4F811-C059-4AE8-B982-054922376137}" type="slidenum">
              <a:rPr lang="en-US"/>
              <a:pPr/>
              <a:t>19</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4A3DAAAE-BB77-4FBD-80CD-8806CBC61BD7}"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02AE1CF4-E877-4C43-B0C9-9F5999A0129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7C01F3A6-EE0E-4D54-B51D-BEF7C6505C79}"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fecha"/>
          <p:cNvSpPr>
            <a:spLocks noGrp="1"/>
          </p:cNvSpPr>
          <p:nvPr>
            <p:ph type="dt" sz="half" idx="10"/>
          </p:nvPr>
        </p:nvSpPr>
        <p:spPr/>
        <p:txBody>
          <a:bodyPr/>
          <a:lstStyle/>
          <a:p>
            <a:pPr>
              <a:defRPr/>
            </a:pPr>
            <a:endParaRPr lang="en-US"/>
          </a:p>
        </p:txBody>
      </p:sp>
      <p:sp>
        <p:nvSpPr>
          <p:cNvPr id="6" name="5 Marcador de pie de página"/>
          <p:cNvSpPr>
            <a:spLocks noGrp="1"/>
          </p:cNvSpPr>
          <p:nvPr>
            <p:ph type="ftr" sz="quarter" idx="11"/>
          </p:nvPr>
        </p:nvSpPr>
        <p:spPr/>
        <p:txBody>
          <a:bodyPr/>
          <a:lstStyle/>
          <a:p>
            <a:pPr>
              <a:defRPr/>
            </a:pPr>
            <a:endParaRPr lang="en-US"/>
          </a:p>
        </p:txBody>
      </p:sp>
      <p:sp>
        <p:nvSpPr>
          <p:cNvPr id="7" name="6 Marcador de número de diapositiva"/>
          <p:cNvSpPr>
            <a:spLocks noGrp="1"/>
          </p:cNvSpPr>
          <p:nvPr>
            <p:ph type="sldNum" sz="quarter" idx="12"/>
          </p:nvPr>
        </p:nvSpPr>
        <p:spPr/>
        <p:txBody>
          <a:bodyPr/>
          <a:lstStyle/>
          <a:p>
            <a:fld id="{71067C7A-EA67-4BE9-B0DB-B07E46B014F5}"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6 Marcador de fecha"/>
          <p:cNvSpPr>
            <a:spLocks noGrp="1"/>
          </p:cNvSpPr>
          <p:nvPr>
            <p:ph type="dt" sz="half" idx="10"/>
          </p:nvPr>
        </p:nvSpPr>
        <p:spPr/>
        <p:txBody>
          <a:bodyPr/>
          <a:lstStyle/>
          <a:p>
            <a:pPr>
              <a:defRPr/>
            </a:pPr>
            <a:endParaRPr lang="en-US"/>
          </a:p>
        </p:txBody>
      </p:sp>
      <p:sp>
        <p:nvSpPr>
          <p:cNvPr id="8" name="7 Marcador de pie de página"/>
          <p:cNvSpPr>
            <a:spLocks noGrp="1"/>
          </p:cNvSpPr>
          <p:nvPr>
            <p:ph type="ftr" sz="quarter" idx="11"/>
          </p:nvPr>
        </p:nvSpPr>
        <p:spPr/>
        <p:txBody>
          <a:bodyPr/>
          <a:lstStyle/>
          <a:p>
            <a:pPr>
              <a:defRPr/>
            </a:pPr>
            <a:endParaRPr lang="en-US"/>
          </a:p>
        </p:txBody>
      </p:sp>
      <p:sp>
        <p:nvSpPr>
          <p:cNvPr id="9" name="8 Marcador de número de diapositiva"/>
          <p:cNvSpPr>
            <a:spLocks noGrp="1"/>
          </p:cNvSpPr>
          <p:nvPr>
            <p:ph type="sldNum" sz="quarter" idx="12"/>
          </p:nvPr>
        </p:nvSpPr>
        <p:spPr/>
        <p:txBody>
          <a:bodyPr/>
          <a:lstStyle/>
          <a:p>
            <a:fld id="{48CF61DD-4B4E-4120-8426-714380EE5029}"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fecha"/>
          <p:cNvSpPr>
            <a:spLocks noGrp="1"/>
          </p:cNvSpPr>
          <p:nvPr>
            <p:ph type="dt" sz="half" idx="10"/>
          </p:nvPr>
        </p:nvSpPr>
        <p:spPr/>
        <p:txBody>
          <a:bodyPr/>
          <a:lstStyle/>
          <a:p>
            <a:pPr>
              <a:defRPr/>
            </a:pPr>
            <a:endParaRPr lang="en-US"/>
          </a:p>
        </p:txBody>
      </p:sp>
      <p:sp>
        <p:nvSpPr>
          <p:cNvPr id="4" name="3 Marcador de pie de página"/>
          <p:cNvSpPr>
            <a:spLocks noGrp="1"/>
          </p:cNvSpPr>
          <p:nvPr>
            <p:ph type="ftr" sz="quarter" idx="11"/>
          </p:nvPr>
        </p:nvSpPr>
        <p:spPr/>
        <p:txBody>
          <a:bodyPr/>
          <a:lstStyle/>
          <a:p>
            <a:pPr>
              <a:defRPr/>
            </a:pPr>
            <a:endParaRPr lang="en-US"/>
          </a:p>
        </p:txBody>
      </p:sp>
      <p:sp>
        <p:nvSpPr>
          <p:cNvPr id="5" name="4 Marcador de número de diapositiva"/>
          <p:cNvSpPr>
            <a:spLocks noGrp="1"/>
          </p:cNvSpPr>
          <p:nvPr>
            <p:ph type="sldNum" sz="quarter" idx="12"/>
          </p:nvPr>
        </p:nvSpPr>
        <p:spPr/>
        <p:txBody>
          <a:bodyPr/>
          <a:lstStyle/>
          <a:p>
            <a:fld id="{15DC7E45-CE50-45F6-AFAF-BBEC857663AF}"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pPr>
              <a:defRPr/>
            </a:pPr>
            <a:endParaRPr lang="en-US"/>
          </a:p>
        </p:txBody>
      </p:sp>
      <p:sp>
        <p:nvSpPr>
          <p:cNvPr id="3" name="2 Marcador de pie de página"/>
          <p:cNvSpPr>
            <a:spLocks noGrp="1"/>
          </p:cNvSpPr>
          <p:nvPr>
            <p:ph type="ftr" sz="quarter" idx="11"/>
          </p:nvPr>
        </p:nvSpPr>
        <p:spPr/>
        <p:txBody>
          <a:bodyPr/>
          <a:lstStyle/>
          <a:p>
            <a:pPr>
              <a:defRPr/>
            </a:pPr>
            <a:endParaRPr lang="en-US"/>
          </a:p>
        </p:txBody>
      </p:sp>
      <p:sp>
        <p:nvSpPr>
          <p:cNvPr id="4" name="3 Marcador de número de diapositiva"/>
          <p:cNvSpPr>
            <a:spLocks noGrp="1"/>
          </p:cNvSpPr>
          <p:nvPr>
            <p:ph type="sldNum" sz="quarter" idx="12"/>
          </p:nvPr>
        </p:nvSpPr>
        <p:spPr/>
        <p:txBody>
          <a:bodyPr/>
          <a:lstStyle/>
          <a:p>
            <a:fld id="{B759D250-4BD8-4A02-9BB7-6F58C7E277CE}"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pPr>
              <a:defRPr/>
            </a:pPr>
            <a:endParaRPr lang="en-US"/>
          </a:p>
        </p:txBody>
      </p:sp>
      <p:sp>
        <p:nvSpPr>
          <p:cNvPr id="6" name="5 Marcador de pie de página"/>
          <p:cNvSpPr>
            <a:spLocks noGrp="1"/>
          </p:cNvSpPr>
          <p:nvPr>
            <p:ph type="ftr" sz="quarter" idx="11"/>
          </p:nvPr>
        </p:nvSpPr>
        <p:spPr/>
        <p:txBody>
          <a:bodyPr/>
          <a:lstStyle/>
          <a:p>
            <a:pPr>
              <a:defRPr/>
            </a:pPr>
            <a:endParaRPr lang="en-US"/>
          </a:p>
        </p:txBody>
      </p:sp>
      <p:sp>
        <p:nvSpPr>
          <p:cNvPr id="7" name="6 Marcador de número de diapositiva"/>
          <p:cNvSpPr>
            <a:spLocks noGrp="1"/>
          </p:cNvSpPr>
          <p:nvPr>
            <p:ph type="sldNum" sz="quarter" idx="12"/>
          </p:nvPr>
        </p:nvSpPr>
        <p:spPr/>
        <p:txBody>
          <a:bodyPr/>
          <a:lstStyle/>
          <a:p>
            <a:fld id="{9C34C138-3AA1-47A5-94C5-74E44E949D75}"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pPr>
              <a:defRPr/>
            </a:pPr>
            <a:endParaRPr lang="en-US"/>
          </a:p>
        </p:txBody>
      </p:sp>
      <p:sp>
        <p:nvSpPr>
          <p:cNvPr id="6" name="5 Marcador de pie de página"/>
          <p:cNvSpPr>
            <a:spLocks noGrp="1"/>
          </p:cNvSpPr>
          <p:nvPr>
            <p:ph type="ftr" sz="quarter" idx="11"/>
          </p:nvPr>
        </p:nvSpPr>
        <p:spPr/>
        <p:txBody>
          <a:bodyPr/>
          <a:lstStyle/>
          <a:p>
            <a:pPr>
              <a:defRPr/>
            </a:pPr>
            <a:endParaRPr lang="en-US"/>
          </a:p>
        </p:txBody>
      </p:sp>
      <p:sp>
        <p:nvSpPr>
          <p:cNvPr id="7" name="6 Marcador de número de diapositiva"/>
          <p:cNvSpPr>
            <a:spLocks noGrp="1"/>
          </p:cNvSpPr>
          <p:nvPr>
            <p:ph type="sldNum" sz="quarter" idx="12"/>
          </p:nvPr>
        </p:nvSpPr>
        <p:spPr/>
        <p:txBody>
          <a:bodyPr/>
          <a:lstStyle/>
          <a:p>
            <a:fld id="{92F53A78-FB7A-473A-B37B-537E71F8FD32}"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24E17C3E-6F24-490F-B5A6-302494F4F6F6}"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C90A54AD-D593-41AF-9419-80BAB15846A4}" type="slidenum">
              <a:rPr lang="en-US" smtClean="0"/>
              <a:pPr/>
              <a:t>‹Nº›</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773113" y="0"/>
            <a:ext cx="7772400" cy="952500"/>
          </a:xfrm>
        </p:spPr>
        <p:txBody>
          <a:bodyPr/>
          <a:lstStyle/>
          <a:p>
            <a:r>
              <a:rPr lang="es-ES" smtClean="0"/>
              <a:t>Haga clic para modificar el estilo de título del patrón</a:t>
            </a:r>
            <a:endParaRPr lang="es-ES"/>
          </a:p>
        </p:txBody>
      </p:sp>
      <p:sp>
        <p:nvSpPr>
          <p:cNvPr id="3" name="2 Marcador de texto"/>
          <p:cNvSpPr>
            <a:spLocks noGrp="1"/>
          </p:cNvSpPr>
          <p:nvPr>
            <p:ph type="body" sz="half" idx="1"/>
          </p:nvPr>
        </p:nvSpPr>
        <p:spPr>
          <a:xfrm>
            <a:off x="685800" y="1981200"/>
            <a:ext cx="3810000" cy="4114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981200"/>
            <a:ext cx="3810000" cy="4114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02CDFD1E-D31C-4027-98FC-BCB6935708C6}" type="slidenum">
              <a:rPr lang="en-US"/>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alphaModFix amt="30000"/>
            <a:lum/>
          </a:blip>
          <a:srcRect/>
          <a:stretch>
            <a:fillRect l="-27000" r="-27000"/>
          </a:stretch>
        </a:blip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8C601D-D1AA-400D-878E-9B5C6DECE3A0}" type="slidenum">
              <a:rPr lang="en-US" smtClean="0"/>
              <a:pPr/>
              <a:t>‹Nº›</a:t>
            </a:fld>
            <a:endParaRPr lang="en-US"/>
          </a:p>
        </p:txBody>
      </p:sp>
      <p:sp>
        <p:nvSpPr>
          <p:cNvPr id="7" name="Line 8"/>
          <p:cNvSpPr>
            <a:spLocks noChangeShapeType="1"/>
          </p:cNvSpPr>
          <p:nvPr/>
        </p:nvSpPr>
        <p:spPr bwMode="auto">
          <a:xfrm>
            <a:off x="0" y="952500"/>
            <a:ext cx="9144000" cy="0"/>
          </a:xfrm>
          <a:prstGeom prst="line">
            <a:avLst/>
          </a:prstGeom>
          <a:noFill/>
          <a:ln w="9525">
            <a:solidFill>
              <a:srgbClr val="FF3300"/>
            </a:solidFill>
            <a:round/>
            <a:headEnd/>
            <a:tailEnd/>
          </a:ln>
          <a:effectLst/>
        </p:spPr>
        <p:txBody>
          <a:bodyPr anchor="ctr"/>
          <a:lstStyle/>
          <a:p>
            <a:pPr>
              <a:defRPr/>
            </a:pPr>
            <a:endParaRPr lang="es-E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hyperlink" Target="https://manpages.ubuntu.com/manpages/questing/en/man3/wait.3posix.ht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hyperlink" Target="http://manpages.ubuntu.com/manpages/bionic/es/man3/exec.3.ht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hyperlink" Target="http://manpages.ubuntu.com/manpages/bionic/es/man2/execve.2.html"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1</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dirty="0" smtClean="0">
                <a:solidFill>
                  <a:schemeClr val="tx1"/>
                </a:solidFill>
                <a:latin typeface="+mj-lt"/>
                <a:ea typeface="+mj-ea"/>
                <a:cs typeface="+mj-cs"/>
              </a:rPr>
              <a:t>Repasando…..</a:t>
            </a:r>
            <a:endParaRPr kumimoji="0" lang="es-AR" sz="4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492839" y="1244600"/>
            <a:ext cx="8130461" cy="4524315"/>
          </a:xfrm>
          <a:prstGeom prst="rect">
            <a:avLst/>
          </a:prstGeom>
          <a:noFill/>
        </p:spPr>
        <p:txBody>
          <a:bodyPr wrap="square" rtlCol="0">
            <a:spAutoFit/>
          </a:bodyPr>
          <a:lstStyle/>
          <a:p>
            <a:pPr algn="l"/>
            <a:r>
              <a:rPr lang="es-AR" sz="1800" dirty="0" smtClean="0">
                <a:solidFill>
                  <a:schemeClr val="tx1"/>
                </a:solidFill>
                <a:latin typeface="Arial" pitchFamily="34" charset="0"/>
                <a:cs typeface="Arial" pitchFamily="34" charset="0"/>
              </a:rPr>
              <a:t>Un SO es una plataforma de software que suele incluir un conjunto de utilidades básicas, para:</a:t>
            </a:r>
          </a:p>
          <a:p>
            <a:pPr marL="177800" indent="-177800" algn="l">
              <a:buFont typeface="Arial" pitchFamily="34" charset="0"/>
              <a:buChar char="•"/>
            </a:pPr>
            <a:r>
              <a:rPr lang="es-AR" sz="1800" dirty="0" smtClean="0">
                <a:solidFill>
                  <a:schemeClr val="tx1"/>
                </a:solidFill>
                <a:latin typeface="Arial" pitchFamily="34" charset="0"/>
                <a:cs typeface="Arial" pitchFamily="34" charset="0"/>
              </a:rPr>
              <a:t>Darnos un entorno de trabajo (escritorio, </a:t>
            </a:r>
            <a:r>
              <a:rPr lang="es-AR" sz="1800" dirty="0" err="1" smtClean="0">
                <a:solidFill>
                  <a:schemeClr val="tx1"/>
                </a:solidFill>
                <a:latin typeface="Arial" pitchFamily="34" charset="0"/>
                <a:cs typeface="Arial" pitchFamily="34" charset="0"/>
              </a:rPr>
              <a:t>shell</a:t>
            </a:r>
            <a:r>
              <a:rPr lang="es-AR" sz="1800" dirty="0" smtClean="0">
                <a:solidFill>
                  <a:schemeClr val="tx1"/>
                </a:solidFill>
                <a:latin typeface="Arial" pitchFamily="34" charset="0"/>
                <a:cs typeface="Arial" pitchFamily="34" charset="0"/>
              </a:rPr>
              <a:t>…)</a:t>
            </a:r>
          </a:p>
          <a:p>
            <a:pPr marL="177800" indent="-177800" algn="l">
              <a:buFont typeface="Arial" pitchFamily="34" charset="0"/>
              <a:buChar char="•"/>
            </a:pPr>
            <a:r>
              <a:rPr lang="es-AR" sz="1800" dirty="0" smtClean="0">
                <a:solidFill>
                  <a:schemeClr val="tx1"/>
                </a:solidFill>
                <a:latin typeface="Arial" pitchFamily="34" charset="0"/>
                <a:cs typeface="Arial" pitchFamily="34" charset="0"/>
              </a:rPr>
              <a:t>Gestionar los recursos</a:t>
            </a:r>
          </a:p>
          <a:p>
            <a:endParaRPr lang="es-AR" sz="1800" dirty="0" smtClean="0"/>
          </a:p>
          <a:p>
            <a:pPr algn="l"/>
            <a:r>
              <a:rPr lang="es-AR" sz="1800" dirty="0" smtClean="0">
                <a:solidFill>
                  <a:schemeClr val="tx1"/>
                </a:solidFill>
                <a:latin typeface="Arial" pitchFamily="34" charset="0"/>
                <a:cs typeface="Arial" pitchFamily="34" charset="0"/>
              </a:rPr>
              <a:t>Hay programas del sistema son servicios que se ejecutan en segundo plano (servicios, subsistemas, demonios):</a:t>
            </a:r>
          </a:p>
          <a:p>
            <a:pPr algn="l"/>
            <a:r>
              <a:rPr lang="es-AR" sz="1800" dirty="0" smtClean="0">
                <a:solidFill>
                  <a:schemeClr val="tx1"/>
                </a:solidFill>
                <a:latin typeface="Arial" pitchFamily="34" charset="0"/>
                <a:cs typeface="Arial" pitchFamily="34" charset="0"/>
              </a:rPr>
              <a:t>– Sistema de impresión</a:t>
            </a:r>
          </a:p>
          <a:p>
            <a:pPr algn="l"/>
            <a:r>
              <a:rPr lang="es-AR" sz="1800" dirty="0" smtClean="0">
                <a:solidFill>
                  <a:schemeClr val="tx1"/>
                </a:solidFill>
                <a:latin typeface="Arial" pitchFamily="34" charset="0"/>
                <a:cs typeface="Arial" pitchFamily="34" charset="0"/>
              </a:rPr>
              <a:t>– Copias de seguridad</a:t>
            </a:r>
          </a:p>
          <a:p>
            <a:pPr algn="l"/>
            <a:r>
              <a:rPr lang="es-AR" sz="1800" dirty="0" smtClean="0">
                <a:solidFill>
                  <a:schemeClr val="tx1"/>
                </a:solidFill>
                <a:latin typeface="Arial" pitchFamily="34" charset="0"/>
                <a:cs typeface="Arial" pitchFamily="34" charset="0"/>
              </a:rPr>
              <a:t>– Registro de actividad</a:t>
            </a:r>
          </a:p>
          <a:p>
            <a:pPr algn="l"/>
            <a:r>
              <a:rPr lang="es-AR" sz="1800" dirty="0" smtClean="0">
                <a:solidFill>
                  <a:schemeClr val="tx1"/>
                </a:solidFill>
                <a:latin typeface="Arial" pitchFamily="34" charset="0"/>
                <a:cs typeface="Arial" pitchFamily="34" charset="0"/>
              </a:rPr>
              <a:t>–… </a:t>
            </a:r>
          </a:p>
          <a:p>
            <a:pPr algn="l"/>
            <a:endParaRPr lang="es-AR" sz="1800" dirty="0" smtClean="0">
              <a:solidFill>
                <a:schemeClr val="tx1"/>
              </a:solidFill>
              <a:latin typeface="Arial" pitchFamily="34" charset="0"/>
              <a:cs typeface="Arial" pitchFamily="34" charset="0"/>
            </a:endParaRPr>
          </a:p>
          <a:p>
            <a:pPr marL="177800" indent="-177800" algn="l"/>
            <a:r>
              <a:rPr lang="es-AR" sz="1800" dirty="0" smtClean="0">
                <a:solidFill>
                  <a:schemeClr val="tx1"/>
                </a:solidFill>
                <a:latin typeface="Arial" pitchFamily="34" charset="0"/>
                <a:cs typeface="Arial" pitchFamily="34" charset="0"/>
              </a:rPr>
              <a:t>El núcleo o </a:t>
            </a:r>
            <a:r>
              <a:rPr lang="es-AR" sz="1800" dirty="0" err="1" smtClean="0">
                <a:solidFill>
                  <a:schemeClr val="tx1"/>
                </a:solidFill>
                <a:latin typeface="Arial" pitchFamily="34" charset="0"/>
                <a:cs typeface="Arial" pitchFamily="34" charset="0"/>
              </a:rPr>
              <a:t>kernel</a:t>
            </a:r>
            <a:r>
              <a:rPr lang="es-AR" sz="1800" dirty="0" smtClean="0">
                <a:solidFill>
                  <a:schemeClr val="tx1"/>
                </a:solidFill>
                <a:latin typeface="Arial" pitchFamily="34" charset="0"/>
                <a:cs typeface="Arial" pitchFamily="34" charset="0"/>
              </a:rPr>
              <a:t> el componente del SO que reside en memoria de forma permanente y atiende las llamadas al sistema y demás eventos. </a:t>
            </a:r>
          </a:p>
          <a:p>
            <a:pPr marL="177800" indent="-177800" algn="l"/>
            <a:r>
              <a:rPr lang="es-AR" sz="1800" dirty="0" smtClean="0">
                <a:solidFill>
                  <a:schemeClr val="tx1"/>
                </a:solidFill>
                <a:latin typeface="Arial" pitchFamily="34" charset="0"/>
                <a:cs typeface="Arial" pitchFamily="34" charset="0"/>
              </a:rPr>
              <a:t>El resto de utilidades del SO (CLI (interfaz de </a:t>
            </a:r>
            <a:r>
              <a:rPr lang="es-AR" sz="1800" dirty="0" err="1" smtClean="0">
                <a:solidFill>
                  <a:schemeClr val="tx1"/>
                </a:solidFill>
                <a:latin typeface="Arial" pitchFamily="34" charset="0"/>
                <a:cs typeface="Arial" pitchFamily="34" charset="0"/>
              </a:rPr>
              <a:t>lineas</a:t>
            </a:r>
            <a:r>
              <a:rPr lang="es-AR" sz="1800" dirty="0" smtClean="0">
                <a:solidFill>
                  <a:schemeClr val="tx1"/>
                </a:solidFill>
                <a:latin typeface="Arial" pitchFamily="34" charset="0"/>
                <a:cs typeface="Arial" pitchFamily="34" charset="0"/>
              </a:rPr>
              <a:t> de comandos), GUI, programas del sistema…) se apoyan en los servicios del núcleo.</a:t>
            </a:r>
          </a:p>
        </p:txBody>
      </p:sp>
      <p:sp>
        <p:nvSpPr>
          <p:cNvPr id="10" name="9 CuadroTexto"/>
          <p:cNvSpPr txBox="1"/>
          <p:nvPr/>
        </p:nvSpPr>
        <p:spPr>
          <a:xfrm>
            <a:off x="9334500" y="1320800"/>
            <a:ext cx="2540000" cy="3539430"/>
          </a:xfrm>
          <a:prstGeom prst="rect">
            <a:avLst/>
          </a:prstGeom>
          <a:noFill/>
        </p:spPr>
        <p:txBody>
          <a:bodyPr wrap="square" rtlCol="0">
            <a:spAutoFit/>
          </a:bodyPr>
          <a:lstStyle/>
          <a:p>
            <a:pPr algn="l"/>
            <a:r>
              <a:rPr lang="es-AR" sz="1600" dirty="0" smtClean="0">
                <a:solidFill>
                  <a:schemeClr val="tx1"/>
                </a:solidFill>
                <a:latin typeface="Arial" pitchFamily="34" charset="0"/>
                <a:cs typeface="Arial" pitchFamily="34" charset="0"/>
              </a:rPr>
              <a:t>En Unix un </a:t>
            </a:r>
            <a:r>
              <a:rPr lang="es-AR" sz="1600" b="1" dirty="0" smtClean="0">
                <a:solidFill>
                  <a:schemeClr val="tx1"/>
                </a:solidFill>
                <a:latin typeface="Arial" pitchFamily="34" charset="0"/>
                <a:cs typeface="Arial" pitchFamily="34" charset="0"/>
              </a:rPr>
              <a:t>demonio</a:t>
            </a:r>
            <a:r>
              <a:rPr lang="es-AR" sz="1600" dirty="0" smtClean="0">
                <a:solidFill>
                  <a:schemeClr val="tx1"/>
                </a:solidFill>
                <a:latin typeface="Arial" pitchFamily="34" charset="0"/>
                <a:cs typeface="Arial" pitchFamily="34" charset="0"/>
              </a:rPr>
              <a:t> o </a:t>
            </a:r>
            <a:r>
              <a:rPr lang="es-AR" sz="1600" dirty="0" err="1" smtClean="0">
                <a:solidFill>
                  <a:schemeClr val="tx1"/>
                </a:solidFill>
                <a:latin typeface="Arial" pitchFamily="34" charset="0"/>
                <a:cs typeface="Arial" pitchFamily="34" charset="0"/>
              </a:rPr>
              <a:t>daemon</a:t>
            </a:r>
            <a:r>
              <a:rPr lang="es-AR" sz="1600" dirty="0" smtClean="0">
                <a:solidFill>
                  <a:schemeClr val="tx1"/>
                </a:solidFill>
                <a:latin typeface="Arial" pitchFamily="34" charset="0"/>
                <a:cs typeface="Arial" pitchFamily="34" charset="0"/>
              </a:rPr>
              <a:t> (Disk And </a:t>
            </a:r>
            <a:r>
              <a:rPr lang="es-AR" sz="1600" dirty="0" err="1" smtClean="0">
                <a:solidFill>
                  <a:schemeClr val="tx1"/>
                </a:solidFill>
                <a:latin typeface="Arial" pitchFamily="34" charset="0"/>
                <a:cs typeface="Arial" pitchFamily="34" charset="0"/>
              </a:rPr>
              <a:t>Execution</a:t>
            </a:r>
            <a:r>
              <a:rPr lang="es-AR" sz="1600" dirty="0" smtClean="0">
                <a:solidFill>
                  <a:schemeClr val="tx1"/>
                </a:solidFill>
                <a:latin typeface="Arial" pitchFamily="34" charset="0"/>
                <a:cs typeface="Arial" pitchFamily="34" charset="0"/>
              </a:rPr>
              <a:t> Monitor) a un proceso que se ejecuta en segundo plano del </a:t>
            </a:r>
            <a:r>
              <a:rPr lang="es-AR" sz="1600" b="1" dirty="0" smtClean="0">
                <a:solidFill>
                  <a:schemeClr val="tx1"/>
                </a:solidFill>
                <a:latin typeface="Arial" pitchFamily="34" charset="0"/>
                <a:cs typeface="Arial" pitchFamily="34" charset="0"/>
              </a:rPr>
              <a:t>sistema operativo</a:t>
            </a:r>
            <a:r>
              <a:rPr lang="es-AR" sz="1600" dirty="0" smtClean="0">
                <a:solidFill>
                  <a:schemeClr val="tx1"/>
                </a:solidFill>
                <a:latin typeface="Arial" pitchFamily="34" charset="0"/>
                <a:cs typeface="Arial" pitchFamily="34" charset="0"/>
              </a:rPr>
              <a:t>, se ejecuta en todo momento y no posee interacción directa con el usuario, también se le conoce genéricamente como servicio o proceso, del cual no percibimos su ejecución</a:t>
            </a:r>
            <a:endParaRPr lang="es-AR" sz="16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2</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274638"/>
            <a:ext cx="8229600" cy="833726"/>
          </a:xfrm>
          <a:prstGeom prst="rect">
            <a:avLst/>
          </a:prstGeom>
        </p:spPr>
        <p:txBody>
          <a:bodyPr vert="horz" lIns="91440" tIns="45720" rIns="91440" bIns="45720" rtlCol="0" anchor="ctr">
            <a:normAutofit fontScale="77500" lnSpcReduction="20000"/>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dirty="0" smtClean="0">
                <a:solidFill>
                  <a:schemeClr val="tx1"/>
                </a:solidFill>
                <a:latin typeface="+mj-lt"/>
                <a:ea typeface="+mj-ea"/>
                <a:cs typeface="+mj-cs"/>
              </a:rPr>
              <a:t>Implementación de las llamadas al sistema</a:t>
            </a:r>
            <a:endParaRPr kumimoji="0" lang="es-AR" sz="4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492839" y="1079500"/>
            <a:ext cx="8333661" cy="5801588"/>
          </a:xfrm>
          <a:prstGeom prst="rect">
            <a:avLst/>
          </a:prstGeom>
          <a:noFill/>
        </p:spPr>
        <p:txBody>
          <a:bodyPr wrap="square" rtlCol="0">
            <a:spAutoFit/>
          </a:bodyPr>
          <a:lstStyle/>
          <a:p>
            <a:pPr algn="l">
              <a:spcBef>
                <a:spcPts val="600"/>
              </a:spcBef>
            </a:pPr>
            <a:r>
              <a:rPr lang="es-AR" sz="1800" dirty="0" smtClean="0">
                <a:solidFill>
                  <a:schemeClr val="tx1"/>
                </a:solidFill>
                <a:latin typeface="Arial" pitchFamily="34" charset="0"/>
                <a:cs typeface="Arial" pitchFamily="34" charset="0"/>
              </a:rPr>
              <a:t>En el nivel del procesador:</a:t>
            </a:r>
          </a:p>
          <a:p>
            <a:pPr algn="l">
              <a:spcBef>
                <a:spcPts val="600"/>
              </a:spcBef>
            </a:pPr>
            <a:r>
              <a:rPr lang="es-AR" sz="1800" dirty="0" smtClean="0">
                <a:solidFill>
                  <a:schemeClr val="tx1"/>
                </a:solidFill>
                <a:latin typeface="Arial" pitchFamily="34" charset="0"/>
                <a:cs typeface="Arial" pitchFamily="34" charset="0"/>
              </a:rPr>
              <a:t>La llamada al sistema ocurre mediante una instrucción especial del procesador (</a:t>
            </a:r>
            <a:r>
              <a:rPr lang="es-AR" sz="1800" dirty="0" err="1" smtClean="0">
                <a:solidFill>
                  <a:schemeClr val="tx1"/>
                </a:solidFill>
                <a:latin typeface="Arial" pitchFamily="34" charset="0"/>
                <a:cs typeface="Arial" pitchFamily="34" charset="0"/>
              </a:rPr>
              <a:t>syscall</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int</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trap</a:t>
            </a:r>
            <a:r>
              <a:rPr lang="es-AR" sz="1800" dirty="0" smtClean="0">
                <a:solidFill>
                  <a:schemeClr val="tx1"/>
                </a:solidFill>
                <a:latin typeface="Arial" pitchFamily="34" charset="0"/>
                <a:cs typeface="Arial" pitchFamily="34" charset="0"/>
              </a:rPr>
              <a:t>…)</a:t>
            </a:r>
          </a:p>
          <a:p>
            <a:pPr algn="l">
              <a:spcBef>
                <a:spcPts val="600"/>
              </a:spcBef>
            </a:pPr>
            <a:r>
              <a:rPr lang="es-AR" sz="1800" dirty="0" smtClean="0">
                <a:solidFill>
                  <a:schemeClr val="tx1"/>
                </a:solidFill>
                <a:latin typeface="Arial" pitchFamily="34" charset="0"/>
                <a:cs typeface="Arial" pitchFamily="34" charset="0"/>
              </a:rPr>
              <a:t>Esa instrucción cambia a modo privilegiado</a:t>
            </a:r>
          </a:p>
          <a:p>
            <a:pPr algn="l">
              <a:spcBef>
                <a:spcPts val="600"/>
              </a:spcBef>
            </a:pPr>
            <a:endParaRPr lang="es-AR" sz="1800" dirty="0" smtClean="0">
              <a:solidFill>
                <a:schemeClr val="tx1"/>
              </a:solidFill>
              <a:latin typeface="Arial" pitchFamily="34" charset="0"/>
              <a:cs typeface="Arial" pitchFamily="34" charset="0"/>
            </a:endParaRPr>
          </a:p>
          <a:p>
            <a:pPr algn="l">
              <a:spcBef>
                <a:spcPts val="600"/>
              </a:spcBef>
            </a:pPr>
            <a:r>
              <a:rPr lang="es-AR" sz="1800" dirty="0" smtClean="0">
                <a:solidFill>
                  <a:schemeClr val="tx1"/>
                </a:solidFill>
                <a:latin typeface="Arial" pitchFamily="34" charset="0"/>
                <a:cs typeface="Arial" pitchFamily="34" charset="0"/>
              </a:rPr>
              <a:t>En el ámbito del programador:</a:t>
            </a:r>
          </a:p>
          <a:p>
            <a:pPr algn="l">
              <a:spcBef>
                <a:spcPts val="600"/>
              </a:spcBef>
            </a:pPr>
            <a:r>
              <a:rPr lang="es-AR" sz="1800" dirty="0" smtClean="0">
                <a:solidFill>
                  <a:schemeClr val="tx1"/>
                </a:solidFill>
                <a:latin typeface="Arial" pitchFamily="34" charset="0"/>
                <a:cs typeface="Arial" pitchFamily="34" charset="0"/>
              </a:rPr>
              <a:t>La llamada es una subrutina que escribimos en el código fuente. El compilador la sustituirá por una invocación a la instrucción especial, con los argumentos que sean necesarios.</a:t>
            </a:r>
          </a:p>
          <a:p>
            <a:pPr algn="l">
              <a:spcBef>
                <a:spcPts val="600"/>
              </a:spcBef>
            </a:pPr>
            <a:endParaRPr lang="es-AR" sz="1800" dirty="0" smtClean="0">
              <a:solidFill>
                <a:schemeClr val="tx1"/>
              </a:solidFill>
              <a:latin typeface="Arial" pitchFamily="34" charset="0"/>
              <a:cs typeface="Arial" pitchFamily="34" charset="0"/>
            </a:endParaRPr>
          </a:p>
          <a:p>
            <a:pPr algn="l">
              <a:spcBef>
                <a:spcPts val="600"/>
              </a:spcBef>
            </a:pPr>
            <a:r>
              <a:rPr lang="es-AR" sz="1800" b="1" dirty="0" smtClean="0">
                <a:solidFill>
                  <a:schemeClr val="tx1"/>
                </a:solidFill>
                <a:latin typeface="Arial" pitchFamily="34" charset="0"/>
                <a:cs typeface="Arial" pitchFamily="34" charset="0"/>
              </a:rPr>
              <a:t>Ejemplos: </a:t>
            </a:r>
          </a:p>
          <a:p>
            <a:pPr algn="l">
              <a:spcBef>
                <a:spcPts val="600"/>
              </a:spcBef>
            </a:pPr>
            <a:r>
              <a:rPr lang="es-AR" sz="1800" b="1" dirty="0" smtClean="0">
                <a:solidFill>
                  <a:schemeClr val="tx1"/>
                </a:solidFill>
                <a:latin typeface="Arial" pitchFamily="34" charset="0"/>
                <a:cs typeface="Arial" pitchFamily="34" charset="0"/>
              </a:rPr>
              <a:t>Windows:</a:t>
            </a:r>
          </a:p>
          <a:p>
            <a:pPr algn="l">
              <a:spcBef>
                <a:spcPts val="600"/>
              </a:spcBef>
            </a:pPr>
            <a:r>
              <a:rPr lang="es-AR" sz="1800" dirty="0" err="1" smtClean="0">
                <a:solidFill>
                  <a:schemeClr val="tx1"/>
                </a:solidFill>
                <a:latin typeface="Arial" pitchFamily="34" charset="0"/>
                <a:cs typeface="Arial" pitchFamily="34" charset="0"/>
              </a:rPr>
              <a:t>handle</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OpenFile</a:t>
            </a:r>
            <a:r>
              <a:rPr lang="es-AR" sz="1800" dirty="0" smtClean="0">
                <a:solidFill>
                  <a:schemeClr val="tx1"/>
                </a:solidFill>
                <a:latin typeface="Arial" pitchFamily="34" charset="0"/>
                <a:cs typeface="Arial" pitchFamily="34" charset="0"/>
              </a:rPr>
              <a:t>("</a:t>
            </a:r>
            <a:r>
              <a:rPr lang="es-AR" sz="1800" dirty="0" err="1" smtClean="0">
                <a:solidFill>
                  <a:schemeClr val="tx1"/>
                </a:solidFill>
                <a:latin typeface="Arial" pitchFamily="34" charset="0"/>
                <a:cs typeface="Arial" pitchFamily="34" charset="0"/>
              </a:rPr>
              <a:t>mifichero",ofstruct,OF_READ</a:t>
            </a:r>
            <a:r>
              <a:rPr lang="es-AR" sz="1800" dirty="0" smtClean="0">
                <a:solidFill>
                  <a:schemeClr val="tx1"/>
                </a:solidFill>
                <a:latin typeface="Arial" pitchFamily="34" charset="0"/>
                <a:cs typeface="Arial" pitchFamily="34" charset="0"/>
              </a:rPr>
              <a:t>);</a:t>
            </a:r>
          </a:p>
          <a:p>
            <a:pPr algn="l">
              <a:spcBef>
                <a:spcPts val="600"/>
              </a:spcBef>
            </a:pPr>
            <a:endParaRPr lang="es-AR" sz="1800" dirty="0" smtClean="0">
              <a:solidFill>
                <a:schemeClr val="tx1"/>
              </a:solidFill>
              <a:latin typeface="Arial" pitchFamily="34" charset="0"/>
              <a:cs typeface="Arial" pitchFamily="34" charset="0"/>
            </a:endParaRPr>
          </a:p>
          <a:p>
            <a:pPr algn="l">
              <a:spcBef>
                <a:spcPts val="600"/>
              </a:spcBef>
            </a:pPr>
            <a:r>
              <a:rPr lang="es-AR" sz="1800" b="1" dirty="0" smtClean="0">
                <a:solidFill>
                  <a:schemeClr val="tx1"/>
                </a:solidFill>
                <a:latin typeface="Arial" pitchFamily="34" charset="0"/>
                <a:cs typeface="Arial" pitchFamily="34" charset="0"/>
              </a:rPr>
              <a:t>UNIX:</a:t>
            </a:r>
          </a:p>
          <a:p>
            <a:pPr algn="l">
              <a:spcBef>
                <a:spcPts val="600"/>
              </a:spcBef>
            </a:pPr>
            <a:r>
              <a:rPr lang="es-AR" sz="1800" dirty="0" err="1" smtClean="0">
                <a:solidFill>
                  <a:schemeClr val="tx1"/>
                </a:solidFill>
                <a:latin typeface="Arial" pitchFamily="34" charset="0"/>
                <a:cs typeface="Arial" pitchFamily="34" charset="0"/>
              </a:rPr>
              <a:t>fd</a:t>
            </a:r>
            <a:r>
              <a:rPr lang="es-AR" sz="1800" dirty="0" smtClean="0">
                <a:solidFill>
                  <a:schemeClr val="tx1"/>
                </a:solidFill>
                <a:latin typeface="Arial" pitchFamily="34" charset="0"/>
                <a:cs typeface="Arial" pitchFamily="34" charset="0"/>
              </a:rPr>
              <a:t>= open("</a:t>
            </a:r>
            <a:r>
              <a:rPr lang="es-AR" sz="1800" dirty="0" err="1" smtClean="0">
                <a:solidFill>
                  <a:schemeClr val="tx1"/>
                </a:solidFill>
                <a:latin typeface="Arial" pitchFamily="34" charset="0"/>
                <a:cs typeface="Arial" pitchFamily="34" charset="0"/>
              </a:rPr>
              <a:t>mifichero",O_RDONLY</a:t>
            </a:r>
            <a:r>
              <a:rPr lang="es-AR" sz="1800" dirty="0" smtClean="0">
                <a:solidFill>
                  <a:schemeClr val="tx1"/>
                </a:solidFill>
                <a:latin typeface="Arial" pitchFamily="34" charset="0"/>
                <a:cs typeface="Arial" pitchFamily="34" charset="0"/>
              </a:rPr>
              <a:t>);</a:t>
            </a:r>
          </a:p>
          <a:p>
            <a:pPr algn="l">
              <a:spcBef>
                <a:spcPts val="600"/>
              </a:spcBef>
            </a:pPr>
            <a:endParaRPr lang="es-AR" sz="1800" dirty="0" smtClean="0">
              <a:solidFill>
                <a:schemeClr val="tx1"/>
              </a:solidFill>
              <a:latin typeface="Arial" pitchFamily="34" charset="0"/>
              <a:cs typeface="Arial" pitchFamily="34" charset="0"/>
            </a:endParaRPr>
          </a:p>
        </p:txBody>
      </p:sp>
      <p:sp>
        <p:nvSpPr>
          <p:cNvPr id="10" name="9 CuadroTexto"/>
          <p:cNvSpPr txBox="1"/>
          <p:nvPr/>
        </p:nvSpPr>
        <p:spPr>
          <a:xfrm>
            <a:off x="6131639" y="4813300"/>
            <a:ext cx="3012361" cy="1785104"/>
          </a:xfrm>
          <a:prstGeom prst="rect">
            <a:avLst/>
          </a:prstGeom>
          <a:noFill/>
        </p:spPr>
        <p:txBody>
          <a:bodyPr wrap="square" rtlCol="0">
            <a:spAutoFit/>
          </a:bodyPr>
          <a:lstStyle/>
          <a:p>
            <a:pPr algn="l">
              <a:spcBef>
                <a:spcPts val="600"/>
              </a:spcBef>
            </a:pPr>
            <a:r>
              <a:rPr lang="pt-BR" sz="1800" b="1" dirty="0" smtClean="0">
                <a:solidFill>
                  <a:schemeClr val="tx1"/>
                </a:solidFill>
                <a:latin typeface="Arial" pitchFamily="34" charset="0"/>
                <a:cs typeface="Arial" pitchFamily="34" charset="0"/>
              </a:rPr>
              <a:t>MS-DOS:</a:t>
            </a:r>
          </a:p>
          <a:p>
            <a:pPr algn="l">
              <a:spcBef>
                <a:spcPts val="600"/>
              </a:spcBef>
            </a:pPr>
            <a:r>
              <a:rPr lang="pt-BR" sz="1800" dirty="0" smtClean="0">
                <a:solidFill>
                  <a:schemeClr val="tx1"/>
                </a:solidFill>
                <a:latin typeface="Arial" pitchFamily="34" charset="0"/>
                <a:cs typeface="Arial" pitchFamily="34" charset="0"/>
              </a:rPr>
              <a:t>MOV   AH,3Dh</a:t>
            </a:r>
          </a:p>
          <a:p>
            <a:pPr algn="l">
              <a:spcBef>
                <a:spcPts val="600"/>
              </a:spcBef>
            </a:pPr>
            <a:r>
              <a:rPr lang="pt-BR" sz="1800" dirty="0" smtClean="0">
                <a:solidFill>
                  <a:schemeClr val="tx1"/>
                </a:solidFill>
                <a:latin typeface="Arial" pitchFamily="34" charset="0"/>
                <a:cs typeface="Arial" pitchFamily="34" charset="0"/>
              </a:rPr>
              <a:t>MOV   AL,0</a:t>
            </a:r>
          </a:p>
          <a:p>
            <a:pPr algn="l">
              <a:spcBef>
                <a:spcPts val="600"/>
              </a:spcBef>
            </a:pPr>
            <a:r>
              <a:rPr lang="pt-BR" sz="1800" dirty="0" smtClean="0">
                <a:solidFill>
                  <a:schemeClr val="tx1"/>
                </a:solidFill>
                <a:latin typeface="Arial" pitchFamily="34" charset="0"/>
                <a:cs typeface="Arial" pitchFamily="34" charset="0"/>
              </a:rPr>
              <a:t>MOV   DX,</a:t>
            </a:r>
            <a:r>
              <a:rPr lang="pt-BR" sz="1800" dirty="0" err="1" smtClean="0">
                <a:solidFill>
                  <a:schemeClr val="tx1"/>
                </a:solidFill>
                <a:latin typeface="Arial" pitchFamily="34" charset="0"/>
                <a:cs typeface="Arial" pitchFamily="34" charset="0"/>
              </a:rPr>
              <a:t>StringMiFichero</a:t>
            </a:r>
            <a:endParaRPr lang="pt-BR" sz="1800" dirty="0" smtClean="0">
              <a:solidFill>
                <a:schemeClr val="tx1"/>
              </a:solidFill>
              <a:latin typeface="Arial" pitchFamily="34" charset="0"/>
              <a:cs typeface="Arial" pitchFamily="34" charset="0"/>
            </a:endParaRPr>
          </a:p>
          <a:p>
            <a:pPr algn="l">
              <a:spcBef>
                <a:spcPts val="600"/>
              </a:spcBef>
            </a:pPr>
            <a:r>
              <a:rPr lang="pt-BR" sz="1800" dirty="0" smtClean="0">
                <a:solidFill>
                  <a:schemeClr val="tx1"/>
                </a:solidFill>
                <a:latin typeface="Arial" pitchFamily="34" charset="0"/>
                <a:cs typeface="Arial" pitchFamily="34" charset="0"/>
              </a:rPr>
              <a:t>INT     21h</a:t>
            </a:r>
            <a:endParaRPr lang="es-AR" sz="1800" dirty="0" smtClean="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3</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492839" y="1079500"/>
            <a:ext cx="8333661" cy="1785104"/>
          </a:xfrm>
          <a:prstGeom prst="rect">
            <a:avLst/>
          </a:prstGeom>
          <a:noFill/>
        </p:spPr>
        <p:txBody>
          <a:bodyPr wrap="square" rtlCol="0">
            <a:spAutoFit/>
          </a:bodyPr>
          <a:lstStyle/>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Mediante registros de CPU (lo más habitual)</a:t>
            </a:r>
          </a:p>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Escribiéndolos en una tabla en memoria principal</a:t>
            </a:r>
          </a:p>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Colocándolos en la pila</a:t>
            </a:r>
          </a:p>
          <a:p>
            <a:pPr marL="177800" indent="-177800" algn="l">
              <a:spcBef>
                <a:spcPts val="600"/>
              </a:spcBef>
              <a:buFont typeface="Arial" pitchFamily="34" charset="0"/>
              <a:buChar char="•"/>
            </a:pPr>
            <a:endParaRPr lang="es-AR" sz="1800" dirty="0" smtClean="0">
              <a:solidFill>
                <a:schemeClr val="tx1"/>
              </a:solidFill>
              <a:latin typeface="Arial" pitchFamily="34" charset="0"/>
              <a:cs typeface="Arial" pitchFamily="34" charset="0"/>
            </a:endParaRPr>
          </a:p>
          <a:p>
            <a:pPr marL="177800" indent="-177800" algn="l">
              <a:spcBef>
                <a:spcPts val="600"/>
              </a:spcBef>
              <a:buFont typeface="Arial" pitchFamily="34" charset="0"/>
              <a:buChar char="•"/>
            </a:pPr>
            <a:endParaRPr lang="es-AR" sz="1800" dirty="0" smtClean="0">
              <a:solidFill>
                <a:schemeClr val="tx1"/>
              </a:solidFill>
              <a:latin typeface="Arial" pitchFamily="34" charset="0"/>
              <a:cs typeface="Arial" pitchFamily="34" charset="0"/>
            </a:endParaRPr>
          </a:p>
        </p:txBody>
      </p:sp>
      <p:sp>
        <p:nvSpPr>
          <p:cNvPr id="12" name="1 Título"/>
          <p:cNvSpPr txBox="1">
            <a:spLocks/>
          </p:cNvSpPr>
          <p:nvPr/>
        </p:nvSpPr>
        <p:spPr>
          <a:xfrm>
            <a:off x="457200" y="274638"/>
            <a:ext cx="8229600" cy="833726"/>
          </a:xfrm>
          <a:prstGeom prst="rect">
            <a:avLst/>
          </a:prstGeom>
        </p:spPr>
        <p:txBody>
          <a:bodyPr vert="horz" lIns="91440" tIns="45720" rIns="91440" bIns="45720" rtlCol="0" anchor="ctr">
            <a:normAutofit fontScale="92500"/>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dirty="0" smtClean="0">
                <a:solidFill>
                  <a:schemeClr val="tx1"/>
                </a:solidFill>
                <a:latin typeface="+mj-lt"/>
                <a:ea typeface="+mj-ea"/>
                <a:cs typeface="+mj-cs"/>
              </a:rPr>
              <a:t>Pasaje de argumentos en las llamadas</a:t>
            </a:r>
            <a:endParaRPr kumimoji="0" lang="es-AR" sz="4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1026" name="Picture 2"/>
          <p:cNvPicPr>
            <a:picLocks noChangeAspect="1" noChangeArrowheads="1"/>
          </p:cNvPicPr>
          <p:nvPr/>
        </p:nvPicPr>
        <p:blipFill>
          <a:blip r:embed="rId3" cstate="print"/>
          <a:srcRect/>
          <a:stretch>
            <a:fillRect/>
          </a:stretch>
        </p:blipFill>
        <p:spPr bwMode="auto">
          <a:xfrm>
            <a:off x="1258887" y="2209800"/>
            <a:ext cx="6989527" cy="4279899"/>
          </a:xfrm>
          <a:prstGeom prst="rect">
            <a:avLst/>
          </a:prstGeom>
          <a:ln>
            <a:noFill/>
          </a:ln>
          <a:effectLst>
            <a:outerShdw blurRad="292100" dist="139700" dir="2700000" algn="tl" rotWithShape="0">
              <a:srgbClr val="333333">
                <a:alpha val="65000"/>
              </a:srgbClr>
            </a:outerShdw>
          </a:effectLst>
        </p:spPr>
      </p:pic>
      <p:sp>
        <p:nvSpPr>
          <p:cNvPr id="8" name="7 CuadroTexto"/>
          <p:cNvSpPr txBox="1"/>
          <p:nvPr/>
        </p:nvSpPr>
        <p:spPr>
          <a:xfrm>
            <a:off x="5752448" y="6581001"/>
            <a:ext cx="2624436" cy="276999"/>
          </a:xfrm>
          <a:prstGeom prst="rect">
            <a:avLst/>
          </a:prstGeom>
          <a:noFill/>
        </p:spPr>
        <p:txBody>
          <a:bodyPr wrap="none" rtlCol="0">
            <a:spAutoFit/>
          </a:bodyPr>
          <a:lstStyle/>
          <a:p>
            <a:r>
              <a:rPr lang="es-AR" sz="1200" dirty="0" err="1" smtClean="0">
                <a:solidFill>
                  <a:schemeClr val="tx1"/>
                </a:solidFill>
                <a:latin typeface="Arial" pitchFamily="34" charset="0"/>
                <a:cs typeface="Arial" pitchFamily="34" charset="0"/>
              </a:rPr>
              <a:t>Silberschatz</a:t>
            </a:r>
            <a:r>
              <a:rPr lang="es-AR" sz="1200" dirty="0" smtClean="0">
                <a:solidFill>
                  <a:schemeClr val="tx1"/>
                </a:solidFill>
                <a:latin typeface="Arial" pitchFamily="34" charset="0"/>
                <a:cs typeface="Arial" pitchFamily="34" charset="0"/>
              </a:rPr>
              <a:t>, </a:t>
            </a:r>
            <a:r>
              <a:rPr lang="es-AR" sz="1200" dirty="0" err="1" smtClean="0">
                <a:solidFill>
                  <a:schemeClr val="tx1"/>
                </a:solidFill>
                <a:latin typeface="Arial" pitchFamily="34" charset="0"/>
                <a:cs typeface="Arial" pitchFamily="34" charset="0"/>
              </a:rPr>
              <a:t>Galvin</a:t>
            </a:r>
            <a:r>
              <a:rPr lang="es-AR" sz="1200" dirty="0" smtClean="0">
                <a:solidFill>
                  <a:schemeClr val="tx1"/>
                </a:solidFill>
                <a:latin typeface="Arial" pitchFamily="34" charset="0"/>
                <a:cs typeface="Arial" pitchFamily="34" charset="0"/>
              </a:rPr>
              <a:t>&amp; </a:t>
            </a:r>
            <a:r>
              <a:rPr lang="es-AR" sz="1200" dirty="0" err="1" smtClean="0">
                <a:solidFill>
                  <a:schemeClr val="tx1"/>
                </a:solidFill>
                <a:latin typeface="Arial" pitchFamily="34" charset="0"/>
                <a:cs typeface="Arial" pitchFamily="34" charset="0"/>
              </a:rPr>
              <a:t>Gagne</a:t>
            </a:r>
            <a:r>
              <a:rPr lang="es-AR" sz="1200" dirty="0" smtClean="0">
                <a:solidFill>
                  <a:schemeClr val="tx1"/>
                </a:solidFill>
                <a:latin typeface="Arial" pitchFamily="34" charset="0"/>
                <a:cs typeface="Arial" pitchFamily="34" charset="0"/>
              </a:rPr>
              <a:t>, 2013)</a:t>
            </a:r>
            <a:endParaRPr lang="es-AR" sz="12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4</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2" name="1 Título"/>
          <p:cNvSpPr txBox="1">
            <a:spLocks/>
          </p:cNvSpPr>
          <p:nvPr/>
        </p:nvSpPr>
        <p:spPr>
          <a:xfrm>
            <a:off x="457200" y="274638"/>
            <a:ext cx="7810500" cy="833726"/>
          </a:xfrm>
          <a:prstGeom prst="rect">
            <a:avLst/>
          </a:prstGeom>
        </p:spPr>
        <p:txBody>
          <a:bodyPr vert="horz" lIns="91440" tIns="45720" rIns="91440" bIns="45720" rtlCol="0" anchor="ctr">
            <a:normAutofit fontScale="85000" lnSpcReduction="10000"/>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dirty="0" smtClean="0">
                <a:solidFill>
                  <a:schemeClr val="tx1"/>
                </a:solidFill>
                <a:latin typeface="+mj-lt"/>
                <a:ea typeface="+mj-ea"/>
                <a:cs typeface="+mj-cs"/>
              </a:rPr>
              <a:t>Algunas llamadas ordenadas por tipo </a:t>
            </a:r>
            <a:endParaRPr kumimoji="0" lang="es-AR" sz="4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1027" name="Picture 3"/>
          <p:cNvPicPr>
            <a:picLocks noChangeAspect="1" noChangeArrowheads="1"/>
          </p:cNvPicPr>
          <p:nvPr/>
        </p:nvPicPr>
        <p:blipFill>
          <a:blip r:embed="rId3" cstate="print"/>
          <a:srcRect/>
          <a:stretch>
            <a:fillRect/>
          </a:stretch>
        </p:blipFill>
        <p:spPr bwMode="auto">
          <a:xfrm>
            <a:off x="1346200" y="1125831"/>
            <a:ext cx="6087937" cy="5427369"/>
          </a:xfrm>
          <a:prstGeom prst="rect">
            <a:avLst/>
          </a:prstGeom>
          <a:ln>
            <a:noFill/>
          </a:ln>
          <a:effectLst>
            <a:outerShdw blurRad="292100" dist="139700" dir="2700000" algn="tl" rotWithShape="0">
              <a:srgbClr val="333333">
                <a:alpha val="65000"/>
              </a:srgbClr>
            </a:outerShdw>
          </a:effectLst>
        </p:spPr>
      </p:pic>
      <p:sp>
        <p:nvSpPr>
          <p:cNvPr id="13" name="12 CuadroTexto"/>
          <p:cNvSpPr txBox="1"/>
          <p:nvPr/>
        </p:nvSpPr>
        <p:spPr>
          <a:xfrm>
            <a:off x="5041248" y="6581001"/>
            <a:ext cx="2624436" cy="276999"/>
          </a:xfrm>
          <a:prstGeom prst="rect">
            <a:avLst/>
          </a:prstGeom>
          <a:noFill/>
        </p:spPr>
        <p:txBody>
          <a:bodyPr wrap="none" rtlCol="0">
            <a:spAutoFit/>
          </a:bodyPr>
          <a:lstStyle/>
          <a:p>
            <a:r>
              <a:rPr lang="es-AR" sz="1200" dirty="0" err="1" smtClean="0">
                <a:solidFill>
                  <a:schemeClr val="tx1"/>
                </a:solidFill>
                <a:latin typeface="Arial" pitchFamily="34" charset="0"/>
                <a:cs typeface="Arial" pitchFamily="34" charset="0"/>
              </a:rPr>
              <a:t>Silberschatz</a:t>
            </a:r>
            <a:r>
              <a:rPr lang="es-AR" sz="1200" dirty="0" smtClean="0">
                <a:solidFill>
                  <a:schemeClr val="tx1"/>
                </a:solidFill>
                <a:latin typeface="Arial" pitchFamily="34" charset="0"/>
                <a:cs typeface="Arial" pitchFamily="34" charset="0"/>
              </a:rPr>
              <a:t>, </a:t>
            </a:r>
            <a:r>
              <a:rPr lang="es-AR" sz="1200" dirty="0" err="1" smtClean="0">
                <a:solidFill>
                  <a:schemeClr val="tx1"/>
                </a:solidFill>
                <a:latin typeface="Arial" pitchFamily="34" charset="0"/>
                <a:cs typeface="Arial" pitchFamily="34" charset="0"/>
              </a:rPr>
              <a:t>Galvin</a:t>
            </a:r>
            <a:r>
              <a:rPr lang="es-AR" sz="1200" dirty="0" smtClean="0">
                <a:solidFill>
                  <a:schemeClr val="tx1"/>
                </a:solidFill>
                <a:latin typeface="Arial" pitchFamily="34" charset="0"/>
                <a:cs typeface="Arial" pitchFamily="34" charset="0"/>
              </a:rPr>
              <a:t>&amp; </a:t>
            </a:r>
            <a:r>
              <a:rPr lang="es-AR" sz="1200" dirty="0" err="1" smtClean="0">
                <a:solidFill>
                  <a:schemeClr val="tx1"/>
                </a:solidFill>
                <a:latin typeface="Arial" pitchFamily="34" charset="0"/>
                <a:cs typeface="Arial" pitchFamily="34" charset="0"/>
              </a:rPr>
              <a:t>Gagne</a:t>
            </a:r>
            <a:r>
              <a:rPr lang="es-AR" sz="1200" dirty="0" smtClean="0">
                <a:solidFill>
                  <a:schemeClr val="tx1"/>
                </a:solidFill>
                <a:latin typeface="Arial" pitchFamily="34" charset="0"/>
                <a:cs typeface="Arial" pitchFamily="34" charset="0"/>
              </a:rPr>
              <a:t>, 2013)</a:t>
            </a:r>
            <a:endParaRPr lang="es-AR" sz="12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5</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480139" y="1244600"/>
            <a:ext cx="3393361" cy="3370153"/>
          </a:xfrm>
          <a:prstGeom prst="rect">
            <a:avLst/>
          </a:prstGeom>
          <a:noFill/>
        </p:spPr>
        <p:txBody>
          <a:bodyPr wrap="square" rtlCol="0">
            <a:spAutoFit/>
          </a:bodyPr>
          <a:lstStyle/>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La biblioteca estándar </a:t>
            </a:r>
            <a:r>
              <a:rPr lang="es-AR" sz="1800" dirty="0" err="1" smtClean="0">
                <a:solidFill>
                  <a:schemeClr val="tx1"/>
                </a:solidFill>
                <a:latin typeface="Arial" pitchFamily="34" charset="0"/>
                <a:cs typeface="Arial" pitchFamily="34" charset="0"/>
              </a:rPr>
              <a:t>stdio.h</a:t>
            </a:r>
            <a:r>
              <a:rPr lang="es-AR" sz="1800" dirty="0" smtClean="0">
                <a:solidFill>
                  <a:schemeClr val="tx1"/>
                </a:solidFill>
                <a:latin typeface="Arial" pitchFamily="34" charset="0"/>
                <a:cs typeface="Arial" pitchFamily="34" charset="0"/>
              </a:rPr>
              <a:t> de C no pertenece al SO y se ejecuta en modo usuario.</a:t>
            </a:r>
          </a:p>
          <a:p>
            <a:pPr marL="177800" indent="-177800" algn="l">
              <a:spcBef>
                <a:spcPts val="600"/>
              </a:spcBef>
              <a:buFont typeface="Arial" pitchFamily="34" charset="0"/>
              <a:buChar char="•"/>
            </a:pPr>
            <a:endParaRPr lang="es-AR" sz="1800" dirty="0" smtClean="0">
              <a:solidFill>
                <a:schemeClr val="tx1"/>
              </a:solidFill>
              <a:latin typeface="Arial" pitchFamily="34" charset="0"/>
              <a:cs typeface="Arial" pitchFamily="34" charset="0"/>
            </a:endParaRPr>
          </a:p>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Por ejemplo, la instrucción </a:t>
            </a:r>
            <a:r>
              <a:rPr lang="es-AR" sz="1800" b="1" dirty="0" err="1" smtClean="0">
                <a:solidFill>
                  <a:schemeClr val="tx1"/>
                </a:solidFill>
                <a:latin typeface="Arial" pitchFamily="34" charset="0"/>
                <a:cs typeface="Arial" pitchFamily="34" charset="0"/>
              </a:rPr>
              <a:t>printf</a:t>
            </a:r>
            <a:r>
              <a:rPr lang="es-AR" sz="1800" b="1" dirty="0" smtClean="0">
                <a:solidFill>
                  <a:schemeClr val="tx1"/>
                </a:solidFill>
                <a:latin typeface="Arial" pitchFamily="34" charset="0"/>
                <a:cs typeface="Arial" pitchFamily="34" charset="0"/>
              </a:rPr>
              <a:t>() </a:t>
            </a:r>
            <a:r>
              <a:rPr lang="es-AR" sz="1800" dirty="0" smtClean="0">
                <a:solidFill>
                  <a:schemeClr val="tx1"/>
                </a:solidFill>
                <a:latin typeface="Arial" pitchFamily="34" charset="0"/>
                <a:cs typeface="Arial" pitchFamily="34" charset="0"/>
              </a:rPr>
              <a:t>utiliza la llamada al sistema </a:t>
            </a:r>
            <a:r>
              <a:rPr lang="es-AR" sz="1800" b="1" dirty="0" err="1" smtClean="0">
                <a:solidFill>
                  <a:schemeClr val="tx1"/>
                </a:solidFill>
                <a:latin typeface="Arial" pitchFamily="34" charset="0"/>
                <a:cs typeface="Arial" pitchFamily="34" charset="0"/>
              </a:rPr>
              <a:t>write</a:t>
            </a:r>
            <a:r>
              <a:rPr lang="es-AR" sz="1800" b="1" dirty="0" smtClean="0">
                <a:solidFill>
                  <a:schemeClr val="tx1"/>
                </a:solidFill>
                <a:latin typeface="Arial" pitchFamily="34" charset="0"/>
                <a:cs typeface="Arial" pitchFamily="34" charset="0"/>
              </a:rPr>
              <a:t>() </a:t>
            </a:r>
            <a:r>
              <a:rPr lang="es-AR" sz="1800" dirty="0" smtClean="0">
                <a:solidFill>
                  <a:schemeClr val="tx1"/>
                </a:solidFill>
                <a:latin typeface="Arial" pitchFamily="34" charset="0"/>
                <a:cs typeface="Arial" pitchFamily="34" charset="0"/>
              </a:rPr>
              <a:t>para poder escribir en la consola (como se lo vio en la presentación anterior</a:t>
            </a:r>
          </a:p>
          <a:p>
            <a:pPr marL="177800" indent="-177800" algn="l">
              <a:spcBef>
                <a:spcPts val="600"/>
              </a:spcBef>
              <a:buFont typeface="Arial" pitchFamily="34" charset="0"/>
              <a:buChar char="•"/>
            </a:pPr>
            <a:endParaRPr lang="es-AR" sz="1800" dirty="0" smtClean="0">
              <a:solidFill>
                <a:schemeClr val="tx1"/>
              </a:solidFill>
              <a:latin typeface="Arial" pitchFamily="34" charset="0"/>
              <a:cs typeface="Arial" pitchFamily="34" charset="0"/>
            </a:endParaRPr>
          </a:p>
        </p:txBody>
      </p:sp>
      <p:sp>
        <p:nvSpPr>
          <p:cNvPr id="12" name="1 Título"/>
          <p:cNvSpPr txBox="1">
            <a:spLocks/>
          </p:cNvSpPr>
          <p:nvPr/>
        </p:nvSpPr>
        <p:spPr>
          <a:xfrm>
            <a:off x="457200" y="274638"/>
            <a:ext cx="8229600" cy="833726"/>
          </a:xfrm>
          <a:prstGeom prst="rect">
            <a:avLst/>
          </a:prstGeom>
        </p:spPr>
        <p:txBody>
          <a:bodyPr vert="horz" lIns="91440" tIns="45720" rIns="91440" bIns="45720" rtlCol="0" anchor="ctr">
            <a:normAutofit fontScale="85000" lnSpcReduction="10000"/>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dirty="0" smtClean="0">
                <a:solidFill>
                  <a:schemeClr val="tx1"/>
                </a:solidFill>
                <a:latin typeface="+mj-lt"/>
                <a:ea typeface="+mj-ea"/>
                <a:cs typeface="+mj-cs"/>
              </a:rPr>
              <a:t>Ejemplo con la biblioteca estándar de C</a:t>
            </a:r>
            <a:endParaRPr kumimoji="0" lang="es-AR" sz="4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8" name="7 CuadroTexto"/>
          <p:cNvSpPr txBox="1"/>
          <p:nvPr/>
        </p:nvSpPr>
        <p:spPr>
          <a:xfrm>
            <a:off x="6362048" y="6123801"/>
            <a:ext cx="2624436" cy="276999"/>
          </a:xfrm>
          <a:prstGeom prst="rect">
            <a:avLst/>
          </a:prstGeom>
          <a:noFill/>
        </p:spPr>
        <p:txBody>
          <a:bodyPr wrap="none" rtlCol="0">
            <a:spAutoFit/>
          </a:bodyPr>
          <a:lstStyle/>
          <a:p>
            <a:r>
              <a:rPr lang="es-AR" sz="1200" dirty="0" err="1" smtClean="0">
                <a:solidFill>
                  <a:schemeClr val="tx1"/>
                </a:solidFill>
                <a:latin typeface="Arial" pitchFamily="34" charset="0"/>
                <a:cs typeface="Arial" pitchFamily="34" charset="0"/>
              </a:rPr>
              <a:t>Silberschatz</a:t>
            </a:r>
            <a:r>
              <a:rPr lang="es-AR" sz="1200" dirty="0" smtClean="0">
                <a:solidFill>
                  <a:schemeClr val="tx1"/>
                </a:solidFill>
                <a:latin typeface="Arial" pitchFamily="34" charset="0"/>
                <a:cs typeface="Arial" pitchFamily="34" charset="0"/>
              </a:rPr>
              <a:t>, </a:t>
            </a:r>
            <a:r>
              <a:rPr lang="es-AR" sz="1200" dirty="0" err="1" smtClean="0">
                <a:solidFill>
                  <a:schemeClr val="tx1"/>
                </a:solidFill>
                <a:latin typeface="Arial" pitchFamily="34" charset="0"/>
                <a:cs typeface="Arial" pitchFamily="34" charset="0"/>
              </a:rPr>
              <a:t>Galvin</a:t>
            </a:r>
            <a:r>
              <a:rPr lang="es-AR" sz="1200" dirty="0" smtClean="0">
                <a:solidFill>
                  <a:schemeClr val="tx1"/>
                </a:solidFill>
                <a:latin typeface="Arial" pitchFamily="34" charset="0"/>
                <a:cs typeface="Arial" pitchFamily="34" charset="0"/>
              </a:rPr>
              <a:t>&amp; </a:t>
            </a:r>
            <a:r>
              <a:rPr lang="es-AR" sz="1200" dirty="0" err="1" smtClean="0">
                <a:solidFill>
                  <a:schemeClr val="tx1"/>
                </a:solidFill>
                <a:latin typeface="Arial" pitchFamily="34" charset="0"/>
                <a:cs typeface="Arial" pitchFamily="34" charset="0"/>
              </a:rPr>
              <a:t>Gagne</a:t>
            </a:r>
            <a:r>
              <a:rPr lang="es-AR" sz="1200" dirty="0" smtClean="0">
                <a:solidFill>
                  <a:schemeClr val="tx1"/>
                </a:solidFill>
                <a:latin typeface="Arial" pitchFamily="34" charset="0"/>
                <a:cs typeface="Arial" pitchFamily="34" charset="0"/>
              </a:rPr>
              <a:t>, 2013)</a:t>
            </a:r>
            <a:endParaRPr lang="es-AR" sz="1200" dirty="0">
              <a:solidFill>
                <a:schemeClr val="tx1"/>
              </a:solidFill>
              <a:latin typeface="Arial" pitchFamily="34" charset="0"/>
              <a:cs typeface="Arial" pitchFamily="34" charset="0"/>
            </a:endParaRPr>
          </a:p>
        </p:txBody>
      </p:sp>
      <p:pic>
        <p:nvPicPr>
          <p:cNvPr id="2050" name="Picture 2"/>
          <p:cNvPicPr>
            <a:picLocks noChangeAspect="1" noChangeArrowheads="1"/>
          </p:cNvPicPr>
          <p:nvPr/>
        </p:nvPicPr>
        <p:blipFill>
          <a:blip r:embed="rId3" cstate="print"/>
          <a:srcRect/>
          <a:stretch>
            <a:fillRect/>
          </a:stretch>
        </p:blipFill>
        <p:spPr bwMode="auto">
          <a:xfrm>
            <a:off x="4108449" y="1257300"/>
            <a:ext cx="4773544" cy="4826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dirty="0" smtClean="0">
                <a:solidFill>
                  <a:schemeClr val="tx1"/>
                </a:solidFill>
                <a:latin typeface="+mj-lt"/>
                <a:ea typeface="+mj-ea"/>
                <a:cs typeface="+mj-cs"/>
              </a:rPr>
              <a:t>Mecanismos de interrupciones</a:t>
            </a:r>
            <a:endParaRPr kumimoji="0" lang="es-AR" sz="4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304801" y="1155700"/>
            <a:ext cx="8610600" cy="3647152"/>
          </a:xfrm>
          <a:prstGeom prst="rect">
            <a:avLst/>
          </a:prstGeom>
          <a:noFill/>
        </p:spPr>
        <p:txBody>
          <a:bodyPr wrap="square" rtlCol="0">
            <a:spAutoFit/>
          </a:bodyPr>
          <a:lstStyle/>
          <a:p>
            <a:pPr algn="l">
              <a:spcBef>
                <a:spcPts val="600"/>
              </a:spcBef>
            </a:pPr>
            <a:r>
              <a:rPr lang="es-AR" sz="1800" dirty="0" smtClean="0">
                <a:solidFill>
                  <a:schemeClr val="tx1"/>
                </a:solidFill>
                <a:latin typeface="Arial" pitchFamily="34" charset="0"/>
                <a:cs typeface="Arial" pitchFamily="34" charset="0"/>
              </a:rPr>
              <a:t>Se pueden distinguir 3 tipos:</a:t>
            </a:r>
          </a:p>
          <a:p>
            <a:pPr marL="355600" indent="-355600" algn="l">
              <a:spcBef>
                <a:spcPts val="600"/>
              </a:spcBef>
              <a:buFont typeface="Arial" pitchFamily="34" charset="0"/>
              <a:buChar char="•"/>
            </a:pPr>
            <a:r>
              <a:rPr lang="es-AR" sz="1800" dirty="0" smtClean="0">
                <a:solidFill>
                  <a:schemeClr val="tx1"/>
                </a:solidFill>
                <a:latin typeface="Arial" pitchFamily="34" charset="0"/>
                <a:cs typeface="Arial" pitchFamily="34" charset="0"/>
              </a:rPr>
              <a:t>Llamadas al sistema (</a:t>
            </a:r>
            <a:r>
              <a:rPr lang="es-AR" sz="1800" dirty="0" err="1" smtClean="0">
                <a:solidFill>
                  <a:schemeClr val="tx1"/>
                </a:solidFill>
                <a:latin typeface="Arial" pitchFamily="34" charset="0"/>
                <a:cs typeface="Arial" pitchFamily="34" charset="0"/>
              </a:rPr>
              <a:t>trap</a:t>
            </a:r>
            <a:r>
              <a:rPr lang="es-AR" sz="1800" dirty="0" smtClean="0">
                <a:solidFill>
                  <a:schemeClr val="tx1"/>
                </a:solidFill>
                <a:latin typeface="Arial" pitchFamily="34" charset="0"/>
                <a:cs typeface="Arial" pitchFamily="34" charset="0"/>
              </a:rPr>
              <a:t> o trampas): </a:t>
            </a:r>
            <a:r>
              <a:rPr lang="es-AR" sz="1600" dirty="0" smtClean="0">
                <a:solidFill>
                  <a:schemeClr val="tx1"/>
                </a:solidFill>
                <a:latin typeface="Arial" pitchFamily="34" charset="0"/>
                <a:cs typeface="Arial" pitchFamily="34" charset="0"/>
              </a:rPr>
              <a:t>son provocadas por el programador, para provocar un </a:t>
            </a:r>
            <a:r>
              <a:rPr lang="es-AR" sz="1600" dirty="0" err="1" smtClean="0">
                <a:solidFill>
                  <a:schemeClr val="tx1"/>
                </a:solidFill>
                <a:latin typeface="Arial" pitchFamily="34" charset="0"/>
                <a:cs typeface="Arial" pitchFamily="34" charset="0"/>
              </a:rPr>
              <a:t>trap</a:t>
            </a:r>
            <a:r>
              <a:rPr lang="es-AR" sz="1600" dirty="0" smtClean="0">
                <a:solidFill>
                  <a:schemeClr val="tx1"/>
                </a:solidFill>
                <a:latin typeface="Arial" pitchFamily="34" charset="0"/>
                <a:cs typeface="Arial" pitchFamily="34" charset="0"/>
              </a:rPr>
              <a:t> existen distintas instrucciones en el repertorio máquina que permiten al programador producir una interrupción al ejecutar dicha instrucción (INT, </a:t>
            </a:r>
            <a:r>
              <a:rPr lang="es-AR" sz="1600" dirty="0" err="1" smtClean="0">
                <a:solidFill>
                  <a:schemeClr val="tx1"/>
                </a:solidFill>
                <a:latin typeface="Arial" pitchFamily="34" charset="0"/>
                <a:cs typeface="Arial" pitchFamily="34" charset="0"/>
              </a:rPr>
              <a:t>syscall</a:t>
            </a:r>
            <a:r>
              <a:rPr lang="es-AR" sz="1600" dirty="0" smtClean="0">
                <a:solidFill>
                  <a:schemeClr val="tx1"/>
                </a:solidFill>
                <a:latin typeface="Arial" pitchFamily="34" charset="0"/>
                <a:cs typeface="Arial" pitchFamily="34" charset="0"/>
              </a:rPr>
              <a:t>, </a:t>
            </a:r>
            <a:r>
              <a:rPr lang="es-AR" sz="1600" dirty="0" err="1" smtClean="0">
                <a:solidFill>
                  <a:schemeClr val="tx1"/>
                </a:solidFill>
                <a:latin typeface="Arial" pitchFamily="34" charset="0"/>
                <a:cs typeface="Arial" pitchFamily="34" charset="0"/>
              </a:rPr>
              <a:t>etc</a:t>
            </a:r>
            <a:r>
              <a:rPr lang="es-AR" sz="1600" dirty="0" smtClean="0">
                <a:solidFill>
                  <a:schemeClr val="tx1"/>
                </a:solidFill>
                <a:latin typeface="Arial" pitchFamily="34" charset="0"/>
                <a:cs typeface="Arial" pitchFamily="34" charset="0"/>
              </a:rPr>
              <a:t>).</a:t>
            </a:r>
          </a:p>
          <a:p>
            <a:pPr marL="342900" indent="-342900" algn="l">
              <a:spcBef>
                <a:spcPts val="600"/>
              </a:spcBef>
              <a:buFont typeface="Arial" pitchFamily="34" charset="0"/>
              <a:buChar char="•"/>
            </a:pPr>
            <a:r>
              <a:rPr lang="es-AR" sz="1800" dirty="0" smtClean="0">
                <a:solidFill>
                  <a:schemeClr val="tx1"/>
                </a:solidFill>
                <a:latin typeface="Arial" pitchFamily="34" charset="0"/>
                <a:cs typeface="Arial" pitchFamily="34" charset="0"/>
              </a:rPr>
              <a:t>Excepciones: </a:t>
            </a:r>
            <a:r>
              <a:rPr lang="es-AR" sz="1600" dirty="0" smtClean="0">
                <a:solidFill>
                  <a:schemeClr val="tx1"/>
                </a:solidFill>
                <a:latin typeface="Arial" pitchFamily="34" charset="0"/>
                <a:cs typeface="Arial" pitchFamily="34" charset="0"/>
              </a:rPr>
              <a:t>se ejecutan en </a:t>
            </a:r>
            <a:r>
              <a:rPr lang="es-AR" sz="1600" b="1" dirty="0" smtClean="0">
                <a:solidFill>
                  <a:srgbClr val="C00000"/>
                </a:solidFill>
                <a:latin typeface="Arial" pitchFamily="34" charset="0"/>
                <a:cs typeface="Arial" pitchFamily="34" charset="0"/>
              </a:rPr>
              <a:t>síncrona</a:t>
            </a:r>
            <a:r>
              <a:rPr lang="es-AR" sz="1600" dirty="0" smtClean="0">
                <a:solidFill>
                  <a:schemeClr val="tx1"/>
                </a:solidFill>
                <a:latin typeface="Arial" pitchFamily="34" charset="0"/>
                <a:cs typeface="Arial" pitchFamily="34" charset="0"/>
              </a:rPr>
              <a:t> a la ejecución del procesador y por tanto podrían predecirse si se analiza con detenimiento la traza del programa que en ese momento estaba siendo ejecutado en la CPU. Normalmente las causas de estas interrupciones suelen ser realizaciones de operaciones no permitidas tales como la división por 0, el desbordamiento, el acceso a una posición de memoria no permitida, etc.</a:t>
            </a:r>
          </a:p>
          <a:p>
            <a:pPr marL="355600" indent="-355600" algn="l">
              <a:spcBef>
                <a:spcPts val="600"/>
              </a:spcBef>
              <a:buFont typeface="Arial" pitchFamily="34" charset="0"/>
              <a:buChar char="•"/>
            </a:pPr>
            <a:r>
              <a:rPr lang="es-AR" sz="1800" dirty="0" smtClean="0">
                <a:solidFill>
                  <a:schemeClr val="tx1"/>
                </a:solidFill>
                <a:latin typeface="Arial" pitchFamily="34" charset="0"/>
                <a:cs typeface="Arial" pitchFamily="34" charset="0"/>
              </a:rPr>
              <a:t>Interrupciones ( de un dispositivo o hardware): </a:t>
            </a:r>
            <a:r>
              <a:rPr lang="es-AR" sz="1600" dirty="0" smtClean="0">
                <a:solidFill>
                  <a:schemeClr val="tx1"/>
                </a:solidFill>
                <a:latin typeface="Arial" pitchFamily="34" charset="0"/>
                <a:cs typeface="Arial" pitchFamily="34" charset="0"/>
              </a:rPr>
              <a:t>evento </a:t>
            </a:r>
            <a:r>
              <a:rPr lang="es-AR" sz="1600" b="1" dirty="0" smtClean="0">
                <a:solidFill>
                  <a:srgbClr val="C00000"/>
                </a:solidFill>
                <a:latin typeface="Arial" pitchFamily="34" charset="0"/>
                <a:cs typeface="Arial" pitchFamily="34" charset="0"/>
              </a:rPr>
              <a:t>asíncrono</a:t>
            </a:r>
            <a:r>
              <a:rPr lang="es-AR" sz="1600" dirty="0" smtClean="0">
                <a:solidFill>
                  <a:schemeClr val="tx1"/>
                </a:solidFill>
                <a:latin typeface="Arial" pitchFamily="34" charset="0"/>
                <a:cs typeface="Arial" pitchFamily="34" charset="0"/>
              </a:rPr>
              <a:t> externo, se pueden producir en cualquier momento independientemente de lo que esté haciendo la CPU en ese momento. Las causas que lo producen son externas al procesador y a menudo suelen estar ligadas con distintos dispositivos de E/S.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7</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569039" y="965201"/>
            <a:ext cx="8422561" cy="338554"/>
          </a:xfrm>
          <a:prstGeom prst="rect">
            <a:avLst/>
          </a:prstGeom>
          <a:noFill/>
        </p:spPr>
        <p:txBody>
          <a:bodyPr wrap="square" rtlCol="0">
            <a:spAutoFit/>
          </a:bodyPr>
          <a:lstStyle/>
          <a:p>
            <a:pPr marL="177800" indent="-177800" algn="l">
              <a:spcBef>
                <a:spcPts val="600"/>
              </a:spcBef>
            </a:pPr>
            <a:r>
              <a:rPr lang="es-AR" sz="1600" dirty="0" smtClean="0">
                <a:solidFill>
                  <a:schemeClr val="tx1"/>
                </a:solidFill>
                <a:latin typeface="Arial" pitchFamily="34" charset="0"/>
                <a:cs typeface="Arial" pitchFamily="34" charset="0"/>
              </a:rPr>
              <a:t>Bibliografía:   </a:t>
            </a:r>
            <a:r>
              <a:rPr lang="es-AR" sz="1600" dirty="0" err="1" smtClean="0">
                <a:solidFill>
                  <a:schemeClr val="tx1"/>
                </a:solidFill>
                <a:latin typeface="Arial" pitchFamily="34" charset="0"/>
                <a:cs typeface="Arial" pitchFamily="34" charset="0"/>
              </a:rPr>
              <a:t>Silberschatz</a:t>
            </a:r>
            <a:r>
              <a:rPr lang="es-AR" sz="1600" dirty="0" smtClean="0">
                <a:solidFill>
                  <a:schemeClr val="tx1"/>
                </a:solidFill>
                <a:latin typeface="Arial" pitchFamily="34" charset="0"/>
                <a:cs typeface="Arial" pitchFamily="34" charset="0"/>
              </a:rPr>
              <a:t>, - Capítulo 3- Secciones 3.1.1, 3.1.2, 3.1.3   - </a:t>
            </a:r>
            <a:r>
              <a:rPr lang="es-AR" sz="1600" dirty="0" err="1" smtClean="0">
                <a:solidFill>
                  <a:schemeClr val="tx1"/>
                </a:solidFill>
                <a:latin typeface="Arial" pitchFamily="34" charset="0"/>
                <a:cs typeface="Arial" pitchFamily="34" charset="0"/>
              </a:rPr>
              <a:t>Stallings</a:t>
            </a:r>
            <a:r>
              <a:rPr lang="es-AR" sz="1600" dirty="0" smtClean="0">
                <a:solidFill>
                  <a:schemeClr val="tx1"/>
                </a:solidFill>
                <a:latin typeface="Arial" pitchFamily="34" charset="0"/>
                <a:cs typeface="Arial" pitchFamily="34" charset="0"/>
              </a:rPr>
              <a:t>  p109-&gt;… </a:t>
            </a:r>
          </a:p>
        </p:txBody>
      </p:sp>
      <p:sp>
        <p:nvSpPr>
          <p:cNvPr id="12"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dirty="0" smtClean="0">
                <a:solidFill>
                  <a:schemeClr val="tx1"/>
                </a:solidFill>
                <a:latin typeface="+mj-lt"/>
                <a:ea typeface="+mj-ea"/>
                <a:cs typeface="+mj-cs"/>
              </a:rPr>
              <a:t>Procesos</a:t>
            </a:r>
            <a:endParaRPr kumimoji="0" lang="es-AR" sz="4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10" name="9 CuadroTexto"/>
          <p:cNvSpPr txBox="1"/>
          <p:nvPr/>
        </p:nvSpPr>
        <p:spPr>
          <a:xfrm>
            <a:off x="302339" y="1727200"/>
            <a:ext cx="4434761" cy="4585871"/>
          </a:xfrm>
          <a:prstGeom prst="rect">
            <a:avLst/>
          </a:prstGeom>
          <a:noFill/>
        </p:spPr>
        <p:txBody>
          <a:bodyPr wrap="square" rtlCol="0">
            <a:spAutoFit/>
          </a:bodyPr>
          <a:lstStyle/>
          <a:p>
            <a:pPr marL="177800" indent="-177800" algn="l">
              <a:spcBef>
                <a:spcPts val="600"/>
              </a:spcBef>
            </a:pPr>
            <a:r>
              <a:rPr lang="es-AR" sz="1800" dirty="0" smtClean="0">
                <a:solidFill>
                  <a:schemeClr val="tx1"/>
                </a:solidFill>
                <a:latin typeface="Arial" pitchFamily="34" charset="0"/>
                <a:cs typeface="Arial" pitchFamily="34" charset="0"/>
              </a:rPr>
              <a:t>¿Qué es un proceso?</a:t>
            </a:r>
          </a:p>
          <a:p>
            <a:pPr marL="355600" indent="-355600" algn="l">
              <a:spcBef>
                <a:spcPts val="600"/>
              </a:spcBef>
              <a:buFont typeface="Arial" pitchFamily="34" charset="0"/>
              <a:buChar char="•"/>
            </a:pPr>
            <a:r>
              <a:rPr lang="es-AR" sz="1800" dirty="0" smtClean="0">
                <a:solidFill>
                  <a:schemeClr val="tx1"/>
                </a:solidFill>
                <a:latin typeface="Arial" pitchFamily="34" charset="0"/>
                <a:cs typeface="Arial" pitchFamily="34" charset="0"/>
              </a:rPr>
              <a:t>Un proceso es una </a:t>
            </a:r>
            <a:r>
              <a:rPr lang="es-AR" sz="1800" b="1" dirty="0" smtClean="0">
                <a:solidFill>
                  <a:srgbClr val="FF0000"/>
                </a:solidFill>
                <a:latin typeface="Arial" pitchFamily="34" charset="0"/>
                <a:cs typeface="Arial" pitchFamily="34" charset="0"/>
              </a:rPr>
              <a:t>abstracción</a:t>
            </a:r>
            <a:r>
              <a:rPr lang="es-AR" sz="1800" dirty="0" smtClean="0">
                <a:solidFill>
                  <a:schemeClr val="tx1"/>
                </a:solidFill>
                <a:latin typeface="Arial" pitchFamily="34" charset="0"/>
                <a:cs typeface="Arial" pitchFamily="34" charset="0"/>
              </a:rPr>
              <a:t> del SO para identificar un </a:t>
            </a:r>
            <a:r>
              <a:rPr lang="es-AR" sz="1800" b="1" dirty="0" smtClean="0">
                <a:solidFill>
                  <a:schemeClr val="tx1"/>
                </a:solidFill>
                <a:latin typeface="Arial" pitchFamily="34" charset="0"/>
                <a:cs typeface="Arial" pitchFamily="34" charset="0"/>
              </a:rPr>
              <a:t>programa</a:t>
            </a:r>
            <a:r>
              <a:rPr lang="es-AR" sz="1800" dirty="0" smtClean="0">
                <a:solidFill>
                  <a:schemeClr val="tx1"/>
                </a:solidFill>
                <a:latin typeface="Arial" pitchFamily="34" charset="0"/>
                <a:cs typeface="Arial" pitchFamily="34" charset="0"/>
              </a:rPr>
              <a:t> en ejecución.</a:t>
            </a:r>
          </a:p>
          <a:p>
            <a:pPr marL="355600" indent="-355600" algn="l">
              <a:spcBef>
                <a:spcPts val="600"/>
              </a:spcBef>
              <a:buFont typeface="Arial" pitchFamily="34" charset="0"/>
              <a:buChar char="•"/>
            </a:pPr>
            <a:endParaRPr lang="es-AR" sz="1800" dirty="0" smtClean="0">
              <a:solidFill>
                <a:schemeClr val="tx1"/>
              </a:solidFill>
              <a:latin typeface="Arial" pitchFamily="34" charset="0"/>
              <a:cs typeface="Arial" pitchFamily="34" charset="0"/>
            </a:endParaRPr>
          </a:p>
          <a:p>
            <a:pPr marL="355600" indent="-355600" algn="l">
              <a:spcBef>
                <a:spcPts val="600"/>
              </a:spcBef>
              <a:buFont typeface="Arial" pitchFamily="34" charset="0"/>
              <a:buChar char="•"/>
            </a:pPr>
            <a:r>
              <a:rPr lang="es-AR" sz="1800" dirty="0" smtClean="0">
                <a:solidFill>
                  <a:schemeClr val="tx1"/>
                </a:solidFill>
                <a:latin typeface="Arial" pitchFamily="34" charset="0"/>
                <a:cs typeface="Arial" pitchFamily="34" charset="0"/>
              </a:rPr>
              <a:t>Un proceso necesita recursos para poder ejecutarse: memoria, dispositivos de E/S, la CPU, etc.</a:t>
            </a:r>
          </a:p>
          <a:p>
            <a:pPr marL="355600" indent="-355600" algn="l">
              <a:spcBef>
                <a:spcPts val="600"/>
              </a:spcBef>
              <a:buFont typeface="Arial" pitchFamily="34" charset="0"/>
              <a:buChar char="•"/>
            </a:pPr>
            <a:endParaRPr lang="es-AR" sz="1800" dirty="0" smtClean="0">
              <a:solidFill>
                <a:schemeClr val="tx1"/>
              </a:solidFill>
              <a:latin typeface="Arial" pitchFamily="34" charset="0"/>
              <a:cs typeface="Arial" pitchFamily="34" charset="0"/>
            </a:endParaRPr>
          </a:p>
          <a:p>
            <a:pPr marL="355600" indent="-355600" algn="l">
              <a:spcBef>
                <a:spcPts val="600"/>
              </a:spcBef>
              <a:buFont typeface="Arial" pitchFamily="34" charset="0"/>
              <a:buChar char="•"/>
            </a:pPr>
            <a:r>
              <a:rPr lang="es-AR" sz="1800" dirty="0" smtClean="0">
                <a:solidFill>
                  <a:schemeClr val="tx1"/>
                </a:solidFill>
                <a:latin typeface="Arial" pitchFamily="34" charset="0"/>
                <a:cs typeface="Arial" pitchFamily="34" charset="0"/>
              </a:rPr>
              <a:t>Áreas típicas de la memoria:</a:t>
            </a:r>
          </a:p>
          <a:p>
            <a:pPr marL="635000" lvl="1"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código (también llamado «texto»)</a:t>
            </a:r>
          </a:p>
          <a:p>
            <a:pPr marL="635000" lvl="1"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datos (variables globales + memoria dinámica)</a:t>
            </a:r>
          </a:p>
          <a:p>
            <a:pPr marL="635000" lvl="1"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pila (datos locales de subrutinas) </a:t>
            </a:r>
          </a:p>
        </p:txBody>
      </p:sp>
      <p:pic>
        <p:nvPicPr>
          <p:cNvPr id="3074"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537200" y="2390775"/>
            <a:ext cx="2667000" cy="4057650"/>
          </a:xfrm>
          <a:prstGeom prst="rect">
            <a:avLst/>
          </a:prstGeom>
          <a:noFill/>
          <a:ln w="9525">
            <a:noFill/>
            <a:miter lim="800000"/>
            <a:headEnd/>
            <a:tailEnd/>
          </a:ln>
        </p:spPr>
      </p:pic>
      <p:sp>
        <p:nvSpPr>
          <p:cNvPr id="11" name="10 CuadroTexto"/>
          <p:cNvSpPr txBox="1"/>
          <p:nvPr/>
        </p:nvSpPr>
        <p:spPr>
          <a:xfrm>
            <a:off x="5064839" y="1638301"/>
            <a:ext cx="3685461" cy="646331"/>
          </a:xfrm>
          <a:prstGeom prst="rect">
            <a:avLst/>
          </a:prstGeom>
          <a:noFill/>
        </p:spPr>
        <p:txBody>
          <a:bodyPr wrap="square" rtlCol="0">
            <a:spAutoFit/>
          </a:bodyPr>
          <a:lstStyle/>
          <a:p>
            <a:pPr marL="177800" indent="-177800" algn="l">
              <a:spcBef>
                <a:spcPts val="600"/>
              </a:spcBef>
            </a:pPr>
            <a:r>
              <a:rPr lang="es-AR" sz="1800" dirty="0" smtClean="0">
                <a:solidFill>
                  <a:schemeClr val="tx1"/>
                </a:solidFill>
                <a:latin typeface="Arial" pitchFamily="34" charset="0"/>
                <a:cs typeface="Arial" pitchFamily="34" charset="0"/>
              </a:rPr>
              <a:t>Organización de la memoria de un proceso (Unix, Windows)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8</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dirty="0" smtClean="0">
                <a:solidFill>
                  <a:schemeClr val="tx1"/>
                </a:solidFill>
                <a:latin typeface="+mj-lt"/>
                <a:ea typeface="+mj-ea"/>
                <a:cs typeface="+mj-cs"/>
              </a:rPr>
              <a:t>Estados de un Proceso</a:t>
            </a:r>
            <a:endParaRPr kumimoji="0" lang="es-AR" sz="4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492839" y="1079500"/>
            <a:ext cx="8460661" cy="2693045"/>
          </a:xfrm>
          <a:prstGeom prst="rect">
            <a:avLst/>
          </a:prstGeom>
          <a:noFill/>
        </p:spPr>
        <p:txBody>
          <a:bodyPr wrap="square" rtlCol="0">
            <a:spAutoFit/>
          </a:bodyPr>
          <a:lstStyle/>
          <a:p>
            <a:pPr algn="l">
              <a:spcBef>
                <a:spcPts val="600"/>
              </a:spcBef>
            </a:pPr>
            <a:r>
              <a:rPr lang="es-AR" sz="1800" dirty="0" smtClean="0">
                <a:solidFill>
                  <a:schemeClr val="tx1"/>
                </a:solidFill>
                <a:latin typeface="Arial" pitchFamily="34" charset="0"/>
                <a:cs typeface="Arial" pitchFamily="34" charset="0"/>
              </a:rPr>
              <a:t>A medida que un proceso se ejecuta, cambia de estado:</a:t>
            </a:r>
          </a:p>
          <a:p>
            <a:pPr marL="355600" indent="-355600" algn="l">
              <a:spcBef>
                <a:spcPts val="600"/>
              </a:spcBef>
              <a:buFont typeface="Arial" pitchFamily="34" charset="0"/>
              <a:buChar char="•"/>
            </a:pPr>
            <a:r>
              <a:rPr lang="es-AR" sz="1800" b="1" dirty="0" smtClean="0">
                <a:solidFill>
                  <a:srgbClr val="7030A0"/>
                </a:solidFill>
                <a:latin typeface="Arial" pitchFamily="34" charset="0"/>
                <a:cs typeface="Arial" pitchFamily="34" charset="0"/>
              </a:rPr>
              <a:t>nuevo</a:t>
            </a:r>
            <a:r>
              <a:rPr lang="es-AR" sz="1800" dirty="0" smtClean="0">
                <a:solidFill>
                  <a:schemeClr val="tx1"/>
                </a:solidFill>
                <a:latin typeface="Arial" pitchFamily="34" charset="0"/>
                <a:cs typeface="Arial" pitchFamily="34" charset="0"/>
              </a:rPr>
              <a:t>: recién creado por el S.O.</a:t>
            </a:r>
          </a:p>
          <a:p>
            <a:pPr marL="355600" indent="-355600" algn="l">
              <a:spcBef>
                <a:spcPts val="600"/>
              </a:spcBef>
              <a:buFont typeface="Arial" pitchFamily="34" charset="0"/>
              <a:buChar char="•"/>
            </a:pPr>
            <a:r>
              <a:rPr lang="es-AR" sz="1800" b="1" dirty="0" smtClean="0">
                <a:solidFill>
                  <a:srgbClr val="7030A0"/>
                </a:solidFill>
                <a:latin typeface="Arial" pitchFamily="34" charset="0"/>
                <a:cs typeface="Arial" pitchFamily="34" charset="0"/>
              </a:rPr>
              <a:t>ejecutando</a:t>
            </a:r>
            <a:r>
              <a:rPr lang="es-AR" sz="1800" dirty="0" smtClean="0">
                <a:solidFill>
                  <a:srgbClr val="7030A0"/>
                </a:solidFill>
                <a:latin typeface="Arial" pitchFamily="34" charset="0"/>
                <a:cs typeface="Arial" pitchFamily="34" charset="0"/>
              </a:rPr>
              <a:t>:</a:t>
            </a:r>
            <a:r>
              <a:rPr lang="es-AR" sz="1800" b="1" dirty="0" smtClean="0">
                <a:solidFill>
                  <a:srgbClr val="7030A0"/>
                </a:solidFill>
                <a:latin typeface="Arial" pitchFamily="34" charset="0"/>
                <a:cs typeface="Arial" pitchFamily="34" charset="0"/>
              </a:rPr>
              <a:t> </a:t>
            </a:r>
            <a:r>
              <a:rPr lang="es-AR" sz="1800" dirty="0" smtClean="0">
                <a:solidFill>
                  <a:schemeClr val="tx1"/>
                </a:solidFill>
                <a:latin typeface="Arial" pitchFamily="34" charset="0"/>
                <a:cs typeface="Arial" pitchFamily="34" charset="0"/>
              </a:rPr>
              <a:t>está en la CPU ejecutando instrucciones</a:t>
            </a:r>
          </a:p>
          <a:p>
            <a:pPr marL="355600" indent="-355600" algn="l">
              <a:spcBef>
                <a:spcPts val="600"/>
              </a:spcBef>
              <a:buFont typeface="Arial" pitchFamily="34" charset="0"/>
              <a:buChar char="•"/>
            </a:pPr>
            <a:r>
              <a:rPr lang="es-AR" sz="1800" b="1" dirty="0" smtClean="0">
                <a:solidFill>
                  <a:srgbClr val="7030A0"/>
                </a:solidFill>
                <a:latin typeface="Arial" pitchFamily="34" charset="0"/>
                <a:cs typeface="Arial" pitchFamily="34" charset="0"/>
              </a:rPr>
              <a:t>bloqueado</a:t>
            </a:r>
            <a:r>
              <a:rPr lang="es-AR" sz="1800" dirty="0" smtClean="0">
                <a:solidFill>
                  <a:srgbClr val="7030A0"/>
                </a:solidFill>
                <a:latin typeface="Arial" pitchFamily="34" charset="0"/>
                <a:cs typeface="Arial" pitchFamily="34" charset="0"/>
              </a:rPr>
              <a:t>:</a:t>
            </a:r>
            <a:r>
              <a:rPr lang="es-AR" sz="1800" b="1" dirty="0" smtClean="0">
                <a:solidFill>
                  <a:srgbClr val="7030A0"/>
                </a:solidFill>
                <a:latin typeface="Arial" pitchFamily="34" charset="0"/>
                <a:cs typeface="Arial" pitchFamily="34" charset="0"/>
              </a:rPr>
              <a:t> </a:t>
            </a:r>
            <a:r>
              <a:rPr lang="es-AR" sz="1800" dirty="0" smtClean="0">
                <a:solidFill>
                  <a:schemeClr val="tx1"/>
                </a:solidFill>
                <a:latin typeface="Arial" pitchFamily="34" charset="0"/>
                <a:cs typeface="Arial" pitchFamily="34" charset="0"/>
              </a:rPr>
              <a:t>esperando a que ocurra algún evento (terminación de una operación de E/S o la recepción de una señal)</a:t>
            </a:r>
          </a:p>
          <a:p>
            <a:pPr marL="355600" indent="-355600" algn="l">
              <a:spcBef>
                <a:spcPts val="600"/>
              </a:spcBef>
              <a:buFont typeface="Arial" pitchFamily="34" charset="0"/>
              <a:buChar char="•"/>
            </a:pPr>
            <a:r>
              <a:rPr lang="es-AR" sz="1800" b="1" dirty="0" smtClean="0">
                <a:solidFill>
                  <a:srgbClr val="7030A0"/>
                </a:solidFill>
                <a:latin typeface="Arial" pitchFamily="34" charset="0"/>
                <a:cs typeface="Arial" pitchFamily="34" charset="0"/>
              </a:rPr>
              <a:t>listo</a:t>
            </a:r>
            <a:r>
              <a:rPr lang="es-AR" sz="1800" dirty="0" smtClean="0">
                <a:solidFill>
                  <a:srgbClr val="7030A0"/>
                </a:solidFill>
                <a:latin typeface="Arial" pitchFamily="34" charset="0"/>
                <a:cs typeface="Arial" pitchFamily="34" charset="0"/>
              </a:rPr>
              <a:t>:</a:t>
            </a:r>
            <a:r>
              <a:rPr lang="es-AR" sz="1800" b="1" dirty="0" smtClean="0">
                <a:solidFill>
                  <a:srgbClr val="7030A0"/>
                </a:solidFill>
                <a:latin typeface="Arial" pitchFamily="34" charset="0"/>
                <a:cs typeface="Arial" pitchFamily="34" charset="0"/>
              </a:rPr>
              <a:t> </a:t>
            </a:r>
            <a:r>
              <a:rPr lang="es-AR" sz="1800" dirty="0" smtClean="0">
                <a:solidFill>
                  <a:schemeClr val="tx1"/>
                </a:solidFill>
                <a:latin typeface="Arial" pitchFamily="34" charset="0"/>
                <a:cs typeface="Arial" pitchFamily="34" charset="0"/>
              </a:rPr>
              <a:t>esperando a que le asignen un procesador</a:t>
            </a:r>
          </a:p>
          <a:p>
            <a:pPr marL="355600" indent="-355600" algn="l">
              <a:spcBef>
                <a:spcPts val="600"/>
              </a:spcBef>
              <a:buFont typeface="Arial" pitchFamily="34" charset="0"/>
              <a:buChar char="•"/>
            </a:pPr>
            <a:r>
              <a:rPr lang="es-AR" sz="1800" b="1" dirty="0" smtClean="0">
                <a:solidFill>
                  <a:srgbClr val="7030A0"/>
                </a:solidFill>
                <a:latin typeface="Arial" pitchFamily="34" charset="0"/>
                <a:cs typeface="Arial" pitchFamily="34" charset="0"/>
              </a:rPr>
              <a:t>terminado</a:t>
            </a:r>
            <a:r>
              <a:rPr lang="es-AR" sz="1800" dirty="0" smtClean="0">
                <a:solidFill>
                  <a:srgbClr val="7030A0"/>
                </a:solidFill>
                <a:latin typeface="Arial" pitchFamily="34" charset="0"/>
                <a:cs typeface="Arial" pitchFamily="34" charset="0"/>
              </a:rPr>
              <a:t>:</a:t>
            </a:r>
            <a:r>
              <a:rPr lang="es-AR" sz="1800" b="1" dirty="0" smtClean="0">
                <a:solidFill>
                  <a:srgbClr val="7030A0"/>
                </a:solidFill>
                <a:latin typeface="Arial" pitchFamily="34" charset="0"/>
                <a:cs typeface="Arial" pitchFamily="34" charset="0"/>
              </a:rPr>
              <a:t> </a:t>
            </a:r>
            <a:r>
              <a:rPr lang="es-AR" sz="1800" dirty="0" smtClean="0">
                <a:solidFill>
                  <a:schemeClr val="tx1"/>
                </a:solidFill>
                <a:latin typeface="Arial" pitchFamily="34" charset="0"/>
                <a:cs typeface="Arial" pitchFamily="34" charset="0"/>
              </a:rPr>
              <a:t>no ejecutará más instrucciones y el SO le retirará los recursos que consume</a:t>
            </a:r>
          </a:p>
        </p:txBody>
      </p:sp>
      <p:pic>
        <p:nvPicPr>
          <p:cNvPr id="4099"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350963" y="3563938"/>
            <a:ext cx="6543675" cy="2981325"/>
          </a:xfrm>
          <a:prstGeom prst="rect">
            <a:avLst/>
          </a:prstGeom>
          <a:noFill/>
          <a:ln w="9525">
            <a:noFill/>
            <a:miter lim="800000"/>
            <a:headEnd/>
            <a:tailEnd/>
          </a:ln>
        </p:spPr>
      </p:pic>
      <p:sp>
        <p:nvSpPr>
          <p:cNvPr id="12" name="11 CuadroTexto"/>
          <p:cNvSpPr txBox="1"/>
          <p:nvPr/>
        </p:nvSpPr>
        <p:spPr>
          <a:xfrm>
            <a:off x="6078953" y="4914900"/>
            <a:ext cx="269625" cy="276999"/>
          </a:xfrm>
          <a:prstGeom prst="rect">
            <a:avLst/>
          </a:prstGeom>
          <a:noFill/>
        </p:spPr>
        <p:txBody>
          <a:bodyPr wrap="none" rtlCol="0">
            <a:spAutoFit/>
          </a:bodyPr>
          <a:lstStyle/>
          <a:p>
            <a:r>
              <a:rPr lang="es-AR" sz="1200" b="1" dirty="0" smtClean="0">
                <a:solidFill>
                  <a:srgbClr val="7030A0"/>
                </a:solidFill>
                <a:latin typeface="Arial" pitchFamily="34" charset="0"/>
                <a:cs typeface="Arial" pitchFamily="34" charset="0"/>
              </a:rPr>
              <a:t>1</a:t>
            </a:r>
            <a:endParaRPr lang="es-AR" sz="1200" b="1" dirty="0">
              <a:solidFill>
                <a:srgbClr val="7030A0"/>
              </a:solidFill>
              <a:latin typeface="Arial" pitchFamily="34" charset="0"/>
              <a:cs typeface="Arial" pitchFamily="34" charset="0"/>
            </a:endParaRPr>
          </a:p>
        </p:txBody>
      </p:sp>
      <p:sp>
        <p:nvSpPr>
          <p:cNvPr id="13" name="12 CuadroTexto"/>
          <p:cNvSpPr txBox="1"/>
          <p:nvPr/>
        </p:nvSpPr>
        <p:spPr>
          <a:xfrm>
            <a:off x="3915144" y="5524500"/>
            <a:ext cx="279244" cy="276999"/>
          </a:xfrm>
          <a:prstGeom prst="rect">
            <a:avLst/>
          </a:prstGeom>
          <a:noFill/>
        </p:spPr>
        <p:txBody>
          <a:bodyPr wrap="none" rtlCol="0">
            <a:spAutoFit/>
          </a:bodyPr>
          <a:lstStyle/>
          <a:p>
            <a:r>
              <a:rPr lang="es-AR" sz="1200" b="1" dirty="0" smtClean="0">
                <a:solidFill>
                  <a:srgbClr val="7030A0"/>
                </a:solidFill>
                <a:latin typeface="Arial" pitchFamily="34" charset="0"/>
                <a:cs typeface="Arial" pitchFamily="34" charset="0"/>
              </a:rPr>
              <a:t>n</a:t>
            </a:r>
            <a:endParaRPr lang="es-AR" sz="1200" b="1" dirty="0">
              <a:solidFill>
                <a:srgbClr val="7030A0"/>
              </a:solidFill>
              <a:latin typeface="Arial" pitchFamily="34" charset="0"/>
              <a:cs typeface="Arial" pitchFamily="34" charset="0"/>
            </a:endParaRPr>
          </a:p>
        </p:txBody>
      </p:sp>
      <p:sp>
        <p:nvSpPr>
          <p:cNvPr id="14" name="13 CuadroTexto"/>
          <p:cNvSpPr txBox="1"/>
          <p:nvPr/>
        </p:nvSpPr>
        <p:spPr>
          <a:xfrm>
            <a:off x="3864344" y="4368800"/>
            <a:ext cx="279244" cy="276999"/>
          </a:xfrm>
          <a:prstGeom prst="rect">
            <a:avLst/>
          </a:prstGeom>
          <a:noFill/>
        </p:spPr>
        <p:txBody>
          <a:bodyPr wrap="none" rtlCol="0">
            <a:spAutoFit/>
          </a:bodyPr>
          <a:lstStyle/>
          <a:p>
            <a:r>
              <a:rPr lang="es-AR" sz="1200" b="1" dirty="0" smtClean="0">
                <a:solidFill>
                  <a:srgbClr val="7030A0"/>
                </a:solidFill>
                <a:latin typeface="Arial" pitchFamily="34" charset="0"/>
                <a:cs typeface="Arial" pitchFamily="34" charset="0"/>
              </a:rPr>
              <a:t>n</a:t>
            </a:r>
            <a:endParaRPr lang="es-AR" sz="1200" b="1" dirty="0">
              <a:solidFill>
                <a:srgbClr val="7030A0"/>
              </a:solidFill>
              <a:latin typeface="Arial" pitchFamily="34" charset="0"/>
              <a:cs typeface="Arial" pitchFamily="34" charset="0"/>
            </a:endParaRPr>
          </a:p>
        </p:txBody>
      </p:sp>
      <p:sp>
        <p:nvSpPr>
          <p:cNvPr id="15" name="14 CuadroTexto"/>
          <p:cNvSpPr txBox="1"/>
          <p:nvPr/>
        </p:nvSpPr>
        <p:spPr>
          <a:xfrm>
            <a:off x="3048000" y="4673601"/>
            <a:ext cx="863600" cy="276999"/>
          </a:xfrm>
          <a:prstGeom prst="rect">
            <a:avLst/>
          </a:prstGeom>
          <a:solidFill>
            <a:srgbClr val="FAECB8"/>
          </a:solidFill>
        </p:spPr>
        <p:txBody>
          <a:bodyPr wrap="square" rtlCol="0">
            <a:spAutoFit/>
          </a:bodyPr>
          <a:lstStyle/>
          <a:p>
            <a:r>
              <a:rPr lang="es-AR" sz="1200" b="1" dirty="0" smtClean="0">
                <a:solidFill>
                  <a:schemeClr val="tx1"/>
                </a:solidFill>
                <a:latin typeface="Arial" pitchFamily="34" charset="0"/>
                <a:cs typeface="Arial" pitchFamily="34" charset="0"/>
              </a:rPr>
              <a:t>  listo  </a:t>
            </a:r>
            <a:endParaRPr lang="es-AR" sz="1200" b="1" dirty="0">
              <a:solidFill>
                <a:schemeClr val="tx1"/>
              </a:solidFill>
              <a:latin typeface="Arial" pitchFamily="34" charset="0"/>
              <a:cs typeface="Arial" pitchFamily="34" charset="0"/>
            </a:endParaRPr>
          </a:p>
        </p:txBody>
      </p:sp>
      <p:sp>
        <p:nvSpPr>
          <p:cNvPr id="16" name="15 CuadroTexto"/>
          <p:cNvSpPr txBox="1"/>
          <p:nvPr/>
        </p:nvSpPr>
        <p:spPr>
          <a:xfrm>
            <a:off x="5076444" y="4673601"/>
            <a:ext cx="1028700" cy="276999"/>
          </a:xfrm>
          <a:prstGeom prst="rect">
            <a:avLst/>
          </a:prstGeom>
          <a:solidFill>
            <a:srgbClr val="FAECB8"/>
          </a:solidFill>
        </p:spPr>
        <p:txBody>
          <a:bodyPr wrap="square" rtlCol="0">
            <a:spAutoFit/>
          </a:bodyPr>
          <a:lstStyle/>
          <a:p>
            <a:r>
              <a:rPr lang="es-AR" sz="1200" b="1" dirty="0" smtClean="0">
                <a:solidFill>
                  <a:schemeClr val="tx1"/>
                </a:solidFill>
                <a:latin typeface="Arial" pitchFamily="34" charset="0"/>
                <a:cs typeface="Arial" pitchFamily="34" charset="0"/>
              </a:rPr>
              <a:t>ejecutando</a:t>
            </a:r>
            <a:endParaRPr lang="es-AR" sz="1200" b="1" dirty="0">
              <a:solidFill>
                <a:schemeClr val="tx1"/>
              </a:solidFill>
              <a:latin typeface="Arial" pitchFamily="34" charset="0"/>
              <a:cs typeface="Arial" pitchFamily="34" charset="0"/>
            </a:endParaRPr>
          </a:p>
        </p:txBody>
      </p:sp>
      <p:sp>
        <p:nvSpPr>
          <p:cNvPr id="17" name="16 CuadroTexto"/>
          <p:cNvSpPr txBox="1"/>
          <p:nvPr/>
        </p:nvSpPr>
        <p:spPr>
          <a:xfrm>
            <a:off x="4111244" y="5803901"/>
            <a:ext cx="1016000" cy="276999"/>
          </a:xfrm>
          <a:prstGeom prst="rect">
            <a:avLst/>
          </a:prstGeom>
          <a:solidFill>
            <a:srgbClr val="FAECB8"/>
          </a:solidFill>
        </p:spPr>
        <p:txBody>
          <a:bodyPr wrap="square" rtlCol="0">
            <a:spAutoFit/>
          </a:bodyPr>
          <a:lstStyle/>
          <a:p>
            <a:r>
              <a:rPr lang="es-AR" sz="1200" b="1" dirty="0" smtClean="0">
                <a:solidFill>
                  <a:schemeClr val="tx1"/>
                </a:solidFill>
                <a:latin typeface="Arial" pitchFamily="34" charset="0"/>
                <a:cs typeface="Arial" pitchFamily="34" charset="0"/>
              </a:rPr>
              <a:t>bloqueado</a:t>
            </a:r>
            <a:endParaRPr lang="es-AR" sz="1200" b="1" dirty="0">
              <a:solidFill>
                <a:schemeClr val="tx1"/>
              </a:solidFill>
              <a:latin typeface="Arial" pitchFamily="34" charset="0"/>
              <a:cs typeface="Arial" pitchFamily="34" charset="0"/>
            </a:endParaRPr>
          </a:p>
        </p:txBody>
      </p:sp>
      <p:sp>
        <p:nvSpPr>
          <p:cNvPr id="18" name="17 CuadroTexto"/>
          <p:cNvSpPr txBox="1"/>
          <p:nvPr/>
        </p:nvSpPr>
        <p:spPr>
          <a:xfrm>
            <a:off x="6743700" y="3898901"/>
            <a:ext cx="1028700" cy="276999"/>
          </a:xfrm>
          <a:prstGeom prst="rect">
            <a:avLst/>
          </a:prstGeom>
          <a:solidFill>
            <a:srgbClr val="FAECB8"/>
          </a:solidFill>
        </p:spPr>
        <p:txBody>
          <a:bodyPr wrap="square" rtlCol="0">
            <a:spAutoFit/>
          </a:bodyPr>
          <a:lstStyle/>
          <a:p>
            <a:r>
              <a:rPr lang="es-AR" sz="1200" b="1" dirty="0" smtClean="0">
                <a:solidFill>
                  <a:schemeClr val="tx1"/>
                </a:solidFill>
                <a:latin typeface="Arial" pitchFamily="34" charset="0"/>
                <a:cs typeface="Arial" pitchFamily="34" charset="0"/>
              </a:rPr>
              <a:t>terminado</a:t>
            </a:r>
            <a:endParaRPr lang="es-AR" sz="1200" b="1" dirty="0">
              <a:solidFill>
                <a:schemeClr val="tx1"/>
              </a:solidFill>
              <a:latin typeface="Arial" pitchFamily="34" charset="0"/>
              <a:cs typeface="Arial" pitchFamily="34" charset="0"/>
            </a:endParaRPr>
          </a:p>
        </p:txBody>
      </p:sp>
      <p:sp>
        <p:nvSpPr>
          <p:cNvPr id="19" name="18 CuadroTexto"/>
          <p:cNvSpPr txBox="1"/>
          <p:nvPr/>
        </p:nvSpPr>
        <p:spPr>
          <a:xfrm>
            <a:off x="1535176" y="3864357"/>
            <a:ext cx="1028700" cy="276999"/>
          </a:xfrm>
          <a:prstGeom prst="rect">
            <a:avLst/>
          </a:prstGeom>
          <a:solidFill>
            <a:srgbClr val="FAECB8"/>
          </a:solidFill>
        </p:spPr>
        <p:txBody>
          <a:bodyPr wrap="square" rtlCol="0">
            <a:spAutoFit/>
          </a:bodyPr>
          <a:lstStyle/>
          <a:p>
            <a:r>
              <a:rPr lang="es-AR" sz="1200" b="1" dirty="0" smtClean="0">
                <a:solidFill>
                  <a:schemeClr val="tx1"/>
                </a:solidFill>
                <a:latin typeface="Arial" pitchFamily="34" charset="0"/>
                <a:cs typeface="Arial" pitchFamily="34" charset="0"/>
              </a:rPr>
              <a:t>nuevo</a:t>
            </a:r>
            <a:endParaRPr lang="es-AR" sz="1200" b="1"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9</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dirty="0" smtClean="0">
                <a:solidFill>
                  <a:schemeClr val="tx1"/>
                </a:solidFill>
                <a:latin typeface="+mj-lt"/>
                <a:ea typeface="+mj-ea"/>
                <a:cs typeface="+mj-cs"/>
              </a:rPr>
              <a:t>Estados de un Proceso </a:t>
            </a:r>
            <a:r>
              <a:rPr lang="es-AR" sz="1400" dirty="0" err="1" smtClean="0">
                <a:solidFill>
                  <a:schemeClr val="tx1"/>
                </a:solidFill>
                <a:latin typeface="+mj-lt"/>
                <a:ea typeface="+mj-ea"/>
                <a:cs typeface="+mj-cs"/>
              </a:rPr>
              <a:t>Stallings</a:t>
            </a:r>
            <a:r>
              <a:rPr lang="es-AR" sz="1400" dirty="0" smtClean="0">
                <a:solidFill>
                  <a:schemeClr val="tx1"/>
                </a:solidFill>
                <a:latin typeface="+mj-lt"/>
                <a:ea typeface="+mj-ea"/>
                <a:cs typeface="+mj-cs"/>
              </a:rPr>
              <a:t> p118-119</a:t>
            </a:r>
            <a:endParaRPr kumimoji="0" lang="es-AR" sz="1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492839" y="1079500"/>
            <a:ext cx="8460661" cy="5847755"/>
          </a:xfrm>
          <a:prstGeom prst="rect">
            <a:avLst/>
          </a:prstGeom>
          <a:noFill/>
        </p:spPr>
        <p:txBody>
          <a:bodyPr wrap="square" rtlCol="0">
            <a:spAutoFit/>
          </a:bodyPr>
          <a:lstStyle/>
          <a:p>
            <a:pPr algn="l">
              <a:spcBef>
                <a:spcPts val="600"/>
              </a:spcBef>
            </a:pPr>
            <a:r>
              <a:rPr lang="es-AR" sz="1800" dirty="0" smtClean="0">
                <a:solidFill>
                  <a:schemeClr val="tx1"/>
                </a:solidFill>
                <a:latin typeface="Arial" pitchFamily="34" charset="0"/>
                <a:cs typeface="Arial" pitchFamily="34" charset="0"/>
              </a:rPr>
              <a:t>Transiciones posibles entre los estados:</a:t>
            </a:r>
          </a:p>
          <a:p>
            <a:pPr marL="177800" indent="-177800" algn="l">
              <a:spcBef>
                <a:spcPts val="600"/>
              </a:spcBef>
              <a:buFont typeface="Arial" pitchFamily="34" charset="0"/>
              <a:buChar char="•"/>
            </a:pPr>
            <a:r>
              <a:rPr lang="es-AR" sz="1600" dirty="0" err="1" smtClean="0">
                <a:solidFill>
                  <a:srgbClr val="7030A0"/>
                </a:solidFill>
                <a:latin typeface="Arial" pitchFamily="34" charset="0"/>
                <a:cs typeface="Arial" pitchFamily="34" charset="0"/>
              </a:rPr>
              <a:t>null</a:t>
            </a:r>
            <a:r>
              <a:rPr lang="es-AR" sz="1600" dirty="0" smtClean="0">
                <a:solidFill>
                  <a:srgbClr val="7030A0"/>
                </a:solidFill>
                <a:latin typeface="Arial" pitchFamily="34" charset="0"/>
                <a:cs typeface="Arial" pitchFamily="34" charset="0"/>
              </a:rPr>
              <a:t>  </a:t>
            </a:r>
            <a:r>
              <a:rPr lang="es-AR" sz="1600" dirty="0" smtClean="0">
                <a:solidFill>
                  <a:srgbClr val="7030A0"/>
                </a:solidFill>
                <a:latin typeface="Arial" pitchFamily="34" charset="0"/>
                <a:cs typeface="Arial" pitchFamily="34" charset="0"/>
                <a:sym typeface="Wingdings" pitchFamily="2" charset="2"/>
              </a:rPr>
              <a:t> </a:t>
            </a:r>
            <a:r>
              <a:rPr lang="es-AR" sz="1600" dirty="0" smtClean="0">
                <a:solidFill>
                  <a:srgbClr val="7030A0"/>
                </a:solidFill>
                <a:latin typeface="Arial" pitchFamily="34" charset="0"/>
                <a:cs typeface="Arial" pitchFamily="34" charset="0"/>
              </a:rPr>
              <a:t>nuevo</a:t>
            </a:r>
            <a:r>
              <a:rPr lang="es-AR" sz="1600" dirty="0" smtClean="0">
                <a:solidFill>
                  <a:schemeClr val="tx1"/>
                </a:solidFill>
                <a:latin typeface="Arial" pitchFamily="34" charset="0"/>
                <a:cs typeface="Arial" pitchFamily="34" charset="0"/>
              </a:rPr>
              <a:t>: se crea un nuevo proceso para ejecutar un programa.</a:t>
            </a:r>
          </a:p>
          <a:p>
            <a:pPr marL="177800" indent="-177800" algn="l">
              <a:spcBef>
                <a:spcPts val="600"/>
              </a:spcBef>
              <a:buFont typeface="Arial" pitchFamily="34" charset="0"/>
              <a:buChar char="•"/>
            </a:pPr>
            <a:r>
              <a:rPr lang="es-AR" sz="1600" dirty="0" smtClean="0">
                <a:solidFill>
                  <a:srgbClr val="7030A0"/>
                </a:solidFill>
                <a:latin typeface="Arial" pitchFamily="34" charset="0"/>
                <a:cs typeface="Arial" pitchFamily="34" charset="0"/>
              </a:rPr>
              <a:t>nuevo  </a:t>
            </a:r>
            <a:r>
              <a:rPr lang="es-AR" sz="1600" dirty="0" smtClean="0">
                <a:solidFill>
                  <a:srgbClr val="7030A0"/>
                </a:solidFill>
                <a:latin typeface="Arial" pitchFamily="34" charset="0"/>
                <a:cs typeface="Arial" pitchFamily="34" charset="0"/>
                <a:sym typeface="Wingdings" pitchFamily="2" charset="2"/>
              </a:rPr>
              <a:t></a:t>
            </a:r>
            <a:r>
              <a:rPr lang="es-AR" sz="1600" dirty="0" smtClean="0">
                <a:solidFill>
                  <a:srgbClr val="7030A0"/>
                </a:solidFill>
                <a:latin typeface="Arial" pitchFamily="34" charset="0"/>
                <a:cs typeface="Arial" pitchFamily="34" charset="0"/>
              </a:rPr>
              <a:t>  listo: </a:t>
            </a:r>
            <a:r>
              <a:rPr lang="es-AR" sz="1600" dirty="0" smtClean="0">
                <a:solidFill>
                  <a:schemeClr val="tx1"/>
                </a:solidFill>
                <a:latin typeface="Arial" pitchFamily="34" charset="0"/>
                <a:cs typeface="Arial" pitchFamily="34" charset="0"/>
              </a:rPr>
              <a:t>cuando el proceso está listo para ejecutarse (que no haya demasiados procesos activos y que no se degrade el rendimiento del sistema)</a:t>
            </a:r>
          </a:p>
          <a:p>
            <a:pPr marL="177800" indent="-177800" algn="l">
              <a:spcBef>
                <a:spcPts val="600"/>
              </a:spcBef>
              <a:buFont typeface="Arial" pitchFamily="34" charset="0"/>
              <a:buChar char="•"/>
            </a:pPr>
            <a:r>
              <a:rPr lang="es-AR" sz="1600" dirty="0" smtClean="0">
                <a:solidFill>
                  <a:srgbClr val="7030A0"/>
                </a:solidFill>
                <a:latin typeface="Arial" pitchFamily="34" charset="0"/>
                <a:cs typeface="Arial" pitchFamily="34" charset="0"/>
              </a:rPr>
              <a:t>listo</a:t>
            </a:r>
            <a:r>
              <a:rPr lang="es-AR" sz="1600" dirty="0" smtClean="0">
                <a:solidFill>
                  <a:srgbClr val="7030A0"/>
                </a:solidFill>
                <a:latin typeface="Arial" pitchFamily="34" charset="0"/>
                <a:cs typeface="Arial" pitchFamily="34" charset="0"/>
                <a:sym typeface="Wingdings" pitchFamily="2" charset="2"/>
              </a:rPr>
              <a:t>  ejecutando</a:t>
            </a:r>
            <a:r>
              <a:rPr lang="es-AR" sz="1600" dirty="0" smtClean="0">
                <a:solidFill>
                  <a:srgbClr val="7030A0"/>
                </a:solidFill>
                <a:latin typeface="Arial" pitchFamily="34" charset="0"/>
                <a:cs typeface="Arial" pitchFamily="34" charset="0"/>
              </a:rPr>
              <a:t>: </a:t>
            </a:r>
            <a:r>
              <a:rPr lang="es-AR" sz="1600" dirty="0" smtClean="0">
                <a:solidFill>
                  <a:schemeClr val="tx1"/>
                </a:solidFill>
                <a:latin typeface="Arial" pitchFamily="34" charset="0"/>
                <a:cs typeface="Arial" pitchFamily="34" charset="0"/>
              </a:rPr>
              <a:t> cuando el planificador seleccione un nuevo proceso para ser ejecutado que esté en estado ‘listo’</a:t>
            </a:r>
          </a:p>
          <a:p>
            <a:pPr marL="177800" indent="-177800" algn="l">
              <a:spcBef>
                <a:spcPts val="600"/>
              </a:spcBef>
              <a:buFont typeface="Arial" pitchFamily="34" charset="0"/>
              <a:buChar char="•"/>
            </a:pPr>
            <a:r>
              <a:rPr lang="es-AR" sz="1600" dirty="0" smtClean="0">
                <a:solidFill>
                  <a:srgbClr val="7030A0"/>
                </a:solidFill>
                <a:latin typeface="Arial" pitchFamily="34" charset="0"/>
                <a:cs typeface="Arial" pitchFamily="34" charset="0"/>
                <a:sym typeface="Wingdings" pitchFamily="2" charset="2"/>
              </a:rPr>
              <a:t>ejecutando  terminado:</a:t>
            </a:r>
            <a:r>
              <a:rPr lang="es-AR" sz="1600" dirty="0" smtClean="0">
                <a:solidFill>
                  <a:schemeClr val="tx1"/>
                </a:solidFill>
                <a:latin typeface="Arial" pitchFamily="34" charset="0"/>
                <a:cs typeface="Arial" pitchFamily="34" charset="0"/>
              </a:rPr>
              <a:t> el proceso actual en ejecución termina por parte del SO, tanto si completó su ejecución o si se aborta por algún error</a:t>
            </a:r>
          </a:p>
          <a:p>
            <a:pPr marL="177800" indent="-177800" algn="l">
              <a:spcBef>
                <a:spcPts val="600"/>
              </a:spcBef>
              <a:buFont typeface="Arial" pitchFamily="34" charset="0"/>
              <a:buChar char="•"/>
            </a:pPr>
            <a:r>
              <a:rPr lang="es-AR" sz="1600" dirty="0" smtClean="0">
                <a:solidFill>
                  <a:srgbClr val="7030A0"/>
                </a:solidFill>
                <a:latin typeface="Arial" pitchFamily="34" charset="0"/>
                <a:cs typeface="Arial" pitchFamily="34" charset="0"/>
                <a:sym typeface="Wingdings" pitchFamily="2" charset="2"/>
              </a:rPr>
              <a:t>ejecutando  listo: </a:t>
            </a:r>
            <a:r>
              <a:rPr lang="es-AR" sz="1600" dirty="0" smtClean="0">
                <a:solidFill>
                  <a:schemeClr val="tx1"/>
                </a:solidFill>
                <a:latin typeface="Arial" pitchFamily="34" charset="0"/>
                <a:cs typeface="Arial" pitchFamily="34" charset="0"/>
                <a:sym typeface="Wingdings" pitchFamily="2" charset="2"/>
              </a:rPr>
              <a:t> </a:t>
            </a:r>
            <a:r>
              <a:rPr lang="es-AR" sz="1600" dirty="0" smtClean="0">
                <a:solidFill>
                  <a:schemeClr val="tx1"/>
                </a:solidFill>
                <a:latin typeface="Arial" pitchFamily="34" charset="0"/>
                <a:cs typeface="Arial" pitchFamily="34" charset="0"/>
              </a:rPr>
              <a:t>proceso en ejecución haya alcanzado el máximo tiempo posible de ejecución de forma ininterrumpida. También si el proceso es expulsado debido a que hay otro con mayor prioridad o que el proceso voluntariamente deja de usar el procesador por auditorias o mantenimiento.  </a:t>
            </a:r>
          </a:p>
          <a:p>
            <a:pPr marL="177800" indent="-177800" algn="l">
              <a:spcBef>
                <a:spcPts val="600"/>
              </a:spcBef>
              <a:buFont typeface="Arial" pitchFamily="34" charset="0"/>
              <a:buChar char="•"/>
            </a:pPr>
            <a:r>
              <a:rPr lang="es-AR" sz="1600" dirty="0" smtClean="0">
                <a:solidFill>
                  <a:srgbClr val="7030A0"/>
                </a:solidFill>
                <a:latin typeface="Arial" pitchFamily="34" charset="0"/>
                <a:cs typeface="Arial" pitchFamily="34" charset="0"/>
                <a:sym typeface="Wingdings" pitchFamily="2" charset="2"/>
              </a:rPr>
              <a:t>ejecutando bloqueado: </a:t>
            </a:r>
            <a:r>
              <a:rPr lang="es-AR" sz="1600" dirty="0" smtClean="0">
                <a:solidFill>
                  <a:schemeClr val="tx1"/>
                </a:solidFill>
                <a:latin typeface="Arial" pitchFamily="34" charset="0"/>
                <a:cs typeface="Arial" pitchFamily="34" charset="0"/>
              </a:rPr>
              <a:t>si el proceso solicita algo por lo que debe esperar, por ejemplo un servicio de llamada al sistema o un recurso, hasta que le llega un evento (por ejemplo el mensaje de otro proceso) para continuar.</a:t>
            </a:r>
          </a:p>
          <a:p>
            <a:pPr marL="177800" indent="-177800" algn="l">
              <a:spcBef>
                <a:spcPts val="600"/>
              </a:spcBef>
              <a:buFont typeface="Arial" pitchFamily="34" charset="0"/>
              <a:buChar char="•"/>
            </a:pPr>
            <a:r>
              <a:rPr lang="es-AR" sz="1600" dirty="0" smtClean="0">
                <a:solidFill>
                  <a:srgbClr val="7030A0"/>
                </a:solidFill>
                <a:latin typeface="Arial" pitchFamily="34" charset="0"/>
                <a:cs typeface="Arial" pitchFamily="34" charset="0"/>
              </a:rPr>
              <a:t>bloqueado </a:t>
            </a:r>
            <a:r>
              <a:rPr lang="es-AR" sz="1600" dirty="0" smtClean="0">
                <a:solidFill>
                  <a:srgbClr val="7030A0"/>
                </a:solidFill>
                <a:latin typeface="Arial" pitchFamily="34" charset="0"/>
                <a:cs typeface="Arial" pitchFamily="34" charset="0"/>
                <a:sym typeface="Wingdings" pitchFamily="2" charset="2"/>
              </a:rPr>
              <a:t> listo: </a:t>
            </a:r>
            <a:r>
              <a:rPr lang="es-AR" sz="1600" dirty="0" smtClean="0">
                <a:solidFill>
                  <a:schemeClr val="tx1"/>
                </a:solidFill>
                <a:latin typeface="Arial" pitchFamily="34" charset="0"/>
                <a:cs typeface="Arial" pitchFamily="34" charset="0"/>
              </a:rPr>
              <a:t>cuando sucede el evento por el cual estaba esperando.</a:t>
            </a:r>
          </a:p>
          <a:p>
            <a:pPr marL="177800" indent="-177800" algn="l">
              <a:spcBef>
                <a:spcPts val="600"/>
              </a:spcBef>
              <a:buFont typeface="Arial" pitchFamily="34" charset="0"/>
              <a:buChar char="•"/>
            </a:pPr>
            <a:r>
              <a:rPr lang="es-AR" sz="1600" dirty="0" smtClean="0">
                <a:solidFill>
                  <a:srgbClr val="7030A0"/>
                </a:solidFill>
                <a:latin typeface="Arial" pitchFamily="34" charset="0"/>
                <a:cs typeface="Arial" pitchFamily="34" charset="0"/>
              </a:rPr>
              <a:t>listo </a:t>
            </a:r>
            <a:r>
              <a:rPr lang="es-AR" sz="1600" dirty="0" smtClean="0">
                <a:solidFill>
                  <a:srgbClr val="7030A0"/>
                </a:solidFill>
                <a:latin typeface="Arial" pitchFamily="34" charset="0"/>
                <a:cs typeface="Arial" pitchFamily="34" charset="0"/>
                <a:sym typeface="Wingdings" pitchFamily="2" charset="2"/>
              </a:rPr>
              <a:t> terminado: </a:t>
            </a:r>
            <a:r>
              <a:rPr lang="es-AR" sz="1600" dirty="0" smtClean="0">
                <a:solidFill>
                  <a:schemeClr val="tx1"/>
                </a:solidFill>
                <a:latin typeface="Arial" pitchFamily="34" charset="0"/>
                <a:cs typeface="Arial" pitchFamily="34" charset="0"/>
                <a:sym typeface="Wingdings" pitchFamily="2" charset="2"/>
              </a:rPr>
              <a:t>Si un padre termina un proceso todos los hijos terminarán. También un padre puede finalizar el proceso de sus hijos en cualquier momento.</a:t>
            </a:r>
            <a:endParaRPr lang="es-AR" sz="1600" dirty="0" smtClean="0">
              <a:solidFill>
                <a:schemeClr val="tx1"/>
              </a:solidFill>
              <a:latin typeface="Arial" pitchFamily="34" charset="0"/>
              <a:cs typeface="Arial" pitchFamily="34" charset="0"/>
            </a:endParaRPr>
          </a:p>
          <a:p>
            <a:pPr marL="177800" indent="-177800" algn="l">
              <a:spcBef>
                <a:spcPts val="600"/>
              </a:spcBef>
              <a:buFont typeface="Arial" pitchFamily="34" charset="0"/>
              <a:buChar char="•"/>
            </a:pPr>
            <a:r>
              <a:rPr lang="es-AR" sz="1600" dirty="0" smtClean="0">
                <a:solidFill>
                  <a:srgbClr val="7030A0"/>
                </a:solidFill>
                <a:latin typeface="Arial" pitchFamily="34" charset="0"/>
                <a:cs typeface="Arial" pitchFamily="34" charset="0"/>
              </a:rPr>
              <a:t>bloqueado </a:t>
            </a:r>
            <a:r>
              <a:rPr lang="es-AR" sz="1600" dirty="0" smtClean="0">
                <a:solidFill>
                  <a:srgbClr val="7030A0"/>
                </a:solidFill>
                <a:latin typeface="Arial" pitchFamily="34" charset="0"/>
                <a:cs typeface="Arial" pitchFamily="34" charset="0"/>
                <a:sym typeface="Wingdings" pitchFamily="2" charset="2"/>
              </a:rPr>
              <a:t> terminado: </a:t>
            </a:r>
            <a:r>
              <a:rPr lang="es-AR" sz="1600" dirty="0" smtClean="0">
                <a:solidFill>
                  <a:schemeClr val="tx1"/>
                </a:solidFill>
                <a:latin typeface="Arial" pitchFamily="34" charset="0"/>
                <a:cs typeface="Arial" pitchFamily="34" charset="0"/>
                <a:sym typeface="Wingdings" pitchFamily="2" charset="2"/>
              </a:rPr>
              <a:t>igual que el punto anterior</a:t>
            </a:r>
            <a:endParaRPr lang="es-AR" sz="1600" dirty="0" smtClean="0">
              <a:solidFill>
                <a:schemeClr val="tx1"/>
              </a:solidFill>
              <a:latin typeface="Arial" pitchFamily="34" charset="0"/>
              <a:cs typeface="Arial" pitchFamily="34" charset="0"/>
            </a:endParaRPr>
          </a:p>
          <a:p>
            <a:pPr marL="355600" indent="-355600" algn="l">
              <a:spcBef>
                <a:spcPts val="600"/>
              </a:spcBef>
              <a:buFont typeface="Arial" pitchFamily="34" charset="0"/>
              <a:buChar char="•"/>
            </a:pPr>
            <a:endParaRPr lang="es-AR" sz="1800" dirty="0" smtClean="0">
              <a:solidFill>
                <a:schemeClr val="tx1"/>
              </a:solidFill>
              <a:latin typeface="Arial" pitchFamily="34" charset="0"/>
              <a:cs typeface="Arial" pitchFamily="34" charset="0"/>
            </a:endParaRPr>
          </a:p>
        </p:txBody>
      </p:sp>
      <p:pic>
        <p:nvPicPr>
          <p:cNvPr id="6147" name="Picture 3"/>
          <p:cNvPicPr>
            <a:picLocks noChangeAspect="1" noChangeArrowheads="1"/>
          </p:cNvPicPr>
          <p:nvPr/>
        </p:nvPicPr>
        <p:blipFill>
          <a:blip r:embed="rId3" cstate="print"/>
          <a:srcRect/>
          <a:stretch>
            <a:fillRect/>
          </a:stretch>
        </p:blipFill>
        <p:spPr bwMode="auto">
          <a:xfrm>
            <a:off x="9144000" y="400050"/>
            <a:ext cx="6267450" cy="6457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dirty="0" smtClean="0">
                <a:solidFill>
                  <a:schemeClr val="tx1"/>
                </a:solidFill>
                <a:latin typeface="+mj-lt"/>
                <a:ea typeface="+mj-ea"/>
                <a:cs typeface="+mj-cs"/>
              </a:rPr>
              <a:t>Procesos - contexto</a:t>
            </a:r>
            <a:endParaRPr kumimoji="0" lang="es-AR" sz="4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442039" y="990600"/>
            <a:ext cx="8460661" cy="5816977"/>
          </a:xfrm>
          <a:prstGeom prst="rect">
            <a:avLst/>
          </a:prstGeom>
          <a:noFill/>
        </p:spPr>
        <p:txBody>
          <a:bodyPr wrap="square" rtlCol="0">
            <a:spAutoFit/>
          </a:bodyPr>
          <a:lstStyle/>
          <a:p>
            <a:pPr algn="l">
              <a:spcBef>
                <a:spcPts val="600"/>
              </a:spcBef>
            </a:pPr>
            <a:r>
              <a:rPr lang="es-AR" sz="1800" dirty="0" smtClean="0">
                <a:solidFill>
                  <a:schemeClr val="tx1"/>
                </a:solidFill>
                <a:latin typeface="Arial" pitchFamily="34" charset="0"/>
                <a:cs typeface="Arial" pitchFamily="34" charset="0"/>
              </a:rPr>
              <a:t>El </a:t>
            </a:r>
            <a:r>
              <a:rPr lang="es-AR" sz="1800" dirty="0" smtClean="0">
                <a:solidFill>
                  <a:srgbClr val="FF0000"/>
                </a:solidFill>
                <a:latin typeface="Arial" pitchFamily="34" charset="0"/>
                <a:cs typeface="Arial" pitchFamily="34" charset="0"/>
              </a:rPr>
              <a:t>contexto de un proceso </a:t>
            </a:r>
            <a:r>
              <a:rPr lang="es-AR" sz="1800" dirty="0" smtClean="0">
                <a:solidFill>
                  <a:schemeClr val="tx1"/>
                </a:solidFill>
                <a:latin typeface="Arial" pitchFamily="34" charset="0"/>
                <a:cs typeface="Arial" pitchFamily="34" charset="0"/>
              </a:rPr>
              <a:t>en un cierto instante de tiempo es la información relativa al proceso que el núcleo debe conocer para poder iniciar o continuar su ejecución. Cuando el núcleo pasa a ejecutar otro proceso, debe cambiar de contexto, ya que el sistema ejecuta un proceso en su propio contexto.</a:t>
            </a:r>
          </a:p>
          <a:p>
            <a:pPr algn="l">
              <a:spcBef>
                <a:spcPts val="600"/>
              </a:spcBef>
            </a:pPr>
            <a:r>
              <a:rPr lang="es-AR" sz="1800" dirty="0" smtClean="0">
                <a:solidFill>
                  <a:schemeClr val="tx1"/>
                </a:solidFill>
                <a:latin typeface="Arial" pitchFamily="34" charset="0"/>
                <a:cs typeface="Arial" pitchFamily="34" charset="0"/>
              </a:rPr>
              <a:t>Está constituido por su espacio de direcciones virtuales, los contenidos de los registros de la máquina y las estructuras de datos del núcleo asociadas a dicho proceso.</a:t>
            </a:r>
          </a:p>
          <a:p>
            <a:pPr algn="l">
              <a:spcBef>
                <a:spcPts val="600"/>
              </a:spcBef>
            </a:pPr>
            <a:r>
              <a:rPr lang="es-AR" sz="1800" dirty="0" smtClean="0">
                <a:solidFill>
                  <a:srgbClr val="282F31"/>
                </a:solidFill>
                <a:latin typeface="Arial" pitchFamily="34" charset="0"/>
                <a:cs typeface="Arial" pitchFamily="34" charset="0"/>
              </a:rPr>
              <a:t>El </a:t>
            </a:r>
            <a:r>
              <a:rPr lang="es-AR" sz="1800" i="1" dirty="0" smtClean="0">
                <a:solidFill>
                  <a:srgbClr val="282F31"/>
                </a:solidFill>
                <a:latin typeface="Arial" pitchFamily="34" charset="0"/>
                <a:cs typeface="Arial" pitchFamily="34" charset="0"/>
              </a:rPr>
              <a:t>contexto de un proceso</a:t>
            </a:r>
            <a:r>
              <a:rPr lang="es-AR" sz="1800" dirty="0" smtClean="0">
                <a:solidFill>
                  <a:srgbClr val="282F31"/>
                </a:solidFill>
                <a:latin typeface="Arial" pitchFamily="34" charset="0"/>
                <a:cs typeface="Arial" pitchFamily="34" charset="0"/>
              </a:rPr>
              <a:t> se puede considerar como la unión de</a:t>
            </a:r>
          </a:p>
          <a:p>
            <a:pPr marL="266700" indent="-266700" algn="l">
              <a:spcBef>
                <a:spcPts val="600"/>
              </a:spcBef>
              <a:buFont typeface="Arial" pitchFamily="34" charset="0"/>
              <a:buChar char="•"/>
            </a:pPr>
            <a:r>
              <a:rPr lang="es-AR" sz="1800" i="1" dirty="0" smtClean="0">
                <a:solidFill>
                  <a:srgbClr val="282F31"/>
                </a:solidFill>
                <a:latin typeface="Arial" pitchFamily="34" charset="0"/>
                <a:cs typeface="Arial" pitchFamily="34" charset="0"/>
              </a:rPr>
              <a:t>contexto a nivel de usuario: (código, datos, pila de usuario y memoria compartida que ocupan el espacio de direcciones virtuales del proceso)</a:t>
            </a:r>
            <a:endParaRPr lang="es-AR" sz="1800" dirty="0" smtClean="0">
              <a:solidFill>
                <a:srgbClr val="282F31"/>
              </a:solidFill>
              <a:latin typeface="Arial" pitchFamily="34" charset="0"/>
              <a:cs typeface="Arial" pitchFamily="34" charset="0"/>
            </a:endParaRPr>
          </a:p>
          <a:p>
            <a:pPr marL="266700" indent="-266700" algn="l">
              <a:spcBef>
                <a:spcPts val="600"/>
              </a:spcBef>
              <a:buFont typeface="Arial" pitchFamily="34" charset="0"/>
              <a:buChar char="•"/>
            </a:pPr>
            <a:r>
              <a:rPr lang="es-AR" sz="1800" i="1" dirty="0" smtClean="0">
                <a:solidFill>
                  <a:srgbClr val="282F31"/>
                </a:solidFill>
                <a:latin typeface="Arial" pitchFamily="34" charset="0"/>
                <a:cs typeface="Arial" pitchFamily="34" charset="0"/>
              </a:rPr>
              <a:t>contexto de registros: (contador de programa, registro de estado (modo, prioridad, desborde, acarreo, etc.,  puntero de pila, registros de propósito </a:t>
            </a:r>
            <a:r>
              <a:rPr lang="es-AR" sz="1800" i="1" dirty="0" err="1" smtClean="0">
                <a:solidFill>
                  <a:srgbClr val="282F31"/>
                </a:solidFill>
                <a:latin typeface="Arial" pitchFamily="34" charset="0"/>
                <a:cs typeface="Arial" pitchFamily="34" charset="0"/>
              </a:rPr>
              <a:t>gral</a:t>
            </a:r>
            <a:r>
              <a:rPr lang="es-AR" sz="1800" i="1" dirty="0" smtClean="0">
                <a:solidFill>
                  <a:srgbClr val="282F31"/>
                </a:solidFill>
                <a:latin typeface="Arial" pitchFamily="34" charset="0"/>
                <a:cs typeface="Arial" pitchFamily="34" charset="0"/>
              </a:rPr>
              <a:t>.)</a:t>
            </a:r>
          </a:p>
          <a:p>
            <a:pPr marL="266700" indent="-266700" algn="l">
              <a:spcBef>
                <a:spcPts val="600"/>
              </a:spcBef>
              <a:buFont typeface="Arial" pitchFamily="34" charset="0"/>
              <a:buChar char="•"/>
            </a:pPr>
            <a:r>
              <a:rPr lang="es-AR" sz="1800" i="1" dirty="0" smtClean="0">
                <a:solidFill>
                  <a:srgbClr val="282F31"/>
                </a:solidFill>
                <a:latin typeface="Arial" pitchFamily="34" charset="0"/>
                <a:cs typeface="Arial" pitchFamily="34" charset="0"/>
              </a:rPr>
              <a:t> contexto a nivel del sistema</a:t>
            </a:r>
            <a:r>
              <a:rPr lang="es-AR" sz="1800" dirty="0" smtClean="0">
                <a:solidFill>
                  <a:srgbClr val="282F31"/>
                </a:solidFill>
                <a:latin typeface="Arial" pitchFamily="34" charset="0"/>
                <a:cs typeface="Arial" pitchFamily="34" charset="0"/>
              </a:rPr>
              <a:t>: tabla PCB, pila del núcleo, tabla de páginas, etc.).</a:t>
            </a:r>
          </a:p>
          <a:p>
            <a:pPr algn="l">
              <a:spcBef>
                <a:spcPts val="600"/>
              </a:spcBef>
            </a:pPr>
            <a:r>
              <a:rPr lang="es-AR" sz="1800" dirty="0" smtClean="0">
                <a:solidFill>
                  <a:srgbClr val="282F31"/>
                </a:solidFill>
                <a:latin typeface="Arial" pitchFamily="34" charset="0"/>
                <a:cs typeface="Arial" pitchFamily="34" charset="0"/>
              </a:rPr>
              <a:t>En el contexto de un proceso se distinguen una </a:t>
            </a:r>
            <a:r>
              <a:rPr lang="es-AR" sz="1800" u="sng" dirty="0" smtClean="0">
                <a:solidFill>
                  <a:srgbClr val="282F31"/>
                </a:solidFill>
                <a:latin typeface="Arial" pitchFamily="34" charset="0"/>
                <a:cs typeface="Arial" pitchFamily="34" charset="0"/>
              </a:rPr>
              <a:t>parte dinámica</a:t>
            </a:r>
            <a:r>
              <a:rPr lang="es-AR" sz="1800" dirty="0" smtClean="0">
                <a:solidFill>
                  <a:srgbClr val="282F31"/>
                </a:solidFill>
                <a:latin typeface="Arial" pitchFamily="34" charset="0"/>
                <a:cs typeface="Arial" pitchFamily="34" charset="0"/>
              </a:rPr>
              <a:t>, cuyo contenido es necesario salvar ante la aparición de ciertos sucesos, y una </a:t>
            </a:r>
            <a:r>
              <a:rPr lang="es-AR" sz="1800" u="sng" dirty="0" smtClean="0">
                <a:solidFill>
                  <a:srgbClr val="282F31"/>
                </a:solidFill>
                <a:latin typeface="Arial" pitchFamily="34" charset="0"/>
                <a:cs typeface="Arial" pitchFamily="34" charset="0"/>
              </a:rPr>
              <a:t>parte estática</a:t>
            </a:r>
            <a:r>
              <a:rPr lang="es-AR" sz="1800" dirty="0" smtClean="0">
                <a:solidFill>
                  <a:srgbClr val="282F31"/>
                </a:solidFill>
                <a:latin typeface="Arial" pitchFamily="34" charset="0"/>
                <a:cs typeface="Arial" pitchFamily="34" charset="0"/>
              </a:rPr>
              <a:t>, cuyo contenido no es necesario salvar. La parte dinámica de un proceso está formado por el contexto a nivel de registros y su pila del núcleo. Los restantes elementos del contexto de un proceso constituyen su parte estática. </a:t>
            </a:r>
            <a:endParaRPr lang="es-AR" sz="1800" dirty="0" smtClean="0">
              <a:solidFill>
                <a:schemeClr val="tx1"/>
              </a:solidFill>
              <a:latin typeface="Arial" pitchFamily="34" charset="0"/>
              <a:cs typeface="Arial" pitchFamily="34" charset="0"/>
            </a:endParaRPr>
          </a:p>
        </p:txBody>
      </p:sp>
      <p:pic>
        <p:nvPicPr>
          <p:cNvPr id="1026" name="Picture 2"/>
          <p:cNvPicPr>
            <a:picLocks noChangeAspect="1" noChangeArrowheads="1"/>
          </p:cNvPicPr>
          <p:nvPr/>
        </p:nvPicPr>
        <p:blipFill>
          <a:blip r:embed="rId3" cstate="print"/>
          <a:srcRect/>
          <a:stretch>
            <a:fillRect/>
          </a:stretch>
        </p:blipFill>
        <p:spPr bwMode="auto">
          <a:xfrm>
            <a:off x="1047934" y="1079500"/>
            <a:ext cx="7549966" cy="5202237"/>
          </a:xfrm>
          <a:prstGeom prst="rect">
            <a:avLst/>
          </a:prstGeom>
          <a:ln>
            <a:noFill/>
          </a:ln>
          <a:effectLst>
            <a:outerShdw blurRad="292100" dist="139700" dir="2700000" algn="tl" rotWithShape="0">
              <a:srgbClr val="333333">
                <a:alpha val="65000"/>
              </a:srgbClr>
            </a:outerShdw>
          </a:effectLst>
        </p:spPr>
      </p:pic>
      <p:pic>
        <p:nvPicPr>
          <p:cNvPr id="1029" name="Picture 5"/>
          <p:cNvPicPr>
            <a:picLocks noChangeAspect="1" noChangeArrowheads="1"/>
          </p:cNvPicPr>
          <p:nvPr/>
        </p:nvPicPr>
        <p:blipFill>
          <a:blip r:embed="rId4" cstate="print"/>
          <a:srcRect/>
          <a:stretch>
            <a:fillRect/>
          </a:stretch>
        </p:blipFill>
        <p:spPr bwMode="auto">
          <a:xfrm>
            <a:off x="9318625" y="0"/>
            <a:ext cx="7296150" cy="5076825"/>
          </a:xfrm>
          <a:prstGeom prst="rect">
            <a:avLst/>
          </a:prstGeom>
          <a:noFill/>
          <a:ln w="9525">
            <a:noFill/>
            <a:miter lim="800000"/>
            <a:headEnd/>
            <a:tailEnd/>
          </a:ln>
          <a:effectLst/>
        </p:spPr>
      </p:pic>
      <p:pic>
        <p:nvPicPr>
          <p:cNvPr id="1030" name="Picture 6"/>
          <p:cNvPicPr>
            <a:picLocks noChangeAspect="1" noChangeArrowheads="1"/>
          </p:cNvPicPr>
          <p:nvPr/>
        </p:nvPicPr>
        <p:blipFill>
          <a:blip r:embed="rId5" cstate="print"/>
          <a:srcRect/>
          <a:stretch>
            <a:fillRect/>
          </a:stretch>
        </p:blipFill>
        <p:spPr bwMode="auto">
          <a:xfrm>
            <a:off x="9313863" y="5057775"/>
            <a:ext cx="7305675" cy="5200650"/>
          </a:xfrm>
          <a:prstGeom prst="rect">
            <a:avLst/>
          </a:prstGeom>
          <a:noFill/>
          <a:ln w="9525">
            <a:noFill/>
            <a:miter lim="800000"/>
            <a:headEnd/>
            <a:tailEnd/>
          </a:ln>
          <a:effectLst/>
        </p:spPr>
      </p:pic>
      <p:pic>
        <p:nvPicPr>
          <p:cNvPr id="1031" name="Picture 7"/>
          <p:cNvPicPr>
            <a:picLocks noChangeAspect="1" noChangeArrowheads="1"/>
          </p:cNvPicPr>
          <p:nvPr/>
        </p:nvPicPr>
        <p:blipFill>
          <a:blip r:embed="rId6" cstate="print"/>
          <a:srcRect/>
          <a:stretch>
            <a:fillRect/>
          </a:stretch>
        </p:blipFill>
        <p:spPr bwMode="auto">
          <a:xfrm>
            <a:off x="9283700" y="-1536700"/>
            <a:ext cx="7172325" cy="14859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strVal val="#ppt_w*2.5"/>
                                          </p:val>
                                        </p:tav>
                                        <p:tav tm="100000">
                                          <p:val>
                                            <p:strVal val="#ppt_w"/>
                                          </p:val>
                                        </p:tav>
                                      </p:tavLst>
                                    </p:anim>
                                    <p:anim calcmode="lin" valueType="num">
                                      <p:cBhvr>
                                        <p:cTn id="8" dur="500" fill="hold"/>
                                        <p:tgtEl>
                                          <p:spTgt spid="1026"/>
                                        </p:tgtEl>
                                        <p:attrNameLst>
                                          <p:attrName>ppt_h</p:attrName>
                                        </p:attrNameLst>
                                      </p:cBhvr>
                                      <p:tavLst>
                                        <p:tav tm="0">
                                          <p:val>
                                            <p:strVal val="#ppt_h*0.01"/>
                                          </p:val>
                                        </p:tav>
                                        <p:tav tm="100000">
                                          <p:val>
                                            <p:strVal val="#ppt_h"/>
                                          </p:val>
                                        </p:tav>
                                      </p:tavLst>
                                    </p:anim>
                                    <p:anim calcmode="lin" valueType="num">
                                      <p:cBhvr>
                                        <p:cTn id="9" dur="500" fill="hold"/>
                                        <p:tgtEl>
                                          <p:spTgt spid="1026"/>
                                        </p:tgtEl>
                                        <p:attrNameLst>
                                          <p:attrName>ppt_x</p:attrName>
                                        </p:attrNameLst>
                                      </p:cBhvr>
                                      <p:tavLst>
                                        <p:tav tm="0">
                                          <p:val>
                                            <p:strVal val="#ppt_x"/>
                                          </p:val>
                                        </p:tav>
                                        <p:tav tm="100000">
                                          <p:val>
                                            <p:strVal val="#ppt_x"/>
                                          </p:val>
                                        </p:tav>
                                      </p:tavLst>
                                    </p:anim>
                                    <p:anim calcmode="lin" valueType="num">
                                      <p:cBhvr>
                                        <p:cTn id="10" dur="500" fill="hold"/>
                                        <p:tgtEl>
                                          <p:spTgt spid="1026"/>
                                        </p:tgtEl>
                                        <p:attrNameLst>
                                          <p:attrName>ppt_y</p:attrName>
                                        </p:attrNameLst>
                                      </p:cBhvr>
                                      <p:tavLst>
                                        <p:tav tm="0">
                                          <p:val>
                                            <p:strVal val="#ppt_h+1"/>
                                          </p:val>
                                        </p:tav>
                                        <p:tav tm="100000">
                                          <p:val>
                                            <p:strVal val="#ppt_y"/>
                                          </p:val>
                                        </p:tav>
                                      </p:tavLst>
                                    </p:anim>
                                    <p:animEffect transition="in" filter="fade">
                                      <p:cBhvr>
                                        <p:cTn id="11"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dirty="0" smtClean="0">
                <a:solidFill>
                  <a:schemeClr val="tx1"/>
                </a:solidFill>
                <a:latin typeface="+mj-lt"/>
                <a:ea typeface="+mj-ea"/>
                <a:cs typeface="+mj-cs"/>
              </a:rPr>
              <a:t>Procesos - contexto</a:t>
            </a:r>
            <a:endParaRPr kumimoji="0" lang="es-AR" sz="4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454739" y="1028700"/>
            <a:ext cx="8460661" cy="5693866"/>
          </a:xfrm>
          <a:prstGeom prst="rect">
            <a:avLst/>
          </a:prstGeom>
          <a:noFill/>
        </p:spPr>
        <p:txBody>
          <a:bodyPr wrap="square" rtlCol="0">
            <a:spAutoFit/>
          </a:bodyPr>
          <a:lstStyle/>
          <a:p>
            <a:pPr algn="l">
              <a:spcBef>
                <a:spcPts val="600"/>
              </a:spcBef>
            </a:pPr>
            <a:r>
              <a:rPr lang="es-AR" sz="1800" dirty="0" smtClean="0">
                <a:solidFill>
                  <a:schemeClr val="tx1"/>
                </a:solidFill>
                <a:latin typeface="Arial" pitchFamily="34" charset="0"/>
                <a:cs typeface="Arial" pitchFamily="34" charset="0"/>
              </a:rPr>
              <a:t>El </a:t>
            </a:r>
            <a:r>
              <a:rPr lang="es-AR" sz="1800" dirty="0" smtClean="0">
                <a:solidFill>
                  <a:srgbClr val="FF0000"/>
                </a:solidFill>
                <a:latin typeface="Arial" pitchFamily="34" charset="0"/>
                <a:cs typeface="Arial" pitchFamily="34" charset="0"/>
              </a:rPr>
              <a:t>cambio de contexto </a:t>
            </a:r>
            <a:r>
              <a:rPr lang="es-AR" sz="1800" dirty="0" smtClean="0">
                <a:solidFill>
                  <a:schemeClr val="tx1"/>
                </a:solidFill>
                <a:latin typeface="Arial" pitchFamily="34" charset="0"/>
                <a:cs typeface="Arial" pitchFamily="34" charset="0"/>
              </a:rPr>
              <a:t>es conjunto de tareas que debe realizar el núcleo para aplazar o finalizar la ejecución del proceso (A) actualmente en ejecución, y comenzar o continuar con la ejecución de otro proceso (B).</a:t>
            </a:r>
          </a:p>
          <a:p>
            <a:pPr algn="l">
              <a:spcBef>
                <a:spcPts val="600"/>
              </a:spcBef>
            </a:pPr>
            <a:r>
              <a:rPr lang="es-AR" sz="1800" u="sng" dirty="0" smtClean="0">
                <a:solidFill>
                  <a:schemeClr val="tx1"/>
                </a:solidFill>
                <a:latin typeface="Arial" pitchFamily="34" charset="0"/>
                <a:cs typeface="Arial" pitchFamily="34" charset="0"/>
              </a:rPr>
              <a:t>Motivos del cambio de contexto</a:t>
            </a:r>
            <a:r>
              <a:rPr lang="es-AR" sz="1800" dirty="0" smtClean="0">
                <a:solidFill>
                  <a:schemeClr val="tx1"/>
                </a:solidFill>
                <a:latin typeface="Arial" pitchFamily="34" charset="0"/>
                <a:cs typeface="Arial" pitchFamily="34" charset="0"/>
              </a:rPr>
              <a:t>:</a:t>
            </a:r>
          </a:p>
          <a:p>
            <a:pPr marL="266700" indent="-266700" algn="l">
              <a:spcBef>
                <a:spcPts val="600"/>
              </a:spcBef>
              <a:buFont typeface="Arial" pitchFamily="34" charset="0"/>
              <a:buChar char="•"/>
            </a:pPr>
            <a:r>
              <a:rPr lang="es-AR" sz="1800" dirty="0" smtClean="0">
                <a:solidFill>
                  <a:schemeClr val="tx1"/>
                </a:solidFill>
                <a:latin typeface="Arial" pitchFamily="34" charset="0"/>
                <a:cs typeface="Arial" pitchFamily="34" charset="0"/>
              </a:rPr>
              <a:t>Entrada de un proceso bloqueado: Por ejemplo cuando debe esperar una operación de E/S del disco.</a:t>
            </a:r>
          </a:p>
          <a:p>
            <a:pPr marL="266700" indent="-266700" algn="l">
              <a:spcBef>
                <a:spcPts val="600"/>
              </a:spcBef>
              <a:buFont typeface="Arial" pitchFamily="34" charset="0"/>
              <a:buChar char="•"/>
            </a:pPr>
            <a:r>
              <a:rPr lang="es-AR" sz="1800" dirty="0" smtClean="0">
                <a:solidFill>
                  <a:schemeClr val="tx1"/>
                </a:solidFill>
                <a:latin typeface="Arial" pitchFamily="34" charset="0"/>
                <a:cs typeface="Arial" pitchFamily="34" charset="0"/>
              </a:rPr>
              <a:t>Finalización con la ejecución de una llamada al sistema </a:t>
            </a:r>
            <a:r>
              <a:rPr lang="es-AR" sz="1800" dirty="0" err="1" smtClean="0">
                <a:solidFill>
                  <a:schemeClr val="tx1"/>
                </a:solidFill>
                <a:latin typeface="Arial" pitchFamily="34" charset="0"/>
                <a:cs typeface="Arial" pitchFamily="34" charset="0"/>
              </a:rPr>
              <a:t>exit</a:t>
            </a:r>
            <a:r>
              <a:rPr lang="es-AR" sz="1800" dirty="0" smtClean="0">
                <a:solidFill>
                  <a:schemeClr val="tx1"/>
                </a:solidFill>
                <a:latin typeface="Arial" pitchFamily="34" charset="0"/>
                <a:cs typeface="Arial" pitchFamily="34" charset="0"/>
              </a:rPr>
              <a:t>()</a:t>
            </a:r>
          </a:p>
          <a:p>
            <a:pPr marL="266700" indent="-266700" algn="l">
              <a:spcBef>
                <a:spcPts val="600"/>
              </a:spcBef>
              <a:buFont typeface="Arial" pitchFamily="34" charset="0"/>
              <a:buChar char="•"/>
            </a:pPr>
            <a:r>
              <a:rPr lang="es-AR" sz="1800" dirty="0" smtClean="0">
                <a:solidFill>
                  <a:schemeClr val="tx1"/>
                </a:solidFill>
                <a:latin typeface="Arial" pitchFamily="34" charset="0"/>
                <a:cs typeface="Arial" pitchFamily="34" charset="0"/>
              </a:rPr>
              <a:t>Vuelta al modo usuario luego de atender una interrupción y hay otro proceso con mayor prioridad</a:t>
            </a:r>
          </a:p>
          <a:p>
            <a:pPr marL="266700" indent="-266700" algn="l">
              <a:spcBef>
                <a:spcPts val="600"/>
              </a:spcBef>
              <a:buFont typeface="Arial" pitchFamily="34" charset="0"/>
              <a:buChar char="•"/>
            </a:pPr>
            <a:r>
              <a:rPr lang="es-AR" sz="1800" dirty="0" smtClean="0">
                <a:solidFill>
                  <a:schemeClr val="tx1"/>
                </a:solidFill>
                <a:latin typeface="Arial" pitchFamily="34" charset="0"/>
                <a:cs typeface="Arial" pitchFamily="34" charset="0"/>
              </a:rPr>
              <a:t>La finalización del tiempo de uso del procesador de un proceso ejecutándose: por ejemplo con la planificación round </a:t>
            </a:r>
            <a:r>
              <a:rPr lang="es-AR" sz="1800" dirty="0" err="1" smtClean="0">
                <a:solidFill>
                  <a:schemeClr val="tx1"/>
                </a:solidFill>
                <a:latin typeface="Arial" pitchFamily="34" charset="0"/>
                <a:cs typeface="Arial" pitchFamily="34" charset="0"/>
              </a:rPr>
              <a:t>robin</a:t>
            </a:r>
            <a:r>
              <a:rPr lang="es-AR" sz="1800" dirty="0" smtClean="0">
                <a:solidFill>
                  <a:schemeClr val="tx1"/>
                </a:solidFill>
                <a:latin typeface="Arial" pitchFamily="34" charset="0"/>
                <a:cs typeface="Arial" pitchFamily="34" charset="0"/>
              </a:rPr>
              <a:t>.</a:t>
            </a:r>
          </a:p>
          <a:p>
            <a:pPr marL="266700" indent="-266700" algn="l">
              <a:spcBef>
                <a:spcPts val="600"/>
              </a:spcBef>
            </a:pPr>
            <a:r>
              <a:rPr lang="es-AR" sz="1800" u="sng" dirty="0" smtClean="0">
                <a:solidFill>
                  <a:schemeClr val="tx1"/>
                </a:solidFill>
                <a:latin typeface="Arial" pitchFamily="34" charset="0"/>
                <a:cs typeface="Arial" pitchFamily="34" charset="0"/>
              </a:rPr>
              <a:t>Algoritmo del núcleo para implementar un cambio de contexto:</a:t>
            </a:r>
          </a:p>
          <a:p>
            <a:pPr marL="342900" indent="-342900" algn="l">
              <a:spcBef>
                <a:spcPts val="600"/>
              </a:spcBef>
              <a:buFont typeface="+mj-lt"/>
              <a:buAutoNum type="arabicPeriod"/>
            </a:pPr>
            <a:r>
              <a:rPr lang="es-AR" sz="1600" dirty="0" smtClean="0">
                <a:solidFill>
                  <a:schemeClr val="tx1"/>
                </a:solidFill>
                <a:latin typeface="Arial" pitchFamily="34" charset="0"/>
                <a:cs typeface="Arial" pitchFamily="34" charset="0"/>
              </a:rPr>
              <a:t>Decidir si hay que hacer un cambio de contexto, de acuerdo con las circunstancias que lo motivan expuestas anteriormente, y si puede realizarse en el instante actual.</a:t>
            </a:r>
          </a:p>
          <a:p>
            <a:pPr marL="342900" indent="-342900" algn="l">
              <a:spcBef>
                <a:spcPts val="600"/>
              </a:spcBef>
              <a:buFont typeface="+mj-lt"/>
              <a:buAutoNum type="arabicPeriod"/>
            </a:pPr>
            <a:r>
              <a:rPr lang="es-AR" sz="1600" u="sng" dirty="0" smtClean="0">
                <a:solidFill>
                  <a:schemeClr val="tx1"/>
                </a:solidFill>
                <a:latin typeface="Arial" pitchFamily="34" charset="0"/>
                <a:cs typeface="Arial" pitchFamily="34" charset="0"/>
              </a:rPr>
              <a:t>Guardar</a:t>
            </a:r>
            <a:r>
              <a:rPr lang="es-AR" sz="1600" dirty="0" smtClean="0">
                <a:solidFill>
                  <a:schemeClr val="tx1"/>
                </a:solidFill>
                <a:latin typeface="Arial" pitchFamily="34" charset="0"/>
                <a:cs typeface="Arial" pitchFamily="34" charset="0"/>
              </a:rPr>
              <a:t> el contexto del proceso actual (A).</a:t>
            </a:r>
          </a:p>
          <a:p>
            <a:pPr marL="342900" indent="-342900" algn="l">
              <a:spcBef>
                <a:spcPts val="600"/>
              </a:spcBef>
              <a:buFont typeface="+mj-lt"/>
              <a:buAutoNum type="arabicPeriod"/>
            </a:pPr>
            <a:r>
              <a:rPr lang="es-AR" sz="1600" dirty="0" smtClean="0">
                <a:solidFill>
                  <a:schemeClr val="tx1"/>
                </a:solidFill>
                <a:latin typeface="Arial" pitchFamily="34" charset="0"/>
                <a:cs typeface="Arial" pitchFamily="34" charset="0"/>
              </a:rPr>
              <a:t>Usar el algoritmo de planificación de procesos para elegir el próximo proceso (B) cuya ejecución se va a iniciar o se va a continuar.</a:t>
            </a:r>
          </a:p>
          <a:p>
            <a:pPr marL="342900" indent="-342900" algn="l">
              <a:spcBef>
                <a:spcPts val="600"/>
              </a:spcBef>
              <a:buFont typeface="+mj-lt"/>
              <a:buAutoNum type="arabicPeriod"/>
            </a:pPr>
            <a:r>
              <a:rPr lang="es-AR" sz="1600" dirty="0" smtClean="0">
                <a:solidFill>
                  <a:schemeClr val="tx1"/>
                </a:solidFill>
                <a:latin typeface="Arial" pitchFamily="34" charset="0"/>
                <a:cs typeface="Arial" pitchFamily="34" charset="0"/>
              </a:rPr>
              <a:t>Restaurar el contexto del proceso (B) que ha sido elegido para ser ejecutado</a:t>
            </a:r>
            <a:r>
              <a:rPr lang="es-AR" sz="1800" u="sng" dirty="0" smtClean="0">
                <a:solidFill>
                  <a:schemeClr val="tx1"/>
                </a:solidFill>
                <a:latin typeface="Arial" pitchFamily="34" charset="0"/>
                <a:cs typeface="Arial" pitchFamily="34" charset="0"/>
              </a:rPr>
              <a: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12</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dirty="0" smtClean="0">
                <a:solidFill>
                  <a:schemeClr val="tx1"/>
                </a:solidFill>
                <a:latin typeface="+mj-lt"/>
                <a:ea typeface="+mj-ea"/>
                <a:cs typeface="+mj-cs"/>
              </a:rPr>
              <a:t>Bloque de control de proceso (PCB)</a:t>
            </a:r>
            <a:endParaRPr kumimoji="0" lang="es-AR" sz="4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353139" y="1087934"/>
            <a:ext cx="8790861" cy="1431161"/>
          </a:xfrm>
          <a:prstGeom prst="rect">
            <a:avLst/>
          </a:prstGeom>
          <a:noFill/>
        </p:spPr>
        <p:txBody>
          <a:bodyPr wrap="square" rtlCol="0">
            <a:spAutoFit/>
          </a:bodyPr>
          <a:lstStyle/>
          <a:p>
            <a:pPr algn="l">
              <a:spcBef>
                <a:spcPts val="600"/>
              </a:spcBef>
            </a:pPr>
            <a:r>
              <a:rPr lang="es-AR" sz="1800" dirty="0" smtClean="0">
                <a:solidFill>
                  <a:schemeClr val="tx1"/>
                </a:solidFill>
                <a:latin typeface="Arial" pitchFamily="34" charset="0"/>
                <a:cs typeface="Arial" pitchFamily="34" charset="0"/>
              </a:rPr>
              <a:t>El sistema operativo mantiene información sobre los procesos:</a:t>
            </a:r>
          </a:p>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Esta información está en </a:t>
            </a:r>
            <a:r>
              <a:rPr lang="es-AR" sz="1800" smtClean="0">
                <a:solidFill>
                  <a:schemeClr val="tx1"/>
                </a:solidFill>
                <a:latin typeface="Arial" pitchFamily="34" charset="0"/>
                <a:cs typeface="Arial" pitchFamily="34" charset="0"/>
              </a:rPr>
              <a:t>una </a:t>
            </a:r>
            <a:r>
              <a:rPr lang="es-AR" sz="1800" u="sng" smtClean="0">
                <a:solidFill>
                  <a:schemeClr val="tx1"/>
                </a:solidFill>
                <a:latin typeface="Arial" pitchFamily="34" charset="0"/>
                <a:cs typeface="Arial" pitchFamily="34" charset="0"/>
              </a:rPr>
              <a:t>Tabla</a:t>
            </a:r>
            <a:r>
              <a:rPr lang="es-AR" sz="1800" smtClean="0">
                <a:solidFill>
                  <a:schemeClr val="tx1"/>
                </a:solidFill>
                <a:latin typeface="Arial" pitchFamily="34" charset="0"/>
                <a:cs typeface="Arial" pitchFamily="34" charset="0"/>
              </a:rPr>
              <a:t> </a:t>
            </a:r>
            <a:r>
              <a:rPr lang="es-AR" sz="1800" dirty="0" smtClean="0">
                <a:solidFill>
                  <a:schemeClr val="tx1"/>
                </a:solidFill>
                <a:latin typeface="Arial" pitchFamily="34" charset="0"/>
                <a:cs typeface="Arial" pitchFamily="34" charset="0"/>
              </a:rPr>
              <a:t>de Procesos.</a:t>
            </a:r>
          </a:p>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Cada entrada de la tabla es un Bloque de Control de Procesos (PCB)</a:t>
            </a:r>
          </a:p>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En el PCB se mantiene casi toda la información sobre un proceso y contiene:</a:t>
            </a:r>
          </a:p>
        </p:txBody>
      </p:sp>
      <p:pic>
        <p:nvPicPr>
          <p:cNvPr id="5122" name="Picture 2"/>
          <p:cNvPicPr>
            <a:picLocks noChangeAspect="1" noChangeArrowheads="1"/>
          </p:cNvPicPr>
          <p:nvPr/>
        </p:nvPicPr>
        <p:blipFill>
          <a:blip r:embed="rId3" cstate="print"/>
          <a:srcRect/>
          <a:stretch>
            <a:fillRect/>
          </a:stretch>
        </p:blipFill>
        <p:spPr bwMode="auto">
          <a:xfrm>
            <a:off x="5930900" y="2895600"/>
            <a:ext cx="1802783" cy="2856717"/>
          </a:xfrm>
          <a:prstGeom prst="rect">
            <a:avLst/>
          </a:prstGeom>
          <a:noFill/>
          <a:ln w="9525">
            <a:noFill/>
            <a:miter lim="800000"/>
            <a:headEnd/>
            <a:tailEnd/>
          </a:ln>
        </p:spPr>
      </p:pic>
      <p:grpSp>
        <p:nvGrpSpPr>
          <p:cNvPr id="28" name="27 Grupo"/>
          <p:cNvGrpSpPr/>
          <p:nvPr/>
        </p:nvGrpSpPr>
        <p:grpSpPr>
          <a:xfrm>
            <a:off x="340439" y="165100"/>
            <a:ext cx="8790861" cy="2714566"/>
            <a:chOff x="340439" y="165100"/>
            <a:chExt cx="8790861" cy="2714566"/>
          </a:xfrm>
        </p:grpSpPr>
        <p:pic>
          <p:nvPicPr>
            <p:cNvPr id="5123" name="Picture 3"/>
            <p:cNvPicPr>
              <a:picLocks noChangeAspect="1" noChangeArrowheads="1"/>
            </p:cNvPicPr>
            <p:nvPr/>
          </p:nvPicPr>
          <p:blipFill>
            <a:blip r:embed="rId4" cstate="print"/>
            <a:srcRect/>
            <a:stretch>
              <a:fillRect/>
            </a:stretch>
          </p:blipFill>
          <p:spPr bwMode="auto">
            <a:xfrm>
              <a:off x="4692650" y="165100"/>
              <a:ext cx="4083050" cy="1478027"/>
            </a:xfrm>
            <a:prstGeom prst="rect">
              <a:avLst/>
            </a:prstGeom>
            <a:ln>
              <a:noFill/>
            </a:ln>
            <a:effectLst>
              <a:outerShdw blurRad="292100" dist="139700" dir="2700000" algn="tl" rotWithShape="0">
                <a:srgbClr val="333333">
                  <a:alpha val="65000"/>
                </a:srgbClr>
              </a:outerShdw>
            </a:effectLst>
          </p:spPr>
        </p:pic>
        <p:cxnSp>
          <p:nvCxnSpPr>
            <p:cNvPr id="17" name="16 Conector recto de flecha"/>
            <p:cNvCxnSpPr>
              <a:endCxn id="5123" idx="1"/>
            </p:cNvCxnSpPr>
            <p:nvPr/>
          </p:nvCxnSpPr>
          <p:spPr>
            <a:xfrm flipV="1">
              <a:off x="4089400" y="904114"/>
              <a:ext cx="603250" cy="18390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5" name="24 CuadroTexto"/>
            <p:cNvSpPr txBox="1"/>
            <p:nvPr/>
          </p:nvSpPr>
          <p:spPr>
            <a:xfrm>
              <a:off x="340439" y="2510334"/>
              <a:ext cx="8790861" cy="369332"/>
            </a:xfrm>
            <a:prstGeom prst="rect">
              <a:avLst/>
            </a:prstGeom>
            <a:noFill/>
          </p:spPr>
          <p:txBody>
            <a:bodyPr wrap="square" rtlCol="0">
              <a:spAutoFit/>
            </a:bodyPr>
            <a:lstStyle/>
            <a:p>
              <a:pPr marL="723900" lvl="1" indent="-266700" algn="l">
                <a:spcBef>
                  <a:spcPts val="600"/>
                </a:spcBef>
                <a:buFont typeface="Arial" pitchFamily="34" charset="0"/>
                <a:buChar char="•"/>
              </a:pPr>
              <a:r>
                <a:rPr lang="es-AR" sz="1800" dirty="0" smtClean="0">
                  <a:solidFill>
                    <a:schemeClr val="tx1"/>
                  </a:solidFill>
                  <a:latin typeface="Arial" pitchFamily="34" charset="0"/>
                  <a:cs typeface="Arial" pitchFamily="34" charset="0"/>
                </a:rPr>
                <a:t>Información de identificación.</a:t>
              </a:r>
            </a:p>
          </p:txBody>
        </p:sp>
      </p:grpSp>
      <p:grpSp>
        <p:nvGrpSpPr>
          <p:cNvPr id="29" name="28 Grupo"/>
          <p:cNvGrpSpPr/>
          <p:nvPr/>
        </p:nvGrpSpPr>
        <p:grpSpPr>
          <a:xfrm>
            <a:off x="340439" y="2012950"/>
            <a:ext cx="8790861" cy="4591050"/>
            <a:chOff x="340439" y="2012950"/>
            <a:chExt cx="8790861" cy="4591050"/>
          </a:xfrm>
        </p:grpSpPr>
        <p:pic>
          <p:nvPicPr>
            <p:cNvPr id="5124" name="Picture 4"/>
            <p:cNvPicPr>
              <a:picLocks noChangeAspect="1" noChangeArrowheads="1"/>
            </p:cNvPicPr>
            <p:nvPr/>
          </p:nvPicPr>
          <p:blipFill>
            <a:blip r:embed="rId5" cstate="print"/>
            <a:srcRect/>
            <a:stretch>
              <a:fillRect/>
            </a:stretch>
          </p:blipFill>
          <p:spPr bwMode="auto">
            <a:xfrm>
              <a:off x="4768850" y="2012950"/>
              <a:ext cx="4171950" cy="4591050"/>
            </a:xfrm>
            <a:prstGeom prst="rect">
              <a:avLst/>
            </a:prstGeom>
            <a:ln>
              <a:noFill/>
            </a:ln>
            <a:effectLst>
              <a:outerShdw blurRad="292100" dist="139700" dir="2700000" algn="tl" rotWithShape="0">
                <a:srgbClr val="333333">
                  <a:alpha val="65000"/>
                </a:srgbClr>
              </a:outerShdw>
            </a:effectLst>
          </p:spPr>
        </p:pic>
        <p:cxnSp>
          <p:nvCxnSpPr>
            <p:cNvPr id="19" name="18 Conector recto de flecha"/>
            <p:cNvCxnSpPr>
              <a:endCxn id="5124" idx="1"/>
            </p:cNvCxnSpPr>
            <p:nvPr/>
          </p:nvCxnSpPr>
          <p:spPr>
            <a:xfrm>
              <a:off x="3492500" y="3073400"/>
              <a:ext cx="1276350" cy="123507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6" name="25 CuadroTexto"/>
            <p:cNvSpPr txBox="1"/>
            <p:nvPr/>
          </p:nvSpPr>
          <p:spPr>
            <a:xfrm>
              <a:off x="340439" y="2891334"/>
              <a:ext cx="8790861" cy="369332"/>
            </a:xfrm>
            <a:prstGeom prst="rect">
              <a:avLst/>
            </a:prstGeom>
            <a:noFill/>
          </p:spPr>
          <p:txBody>
            <a:bodyPr wrap="square" rtlCol="0">
              <a:spAutoFit/>
            </a:bodyPr>
            <a:lstStyle/>
            <a:p>
              <a:pPr marL="723900" lvl="1" indent="-266700" algn="l">
                <a:spcBef>
                  <a:spcPts val="600"/>
                </a:spcBef>
                <a:buFont typeface="Arial" pitchFamily="34" charset="0"/>
                <a:buChar char="•"/>
              </a:pPr>
              <a:r>
                <a:rPr lang="es-AR" sz="1800" dirty="0" smtClean="0">
                  <a:solidFill>
                    <a:schemeClr val="tx1"/>
                  </a:solidFill>
                  <a:latin typeface="Arial" pitchFamily="34" charset="0"/>
                  <a:cs typeface="Arial" pitchFamily="34" charset="0"/>
                </a:rPr>
                <a:t>Estado del procesador</a:t>
              </a:r>
            </a:p>
          </p:txBody>
        </p:sp>
      </p:grpSp>
      <p:grpSp>
        <p:nvGrpSpPr>
          <p:cNvPr id="30" name="29 Grupo"/>
          <p:cNvGrpSpPr/>
          <p:nvPr/>
        </p:nvGrpSpPr>
        <p:grpSpPr>
          <a:xfrm>
            <a:off x="340439" y="3259634"/>
            <a:ext cx="8790861" cy="3123704"/>
            <a:chOff x="340439" y="3259634"/>
            <a:chExt cx="8790861" cy="3123704"/>
          </a:xfrm>
        </p:grpSpPr>
        <p:pic>
          <p:nvPicPr>
            <p:cNvPr id="5125" name="Picture 5"/>
            <p:cNvPicPr>
              <a:picLocks noChangeAspect="1" noChangeArrowheads="1"/>
            </p:cNvPicPr>
            <p:nvPr/>
          </p:nvPicPr>
          <p:blipFill>
            <a:blip r:embed="rId6" cstate="print"/>
            <a:srcRect/>
            <a:stretch>
              <a:fillRect/>
            </a:stretch>
          </p:blipFill>
          <p:spPr bwMode="auto">
            <a:xfrm>
              <a:off x="349250" y="4034178"/>
              <a:ext cx="3727450" cy="2349160"/>
            </a:xfrm>
            <a:prstGeom prst="rect">
              <a:avLst/>
            </a:prstGeom>
            <a:ln>
              <a:noFill/>
            </a:ln>
            <a:effectLst>
              <a:outerShdw blurRad="292100" dist="139700" dir="2700000" algn="tl" rotWithShape="0">
                <a:srgbClr val="333333">
                  <a:alpha val="65000"/>
                </a:srgbClr>
              </a:outerShdw>
            </a:effectLst>
          </p:spPr>
        </p:pic>
        <p:cxnSp>
          <p:nvCxnSpPr>
            <p:cNvPr id="21" name="20 Conector recto de flecha"/>
            <p:cNvCxnSpPr>
              <a:endCxn id="5125" idx="0"/>
            </p:cNvCxnSpPr>
            <p:nvPr/>
          </p:nvCxnSpPr>
          <p:spPr>
            <a:xfrm flipH="1">
              <a:off x="2212975" y="3479800"/>
              <a:ext cx="377825" cy="55437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7" name="26 CuadroTexto"/>
            <p:cNvSpPr txBox="1"/>
            <p:nvPr/>
          </p:nvSpPr>
          <p:spPr>
            <a:xfrm>
              <a:off x="340439" y="3259634"/>
              <a:ext cx="8790861" cy="369332"/>
            </a:xfrm>
            <a:prstGeom prst="rect">
              <a:avLst/>
            </a:prstGeom>
            <a:noFill/>
          </p:spPr>
          <p:txBody>
            <a:bodyPr wrap="square" rtlCol="0">
              <a:spAutoFit/>
            </a:bodyPr>
            <a:lstStyle/>
            <a:p>
              <a:pPr marL="723900" lvl="1" indent="-266700" algn="l">
                <a:spcBef>
                  <a:spcPts val="600"/>
                </a:spcBef>
                <a:buFont typeface="Arial" pitchFamily="34" charset="0"/>
                <a:buChar char="•"/>
              </a:pPr>
              <a:r>
                <a:rPr lang="es-AR" sz="1800" dirty="0" smtClean="0">
                  <a:solidFill>
                    <a:schemeClr val="tx1"/>
                  </a:solidFill>
                  <a:latin typeface="Arial" pitchFamily="34" charset="0"/>
                  <a:cs typeface="Arial" pitchFamily="34" charset="0"/>
                </a:rPr>
                <a:t>Información de control del proceso.</a:t>
              </a:r>
            </a:p>
          </p:txBody>
        </p:sp>
      </p:grpSp>
      <p:pic>
        <p:nvPicPr>
          <p:cNvPr id="5126" name="Picture 6"/>
          <p:cNvPicPr>
            <a:picLocks noChangeAspect="1" noChangeArrowheads="1"/>
          </p:cNvPicPr>
          <p:nvPr/>
        </p:nvPicPr>
        <p:blipFill>
          <a:blip r:embed="rId7" cstate="print"/>
          <a:srcRect/>
          <a:stretch>
            <a:fillRect/>
          </a:stretch>
        </p:blipFill>
        <p:spPr bwMode="auto">
          <a:xfrm>
            <a:off x="9372600" y="1927225"/>
            <a:ext cx="6943725" cy="45529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strVal val="#ppt_w*2.5"/>
                                          </p:val>
                                        </p:tav>
                                        <p:tav tm="100000">
                                          <p:val>
                                            <p:strVal val="#ppt_w"/>
                                          </p:val>
                                        </p:tav>
                                      </p:tavLst>
                                    </p:anim>
                                    <p:anim calcmode="lin" valueType="num">
                                      <p:cBhvr>
                                        <p:cTn id="8" dur="500" fill="hold"/>
                                        <p:tgtEl>
                                          <p:spTgt spid="28"/>
                                        </p:tgtEl>
                                        <p:attrNameLst>
                                          <p:attrName>ppt_h</p:attrName>
                                        </p:attrNameLst>
                                      </p:cBhvr>
                                      <p:tavLst>
                                        <p:tav tm="0">
                                          <p:val>
                                            <p:strVal val="#ppt_h*0.01"/>
                                          </p:val>
                                        </p:tav>
                                        <p:tav tm="100000">
                                          <p:val>
                                            <p:strVal val="#ppt_h"/>
                                          </p:val>
                                        </p:tav>
                                      </p:tavLst>
                                    </p:anim>
                                    <p:anim calcmode="lin" valueType="num">
                                      <p:cBhvr>
                                        <p:cTn id="9" dur="500" fill="hold"/>
                                        <p:tgtEl>
                                          <p:spTgt spid="28"/>
                                        </p:tgtEl>
                                        <p:attrNameLst>
                                          <p:attrName>ppt_x</p:attrName>
                                        </p:attrNameLst>
                                      </p:cBhvr>
                                      <p:tavLst>
                                        <p:tav tm="0">
                                          <p:val>
                                            <p:strVal val="#ppt_x"/>
                                          </p:val>
                                        </p:tav>
                                        <p:tav tm="100000">
                                          <p:val>
                                            <p:strVal val="#ppt_x"/>
                                          </p:val>
                                        </p:tav>
                                      </p:tavLst>
                                    </p:anim>
                                    <p:anim calcmode="lin" valueType="num">
                                      <p:cBhvr>
                                        <p:cTn id="10" dur="500" fill="hold"/>
                                        <p:tgtEl>
                                          <p:spTgt spid="28"/>
                                        </p:tgtEl>
                                        <p:attrNameLst>
                                          <p:attrName>ppt_y</p:attrName>
                                        </p:attrNameLst>
                                      </p:cBhvr>
                                      <p:tavLst>
                                        <p:tav tm="0">
                                          <p:val>
                                            <p:strVal val="#ppt_h+1"/>
                                          </p:val>
                                        </p:tav>
                                        <p:tav tm="100000">
                                          <p:val>
                                            <p:strVal val="#ppt_y"/>
                                          </p:val>
                                        </p:tav>
                                      </p:tavLst>
                                    </p:anim>
                                    <p:animEffect transition="in" filter="fade">
                                      <p:cBhvr>
                                        <p:cTn id="11" dur="500"/>
                                        <p:tgtEl>
                                          <p:spTgt spid="28"/>
                                        </p:tgtEl>
                                      </p:cBhvr>
                                    </p:animEffect>
                                  </p:childTnLst>
                                </p:cTn>
                              </p:par>
                            </p:childTnLst>
                          </p:cTn>
                        </p:par>
                      </p:childTnLst>
                    </p:cTn>
                  </p:par>
                  <p:par>
                    <p:cTn id="12" fill="hold">
                      <p:stCondLst>
                        <p:cond delay="indefinite"/>
                      </p:stCondLst>
                      <p:childTnLst>
                        <p:par>
                          <p:cTn id="13" fill="hold">
                            <p:stCondLst>
                              <p:cond delay="0"/>
                            </p:stCondLst>
                            <p:childTnLst>
                              <p:par>
                                <p:cTn id="14" presetID="58" presetClass="entr" presetSubtype="0" accel="100000" fill="hold" nodeType="clickEffect">
                                  <p:stCondLst>
                                    <p:cond delay="0"/>
                                  </p:stCondLst>
                                  <p:childTnLst>
                                    <p:set>
                                      <p:cBhvr>
                                        <p:cTn id="15" dur="1" fill="hold">
                                          <p:stCondLst>
                                            <p:cond delay="0"/>
                                          </p:stCondLst>
                                        </p:cTn>
                                        <p:tgtEl>
                                          <p:spTgt spid="29"/>
                                        </p:tgtEl>
                                        <p:attrNameLst>
                                          <p:attrName>style.visibility</p:attrName>
                                        </p:attrNameLst>
                                      </p:cBhvr>
                                      <p:to>
                                        <p:strVal val="visible"/>
                                      </p:to>
                                    </p:set>
                                    <p:anim calcmode="lin" valueType="num">
                                      <p:cBhvr>
                                        <p:cTn id="16" dur="500" fill="hold"/>
                                        <p:tgtEl>
                                          <p:spTgt spid="29"/>
                                        </p:tgtEl>
                                        <p:attrNameLst>
                                          <p:attrName>ppt_w</p:attrName>
                                        </p:attrNameLst>
                                      </p:cBhvr>
                                      <p:tavLst>
                                        <p:tav tm="0">
                                          <p:val>
                                            <p:strVal val="#ppt_w*2.5"/>
                                          </p:val>
                                        </p:tav>
                                        <p:tav tm="100000">
                                          <p:val>
                                            <p:strVal val="#ppt_w"/>
                                          </p:val>
                                        </p:tav>
                                      </p:tavLst>
                                    </p:anim>
                                    <p:anim calcmode="lin" valueType="num">
                                      <p:cBhvr>
                                        <p:cTn id="17" dur="500" fill="hold"/>
                                        <p:tgtEl>
                                          <p:spTgt spid="29"/>
                                        </p:tgtEl>
                                        <p:attrNameLst>
                                          <p:attrName>ppt_h</p:attrName>
                                        </p:attrNameLst>
                                      </p:cBhvr>
                                      <p:tavLst>
                                        <p:tav tm="0">
                                          <p:val>
                                            <p:strVal val="#ppt_h*0.01"/>
                                          </p:val>
                                        </p:tav>
                                        <p:tav tm="100000">
                                          <p:val>
                                            <p:strVal val="#ppt_h"/>
                                          </p:val>
                                        </p:tav>
                                      </p:tavLst>
                                    </p:anim>
                                    <p:anim calcmode="lin" valueType="num">
                                      <p:cBhvr>
                                        <p:cTn id="18" dur="500" fill="hold"/>
                                        <p:tgtEl>
                                          <p:spTgt spid="29"/>
                                        </p:tgtEl>
                                        <p:attrNameLst>
                                          <p:attrName>ppt_x</p:attrName>
                                        </p:attrNameLst>
                                      </p:cBhvr>
                                      <p:tavLst>
                                        <p:tav tm="0">
                                          <p:val>
                                            <p:strVal val="#ppt_x"/>
                                          </p:val>
                                        </p:tav>
                                        <p:tav tm="100000">
                                          <p:val>
                                            <p:strVal val="#ppt_x"/>
                                          </p:val>
                                        </p:tav>
                                      </p:tavLst>
                                    </p:anim>
                                    <p:anim calcmode="lin" valueType="num">
                                      <p:cBhvr>
                                        <p:cTn id="19" dur="500" fill="hold"/>
                                        <p:tgtEl>
                                          <p:spTgt spid="29"/>
                                        </p:tgtEl>
                                        <p:attrNameLst>
                                          <p:attrName>ppt_y</p:attrName>
                                        </p:attrNameLst>
                                      </p:cBhvr>
                                      <p:tavLst>
                                        <p:tav tm="0">
                                          <p:val>
                                            <p:strVal val="#ppt_h+1"/>
                                          </p:val>
                                        </p:tav>
                                        <p:tav tm="100000">
                                          <p:val>
                                            <p:strVal val="#ppt_y"/>
                                          </p:val>
                                        </p:tav>
                                      </p:tavLst>
                                    </p:anim>
                                    <p:animEffect transition="in" filter="fade">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58" presetClass="entr" presetSubtype="0" accel="10000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p:cTn id="25" dur="500" fill="hold"/>
                                        <p:tgtEl>
                                          <p:spTgt spid="30"/>
                                        </p:tgtEl>
                                        <p:attrNameLst>
                                          <p:attrName>ppt_w</p:attrName>
                                        </p:attrNameLst>
                                      </p:cBhvr>
                                      <p:tavLst>
                                        <p:tav tm="0">
                                          <p:val>
                                            <p:strVal val="#ppt_w*2.5"/>
                                          </p:val>
                                        </p:tav>
                                        <p:tav tm="100000">
                                          <p:val>
                                            <p:strVal val="#ppt_w"/>
                                          </p:val>
                                        </p:tav>
                                      </p:tavLst>
                                    </p:anim>
                                    <p:anim calcmode="lin" valueType="num">
                                      <p:cBhvr>
                                        <p:cTn id="26" dur="500" fill="hold"/>
                                        <p:tgtEl>
                                          <p:spTgt spid="30"/>
                                        </p:tgtEl>
                                        <p:attrNameLst>
                                          <p:attrName>ppt_h</p:attrName>
                                        </p:attrNameLst>
                                      </p:cBhvr>
                                      <p:tavLst>
                                        <p:tav tm="0">
                                          <p:val>
                                            <p:strVal val="#ppt_h*0.01"/>
                                          </p:val>
                                        </p:tav>
                                        <p:tav tm="100000">
                                          <p:val>
                                            <p:strVal val="#ppt_h"/>
                                          </p:val>
                                        </p:tav>
                                      </p:tavLst>
                                    </p:anim>
                                    <p:anim calcmode="lin" valueType="num">
                                      <p:cBhvr>
                                        <p:cTn id="27" dur="500" fill="hold"/>
                                        <p:tgtEl>
                                          <p:spTgt spid="30"/>
                                        </p:tgtEl>
                                        <p:attrNameLst>
                                          <p:attrName>ppt_x</p:attrName>
                                        </p:attrNameLst>
                                      </p:cBhvr>
                                      <p:tavLst>
                                        <p:tav tm="0">
                                          <p:val>
                                            <p:strVal val="#ppt_x"/>
                                          </p:val>
                                        </p:tav>
                                        <p:tav tm="100000">
                                          <p:val>
                                            <p:strVal val="#ppt_x"/>
                                          </p:val>
                                        </p:tav>
                                      </p:tavLst>
                                    </p:anim>
                                    <p:anim calcmode="lin" valueType="num">
                                      <p:cBhvr>
                                        <p:cTn id="28" dur="500" fill="hold"/>
                                        <p:tgtEl>
                                          <p:spTgt spid="30"/>
                                        </p:tgtEl>
                                        <p:attrNameLst>
                                          <p:attrName>ppt_y</p:attrName>
                                        </p:attrNameLst>
                                      </p:cBhvr>
                                      <p:tavLst>
                                        <p:tav tm="0">
                                          <p:val>
                                            <p:strVal val="#ppt_h+1"/>
                                          </p:val>
                                        </p:tav>
                                        <p:tav tm="100000">
                                          <p:val>
                                            <p:strVal val="#ppt_y"/>
                                          </p:val>
                                        </p:tav>
                                      </p:tavLst>
                                    </p:anim>
                                    <p:animEffect transition="in" filter="fade">
                                      <p:cBhvr>
                                        <p:cTn id="2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13</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noProof="0" dirty="0" smtClean="0">
                <a:solidFill>
                  <a:schemeClr val="tx1"/>
                </a:solidFill>
                <a:latin typeface="+mj-lt"/>
                <a:ea typeface="+mj-ea"/>
                <a:cs typeface="+mj-cs"/>
              </a:rPr>
              <a:t>Creación de Procesos</a:t>
            </a:r>
            <a:endParaRPr kumimoji="0" lang="es-AR" sz="4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429339" y="1079500"/>
            <a:ext cx="8460661" cy="646331"/>
          </a:xfrm>
          <a:prstGeom prst="rect">
            <a:avLst/>
          </a:prstGeom>
          <a:noFill/>
        </p:spPr>
        <p:txBody>
          <a:bodyPr wrap="square" rtlCol="0">
            <a:spAutoFit/>
          </a:bodyPr>
          <a:lstStyle/>
          <a:p>
            <a:pPr algn="l">
              <a:spcBef>
                <a:spcPts val="600"/>
              </a:spcBef>
            </a:pPr>
            <a:r>
              <a:rPr lang="es-AR" sz="1800" dirty="0" smtClean="0">
                <a:solidFill>
                  <a:schemeClr val="tx1"/>
                </a:solidFill>
                <a:latin typeface="Arial" pitchFamily="34" charset="0"/>
                <a:cs typeface="Arial" pitchFamily="34" charset="0"/>
              </a:rPr>
              <a:t>Un proceso en UNIX se realiza por medio de la llamada al sistema </a:t>
            </a:r>
            <a:r>
              <a:rPr lang="es-AR" sz="1800" b="1" dirty="0" err="1" smtClean="0">
                <a:solidFill>
                  <a:srgbClr val="C00000"/>
                </a:solidFill>
                <a:latin typeface="Arial" pitchFamily="34" charset="0"/>
                <a:cs typeface="Arial" pitchFamily="34" charset="0"/>
              </a:rPr>
              <a:t>fork</a:t>
            </a:r>
            <a:r>
              <a:rPr lang="es-AR" sz="1800" b="1" dirty="0" smtClean="0">
                <a:solidFill>
                  <a:srgbClr val="C00000"/>
                </a:solidFill>
                <a:latin typeface="Arial" pitchFamily="34" charset="0"/>
                <a:cs typeface="Arial" pitchFamily="34" charset="0"/>
              </a:rPr>
              <a:t>()</a:t>
            </a:r>
            <a:r>
              <a:rPr lang="es-AR" sz="1800" dirty="0" smtClean="0">
                <a:solidFill>
                  <a:schemeClr val="tx1"/>
                </a:solidFill>
                <a:latin typeface="Arial" pitchFamily="34" charset="0"/>
                <a:cs typeface="Arial" pitchFamily="34" charset="0"/>
              </a:rPr>
              <a:t>, en modo </a:t>
            </a:r>
            <a:r>
              <a:rPr lang="es-AR" sz="1800" dirty="0" err="1" smtClean="0">
                <a:solidFill>
                  <a:schemeClr val="tx1"/>
                </a:solidFill>
                <a:latin typeface="Arial" pitchFamily="34" charset="0"/>
                <a:cs typeface="Arial" pitchFamily="34" charset="0"/>
              </a:rPr>
              <a:t>kernel</a:t>
            </a:r>
            <a:r>
              <a:rPr lang="es-AR" sz="1800" dirty="0" smtClean="0">
                <a:solidFill>
                  <a:schemeClr val="tx1"/>
                </a:solidFill>
                <a:latin typeface="Arial" pitchFamily="34" charset="0"/>
                <a:cs typeface="Arial" pitchFamily="34" charset="0"/>
              </a:rPr>
              <a:t> dentro del proceso padre y se llevan a cabo las siguientes acciones:</a:t>
            </a:r>
          </a:p>
        </p:txBody>
      </p:sp>
      <p:sp>
        <p:nvSpPr>
          <p:cNvPr id="15" name="14 CuadroTexto"/>
          <p:cNvSpPr txBox="1"/>
          <p:nvPr/>
        </p:nvSpPr>
        <p:spPr>
          <a:xfrm>
            <a:off x="429339" y="1727200"/>
            <a:ext cx="8460661" cy="2970044"/>
          </a:xfrm>
          <a:prstGeom prst="rect">
            <a:avLst/>
          </a:prstGeom>
          <a:noFill/>
        </p:spPr>
        <p:txBody>
          <a:bodyPr wrap="square" rtlCol="0">
            <a:spAutoFit/>
          </a:bodyPr>
          <a:lstStyle/>
          <a:p>
            <a:pPr marL="342900" indent="-342900" algn="l">
              <a:spcBef>
                <a:spcPts val="600"/>
              </a:spcBef>
              <a:buFont typeface="+mj-lt"/>
              <a:buAutoNum type="arabicPeriod"/>
            </a:pPr>
            <a:r>
              <a:rPr lang="es-AR" sz="1800" dirty="0" smtClean="0">
                <a:solidFill>
                  <a:schemeClr val="tx1"/>
                </a:solidFill>
                <a:latin typeface="Arial" pitchFamily="34" charset="0"/>
                <a:cs typeface="Arial" pitchFamily="34" charset="0"/>
              </a:rPr>
              <a:t>Solicita la entrada en la tabla de procesos para el nuevo proceso.</a:t>
            </a:r>
          </a:p>
          <a:p>
            <a:pPr marL="342900" indent="-342900" algn="l">
              <a:spcBef>
                <a:spcPts val="600"/>
              </a:spcBef>
              <a:buFont typeface="+mj-lt"/>
              <a:buAutoNum type="arabicPeriod"/>
            </a:pPr>
            <a:r>
              <a:rPr lang="es-AR" sz="1800" dirty="0" smtClean="0">
                <a:solidFill>
                  <a:schemeClr val="tx1"/>
                </a:solidFill>
                <a:latin typeface="Arial" pitchFamily="34" charset="0"/>
                <a:cs typeface="Arial" pitchFamily="34" charset="0"/>
              </a:rPr>
              <a:t>Asigna un identificador de proceso único al proceso hijo.</a:t>
            </a:r>
          </a:p>
          <a:p>
            <a:pPr marL="342900" indent="-342900" algn="l">
              <a:spcBef>
                <a:spcPts val="600"/>
              </a:spcBef>
              <a:buFont typeface="+mj-lt"/>
              <a:buAutoNum type="arabicPeriod"/>
            </a:pPr>
            <a:r>
              <a:rPr lang="es-AR" sz="1800" dirty="0" smtClean="0">
                <a:solidFill>
                  <a:schemeClr val="tx1"/>
                </a:solidFill>
                <a:latin typeface="Arial" pitchFamily="34" charset="0"/>
                <a:cs typeface="Arial" pitchFamily="34" charset="0"/>
              </a:rPr>
              <a:t>Hace una copia de la imagen del proceso padre, con excepción de las regiones de memoria compartidas.</a:t>
            </a:r>
          </a:p>
          <a:p>
            <a:pPr marL="342900" indent="-342900" algn="l">
              <a:spcBef>
                <a:spcPts val="600"/>
              </a:spcBef>
              <a:buFont typeface="+mj-lt"/>
              <a:buAutoNum type="arabicPeriod"/>
            </a:pPr>
            <a:r>
              <a:rPr lang="es-AR" sz="1800" dirty="0" smtClean="0">
                <a:solidFill>
                  <a:schemeClr val="tx1"/>
                </a:solidFill>
                <a:latin typeface="Arial" pitchFamily="34" charset="0"/>
                <a:cs typeface="Arial" pitchFamily="34" charset="0"/>
              </a:rPr>
              <a:t>Incrementa el contador de cualquier fichero en posesión del padre, para reflejar el proceso adicional que ahora también posee dichos ficheros.</a:t>
            </a:r>
          </a:p>
          <a:p>
            <a:pPr marL="342900" indent="-342900" algn="l">
              <a:spcBef>
                <a:spcPts val="600"/>
              </a:spcBef>
              <a:buFont typeface="+mj-lt"/>
              <a:buAutoNum type="arabicPeriod"/>
            </a:pPr>
            <a:r>
              <a:rPr lang="es-AR" sz="1800" dirty="0" smtClean="0">
                <a:solidFill>
                  <a:schemeClr val="tx1"/>
                </a:solidFill>
                <a:latin typeface="Arial" pitchFamily="34" charset="0"/>
                <a:cs typeface="Arial" pitchFamily="34" charset="0"/>
              </a:rPr>
              <a:t>Asigna al proceso hijo el estado Listo para Ejecutar.</a:t>
            </a:r>
          </a:p>
          <a:p>
            <a:pPr marL="342900" indent="-342900" algn="l">
              <a:spcBef>
                <a:spcPts val="600"/>
              </a:spcBef>
              <a:buFont typeface="+mj-lt"/>
              <a:buAutoNum type="arabicPeriod"/>
            </a:pPr>
            <a:r>
              <a:rPr lang="es-AR" sz="1800" dirty="0" smtClean="0">
                <a:solidFill>
                  <a:schemeClr val="tx1"/>
                </a:solidFill>
                <a:latin typeface="Arial" pitchFamily="34" charset="0"/>
                <a:cs typeface="Arial" pitchFamily="34" charset="0"/>
              </a:rPr>
              <a:t>Devuelve el identificador del proceso hijo al proceso padre, y un valor 0 al proceso hijo.</a:t>
            </a:r>
          </a:p>
        </p:txBody>
      </p:sp>
      <p:sp>
        <p:nvSpPr>
          <p:cNvPr id="16" name="15 CuadroTexto"/>
          <p:cNvSpPr txBox="1"/>
          <p:nvPr/>
        </p:nvSpPr>
        <p:spPr>
          <a:xfrm>
            <a:off x="429339" y="4686300"/>
            <a:ext cx="8460661" cy="1985159"/>
          </a:xfrm>
          <a:prstGeom prst="rect">
            <a:avLst/>
          </a:prstGeom>
          <a:noFill/>
        </p:spPr>
        <p:txBody>
          <a:bodyPr wrap="square" rtlCol="0">
            <a:spAutoFit/>
          </a:bodyPr>
          <a:lstStyle/>
          <a:p>
            <a:pPr algn="l">
              <a:spcBef>
                <a:spcPts val="600"/>
              </a:spcBef>
            </a:pPr>
            <a:r>
              <a:rPr lang="es-AR" sz="1800" dirty="0" smtClean="0">
                <a:solidFill>
                  <a:schemeClr val="tx1"/>
                </a:solidFill>
                <a:latin typeface="Arial" pitchFamily="34" charset="0"/>
                <a:cs typeface="Arial" pitchFamily="34" charset="0"/>
              </a:rPr>
              <a:t>Luego puede pasar cualquiera de estas acciones:</a:t>
            </a:r>
          </a:p>
          <a:p>
            <a:pPr marL="355600" indent="-355600" algn="l">
              <a:spcBef>
                <a:spcPts val="600"/>
              </a:spcBef>
              <a:buFont typeface="Arial" pitchFamily="34" charset="0"/>
              <a:buChar char="•"/>
            </a:pPr>
            <a:r>
              <a:rPr lang="es-AR" sz="1800" dirty="0" smtClean="0">
                <a:solidFill>
                  <a:schemeClr val="tx1"/>
                </a:solidFill>
                <a:latin typeface="Arial" pitchFamily="34" charset="0"/>
                <a:cs typeface="Arial" pitchFamily="34" charset="0"/>
              </a:rPr>
              <a:t>Continuar con el proceso padre. Vuelve modo usuario después del </a:t>
            </a:r>
            <a:r>
              <a:rPr lang="es-AR" sz="1800" dirty="0" err="1" smtClean="0">
                <a:solidFill>
                  <a:schemeClr val="tx1"/>
                </a:solidFill>
                <a:latin typeface="Arial" pitchFamily="34" charset="0"/>
                <a:cs typeface="Arial" pitchFamily="34" charset="0"/>
              </a:rPr>
              <a:t>fork</a:t>
            </a:r>
            <a:endParaRPr lang="es-AR" sz="1800" dirty="0" smtClean="0">
              <a:solidFill>
                <a:schemeClr val="tx1"/>
              </a:solidFill>
              <a:latin typeface="Arial" pitchFamily="34" charset="0"/>
              <a:cs typeface="Arial" pitchFamily="34" charset="0"/>
            </a:endParaRPr>
          </a:p>
          <a:p>
            <a:pPr marL="355600" indent="-355600" algn="l">
              <a:spcBef>
                <a:spcPts val="600"/>
              </a:spcBef>
              <a:buFont typeface="Arial" pitchFamily="34" charset="0"/>
              <a:buChar char="•"/>
            </a:pPr>
            <a:r>
              <a:rPr lang="es-AR" sz="1800" dirty="0" smtClean="0">
                <a:solidFill>
                  <a:schemeClr val="tx1"/>
                </a:solidFill>
                <a:latin typeface="Arial" pitchFamily="34" charset="0"/>
                <a:cs typeface="Arial" pitchFamily="34" charset="0"/>
              </a:rPr>
              <a:t>Transferir el control al proceso hijo. El hijo comienza ejecutar en el mismo punto del código del padre, es decir en el punto de retorno de la llamada </a:t>
            </a:r>
            <a:r>
              <a:rPr lang="es-AR" sz="1800" dirty="0" err="1" smtClean="0">
                <a:solidFill>
                  <a:schemeClr val="tx1"/>
                </a:solidFill>
                <a:latin typeface="Arial" pitchFamily="34" charset="0"/>
                <a:cs typeface="Arial" pitchFamily="34" charset="0"/>
              </a:rPr>
              <a:t>fork</a:t>
            </a:r>
            <a:r>
              <a:rPr lang="es-AR" sz="1800" dirty="0" smtClean="0">
                <a:solidFill>
                  <a:schemeClr val="tx1"/>
                </a:solidFill>
                <a:latin typeface="Arial" pitchFamily="34" charset="0"/>
                <a:cs typeface="Arial" pitchFamily="34" charset="0"/>
              </a:rPr>
              <a:t>.</a:t>
            </a:r>
          </a:p>
          <a:p>
            <a:pPr marL="355600" indent="-355600" algn="l">
              <a:spcBef>
                <a:spcPts val="600"/>
              </a:spcBef>
              <a:buFont typeface="Arial" pitchFamily="34" charset="0"/>
              <a:buChar char="•"/>
            </a:pPr>
            <a:r>
              <a:rPr lang="es-AR" sz="1800" dirty="0" smtClean="0">
                <a:solidFill>
                  <a:schemeClr val="tx1"/>
                </a:solidFill>
                <a:latin typeface="Arial" pitchFamily="34" charset="0"/>
                <a:cs typeface="Arial" pitchFamily="34" charset="0"/>
              </a:rPr>
              <a:t>Transferir el control a otro proceso. Ambos procesos, padre e hijo, permanecen en el estado Listos para Ejecutar.</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14</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429339" y="1079500"/>
            <a:ext cx="8460661" cy="923330"/>
          </a:xfrm>
          <a:prstGeom prst="rect">
            <a:avLst/>
          </a:prstGeom>
          <a:noFill/>
        </p:spPr>
        <p:txBody>
          <a:bodyPr wrap="square" rtlCol="0">
            <a:spAutoFit/>
          </a:bodyPr>
          <a:lstStyle/>
          <a:p>
            <a:pPr algn="l">
              <a:spcBef>
                <a:spcPts val="600"/>
              </a:spcBef>
            </a:pPr>
            <a:r>
              <a:rPr lang="es-AR" sz="1800" dirty="0" smtClean="0">
                <a:solidFill>
                  <a:schemeClr val="tx1"/>
                </a:solidFill>
                <a:latin typeface="Arial" pitchFamily="34" charset="0"/>
                <a:cs typeface="Arial" pitchFamily="34" charset="0"/>
              </a:rPr>
              <a:t>Generalmente se verifica el valor de retorno del </a:t>
            </a:r>
            <a:r>
              <a:rPr lang="es-AR" sz="1800" dirty="0" err="1" smtClean="0">
                <a:solidFill>
                  <a:schemeClr val="tx1"/>
                </a:solidFill>
                <a:latin typeface="Arial" pitchFamily="34" charset="0"/>
                <a:cs typeface="Arial" pitchFamily="34" charset="0"/>
              </a:rPr>
              <a:t>fork</a:t>
            </a:r>
            <a:r>
              <a:rPr lang="es-AR" sz="1800" dirty="0" smtClean="0">
                <a:solidFill>
                  <a:schemeClr val="tx1"/>
                </a:solidFill>
                <a:latin typeface="Arial" pitchFamily="34" charset="0"/>
                <a:cs typeface="Arial" pitchFamily="34" charset="0"/>
              </a:rPr>
              <a:t>: si el valor es 0, entonces este es el proceso hijo, y se puede realizar la ejecución en el proceso hijo y si no, éste es el proceso padre, y puede continuar con la línea principal ejecución.</a:t>
            </a: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noProof="0" dirty="0" smtClean="0">
                <a:solidFill>
                  <a:schemeClr val="tx1"/>
                </a:solidFill>
                <a:latin typeface="+mj-lt"/>
                <a:ea typeface="+mj-ea"/>
                <a:cs typeface="+mj-cs"/>
              </a:rPr>
              <a:t>Creación de Procesos</a:t>
            </a:r>
            <a:endParaRPr kumimoji="0" lang="es-AR" sz="4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1026" name="Picture 2"/>
          <p:cNvPicPr>
            <a:picLocks noChangeAspect="1" noChangeArrowheads="1"/>
          </p:cNvPicPr>
          <p:nvPr/>
        </p:nvPicPr>
        <p:blipFill>
          <a:blip r:embed="rId3" cstate="print"/>
          <a:srcRect/>
          <a:stretch>
            <a:fillRect/>
          </a:stretch>
        </p:blipFill>
        <p:spPr bwMode="auto">
          <a:xfrm>
            <a:off x="506413" y="2095500"/>
            <a:ext cx="8109072" cy="3619500"/>
          </a:xfrm>
          <a:prstGeom prst="rect">
            <a:avLst/>
          </a:prstGeom>
          <a:ln>
            <a:noFill/>
          </a:ln>
          <a:effectLst>
            <a:outerShdw blurRad="292100" dist="139700" dir="2700000" algn="tl" rotWithShape="0">
              <a:srgbClr val="333333">
                <a:alpha val="65000"/>
              </a:srgbClr>
            </a:outerShdw>
          </a:effectLst>
        </p:spPr>
      </p:pic>
      <p:pic>
        <p:nvPicPr>
          <p:cNvPr id="1027" name="Picture 3"/>
          <p:cNvPicPr>
            <a:picLocks noChangeAspect="1" noChangeArrowheads="1"/>
          </p:cNvPicPr>
          <p:nvPr/>
        </p:nvPicPr>
        <p:blipFill>
          <a:blip r:embed="rId4" cstate="print"/>
          <a:srcRect r="16716"/>
          <a:stretch>
            <a:fillRect/>
          </a:stretch>
        </p:blipFill>
        <p:spPr bwMode="auto">
          <a:xfrm>
            <a:off x="3506788" y="5286375"/>
            <a:ext cx="5370512" cy="1114425"/>
          </a:xfrm>
          <a:prstGeom prst="rect">
            <a:avLst/>
          </a:prstGeom>
          <a:ln>
            <a:noFill/>
          </a:ln>
          <a:effectLst>
            <a:outerShdw blurRad="292100" dist="139700" dir="2700000" algn="tl" rotWithShape="0">
              <a:srgbClr val="333333">
                <a:alpha val="65000"/>
              </a:srgbClr>
            </a:outerShdw>
          </a:effectLst>
        </p:spPr>
      </p:pic>
      <p:sp>
        <p:nvSpPr>
          <p:cNvPr id="11" name="10 CuadroTexto"/>
          <p:cNvSpPr txBox="1"/>
          <p:nvPr/>
        </p:nvSpPr>
        <p:spPr>
          <a:xfrm>
            <a:off x="1737439" y="6159500"/>
            <a:ext cx="1615361" cy="369332"/>
          </a:xfrm>
          <a:prstGeom prst="rect">
            <a:avLst/>
          </a:prstGeom>
          <a:noFill/>
        </p:spPr>
        <p:txBody>
          <a:bodyPr wrap="square" rtlCol="0">
            <a:spAutoFit/>
          </a:bodyPr>
          <a:lstStyle/>
          <a:p>
            <a:pPr algn="l">
              <a:spcBef>
                <a:spcPts val="600"/>
              </a:spcBef>
            </a:pPr>
            <a:r>
              <a:rPr lang="es-AR" sz="1800" dirty="0" smtClean="0">
                <a:solidFill>
                  <a:schemeClr val="tx1"/>
                </a:solidFill>
                <a:latin typeface="Arial" pitchFamily="34" charset="0"/>
                <a:cs typeface="Arial" pitchFamily="34" charset="0"/>
              </a:rPr>
              <a:t>Posible salida</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15</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429339" y="1079500"/>
            <a:ext cx="8460661" cy="369332"/>
          </a:xfrm>
          <a:prstGeom prst="rect">
            <a:avLst/>
          </a:prstGeom>
          <a:noFill/>
        </p:spPr>
        <p:txBody>
          <a:bodyPr wrap="square" rtlCol="0">
            <a:spAutoFit/>
          </a:bodyPr>
          <a:lstStyle/>
          <a:p>
            <a:pPr algn="l">
              <a:spcBef>
                <a:spcPts val="600"/>
              </a:spcBef>
            </a:pPr>
            <a:r>
              <a:rPr lang="es-AR" sz="1800" dirty="0" smtClean="0">
                <a:solidFill>
                  <a:schemeClr val="tx1"/>
                </a:solidFill>
                <a:latin typeface="Arial" pitchFamily="34" charset="0"/>
                <a:cs typeface="Arial" pitchFamily="34" charset="0"/>
              </a:rPr>
              <a:t>Su ejecución es en forma concurrente</a:t>
            </a: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noProof="0" dirty="0" smtClean="0">
                <a:solidFill>
                  <a:schemeClr val="tx1"/>
                </a:solidFill>
                <a:latin typeface="+mj-lt"/>
                <a:ea typeface="+mj-ea"/>
                <a:cs typeface="+mj-cs"/>
              </a:rPr>
              <a:t>Creación de Procesos</a:t>
            </a:r>
            <a:endParaRPr kumimoji="0" lang="es-AR" sz="4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2050" name="Picture 2"/>
          <p:cNvPicPr>
            <a:picLocks noChangeAspect="1" noChangeArrowheads="1"/>
          </p:cNvPicPr>
          <p:nvPr/>
        </p:nvPicPr>
        <p:blipFill>
          <a:blip r:embed="rId3" cstate="print"/>
          <a:srcRect/>
          <a:stretch>
            <a:fillRect/>
          </a:stretch>
        </p:blipFill>
        <p:spPr bwMode="auto">
          <a:xfrm>
            <a:off x="485774" y="1465263"/>
            <a:ext cx="6550025" cy="1929721"/>
          </a:xfrm>
          <a:prstGeom prst="rect">
            <a:avLst/>
          </a:prstGeom>
          <a:ln>
            <a:noFill/>
          </a:ln>
          <a:effectLst>
            <a:outerShdw blurRad="292100" dist="139700" dir="2700000" algn="tl" rotWithShape="0">
              <a:srgbClr val="333333">
                <a:alpha val="65000"/>
              </a:srgbClr>
            </a:outerShdw>
          </a:effectLst>
        </p:spPr>
      </p:pic>
      <p:pic>
        <p:nvPicPr>
          <p:cNvPr id="2051" name="Picture 3"/>
          <p:cNvPicPr>
            <a:picLocks noChangeAspect="1" noChangeArrowheads="1"/>
          </p:cNvPicPr>
          <p:nvPr/>
        </p:nvPicPr>
        <p:blipFill>
          <a:blip r:embed="rId4" cstate="print"/>
          <a:srcRect/>
          <a:stretch>
            <a:fillRect/>
          </a:stretch>
        </p:blipFill>
        <p:spPr bwMode="auto">
          <a:xfrm>
            <a:off x="3000375" y="3416300"/>
            <a:ext cx="5662004" cy="3283656"/>
          </a:xfrm>
          <a:prstGeom prst="rect">
            <a:avLst/>
          </a:prstGeom>
          <a:ln>
            <a:noFill/>
          </a:ln>
          <a:effectLst>
            <a:outerShdw blurRad="292100" dist="139700" dir="2700000" algn="tl" rotWithShape="0">
              <a:srgbClr val="333333">
                <a:alpha val="65000"/>
              </a:srgbClr>
            </a:outerShdw>
          </a:effectLst>
        </p:spPr>
      </p:pic>
      <p:sp>
        <p:nvSpPr>
          <p:cNvPr id="13" name="12 CuadroTexto"/>
          <p:cNvSpPr txBox="1"/>
          <p:nvPr/>
        </p:nvSpPr>
        <p:spPr>
          <a:xfrm>
            <a:off x="1318339" y="5918200"/>
            <a:ext cx="1615361" cy="369332"/>
          </a:xfrm>
          <a:prstGeom prst="rect">
            <a:avLst/>
          </a:prstGeom>
          <a:noFill/>
        </p:spPr>
        <p:txBody>
          <a:bodyPr wrap="square" rtlCol="0">
            <a:spAutoFit/>
          </a:bodyPr>
          <a:lstStyle/>
          <a:p>
            <a:pPr algn="l">
              <a:spcBef>
                <a:spcPts val="600"/>
              </a:spcBef>
            </a:pPr>
            <a:r>
              <a:rPr lang="es-AR" sz="1800" dirty="0" smtClean="0">
                <a:solidFill>
                  <a:schemeClr val="tx1"/>
                </a:solidFill>
                <a:latin typeface="Arial" pitchFamily="34" charset="0"/>
                <a:cs typeface="Arial" pitchFamily="34" charset="0"/>
              </a:rPr>
              <a:t>Posible salida</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16</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530939" y="1206500"/>
            <a:ext cx="3240961" cy="646331"/>
          </a:xfrm>
          <a:prstGeom prst="rect">
            <a:avLst/>
          </a:prstGeom>
          <a:noFill/>
        </p:spPr>
        <p:txBody>
          <a:bodyPr wrap="square" rtlCol="0">
            <a:spAutoFit/>
          </a:bodyPr>
          <a:lstStyle/>
          <a:p>
            <a:pPr algn="l">
              <a:spcBef>
                <a:spcPts val="600"/>
              </a:spcBef>
            </a:pPr>
            <a:r>
              <a:rPr lang="es-AR" sz="1800" dirty="0" smtClean="0">
                <a:solidFill>
                  <a:schemeClr val="tx1"/>
                </a:solidFill>
                <a:latin typeface="Arial" pitchFamily="34" charset="0"/>
                <a:cs typeface="Arial" pitchFamily="34" charset="0"/>
              </a:rPr>
              <a:t>Su ejecución es en forma concurrente:</a:t>
            </a: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noProof="0" dirty="0" smtClean="0">
                <a:solidFill>
                  <a:schemeClr val="tx1"/>
                </a:solidFill>
                <a:latin typeface="+mj-lt"/>
                <a:ea typeface="+mj-ea"/>
                <a:cs typeface="+mj-cs"/>
              </a:rPr>
              <a:t>Creación de Procesos</a:t>
            </a:r>
            <a:endParaRPr kumimoji="0" lang="es-AR" sz="4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3074" name="Picture 2"/>
          <p:cNvPicPr>
            <a:picLocks noChangeAspect="1" noChangeArrowheads="1"/>
          </p:cNvPicPr>
          <p:nvPr/>
        </p:nvPicPr>
        <p:blipFill>
          <a:blip r:embed="rId3" cstate="print"/>
          <a:srcRect/>
          <a:stretch>
            <a:fillRect/>
          </a:stretch>
        </p:blipFill>
        <p:spPr bwMode="auto">
          <a:xfrm>
            <a:off x="254001" y="3200400"/>
            <a:ext cx="4718267" cy="3505200"/>
          </a:xfrm>
          <a:prstGeom prst="rect">
            <a:avLst/>
          </a:prstGeom>
          <a:ln>
            <a:noFill/>
          </a:ln>
          <a:effectLst>
            <a:outerShdw blurRad="292100" dist="139700" dir="2700000" algn="tl" rotWithShape="0">
              <a:srgbClr val="333333">
                <a:alpha val="65000"/>
              </a:srgbClr>
            </a:outerShdw>
          </a:effectLst>
        </p:spPr>
      </p:pic>
      <p:pic>
        <p:nvPicPr>
          <p:cNvPr id="2052" name="Picture 4"/>
          <p:cNvPicPr>
            <a:picLocks noChangeAspect="1" noChangeArrowheads="1"/>
          </p:cNvPicPr>
          <p:nvPr/>
        </p:nvPicPr>
        <p:blipFill>
          <a:blip r:embed="rId4" cstate="print"/>
          <a:srcRect/>
          <a:stretch>
            <a:fillRect/>
          </a:stretch>
        </p:blipFill>
        <p:spPr bwMode="auto">
          <a:xfrm>
            <a:off x="4168775" y="1044575"/>
            <a:ext cx="4848225" cy="3829050"/>
          </a:xfrm>
          <a:prstGeom prst="rect">
            <a:avLst/>
          </a:prstGeom>
          <a:ln>
            <a:noFill/>
          </a:ln>
          <a:effectLst>
            <a:outerShdw blurRad="292100" dist="139700" dir="2700000" algn="tl" rotWithShape="0">
              <a:srgbClr val="333333">
                <a:alpha val="65000"/>
              </a:srgbClr>
            </a:outerShdw>
          </a:effectLst>
        </p:spPr>
      </p:pic>
      <p:pic>
        <p:nvPicPr>
          <p:cNvPr id="3075" name="Picture 3"/>
          <p:cNvPicPr>
            <a:picLocks noChangeAspect="1" noChangeArrowheads="1"/>
          </p:cNvPicPr>
          <p:nvPr/>
        </p:nvPicPr>
        <p:blipFill>
          <a:blip r:embed="rId5" cstate="print"/>
          <a:srcRect/>
          <a:stretch>
            <a:fillRect/>
          </a:stretch>
        </p:blipFill>
        <p:spPr bwMode="auto">
          <a:xfrm>
            <a:off x="6272213" y="5676900"/>
            <a:ext cx="2162175" cy="685800"/>
          </a:xfrm>
          <a:prstGeom prst="rect">
            <a:avLst/>
          </a:prstGeom>
          <a:ln>
            <a:noFill/>
          </a:ln>
          <a:effectLst>
            <a:outerShdw blurRad="292100" dist="139700" dir="2700000" algn="tl" rotWithShape="0">
              <a:srgbClr val="333333">
                <a:alpha val="65000"/>
              </a:srgbClr>
            </a:outerShdw>
          </a:effectLst>
        </p:spPr>
      </p:pic>
      <p:sp>
        <p:nvSpPr>
          <p:cNvPr id="13" name="12 CuadroTexto"/>
          <p:cNvSpPr txBox="1"/>
          <p:nvPr/>
        </p:nvSpPr>
        <p:spPr>
          <a:xfrm>
            <a:off x="467439" y="2717800"/>
            <a:ext cx="1615361" cy="369332"/>
          </a:xfrm>
          <a:prstGeom prst="rect">
            <a:avLst/>
          </a:prstGeom>
          <a:noFill/>
        </p:spPr>
        <p:txBody>
          <a:bodyPr wrap="square" rtlCol="0">
            <a:spAutoFit/>
          </a:bodyPr>
          <a:lstStyle/>
          <a:p>
            <a:pPr algn="l">
              <a:spcBef>
                <a:spcPts val="600"/>
              </a:spcBef>
            </a:pPr>
            <a:r>
              <a:rPr lang="es-AR" sz="1800" dirty="0" smtClean="0">
                <a:solidFill>
                  <a:schemeClr val="tx1"/>
                </a:solidFill>
                <a:latin typeface="Arial" pitchFamily="34" charset="0"/>
                <a:cs typeface="Arial" pitchFamily="34" charset="0"/>
              </a:rPr>
              <a:t>Posible salida</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17</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530939" y="1016000"/>
            <a:ext cx="8054261" cy="5740033"/>
          </a:xfrm>
          <a:prstGeom prst="rect">
            <a:avLst/>
          </a:prstGeom>
          <a:noFill/>
        </p:spPr>
        <p:txBody>
          <a:bodyPr wrap="square" rtlCol="0">
            <a:spAutoFit/>
          </a:bodyPr>
          <a:lstStyle/>
          <a:p>
            <a:pPr algn="l">
              <a:spcBef>
                <a:spcPts val="600"/>
              </a:spcBef>
            </a:pPr>
            <a:r>
              <a:rPr lang="es-AR" sz="1800" b="1" dirty="0" err="1" smtClean="0">
                <a:solidFill>
                  <a:srgbClr val="C00000"/>
                </a:solidFill>
                <a:latin typeface="Arial" pitchFamily="34" charset="0"/>
                <a:cs typeface="Arial" pitchFamily="34" charset="0"/>
              </a:rPr>
              <a:t>wait</a:t>
            </a:r>
            <a:r>
              <a:rPr lang="es-AR" sz="1800" b="1" dirty="0" smtClean="0">
                <a:solidFill>
                  <a:srgbClr val="C00000"/>
                </a:solidFill>
                <a:latin typeface="Arial" pitchFamily="34" charset="0"/>
                <a:cs typeface="Arial" pitchFamily="34" charset="0"/>
              </a:rPr>
              <a:t>()</a:t>
            </a:r>
          </a:p>
          <a:p>
            <a:pPr algn="l">
              <a:spcBef>
                <a:spcPts val="600"/>
              </a:spcBef>
            </a:pPr>
            <a:r>
              <a:rPr lang="es-AR" sz="1800" dirty="0" smtClean="0">
                <a:solidFill>
                  <a:schemeClr val="tx1"/>
                </a:solidFill>
                <a:latin typeface="Arial" pitchFamily="34" charset="0"/>
                <a:cs typeface="Arial" pitchFamily="34" charset="0"/>
              </a:rPr>
              <a:t>espera que alguno de sus hijos termine su ejecución. </a:t>
            </a:r>
          </a:p>
          <a:p>
            <a:pPr algn="l">
              <a:spcBef>
                <a:spcPts val="600"/>
              </a:spcBef>
            </a:pPr>
            <a:r>
              <a:rPr lang="es-AR" sz="1800" dirty="0" smtClean="0">
                <a:solidFill>
                  <a:schemeClr val="tx1"/>
                </a:solidFill>
                <a:latin typeface="Arial" pitchFamily="34" charset="0"/>
                <a:cs typeface="Arial" pitchFamily="34" charset="0"/>
              </a:rPr>
              <a:t>Sintaxis:   </a:t>
            </a:r>
            <a:r>
              <a:rPr lang="es-AR" sz="1800" dirty="0" err="1" smtClean="0">
                <a:solidFill>
                  <a:schemeClr val="tx1"/>
                </a:solidFill>
                <a:latin typeface="Arial" pitchFamily="34" charset="0"/>
                <a:cs typeface="Arial" pitchFamily="34" charset="0"/>
              </a:rPr>
              <a:t>pid_t</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wait</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int</a:t>
            </a:r>
            <a:r>
              <a:rPr lang="es-AR" sz="1800" dirty="0" smtClean="0">
                <a:solidFill>
                  <a:schemeClr val="tx1"/>
                </a:solidFill>
                <a:latin typeface="Arial" pitchFamily="34" charset="0"/>
                <a:cs typeface="Arial" pitchFamily="34" charset="0"/>
              </a:rPr>
              <a:t> status)        Ej. </a:t>
            </a:r>
            <a:r>
              <a:rPr lang="es-AR" sz="1800" dirty="0" err="1" smtClean="0">
                <a:solidFill>
                  <a:schemeClr val="tx1"/>
                </a:solidFill>
                <a:latin typeface="Arial" pitchFamily="34" charset="0"/>
                <a:cs typeface="Arial" pitchFamily="34" charset="0"/>
              </a:rPr>
              <a:t>wait</a:t>
            </a:r>
            <a:r>
              <a:rPr lang="es-AR" sz="1800" dirty="0" smtClean="0">
                <a:solidFill>
                  <a:schemeClr val="tx1"/>
                </a:solidFill>
                <a:latin typeface="Arial" pitchFamily="34" charset="0"/>
                <a:cs typeface="Arial" pitchFamily="34" charset="0"/>
              </a:rPr>
              <a:t>(NULL); </a:t>
            </a:r>
          </a:p>
          <a:p>
            <a:pPr algn="l">
              <a:spcBef>
                <a:spcPts val="600"/>
              </a:spcBef>
            </a:pPr>
            <a:r>
              <a:rPr lang="es-AR" sz="1800" dirty="0" smtClean="0">
                <a:solidFill>
                  <a:schemeClr val="tx1"/>
                </a:solidFill>
                <a:latin typeface="Arial" pitchFamily="34" charset="0"/>
                <a:cs typeface="Arial" pitchFamily="34" charset="0"/>
              </a:rPr>
              <a:t>Ver  </a:t>
            </a:r>
            <a:r>
              <a:rPr lang="es-AR" sz="1600" dirty="0" smtClean="0">
                <a:latin typeface="Arial" pitchFamily="34" charset="0"/>
                <a:cs typeface="Arial" pitchFamily="34" charset="0"/>
                <a:hlinkClick r:id="rId3"/>
              </a:rPr>
              <a:t>https://manpages.ubuntu.com/manpages/questing/en/man3/wait.3posix.html</a:t>
            </a:r>
            <a:endParaRPr lang="es-AR" sz="1800" dirty="0" smtClean="0">
              <a:latin typeface="Arial" pitchFamily="34" charset="0"/>
              <a:cs typeface="Arial" pitchFamily="34" charset="0"/>
            </a:endParaRPr>
          </a:p>
          <a:p>
            <a:pPr marL="177800" indent="-177800" algn="l">
              <a:spcBef>
                <a:spcPts val="600"/>
              </a:spcBef>
            </a:pPr>
            <a:r>
              <a:rPr lang="es-AR" sz="1800" b="1" dirty="0" err="1" smtClean="0">
                <a:solidFill>
                  <a:srgbClr val="C00000"/>
                </a:solidFill>
                <a:latin typeface="Arial" pitchFamily="34" charset="0"/>
                <a:cs typeface="Arial" pitchFamily="34" charset="0"/>
              </a:rPr>
              <a:t>waitpid</a:t>
            </a:r>
            <a:r>
              <a:rPr lang="es-AR" sz="1800" b="1" dirty="0" smtClean="0">
                <a:solidFill>
                  <a:srgbClr val="C00000"/>
                </a:solidFill>
                <a:latin typeface="Arial" pitchFamily="34" charset="0"/>
                <a:cs typeface="Arial" pitchFamily="34" charset="0"/>
              </a:rPr>
              <a:t>()</a:t>
            </a:r>
          </a:p>
          <a:p>
            <a:pPr marL="177800" indent="-177800" algn="l">
              <a:spcBef>
                <a:spcPts val="600"/>
              </a:spcBef>
            </a:pPr>
            <a:r>
              <a:rPr lang="es-AR" sz="1800" dirty="0" smtClean="0">
                <a:solidFill>
                  <a:schemeClr val="tx1"/>
                </a:solidFill>
                <a:latin typeface="Arial" pitchFamily="34" charset="0"/>
                <a:cs typeface="Arial" pitchFamily="34" charset="0"/>
              </a:rPr>
              <a:t>Suspende  la ejecución actual del proceso en curso hasta que un proceso hijo, especificado en el argumento </a:t>
            </a:r>
            <a:r>
              <a:rPr lang="es-AR" sz="1800" dirty="0" err="1" smtClean="0">
                <a:solidFill>
                  <a:schemeClr val="tx1"/>
                </a:solidFill>
                <a:latin typeface="Arial" pitchFamily="34" charset="0"/>
                <a:cs typeface="Arial" pitchFamily="34" charset="0"/>
              </a:rPr>
              <a:t>pid</a:t>
            </a:r>
            <a:r>
              <a:rPr lang="es-AR" sz="1800" dirty="0" smtClean="0">
                <a:solidFill>
                  <a:schemeClr val="tx1"/>
                </a:solidFill>
                <a:latin typeface="Arial" pitchFamily="34" charset="0"/>
                <a:cs typeface="Arial" pitchFamily="34" charset="0"/>
              </a:rPr>
              <a:t> ha terminado, o hasta que se produce una señal cuya acción es terminar con el proceso actual. Por defecto, </a:t>
            </a:r>
            <a:r>
              <a:rPr lang="es-AR" sz="1800" dirty="0" err="1" smtClean="0">
                <a:solidFill>
                  <a:schemeClr val="tx1"/>
                </a:solidFill>
                <a:latin typeface="Arial" pitchFamily="34" charset="0"/>
                <a:cs typeface="Arial" pitchFamily="34" charset="0"/>
              </a:rPr>
              <a:t>waitpid</a:t>
            </a:r>
            <a:r>
              <a:rPr lang="es-AR" sz="1800" dirty="0" smtClean="0">
                <a:solidFill>
                  <a:schemeClr val="tx1"/>
                </a:solidFill>
                <a:latin typeface="Arial" pitchFamily="34" charset="0"/>
                <a:cs typeface="Arial" pitchFamily="34" charset="0"/>
              </a:rPr>
              <a:t> espera sólo por la </a:t>
            </a:r>
            <a:r>
              <a:rPr lang="es-AR" sz="1800" dirty="0" err="1" smtClean="0">
                <a:solidFill>
                  <a:schemeClr val="tx1"/>
                </a:solidFill>
                <a:latin typeface="Arial" pitchFamily="34" charset="0"/>
                <a:cs typeface="Arial" pitchFamily="34" charset="0"/>
              </a:rPr>
              <a:t>finalizaciónde</a:t>
            </a:r>
            <a:r>
              <a:rPr lang="es-AR" sz="1800" dirty="0" smtClean="0">
                <a:solidFill>
                  <a:schemeClr val="tx1"/>
                </a:solidFill>
                <a:latin typeface="Arial" pitchFamily="34" charset="0"/>
                <a:cs typeface="Arial" pitchFamily="34" charset="0"/>
              </a:rPr>
              <a:t> los hijos, pero este comportamiento es modificable mediante el parámetro </a:t>
            </a:r>
            <a:r>
              <a:rPr lang="es-AR" sz="1800" dirty="0" err="1" smtClean="0">
                <a:solidFill>
                  <a:schemeClr val="tx1"/>
                </a:solidFill>
                <a:latin typeface="Arial" pitchFamily="34" charset="0"/>
                <a:cs typeface="Arial" pitchFamily="34" charset="0"/>
              </a:rPr>
              <a:t>options</a:t>
            </a:r>
            <a:r>
              <a:rPr lang="es-AR" sz="1800" dirty="0" smtClean="0">
                <a:solidFill>
                  <a:schemeClr val="tx1"/>
                </a:solidFill>
                <a:latin typeface="Arial" pitchFamily="34" charset="0"/>
                <a:cs typeface="Arial" pitchFamily="34" charset="0"/>
              </a:rPr>
              <a:t>.</a:t>
            </a:r>
          </a:p>
          <a:p>
            <a:pPr marL="177800" indent="-177800" algn="l">
              <a:spcBef>
                <a:spcPts val="600"/>
              </a:spcBef>
            </a:pPr>
            <a:r>
              <a:rPr lang="es-AR" sz="1800" dirty="0" smtClean="0">
                <a:solidFill>
                  <a:schemeClr val="tx1"/>
                </a:solidFill>
                <a:latin typeface="Arial" pitchFamily="34" charset="0"/>
                <a:cs typeface="Arial" pitchFamily="34" charset="0"/>
              </a:rPr>
              <a:t>Sintaxis:  </a:t>
            </a:r>
            <a:r>
              <a:rPr lang="es-AR" sz="1800" dirty="0" err="1" smtClean="0">
                <a:solidFill>
                  <a:schemeClr val="tx1"/>
                </a:solidFill>
                <a:latin typeface="Arial" pitchFamily="34" charset="0"/>
                <a:cs typeface="Arial" pitchFamily="34" charset="0"/>
              </a:rPr>
              <a:t>pid_t</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waitpid</a:t>
            </a:r>
            <a:r>
              <a:rPr lang="es-AR" sz="1800" dirty="0" smtClean="0">
                <a:solidFill>
                  <a:schemeClr val="tx1"/>
                </a:solidFill>
                <a:latin typeface="Arial" pitchFamily="34" charset="0"/>
                <a:cs typeface="Arial" pitchFamily="34" charset="0"/>
              </a:rPr>
              <a:t>(</a:t>
            </a:r>
            <a:r>
              <a:rPr lang="es-AR" sz="1800" dirty="0" err="1" smtClean="0">
                <a:solidFill>
                  <a:schemeClr val="tx1"/>
                </a:solidFill>
                <a:latin typeface="Arial" pitchFamily="34" charset="0"/>
                <a:cs typeface="Arial" pitchFamily="34" charset="0"/>
              </a:rPr>
              <a:t>pid_t</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pid</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int</a:t>
            </a:r>
            <a:r>
              <a:rPr lang="es-AR" sz="1800" dirty="0" smtClean="0">
                <a:solidFill>
                  <a:schemeClr val="tx1"/>
                </a:solidFill>
                <a:latin typeface="Arial" pitchFamily="34" charset="0"/>
                <a:cs typeface="Arial" pitchFamily="34" charset="0"/>
              </a:rPr>
              <a:t> status, </a:t>
            </a:r>
            <a:r>
              <a:rPr lang="es-AR" sz="1800" dirty="0" err="1" smtClean="0">
                <a:solidFill>
                  <a:schemeClr val="tx1"/>
                </a:solidFill>
                <a:latin typeface="Arial" pitchFamily="34" charset="0"/>
                <a:cs typeface="Arial" pitchFamily="34" charset="0"/>
              </a:rPr>
              <a:t>int</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options</a:t>
            </a:r>
            <a:r>
              <a:rPr lang="es-AR" sz="1800" dirty="0" smtClean="0">
                <a:solidFill>
                  <a:schemeClr val="tx1"/>
                </a:solidFill>
                <a:latin typeface="Arial" pitchFamily="34" charset="0"/>
                <a:cs typeface="Arial" pitchFamily="34" charset="0"/>
              </a:rPr>
              <a:t>)</a:t>
            </a:r>
          </a:p>
          <a:p>
            <a:pPr marL="177800" indent="-177800" algn="l">
              <a:spcBef>
                <a:spcPts val="600"/>
              </a:spcBef>
            </a:pPr>
            <a:r>
              <a:rPr lang="es-AR" sz="1800" u="sng" dirty="0" err="1" smtClean="0">
                <a:solidFill>
                  <a:schemeClr val="tx1"/>
                </a:solidFill>
                <a:latin typeface="Arial" pitchFamily="34" charset="0"/>
                <a:cs typeface="Arial" pitchFamily="34" charset="0"/>
              </a:rPr>
              <a:t>pid</a:t>
            </a:r>
            <a:r>
              <a:rPr lang="es-AR" sz="1800" u="sng" dirty="0" smtClean="0">
                <a:solidFill>
                  <a:schemeClr val="tx1"/>
                </a:solidFill>
                <a:latin typeface="Arial" pitchFamily="34" charset="0"/>
                <a:cs typeface="Arial" pitchFamily="34" charset="0"/>
              </a:rPr>
              <a:t> puede ser:</a:t>
            </a:r>
          </a:p>
          <a:p>
            <a:pPr marL="177800" indent="-177800" algn="l">
              <a:spcBef>
                <a:spcPts val="600"/>
              </a:spcBef>
            </a:pPr>
            <a:r>
              <a:rPr lang="es-AR" sz="1600" dirty="0" smtClean="0">
                <a:solidFill>
                  <a:schemeClr val="tx1"/>
                </a:solidFill>
                <a:latin typeface="Arial" pitchFamily="34" charset="0"/>
                <a:cs typeface="Arial" pitchFamily="34" charset="0"/>
              </a:rPr>
              <a:t>&lt; -1 Espera a que cualquier proceso hijo cuyo ID del proceso es igual al valor absoluto de </a:t>
            </a:r>
            <a:r>
              <a:rPr lang="es-AR" sz="1600" dirty="0" err="1" smtClean="0">
                <a:solidFill>
                  <a:schemeClr val="tx1"/>
                </a:solidFill>
                <a:latin typeface="Arial" pitchFamily="34" charset="0"/>
                <a:cs typeface="Arial" pitchFamily="34" charset="0"/>
              </a:rPr>
              <a:t>pid</a:t>
            </a:r>
            <a:r>
              <a:rPr lang="es-AR" sz="1600" dirty="0" smtClean="0">
                <a:solidFill>
                  <a:schemeClr val="tx1"/>
                </a:solidFill>
                <a:latin typeface="Arial" pitchFamily="34" charset="0"/>
                <a:cs typeface="Arial" pitchFamily="34" charset="0"/>
              </a:rPr>
              <a:t>.</a:t>
            </a:r>
          </a:p>
          <a:p>
            <a:pPr marL="177800" indent="-177800" algn="l">
              <a:spcBef>
                <a:spcPts val="600"/>
              </a:spcBef>
            </a:pPr>
            <a:r>
              <a:rPr lang="es-AR" sz="1600" dirty="0" smtClean="0">
                <a:solidFill>
                  <a:schemeClr val="tx1"/>
                </a:solidFill>
                <a:latin typeface="Arial" pitchFamily="34" charset="0"/>
                <a:cs typeface="Arial" pitchFamily="34" charset="0"/>
              </a:rPr>
              <a:t>-1 Espera por cualquier proceso hijo; este es el mismo comportamiento que tiene </a:t>
            </a:r>
            <a:r>
              <a:rPr lang="es-AR" sz="1600" dirty="0" err="1" smtClean="0">
                <a:solidFill>
                  <a:schemeClr val="tx1"/>
                </a:solidFill>
                <a:latin typeface="Arial" pitchFamily="34" charset="0"/>
                <a:cs typeface="Arial" pitchFamily="34" charset="0"/>
              </a:rPr>
              <a:t>wait</a:t>
            </a:r>
            <a:r>
              <a:rPr lang="es-AR" sz="1600" dirty="0" smtClean="0">
                <a:solidFill>
                  <a:schemeClr val="tx1"/>
                </a:solidFill>
                <a:latin typeface="Arial" pitchFamily="34" charset="0"/>
                <a:cs typeface="Arial" pitchFamily="34" charset="0"/>
              </a:rPr>
              <a:t>.</a:t>
            </a:r>
          </a:p>
          <a:p>
            <a:pPr marL="177800" indent="-177800" algn="l">
              <a:spcBef>
                <a:spcPts val="600"/>
              </a:spcBef>
            </a:pPr>
            <a:r>
              <a:rPr lang="es-AR" sz="1600" dirty="0" smtClean="0">
                <a:solidFill>
                  <a:schemeClr val="tx1"/>
                </a:solidFill>
                <a:latin typeface="Arial" pitchFamily="34" charset="0"/>
                <a:cs typeface="Arial" pitchFamily="34" charset="0"/>
              </a:rPr>
              <a:t>0 Espera por cualquier proceso hijo cuyo ID es igual al del proceso padre.</a:t>
            </a:r>
          </a:p>
          <a:p>
            <a:pPr marL="177800" indent="-177800" algn="l">
              <a:spcBef>
                <a:spcPts val="600"/>
              </a:spcBef>
            </a:pPr>
            <a:r>
              <a:rPr lang="es-AR" sz="1600" dirty="0" smtClean="0">
                <a:solidFill>
                  <a:schemeClr val="tx1"/>
                </a:solidFill>
                <a:latin typeface="Arial" pitchFamily="34" charset="0"/>
                <a:cs typeface="Arial" pitchFamily="34" charset="0"/>
              </a:rPr>
              <a:t>&gt; 0 Espera por el proceso hijo cuyo ID es igual al valor de </a:t>
            </a:r>
            <a:r>
              <a:rPr lang="es-AR" sz="1600" dirty="0" err="1" smtClean="0">
                <a:solidFill>
                  <a:schemeClr val="tx1"/>
                </a:solidFill>
                <a:latin typeface="Arial" pitchFamily="34" charset="0"/>
                <a:cs typeface="Arial" pitchFamily="34" charset="0"/>
              </a:rPr>
              <a:t>pid</a:t>
            </a:r>
            <a:r>
              <a:rPr lang="es-AR" sz="1600" dirty="0" smtClean="0">
                <a:solidFill>
                  <a:schemeClr val="tx1"/>
                </a:solidFill>
                <a:latin typeface="Arial" pitchFamily="34" charset="0"/>
                <a:cs typeface="Arial" pitchFamily="34" charset="0"/>
              </a:rPr>
              <a:t> (por un proceso determinado).</a:t>
            </a:r>
            <a:endParaRPr lang="es-AR" sz="1800" dirty="0" smtClean="0">
              <a:solidFill>
                <a:schemeClr val="tx1"/>
              </a:solidFill>
              <a:latin typeface="Arial" pitchFamily="34" charset="0"/>
              <a:cs typeface="Arial" pitchFamily="34" charset="0"/>
            </a:endParaRP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noProof="0" dirty="0" smtClean="0">
                <a:solidFill>
                  <a:schemeClr val="tx1"/>
                </a:solidFill>
                <a:latin typeface="+mj-lt"/>
                <a:ea typeface="+mj-ea"/>
                <a:cs typeface="+mj-cs"/>
              </a:rPr>
              <a:t>Creación de Procesos</a:t>
            </a:r>
            <a:endParaRPr kumimoji="0" lang="es-AR" sz="4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13" name="12 CuadroTexto"/>
          <p:cNvSpPr txBox="1"/>
          <p:nvPr/>
        </p:nvSpPr>
        <p:spPr>
          <a:xfrm>
            <a:off x="9144000" y="1193800"/>
            <a:ext cx="5565061" cy="9941183"/>
          </a:xfrm>
          <a:prstGeom prst="rect">
            <a:avLst/>
          </a:prstGeom>
          <a:noFill/>
        </p:spPr>
        <p:txBody>
          <a:bodyPr wrap="square" rtlCol="0">
            <a:spAutoFit/>
          </a:bodyPr>
          <a:lstStyle/>
          <a:p>
            <a:pPr algn="l">
              <a:spcBef>
                <a:spcPts val="600"/>
              </a:spcBef>
            </a:pPr>
            <a:r>
              <a:rPr lang="es-AR" sz="1200" b="1" dirty="0" err="1" smtClean="0">
                <a:solidFill>
                  <a:schemeClr val="tx1"/>
                </a:solidFill>
                <a:latin typeface="Arial" pitchFamily="34" charset="0"/>
                <a:cs typeface="Arial" pitchFamily="34" charset="0"/>
              </a:rPr>
              <a:t>Waitpid</a:t>
            </a:r>
            <a:r>
              <a:rPr lang="es-AR" sz="1200" b="1" dirty="0" smtClean="0">
                <a:solidFill>
                  <a:schemeClr val="tx1"/>
                </a:solidFill>
                <a:latin typeface="Arial" pitchFamily="34" charset="0"/>
                <a:cs typeface="Arial" pitchFamily="34" charset="0"/>
              </a:rPr>
              <a:t> ()</a:t>
            </a:r>
          </a:p>
          <a:p>
            <a:pPr algn="l">
              <a:spcBef>
                <a:spcPts val="600"/>
              </a:spcBef>
            </a:pPr>
            <a:endParaRPr lang="es-AR" sz="1200" b="1" dirty="0" smtClean="0">
              <a:solidFill>
                <a:schemeClr val="tx1"/>
              </a:solidFill>
              <a:latin typeface="Arial" pitchFamily="34" charset="0"/>
              <a:cs typeface="Arial" pitchFamily="34" charset="0"/>
            </a:endParaRPr>
          </a:p>
          <a:p>
            <a:pPr algn="l">
              <a:spcBef>
                <a:spcPts val="600"/>
              </a:spcBef>
            </a:pPr>
            <a:r>
              <a:rPr lang="es-AR" sz="1200" b="1" dirty="0" smtClean="0">
                <a:solidFill>
                  <a:schemeClr val="tx1"/>
                </a:solidFill>
                <a:latin typeface="Arial" pitchFamily="34" charset="0"/>
                <a:cs typeface="Arial" pitchFamily="34" charset="0"/>
              </a:rPr>
              <a:t>Opciones:</a:t>
            </a:r>
          </a:p>
          <a:p>
            <a:pPr algn="l">
              <a:spcBef>
                <a:spcPts val="600"/>
              </a:spcBef>
            </a:pPr>
            <a:r>
              <a:rPr lang="es-AR" sz="1200" b="1" dirty="0" smtClean="0">
                <a:solidFill>
                  <a:schemeClr val="tx1"/>
                </a:solidFill>
                <a:latin typeface="Arial" pitchFamily="34" charset="0"/>
                <a:cs typeface="Arial" pitchFamily="34" charset="0"/>
              </a:rPr>
              <a:t>WNOHANG: Vuelve inmediatamente si ningún hijo ha terminado.</a:t>
            </a:r>
          </a:p>
          <a:p>
            <a:pPr algn="l">
              <a:spcBef>
                <a:spcPts val="600"/>
              </a:spcBef>
            </a:pPr>
            <a:r>
              <a:rPr lang="es-AR" sz="1200" b="1" dirty="0" smtClean="0">
                <a:solidFill>
                  <a:schemeClr val="tx1"/>
                </a:solidFill>
                <a:latin typeface="Arial" pitchFamily="34" charset="0"/>
                <a:cs typeface="Arial" pitchFamily="34" charset="0"/>
              </a:rPr>
              <a:t>WUNTRACED: El padre obtiene información adicional si el hijo recibe alguna de las señales</a:t>
            </a:r>
          </a:p>
          <a:p>
            <a:pPr algn="l">
              <a:spcBef>
                <a:spcPts val="600"/>
              </a:spcBef>
            </a:pPr>
            <a:r>
              <a:rPr lang="es-AR" sz="1200" b="1" dirty="0" smtClean="0">
                <a:solidFill>
                  <a:schemeClr val="tx1"/>
                </a:solidFill>
                <a:latin typeface="Arial" pitchFamily="34" charset="0"/>
                <a:cs typeface="Arial" pitchFamily="34" charset="0"/>
              </a:rPr>
              <a:t>SIGINT, SIGTTOU, SIGSSTP, SIGTSTOP.</a:t>
            </a:r>
          </a:p>
          <a:p>
            <a:pPr algn="l">
              <a:spcBef>
                <a:spcPts val="600"/>
              </a:spcBef>
            </a:pPr>
            <a:endParaRPr lang="es-AR" sz="1200" b="1" dirty="0" smtClean="0">
              <a:solidFill>
                <a:schemeClr val="tx1"/>
              </a:solidFill>
              <a:latin typeface="Arial" pitchFamily="34" charset="0"/>
              <a:cs typeface="Arial" pitchFamily="34" charset="0"/>
            </a:endParaRPr>
          </a:p>
          <a:p>
            <a:pPr algn="l">
              <a:spcBef>
                <a:spcPts val="600"/>
              </a:spcBef>
            </a:pPr>
            <a:endParaRPr lang="es-AR" sz="1200" b="1" dirty="0" smtClean="0">
              <a:solidFill>
                <a:schemeClr val="tx1"/>
              </a:solidFill>
              <a:latin typeface="Arial" pitchFamily="34" charset="0"/>
              <a:cs typeface="Arial" pitchFamily="34" charset="0"/>
            </a:endParaRPr>
          </a:p>
          <a:p>
            <a:pPr algn="l">
              <a:spcBef>
                <a:spcPts val="600"/>
              </a:spcBef>
            </a:pPr>
            <a:r>
              <a:rPr lang="es-AR" sz="1200" b="1" dirty="0" smtClean="0">
                <a:solidFill>
                  <a:schemeClr val="tx1"/>
                </a:solidFill>
                <a:latin typeface="Arial" pitchFamily="34" charset="0"/>
                <a:cs typeface="Arial" pitchFamily="34" charset="0"/>
              </a:rPr>
              <a:t>Status:</a:t>
            </a:r>
          </a:p>
          <a:p>
            <a:pPr algn="l">
              <a:spcBef>
                <a:spcPts val="600"/>
              </a:spcBef>
            </a:pPr>
            <a:endParaRPr lang="es-AR" sz="1200" b="1" dirty="0" smtClean="0">
              <a:solidFill>
                <a:schemeClr val="tx1"/>
              </a:solidFill>
              <a:latin typeface="Arial" pitchFamily="34" charset="0"/>
              <a:cs typeface="Arial" pitchFamily="34" charset="0"/>
            </a:endParaRPr>
          </a:p>
          <a:p>
            <a:pPr algn="l">
              <a:spcBef>
                <a:spcPts val="600"/>
              </a:spcBef>
            </a:pPr>
            <a:r>
              <a:rPr lang="es-AR" sz="1200" b="1" dirty="0" smtClean="0">
                <a:solidFill>
                  <a:schemeClr val="tx1"/>
                </a:solidFill>
                <a:latin typeface="Arial" pitchFamily="34" charset="0"/>
                <a:cs typeface="Arial" pitchFamily="34" charset="0"/>
              </a:rPr>
              <a:t>Si status no es NULL, </a:t>
            </a:r>
            <a:r>
              <a:rPr lang="es-AR" sz="1200" b="1" dirty="0" err="1" smtClean="0">
                <a:solidFill>
                  <a:schemeClr val="tx1"/>
                </a:solidFill>
                <a:latin typeface="Arial" pitchFamily="34" charset="0"/>
                <a:cs typeface="Arial" pitchFamily="34" charset="0"/>
              </a:rPr>
              <a:t>waitpid</a:t>
            </a:r>
            <a:r>
              <a:rPr lang="es-AR" sz="1200" b="1" dirty="0" smtClean="0">
                <a:solidFill>
                  <a:schemeClr val="tx1"/>
                </a:solidFill>
                <a:latin typeface="Arial" pitchFamily="34" charset="0"/>
                <a:cs typeface="Arial" pitchFamily="34" charset="0"/>
              </a:rPr>
              <a:t> almacena la información de estado en la memoria apuntada por</a:t>
            </a:r>
          </a:p>
          <a:p>
            <a:pPr algn="l">
              <a:spcBef>
                <a:spcPts val="600"/>
              </a:spcBef>
            </a:pPr>
            <a:r>
              <a:rPr lang="es-AR" sz="1200" b="1" dirty="0" smtClean="0">
                <a:solidFill>
                  <a:schemeClr val="tx1"/>
                </a:solidFill>
                <a:latin typeface="Arial" pitchFamily="34" charset="0"/>
                <a:cs typeface="Arial" pitchFamily="34" charset="0"/>
              </a:rPr>
              <a:t>status.</a:t>
            </a:r>
          </a:p>
          <a:p>
            <a:pPr algn="l">
              <a:spcBef>
                <a:spcPts val="600"/>
              </a:spcBef>
            </a:pPr>
            <a:endParaRPr lang="es-AR" sz="1200" b="1" dirty="0" smtClean="0">
              <a:solidFill>
                <a:schemeClr val="tx1"/>
              </a:solidFill>
              <a:latin typeface="Arial" pitchFamily="34" charset="0"/>
              <a:cs typeface="Arial" pitchFamily="34" charset="0"/>
            </a:endParaRPr>
          </a:p>
          <a:p>
            <a:pPr algn="l">
              <a:spcBef>
                <a:spcPts val="600"/>
              </a:spcBef>
            </a:pPr>
            <a:r>
              <a:rPr lang="es-AR" sz="1200" b="1" dirty="0" smtClean="0">
                <a:solidFill>
                  <a:schemeClr val="tx1"/>
                </a:solidFill>
                <a:latin typeface="Arial" pitchFamily="34" charset="0"/>
                <a:cs typeface="Arial" pitchFamily="34" charset="0"/>
              </a:rPr>
              <a:t>WIFEXITED(status): Es distinto de cero si el hijo terminó normalmente.</a:t>
            </a:r>
          </a:p>
          <a:p>
            <a:pPr algn="l">
              <a:spcBef>
                <a:spcPts val="600"/>
              </a:spcBef>
            </a:pPr>
            <a:r>
              <a:rPr lang="es-AR" sz="1200" b="1" dirty="0" smtClean="0">
                <a:solidFill>
                  <a:schemeClr val="tx1"/>
                </a:solidFill>
                <a:latin typeface="Arial" pitchFamily="34" charset="0"/>
                <a:cs typeface="Arial" pitchFamily="34" charset="0"/>
              </a:rPr>
              <a:t>WEXITSTATUS(status): Permite obtener el valor devuelto por el proceso hijo en la llamada </a:t>
            </a:r>
            <a:r>
              <a:rPr lang="es-AR" sz="1200" b="1" dirty="0" err="1" smtClean="0">
                <a:solidFill>
                  <a:schemeClr val="tx1"/>
                </a:solidFill>
                <a:latin typeface="Arial" pitchFamily="34" charset="0"/>
                <a:cs typeface="Arial" pitchFamily="34" charset="0"/>
              </a:rPr>
              <a:t>exit</a:t>
            </a:r>
            <a:r>
              <a:rPr lang="es-AR" sz="1200" b="1" dirty="0" smtClean="0">
                <a:solidFill>
                  <a:schemeClr val="tx1"/>
                </a:solidFill>
                <a:latin typeface="Arial" pitchFamily="34" charset="0"/>
                <a:cs typeface="Arial" pitchFamily="34" charset="0"/>
              </a:rPr>
              <a:t> o el valor devuelto en la función </a:t>
            </a:r>
            <a:r>
              <a:rPr lang="es-AR" sz="1200" b="1" dirty="0" err="1" smtClean="0">
                <a:solidFill>
                  <a:schemeClr val="tx1"/>
                </a:solidFill>
                <a:latin typeface="Arial" pitchFamily="34" charset="0"/>
                <a:cs typeface="Arial" pitchFamily="34" charset="0"/>
              </a:rPr>
              <a:t>main</a:t>
            </a:r>
            <a:r>
              <a:rPr lang="es-AR" sz="1200" b="1" dirty="0" smtClean="0">
                <a:solidFill>
                  <a:schemeClr val="tx1"/>
                </a:solidFill>
                <a:latin typeface="Arial" pitchFamily="34" charset="0"/>
                <a:cs typeface="Arial" pitchFamily="34" charset="0"/>
              </a:rPr>
              <a:t>, utilizando la sentencia </a:t>
            </a:r>
            <a:r>
              <a:rPr lang="es-AR" sz="1200" b="1" dirty="0" err="1" smtClean="0">
                <a:solidFill>
                  <a:schemeClr val="tx1"/>
                </a:solidFill>
                <a:latin typeface="Arial" pitchFamily="34" charset="0"/>
                <a:cs typeface="Arial" pitchFamily="34" charset="0"/>
              </a:rPr>
              <a:t>return</a:t>
            </a:r>
            <a:r>
              <a:rPr lang="es-AR" sz="1200" b="1" dirty="0" smtClean="0">
                <a:solidFill>
                  <a:schemeClr val="tx1"/>
                </a:solidFill>
                <a:latin typeface="Arial" pitchFamily="34" charset="0"/>
                <a:cs typeface="Arial" pitchFamily="34" charset="0"/>
              </a:rPr>
              <a:t>. Esta macro solamente puede ser tenida en cuenta si WIFEXITED devuelve un valor distinto de cero.</a:t>
            </a:r>
          </a:p>
          <a:p>
            <a:pPr algn="l">
              <a:spcBef>
                <a:spcPts val="600"/>
              </a:spcBef>
            </a:pPr>
            <a:r>
              <a:rPr lang="es-AR" sz="1200" b="1" dirty="0" smtClean="0">
                <a:solidFill>
                  <a:schemeClr val="tx1"/>
                </a:solidFill>
                <a:latin typeface="Arial" pitchFamily="34" charset="0"/>
                <a:cs typeface="Arial" pitchFamily="34" charset="0"/>
              </a:rPr>
              <a:t>WIFSIGNALED(status): Devuelve true si el proceso hijo terminó a causa de una señal no capturada.</a:t>
            </a:r>
          </a:p>
          <a:p>
            <a:pPr algn="l">
              <a:spcBef>
                <a:spcPts val="600"/>
              </a:spcBef>
            </a:pPr>
            <a:r>
              <a:rPr lang="es-AR" sz="1200" b="1" dirty="0" smtClean="0">
                <a:solidFill>
                  <a:schemeClr val="tx1"/>
                </a:solidFill>
                <a:latin typeface="Arial" pitchFamily="34" charset="0"/>
                <a:cs typeface="Arial" pitchFamily="34" charset="0"/>
              </a:rPr>
              <a:t>WTERMSIG(status): Devuelve el número de la señal que provocó la muerte del proceso hijo. Esta macro sólo puede ser evaluada si WIFSIGNALED devolvió un valor distinto de cero.</a:t>
            </a:r>
          </a:p>
          <a:p>
            <a:pPr algn="l">
              <a:spcBef>
                <a:spcPts val="600"/>
              </a:spcBef>
            </a:pPr>
            <a:r>
              <a:rPr lang="es-AR" sz="1200" b="1" dirty="0" smtClean="0">
                <a:solidFill>
                  <a:schemeClr val="tx1"/>
                </a:solidFill>
                <a:latin typeface="Arial" pitchFamily="34" charset="0"/>
                <a:cs typeface="Arial" pitchFamily="34" charset="0"/>
              </a:rPr>
              <a:t>WIFSTOPPED(status): Devuelve true si el proceso hijo que provocó el retorno está actualmente parado; esto solamente es posible si la llamada se hizo usando WUNTRACED o cuando el hijo está siendo rastreado.</a:t>
            </a:r>
          </a:p>
          <a:p>
            <a:pPr algn="l">
              <a:spcBef>
                <a:spcPts val="600"/>
              </a:spcBef>
            </a:pPr>
            <a:r>
              <a:rPr lang="es-AR" sz="1200" b="1" dirty="0" smtClean="0">
                <a:solidFill>
                  <a:schemeClr val="tx1"/>
                </a:solidFill>
                <a:latin typeface="Arial" pitchFamily="34" charset="0"/>
                <a:cs typeface="Arial" pitchFamily="34" charset="0"/>
              </a:rPr>
              <a:t>WSTOPSIG(status): Devuelve el número de la señal que provocó la parada del hijo. Esta macro solamente puede ser evaluada si WIFSTOPPED devolvió un valor distinto de cero.</a:t>
            </a:r>
          </a:p>
          <a:p>
            <a:pPr algn="l">
              <a:spcBef>
                <a:spcPts val="600"/>
              </a:spcBef>
            </a:pPr>
            <a:endParaRPr lang="es-AR" sz="1200" b="1" dirty="0" smtClean="0">
              <a:solidFill>
                <a:schemeClr val="tx1"/>
              </a:solidFill>
              <a:latin typeface="Arial" pitchFamily="34" charset="0"/>
              <a:cs typeface="Arial" pitchFamily="34" charset="0"/>
            </a:endParaRPr>
          </a:p>
          <a:p>
            <a:pPr algn="l">
              <a:spcBef>
                <a:spcPts val="600"/>
              </a:spcBef>
            </a:pPr>
            <a:r>
              <a:rPr lang="es-AR" sz="1200" b="1" dirty="0" smtClean="0">
                <a:solidFill>
                  <a:schemeClr val="tx1"/>
                </a:solidFill>
                <a:latin typeface="Arial" pitchFamily="34" charset="0"/>
                <a:cs typeface="Arial" pitchFamily="34" charset="0"/>
              </a:rPr>
              <a:t>Lo que devuelve </a:t>
            </a:r>
            <a:r>
              <a:rPr lang="es-AR" sz="1200" b="1" dirty="0" err="1" smtClean="0">
                <a:solidFill>
                  <a:schemeClr val="tx1"/>
                </a:solidFill>
                <a:latin typeface="Arial" pitchFamily="34" charset="0"/>
                <a:cs typeface="Arial" pitchFamily="34" charset="0"/>
              </a:rPr>
              <a:t>waitpid</a:t>
            </a:r>
            <a:r>
              <a:rPr lang="es-AR" sz="1200" b="1" dirty="0" smtClean="0">
                <a:solidFill>
                  <a:schemeClr val="tx1"/>
                </a:solidFill>
                <a:latin typeface="Arial" pitchFamily="34" charset="0"/>
                <a:cs typeface="Arial" pitchFamily="34" charset="0"/>
              </a:rPr>
              <a:t> es el ID del proceso hijo que termina o 0 en caso de no terminar ningún</a:t>
            </a:r>
          </a:p>
          <a:p>
            <a:pPr algn="l">
              <a:spcBef>
                <a:spcPts val="600"/>
              </a:spcBef>
            </a:pPr>
            <a:r>
              <a:rPr lang="es-AR" sz="1200" b="1" dirty="0" smtClean="0">
                <a:solidFill>
                  <a:schemeClr val="tx1"/>
                </a:solidFill>
                <a:latin typeface="Arial" pitchFamily="34" charset="0"/>
                <a:cs typeface="Arial" pitchFamily="34" charset="0"/>
              </a:rPr>
              <a:t>proceso, -1 en caso de error.</a:t>
            </a:r>
            <a:r>
              <a:rPr lang="es-AR" sz="1200" dirty="0" smtClean="0">
                <a:solidFill>
                  <a:schemeClr val="tx1"/>
                </a:solidFill>
                <a:latin typeface="Arial" pitchFamily="34" charset="0"/>
                <a:cs typeface="Arial" pitchFamily="34" charset="0"/>
              </a:rPr>
              <a:t>.</a:t>
            </a:r>
          </a:p>
          <a:p>
            <a:pPr marL="177800" indent="-177800" algn="l">
              <a:spcBef>
                <a:spcPts val="600"/>
              </a:spcBef>
            </a:pPr>
            <a:endParaRPr lang="es-AR" sz="1800" dirty="0" smtClean="0">
              <a:solidFill>
                <a:schemeClr val="tx1"/>
              </a:solidFill>
              <a:latin typeface="Arial" pitchFamily="34" charset="0"/>
              <a:cs typeface="Arial" pitchFamily="34" charset="0"/>
            </a:endParaRPr>
          </a:p>
          <a:p>
            <a:pPr marL="177800" indent="-177800" algn="l">
              <a:spcBef>
                <a:spcPts val="600"/>
              </a:spcBef>
            </a:pPr>
            <a:endParaRPr lang="es-AR" sz="1800" dirty="0" smtClean="0">
              <a:solidFill>
                <a:schemeClr val="tx1"/>
              </a:solidFill>
              <a:latin typeface="Arial" pitchFamily="34" charset="0"/>
              <a:cs typeface="Arial" pitchFamily="34" charset="0"/>
            </a:endParaRPr>
          </a:p>
          <a:p>
            <a:pPr marL="177800" indent="-177800" algn="l">
              <a:spcBef>
                <a:spcPts val="600"/>
              </a:spcBef>
            </a:pPr>
            <a:endParaRPr lang="es-AR" sz="1800" dirty="0" smtClean="0">
              <a:solidFill>
                <a:schemeClr val="tx1"/>
              </a:solidFill>
              <a:latin typeface="Arial" pitchFamily="34" charset="0"/>
              <a:cs typeface="Arial" pitchFamily="34" charset="0"/>
            </a:endParaRPr>
          </a:p>
          <a:p>
            <a:pPr marL="177800" indent="-177800" algn="l">
              <a:spcBef>
                <a:spcPts val="600"/>
              </a:spcBef>
            </a:pPr>
            <a:endParaRPr lang="es-AR" sz="1800" dirty="0" smtClean="0">
              <a:solidFill>
                <a:schemeClr val="tx1"/>
              </a:solidFill>
              <a:latin typeface="Arial" pitchFamily="34" charset="0"/>
              <a:cs typeface="Arial" pitchFamily="34" charset="0"/>
            </a:endParaRPr>
          </a:p>
          <a:p>
            <a:pPr marL="177800" indent="-177800" algn="l">
              <a:spcBef>
                <a:spcPts val="600"/>
              </a:spcBef>
            </a:pPr>
            <a:endParaRPr lang="es-AR" sz="1800" dirty="0" smtClean="0">
              <a:solidFill>
                <a:schemeClr val="tx1"/>
              </a:solidFill>
              <a:latin typeface="Arial" pitchFamily="34" charset="0"/>
              <a:cs typeface="Arial" pitchFamily="34" charset="0"/>
            </a:endParaRPr>
          </a:p>
        </p:txBody>
      </p:sp>
      <p:grpSp>
        <p:nvGrpSpPr>
          <p:cNvPr id="17" name="16 Grupo"/>
          <p:cNvGrpSpPr/>
          <p:nvPr/>
        </p:nvGrpSpPr>
        <p:grpSpPr>
          <a:xfrm>
            <a:off x="1209845" y="1492013"/>
            <a:ext cx="7934155" cy="5676900"/>
            <a:chOff x="549445" y="1028700"/>
            <a:chExt cx="7934155" cy="5676900"/>
          </a:xfrm>
        </p:grpSpPr>
        <p:pic>
          <p:nvPicPr>
            <p:cNvPr id="4101" name="Picture 5"/>
            <p:cNvPicPr>
              <a:picLocks noChangeAspect="1" noChangeArrowheads="1"/>
            </p:cNvPicPr>
            <p:nvPr/>
          </p:nvPicPr>
          <p:blipFill>
            <a:blip r:embed="rId4" cstate="print"/>
            <a:srcRect/>
            <a:stretch>
              <a:fillRect/>
            </a:stretch>
          </p:blipFill>
          <p:spPr bwMode="auto">
            <a:xfrm>
              <a:off x="549445" y="1028700"/>
              <a:ext cx="7057855" cy="4921293"/>
            </a:xfrm>
            <a:prstGeom prst="rect">
              <a:avLst/>
            </a:prstGeom>
            <a:ln>
              <a:noFill/>
            </a:ln>
            <a:effectLst>
              <a:outerShdw blurRad="292100" dist="139700" dir="2700000" algn="tl" rotWithShape="0">
                <a:srgbClr val="333333">
                  <a:alpha val="65000"/>
                </a:srgbClr>
              </a:outerShdw>
            </a:effectLst>
          </p:spPr>
        </p:pic>
        <p:pic>
          <p:nvPicPr>
            <p:cNvPr id="4099" name="Picture 3"/>
            <p:cNvPicPr>
              <a:picLocks noChangeAspect="1" noChangeArrowheads="1"/>
            </p:cNvPicPr>
            <p:nvPr/>
          </p:nvPicPr>
          <p:blipFill>
            <a:blip r:embed="rId5" cstate="print"/>
            <a:srcRect/>
            <a:stretch>
              <a:fillRect/>
            </a:stretch>
          </p:blipFill>
          <p:spPr bwMode="auto">
            <a:xfrm>
              <a:off x="3740150" y="5276850"/>
              <a:ext cx="4743450" cy="1428750"/>
            </a:xfrm>
            <a:prstGeom prst="rect">
              <a:avLst/>
            </a:prstGeom>
            <a:ln>
              <a:noFill/>
            </a:ln>
            <a:effectLst>
              <a:outerShdw blurRad="292100" dist="139700" dir="2700000" algn="tl" rotWithShape="0">
                <a:srgbClr val="333333">
                  <a:alpha val="65000"/>
                </a:srgbClr>
              </a:outerShdw>
            </a:effec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strVal val="#ppt_w*2.5"/>
                                          </p:val>
                                        </p:tav>
                                        <p:tav tm="100000">
                                          <p:val>
                                            <p:strVal val="#ppt_w"/>
                                          </p:val>
                                        </p:tav>
                                      </p:tavLst>
                                    </p:anim>
                                    <p:anim calcmode="lin" valueType="num">
                                      <p:cBhvr>
                                        <p:cTn id="8" dur="500" fill="hold"/>
                                        <p:tgtEl>
                                          <p:spTgt spid="17"/>
                                        </p:tgtEl>
                                        <p:attrNameLst>
                                          <p:attrName>ppt_h</p:attrName>
                                        </p:attrNameLst>
                                      </p:cBhvr>
                                      <p:tavLst>
                                        <p:tav tm="0">
                                          <p:val>
                                            <p:strVal val="#ppt_h*0.01"/>
                                          </p:val>
                                        </p:tav>
                                        <p:tav tm="100000">
                                          <p:val>
                                            <p:strVal val="#ppt_h"/>
                                          </p:val>
                                        </p:tav>
                                      </p:tavLst>
                                    </p:anim>
                                    <p:anim calcmode="lin" valueType="num">
                                      <p:cBhvr>
                                        <p:cTn id="9" dur="500" fill="hold"/>
                                        <p:tgtEl>
                                          <p:spTgt spid="17"/>
                                        </p:tgtEl>
                                        <p:attrNameLst>
                                          <p:attrName>ppt_x</p:attrName>
                                        </p:attrNameLst>
                                      </p:cBhvr>
                                      <p:tavLst>
                                        <p:tav tm="0">
                                          <p:val>
                                            <p:strVal val="#ppt_x"/>
                                          </p:val>
                                        </p:tav>
                                        <p:tav tm="100000">
                                          <p:val>
                                            <p:strVal val="#ppt_x"/>
                                          </p:val>
                                        </p:tav>
                                      </p:tavLst>
                                    </p:anim>
                                    <p:anim calcmode="lin" valueType="num">
                                      <p:cBhvr>
                                        <p:cTn id="10" dur="500" fill="hold"/>
                                        <p:tgtEl>
                                          <p:spTgt spid="17"/>
                                        </p:tgtEl>
                                        <p:attrNameLst>
                                          <p:attrName>ppt_y</p:attrName>
                                        </p:attrNameLst>
                                      </p:cBhvr>
                                      <p:tavLst>
                                        <p:tav tm="0">
                                          <p:val>
                                            <p:strVal val="#ppt_h+1"/>
                                          </p:val>
                                        </p:tav>
                                        <p:tav tm="100000">
                                          <p:val>
                                            <p:strVal val="#ppt_y"/>
                                          </p:val>
                                        </p:tav>
                                      </p:tavLst>
                                    </p:anim>
                                    <p:animEffect transition="in" filter="fade">
                                      <p:cBhvr>
                                        <p:cTn id="1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18</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530939" y="1206500"/>
            <a:ext cx="8054261" cy="4031873"/>
          </a:xfrm>
          <a:prstGeom prst="rect">
            <a:avLst/>
          </a:prstGeom>
          <a:noFill/>
        </p:spPr>
        <p:txBody>
          <a:bodyPr wrap="square" rtlCol="0">
            <a:spAutoFit/>
          </a:bodyPr>
          <a:lstStyle/>
          <a:p>
            <a:pPr algn="l">
              <a:spcBef>
                <a:spcPts val="600"/>
              </a:spcBef>
            </a:pPr>
            <a:r>
              <a:rPr lang="es-AR" sz="1800" b="1" dirty="0" err="1" smtClean="0">
                <a:solidFill>
                  <a:srgbClr val="C00000"/>
                </a:solidFill>
                <a:latin typeface="Arial" pitchFamily="34" charset="0"/>
                <a:cs typeface="Arial" pitchFamily="34" charset="0"/>
              </a:rPr>
              <a:t>exec</a:t>
            </a:r>
            <a:r>
              <a:rPr lang="es-AR" sz="1800" b="1" dirty="0" smtClean="0">
                <a:solidFill>
                  <a:srgbClr val="C00000"/>
                </a:solidFill>
                <a:latin typeface="Arial" pitchFamily="34" charset="0"/>
                <a:cs typeface="Arial" pitchFamily="34" charset="0"/>
              </a:rPr>
              <a:t>()</a:t>
            </a:r>
          </a:p>
          <a:p>
            <a:pPr algn="l">
              <a:spcBef>
                <a:spcPts val="600"/>
              </a:spcBef>
            </a:pPr>
            <a:r>
              <a:rPr lang="es-AR" sz="1800" dirty="0" smtClean="0">
                <a:solidFill>
                  <a:schemeClr val="tx1"/>
                </a:solidFill>
                <a:latin typeface="Arial" pitchFamily="34" charset="0"/>
                <a:cs typeface="Arial" pitchFamily="34" charset="0"/>
              </a:rPr>
              <a:t>La  familia  de funciones </a:t>
            </a:r>
            <a:r>
              <a:rPr lang="es-AR" sz="1800" dirty="0" err="1" smtClean="0">
                <a:solidFill>
                  <a:schemeClr val="tx1"/>
                </a:solidFill>
                <a:latin typeface="Arial" pitchFamily="34" charset="0"/>
                <a:cs typeface="Arial" pitchFamily="34" charset="0"/>
              </a:rPr>
              <a:t>exec</a:t>
            </a:r>
            <a:r>
              <a:rPr lang="es-AR" sz="1800" dirty="0" smtClean="0">
                <a:solidFill>
                  <a:schemeClr val="tx1"/>
                </a:solidFill>
                <a:latin typeface="Arial" pitchFamily="34" charset="0"/>
                <a:cs typeface="Arial" pitchFamily="34" charset="0"/>
              </a:rPr>
              <a:t> reemplaza la imagen del proceso en curso con una nueva. La </a:t>
            </a:r>
            <a:r>
              <a:rPr lang="es-AR" sz="1800" dirty="0" err="1" smtClean="0">
                <a:solidFill>
                  <a:schemeClr val="tx1"/>
                </a:solidFill>
                <a:latin typeface="Arial" pitchFamily="34" charset="0"/>
                <a:cs typeface="Arial" pitchFamily="34" charset="0"/>
              </a:rPr>
              <a:t>funcion</a:t>
            </a:r>
            <a:r>
              <a:rPr lang="es-AR" sz="1800" dirty="0" smtClean="0">
                <a:solidFill>
                  <a:schemeClr val="tx1"/>
                </a:solidFill>
                <a:latin typeface="Arial" pitchFamily="34" charset="0"/>
                <a:cs typeface="Arial" pitchFamily="34" charset="0"/>
              </a:rPr>
              <a:t> no  regresa  en  caso  de  éxito,  y el código, datos, </a:t>
            </a:r>
            <a:r>
              <a:rPr lang="es-AR" sz="1800" dirty="0" err="1" smtClean="0">
                <a:solidFill>
                  <a:schemeClr val="tx1"/>
                </a:solidFill>
                <a:latin typeface="Arial" pitchFamily="34" charset="0"/>
                <a:cs typeface="Arial" pitchFamily="34" charset="0"/>
              </a:rPr>
              <a:t>bss</a:t>
            </a:r>
            <a:r>
              <a:rPr lang="es-AR" sz="1800" dirty="0" smtClean="0">
                <a:solidFill>
                  <a:schemeClr val="tx1"/>
                </a:solidFill>
                <a:latin typeface="Arial" pitchFamily="34" charset="0"/>
                <a:cs typeface="Arial" pitchFamily="34" charset="0"/>
              </a:rPr>
              <a:t> y la pila del proceso invocador se reescriben  con  los  correspondientes  del  programa  cargado.</a:t>
            </a:r>
          </a:p>
          <a:p>
            <a:pPr algn="l">
              <a:spcBef>
                <a:spcPts val="600"/>
              </a:spcBef>
            </a:pPr>
            <a:r>
              <a:rPr lang="es-AR" sz="1800" dirty="0" smtClean="0">
                <a:solidFill>
                  <a:schemeClr val="tx1"/>
                </a:solidFill>
                <a:latin typeface="Arial" pitchFamily="34" charset="0"/>
                <a:cs typeface="Arial" pitchFamily="34" charset="0"/>
              </a:rPr>
              <a:t>Las funciones </a:t>
            </a:r>
            <a:r>
              <a:rPr lang="es-AR" sz="1800" dirty="0" err="1" smtClean="0">
                <a:solidFill>
                  <a:schemeClr val="tx1"/>
                </a:solidFill>
                <a:latin typeface="Arial" pitchFamily="34" charset="0"/>
                <a:cs typeface="Arial" pitchFamily="34" charset="0"/>
              </a:rPr>
              <a:t>execl</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execlp</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execle</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execv</a:t>
            </a:r>
            <a:r>
              <a:rPr lang="es-AR" sz="1800" dirty="0" smtClean="0">
                <a:solidFill>
                  <a:schemeClr val="tx1"/>
                </a:solidFill>
                <a:latin typeface="Arial" pitchFamily="34" charset="0"/>
                <a:cs typeface="Arial" pitchFamily="34" charset="0"/>
              </a:rPr>
              <a:t>, </a:t>
            </a:r>
            <a:r>
              <a:rPr lang="es-AR" sz="1800" dirty="0" err="1" smtClean="0">
                <a:solidFill>
                  <a:schemeClr val="tx1"/>
                </a:solidFill>
                <a:latin typeface="Arial" pitchFamily="34" charset="0"/>
                <a:cs typeface="Arial" pitchFamily="34" charset="0"/>
              </a:rPr>
              <a:t>execvp</a:t>
            </a:r>
            <a:r>
              <a:rPr lang="es-AR" sz="1800" dirty="0" smtClean="0">
                <a:solidFill>
                  <a:schemeClr val="tx1"/>
                </a:solidFill>
                <a:latin typeface="Arial" pitchFamily="34" charset="0"/>
                <a:cs typeface="Arial" pitchFamily="34" charset="0"/>
              </a:rPr>
              <a:t>  son interfaces de </a:t>
            </a:r>
            <a:r>
              <a:rPr lang="es-AR" sz="1800" dirty="0" err="1" smtClean="0">
                <a:solidFill>
                  <a:schemeClr val="tx1"/>
                </a:solidFill>
                <a:latin typeface="Arial" pitchFamily="34" charset="0"/>
                <a:cs typeface="Arial" pitchFamily="34" charset="0"/>
              </a:rPr>
              <a:t>exeve</a:t>
            </a:r>
            <a:endParaRPr lang="es-AR" sz="1800" dirty="0" smtClean="0">
              <a:solidFill>
                <a:schemeClr val="tx1"/>
              </a:solidFill>
              <a:latin typeface="Arial" pitchFamily="34" charset="0"/>
              <a:cs typeface="Arial" pitchFamily="34" charset="0"/>
            </a:endParaRPr>
          </a:p>
          <a:p>
            <a:pPr algn="l">
              <a:spcBef>
                <a:spcPts val="600"/>
              </a:spcBef>
            </a:pPr>
            <a:r>
              <a:rPr lang="es-AR" sz="1800" dirty="0" smtClean="0">
                <a:solidFill>
                  <a:schemeClr val="tx1"/>
                </a:solidFill>
                <a:latin typeface="Arial" pitchFamily="34" charset="0"/>
                <a:cs typeface="Arial" pitchFamily="34" charset="0"/>
                <a:hlinkClick r:id="rId3"/>
              </a:rPr>
              <a:t>http://manpages.ubuntu.com/manpages/bionic/es/man3/exec.3.html</a:t>
            </a:r>
            <a:endParaRPr lang="es-AR" sz="1800" dirty="0" smtClean="0">
              <a:solidFill>
                <a:schemeClr val="tx1"/>
              </a:solidFill>
              <a:latin typeface="Arial" pitchFamily="34" charset="0"/>
              <a:cs typeface="Arial" pitchFamily="34" charset="0"/>
            </a:endParaRPr>
          </a:p>
          <a:p>
            <a:pPr marL="177800" indent="-177800" algn="l">
              <a:spcBef>
                <a:spcPts val="600"/>
              </a:spcBef>
            </a:pPr>
            <a:r>
              <a:rPr lang="de-DE" sz="1800" dirty="0" smtClean="0">
                <a:solidFill>
                  <a:schemeClr val="tx1"/>
                </a:solidFill>
                <a:latin typeface="Arial" pitchFamily="34" charset="0"/>
                <a:cs typeface="Arial" pitchFamily="34" charset="0"/>
              </a:rPr>
              <a:t>Ejemplo:</a:t>
            </a:r>
          </a:p>
          <a:p>
            <a:pPr marL="177800" indent="-177800" algn="l">
              <a:spcBef>
                <a:spcPts val="600"/>
              </a:spcBef>
            </a:pPr>
            <a:endParaRPr lang="es-AR" sz="1800" dirty="0" smtClean="0">
              <a:solidFill>
                <a:schemeClr val="tx1"/>
              </a:solidFill>
              <a:latin typeface="Arial" pitchFamily="34" charset="0"/>
              <a:cs typeface="Arial" pitchFamily="34" charset="0"/>
            </a:endParaRPr>
          </a:p>
          <a:p>
            <a:pPr marL="177800" indent="-177800" algn="l">
              <a:spcBef>
                <a:spcPts val="600"/>
              </a:spcBef>
            </a:pPr>
            <a:endParaRPr lang="es-AR" sz="1800" dirty="0" smtClean="0">
              <a:solidFill>
                <a:schemeClr val="tx1"/>
              </a:solidFill>
              <a:latin typeface="Arial" pitchFamily="34" charset="0"/>
              <a:cs typeface="Arial" pitchFamily="34" charset="0"/>
            </a:endParaRPr>
          </a:p>
          <a:p>
            <a:pPr marL="177800" indent="-177800" algn="l">
              <a:spcBef>
                <a:spcPts val="600"/>
              </a:spcBef>
            </a:pPr>
            <a:endParaRPr lang="es-AR" sz="1800" dirty="0" smtClean="0">
              <a:solidFill>
                <a:schemeClr val="tx1"/>
              </a:solidFill>
              <a:latin typeface="Arial" pitchFamily="34" charset="0"/>
              <a:cs typeface="Arial" pitchFamily="34" charset="0"/>
            </a:endParaRPr>
          </a:p>
          <a:p>
            <a:pPr marL="177800" indent="-177800" algn="l">
              <a:spcBef>
                <a:spcPts val="600"/>
              </a:spcBef>
            </a:pPr>
            <a:endParaRPr lang="es-AR" sz="1800" dirty="0" smtClean="0">
              <a:solidFill>
                <a:schemeClr val="tx1"/>
              </a:solidFill>
              <a:latin typeface="Arial" pitchFamily="34" charset="0"/>
              <a:cs typeface="Arial" pitchFamily="34" charset="0"/>
            </a:endParaRP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noProof="0" dirty="0" smtClean="0">
                <a:solidFill>
                  <a:schemeClr val="tx1"/>
                </a:solidFill>
                <a:latin typeface="+mj-lt"/>
                <a:ea typeface="+mj-ea"/>
                <a:cs typeface="+mj-cs"/>
              </a:rPr>
              <a:t>Creación de Procesos</a:t>
            </a:r>
            <a:endParaRPr kumimoji="0" lang="es-AR" sz="4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7" name="6 CuadroTexto"/>
          <p:cNvSpPr txBox="1"/>
          <p:nvPr/>
        </p:nvSpPr>
        <p:spPr>
          <a:xfrm>
            <a:off x="9144000" y="1892300"/>
            <a:ext cx="4578340" cy="1200329"/>
          </a:xfrm>
          <a:prstGeom prst="rect">
            <a:avLst/>
          </a:prstGeom>
          <a:noFill/>
        </p:spPr>
        <p:txBody>
          <a:bodyPr wrap="square" rtlCol="0">
            <a:spAutoFit/>
          </a:bodyPr>
          <a:lstStyle/>
          <a:p>
            <a:endParaRPr lang="es-AR" sz="1200" dirty="0" smtClean="0">
              <a:hlinkClick r:id="rId4"/>
            </a:endParaRPr>
          </a:p>
          <a:p>
            <a:endParaRPr lang="es-AR" sz="1200" dirty="0" smtClean="0">
              <a:hlinkClick r:id="rId4"/>
            </a:endParaRPr>
          </a:p>
          <a:p>
            <a:r>
              <a:rPr lang="es-AR" sz="1200" dirty="0" smtClean="0">
                <a:hlinkClick r:id="rId3"/>
              </a:rPr>
              <a:t>http://manpages.ubuntu.com/manpages/bionic/es/man3/exec.3.html </a:t>
            </a:r>
            <a:endParaRPr lang="es-AR" sz="1200" dirty="0" smtClean="0"/>
          </a:p>
          <a:p>
            <a:endParaRPr lang="es-AR" sz="1200" dirty="0" smtClean="0">
              <a:hlinkClick r:id="rId4"/>
            </a:endParaRPr>
          </a:p>
          <a:p>
            <a:r>
              <a:rPr lang="es-AR" sz="1200" dirty="0" smtClean="0">
                <a:hlinkClick r:id="rId4"/>
              </a:rPr>
              <a:t>http://manpages.ubuntu.com/manpages/bionic/es/man2/execve.2.html</a:t>
            </a:r>
            <a:endParaRPr lang="es-AR" sz="1200" dirty="0" smtClean="0"/>
          </a:p>
          <a:p>
            <a:endParaRPr lang="es-AR" sz="1200" dirty="0"/>
          </a:p>
        </p:txBody>
      </p:sp>
      <p:pic>
        <p:nvPicPr>
          <p:cNvPr id="5123" name="Picture 3"/>
          <p:cNvPicPr>
            <a:picLocks noChangeAspect="1" noChangeArrowheads="1"/>
          </p:cNvPicPr>
          <p:nvPr/>
        </p:nvPicPr>
        <p:blipFill>
          <a:blip r:embed="rId5" cstate="print"/>
          <a:srcRect t="4611"/>
          <a:stretch>
            <a:fillRect/>
          </a:stretch>
        </p:blipFill>
        <p:spPr bwMode="auto">
          <a:xfrm>
            <a:off x="288925" y="3797300"/>
            <a:ext cx="5437548" cy="1576389"/>
          </a:xfrm>
          <a:prstGeom prst="rect">
            <a:avLst/>
          </a:prstGeom>
          <a:ln>
            <a:noFill/>
          </a:ln>
          <a:effectLst>
            <a:outerShdw blurRad="292100" dist="139700" dir="2700000" algn="tl" rotWithShape="0">
              <a:srgbClr val="333333">
                <a:alpha val="65000"/>
              </a:srgbClr>
            </a:outerShdw>
          </a:effectLst>
        </p:spPr>
      </p:pic>
      <p:pic>
        <p:nvPicPr>
          <p:cNvPr id="5122" name="Picture 2"/>
          <p:cNvPicPr>
            <a:picLocks noChangeAspect="1" noChangeArrowheads="1"/>
          </p:cNvPicPr>
          <p:nvPr/>
        </p:nvPicPr>
        <p:blipFill>
          <a:blip r:embed="rId6" cstate="print"/>
          <a:srcRect/>
          <a:stretch>
            <a:fillRect/>
          </a:stretch>
        </p:blipFill>
        <p:spPr bwMode="auto">
          <a:xfrm>
            <a:off x="4816475" y="4933708"/>
            <a:ext cx="3946525" cy="182269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5 Marcador de número de diapositiva"/>
          <p:cNvSpPr>
            <a:spLocks noGrp="1"/>
          </p:cNvSpPr>
          <p:nvPr>
            <p:ph type="sldNum" sz="quarter" idx="12"/>
          </p:nvPr>
        </p:nvSpPr>
        <p:spPr>
          <a:noFill/>
        </p:spPr>
        <p:txBody>
          <a:bodyPr/>
          <a:lstStyle/>
          <a:p>
            <a:fld id="{EF4BE0D1-EF9D-4427-9D86-4EA6CF494904}" type="slidenum">
              <a:rPr lang="en-US"/>
              <a:pPr/>
              <a:t>19</a:t>
            </a:fld>
            <a:endParaRPr lang="en-US"/>
          </a:p>
        </p:txBody>
      </p:sp>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530939" y="1206500"/>
            <a:ext cx="8054261" cy="2416046"/>
          </a:xfrm>
          <a:prstGeom prst="rect">
            <a:avLst/>
          </a:prstGeom>
          <a:noFill/>
        </p:spPr>
        <p:txBody>
          <a:bodyPr wrap="square" rtlCol="0">
            <a:spAutoFit/>
          </a:bodyPr>
          <a:lstStyle/>
          <a:p>
            <a:pPr algn="l">
              <a:spcBef>
                <a:spcPts val="600"/>
              </a:spcBef>
            </a:pPr>
            <a:r>
              <a:rPr lang="es-AR" sz="1800" b="1" dirty="0" smtClean="0">
                <a:solidFill>
                  <a:srgbClr val="C00000"/>
                </a:solidFill>
                <a:latin typeface="Arial" pitchFamily="34" charset="0"/>
                <a:cs typeface="Arial" pitchFamily="34" charset="0"/>
              </a:rPr>
              <a:t>Observaciones:</a:t>
            </a:r>
          </a:p>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Un proceso puede tener 1 o más hijos.</a:t>
            </a:r>
          </a:p>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Un proceso puede tener un único padre.</a:t>
            </a:r>
          </a:p>
          <a:p>
            <a:pPr marL="177800" indent="-177800" algn="l">
              <a:spcBef>
                <a:spcPts val="600"/>
              </a:spcBef>
              <a:buFont typeface="Arial" pitchFamily="34" charset="0"/>
              <a:buChar char="•"/>
            </a:pPr>
            <a:r>
              <a:rPr lang="es-AR" sz="1800" dirty="0" smtClean="0">
                <a:solidFill>
                  <a:schemeClr val="tx1"/>
                </a:solidFill>
                <a:latin typeface="Arial" pitchFamily="34" charset="0"/>
                <a:cs typeface="Arial" pitchFamily="34" charset="0"/>
              </a:rPr>
              <a:t>En Linux, el </a:t>
            </a:r>
            <a:r>
              <a:rPr lang="es-AR" sz="1800" dirty="0" err="1" smtClean="0">
                <a:solidFill>
                  <a:schemeClr val="tx1"/>
                </a:solidFill>
                <a:latin typeface="Arial" pitchFamily="34" charset="0"/>
                <a:cs typeface="Arial" pitchFamily="34" charset="0"/>
              </a:rPr>
              <a:t>init</a:t>
            </a:r>
            <a:r>
              <a:rPr lang="es-AR" sz="1800" dirty="0" smtClean="0">
                <a:solidFill>
                  <a:schemeClr val="tx1"/>
                </a:solidFill>
                <a:latin typeface="Arial" pitchFamily="34" charset="0"/>
                <a:cs typeface="Arial" pitchFamily="34" charset="0"/>
              </a:rPr>
              <a:t> tiene código 0, no tiene padre y es padre de todos los procesos .</a:t>
            </a:r>
          </a:p>
          <a:p>
            <a:pPr algn="l">
              <a:spcBef>
                <a:spcPts val="600"/>
              </a:spcBef>
            </a:pPr>
            <a:endParaRPr lang="es-AR" sz="1800" dirty="0" smtClean="0">
              <a:solidFill>
                <a:schemeClr val="tx1"/>
              </a:solidFill>
              <a:latin typeface="Arial" pitchFamily="34" charset="0"/>
              <a:cs typeface="Arial" pitchFamily="34" charset="0"/>
            </a:endParaRPr>
          </a:p>
          <a:p>
            <a:pPr algn="l">
              <a:spcBef>
                <a:spcPts val="600"/>
              </a:spcBef>
            </a:pPr>
            <a:endParaRPr lang="es-AR" sz="1800" dirty="0" smtClean="0">
              <a:solidFill>
                <a:schemeClr val="tx1"/>
              </a:solidFill>
              <a:latin typeface="Arial" pitchFamily="34" charset="0"/>
              <a:cs typeface="Arial" pitchFamily="34" charset="0"/>
            </a:endParaRP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noProof="0" dirty="0" smtClean="0">
                <a:solidFill>
                  <a:schemeClr val="tx1"/>
                </a:solidFill>
                <a:latin typeface="+mj-lt"/>
                <a:ea typeface="+mj-ea"/>
                <a:cs typeface="+mj-cs"/>
              </a:rPr>
              <a:t>Creación de Procesos</a:t>
            </a:r>
            <a:endParaRPr kumimoji="0" lang="es-AR" sz="4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7" name="1 Título"/>
          <p:cNvSpPr txBox="1">
            <a:spLocks/>
          </p:cNvSpPr>
          <p:nvPr/>
        </p:nvSpPr>
        <p:spPr>
          <a:xfrm>
            <a:off x="406400" y="4821238"/>
            <a:ext cx="8229600" cy="833726"/>
          </a:xfrm>
          <a:prstGeom prst="rect">
            <a:avLst/>
          </a:prstGeom>
        </p:spPr>
        <p:txBody>
          <a:bodyPr vert="horz" lIns="91440" tIns="45720" rIns="91440" bIns="45720" rtlCol="0" anchor="ctr">
            <a:normAutofit fontScale="85000" lnSpcReduction="10000"/>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noProof="0" dirty="0" smtClean="0">
                <a:solidFill>
                  <a:schemeClr val="tx1"/>
                </a:solidFill>
                <a:latin typeface="+mj-lt"/>
                <a:ea typeface="+mj-ea"/>
                <a:cs typeface="+mj-cs"/>
              </a:rPr>
              <a:t>Próximo tema: </a:t>
            </a:r>
            <a:r>
              <a:rPr lang="es-AR" sz="4400" dirty="0" smtClean="0">
                <a:solidFill>
                  <a:schemeClr val="tx1"/>
                </a:solidFill>
                <a:latin typeface="+mj-lt"/>
                <a:ea typeface="+mj-ea"/>
                <a:cs typeface="+mj-cs"/>
              </a:rPr>
              <a:t>Planificación </a:t>
            </a:r>
            <a:r>
              <a:rPr lang="es-AR" sz="4400" smtClean="0">
                <a:solidFill>
                  <a:schemeClr val="tx1"/>
                </a:solidFill>
                <a:latin typeface="+mj-lt"/>
                <a:ea typeface="+mj-ea"/>
                <a:cs typeface="+mj-cs"/>
              </a:rPr>
              <a:t>de procesos</a:t>
            </a:r>
            <a:endParaRPr kumimoji="0" lang="es-AR" sz="4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14767</TotalTime>
  <Words>2190</Words>
  <Application>Microsoft Office PowerPoint</Application>
  <PresentationFormat>Presentación en pantalla (4:3)</PresentationFormat>
  <Paragraphs>229</Paragraphs>
  <Slides>19</Slides>
  <Notes>19</Notes>
  <HiddenSlides>0</HiddenSlides>
  <MMClips>0</MMClips>
  <ScaleCrop>false</ScaleCrop>
  <HeadingPairs>
    <vt:vector size="4" baseType="variant">
      <vt:variant>
        <vt:lpstr>Tema</vt:lpstr>
      </vt:variant>
      <vt:variant>
        <vt:i4>1</vt:i4>
      </vt:variant>
      <vt:variant>
        <vt:lpstr>Títulos de diapositiva</vt:lpstr>
      </vt:variant>
      <vt:variant>
        <vt:i4>19</vt:i4>
      </vt:variant>
    </vt:vector>
  </HeadingPairs>
  <TitlesOfParts>
    <vt:vector size="20" baseType="lpstr">
      <vt:lpstr>Tema de Office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vector>
  </TitlesOfParts>
  <Company>East Texas Data Service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Steve  Armstrong</dc:creator>
  <cp:lastModifiedBy>Ryzen</cp:lastModifiedBy>
  <cp:revision>990</cp:revision>
  <cp:lastPrinted>2001-01-13T18:08:51Z</cp:lastPrinted>
  <dcterms:created xsi:type="dcterms:W3CDTF">2000-11-18T17:50:49Z</dcterms:created>
  <dcterms:modified xsi:type="dcterms:W3CDTF">2026-03-02T23:00:33Z</dcterms:modified>
</cp:coreProperties>
</file>