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4"/>
  </p:notesMasterIdLst>
  <p:handoutMasterIdLst>
    <p:handoutMasterId r:id="rId25"/>
  </p:handoutMasterIdLst>
  <p:sldIdLst>
    <p:sldId id="365" r:id="rId2"/>
    <p:sldId id="360" r:id="rId3"/>
    <p:sldId id="372" r:id="rId4"/>
    <p:sldId id="361" r:id="rId5"/>
    <p:sldId id="373" r:id="rId6"/>
    <p:sldId id="363" r:id="rId7"/>
    <p:sldId id="374" r:id="rId8"/>
    <p:sldId id="382" r:id="rId9"/>
    <p:sldId id="375" r:id="rId10"/>
    <p:sldId id="383" r:id="rId11"/>
    <p:sldId id="376" r:id="rId12"/>
    <p:sldId id="377" r:id="rId13"/>
    <p:sldId id="378" r:id="rId14"/>
    <p:sldId id="385" r:id="rId15"/>
    <p:sldId id="384" r:id="rId16"/>
    <p:sldId id="386" r:id="rId17"/>
    <p:sldId id="387" r:id="rId18"/>
    <p:sldId id="379" r:id="rId19"/>
    <p:sldId id="380" r:id="rId20"/>
    <p:sldId id="381" r:id="rId21"/>
    <p:sldId id="388" r:id="rId22"/>
    <p:sldId id="389" r:id="rId23"/>
  </p:sldIdLst>
  <p:sldSz cx="9144000" cy="6858000" type="screen4x3"/>
  <p:notesSz cx="6754813" cy="9866313"/>
  <p:defaultTextStyle>
    <a:defPPr>
      <a:defRPr lang="en-US"/>
    </a:defPPr>
    <a:lvl1pPr algn="ctr" rtl="0" fontAlgn="base">
      <a:spcBef>
        <a:spcPct val="0"/>
      </a:spcBef>
      <a:spcAft>
        <a:spcPct val="0"/>
      </a:spcAft>
      <a:defRPr sz="2400" kern="1200">
        <a:solidFill>
          <a:srgbClr val="C0C0C0"/>
        </a:solidFill>
        <a:latin typeface="Times New Roman" pitchFamily="18" charset="0"/>
        <a:ea typeface="+mn-ea"/>
        <a:cs typeface="+mn-cs"/>
      </a:defRPr>
    </a:lvl1pPr>
    <a:lvl2pPr marL="457200" algn="ctr" rtl="0" fontAlgn="base">
      <a:spcBef>
        <a:spcPct val="0"/>
      </a:spcBef>
      <a:spcAft>
        <a:spcPct val="0"/>
      </a:spcAft>
      <a:defRPr sz="2400" kern="1200">
        <a:solidFill>
          <a:srgbClr val="C0C0C0"/>
        </a:solidFill>
        <a:latin typeface="Times New Roman" pitchFamily="18" charset="0"/>
        <a:ea typeface="+mn-ea"/>
        <a:cs typeface="+mn-cs"/>
      </a:defRPr>
    </a:lvl2pPr>
    <a:lvl3pPr marL="914400" algn="ctr" rtl="0" fontAlgn="base">
      <a:spcBef>
        <a:spcPct val="0"/>
      </a:spcBef>
      <a:spcAft>
        <a:spcPct val="0"/>
      </a:spcAft>
      <a:defRPr sz="2400" kern="1200">
        <a:solidFill>
          <a:srgbClr val="C0C0C0"/>
        </a:solidFill>
        <a:latin typeface="Times New Roman" pitchFamily="18" charset="0"/>
        <a:ea typeface="+mn-ea"/>
        <a:cs typeface="+mn-cs"/>
      </a:defRPr>
    </a:lvl3pPr>
    <a:lvl4pPr marL="1371600" algn="ctr" rtl="0" fontAlgn="base">
      <a:spcBef>
        <a:spcPct val="0"/>
      </a:spcBef>
      <a:spcAft>
        <a:spcPct val="0"/>
      </a:spcAft>
      <a:defRPr sz="2400" kern="1200">
        <a:solidFill>
          <a:srgbClr val="C0C0C0"/>
        </a:solidFill>
        <a:latin typeface="Times New Roman" pitchFamily="18" charset="0"/>
        <a:ea typeface="+mn-ea"/>
        <a:cs typeface="+mn-cs"/>
      </a:defRPr>
    </a:lvl4pPr>
    <a:lvl5pPr marL="1828800" algn="ctr" rtl="0" fontAlgn="base">
      <a:spcBef>
        <a:spcPct val="0"/>
      </a:spcBef>
      <a:spcAft>
        <a:spcPct val="0"/>
      </a:spcAft>
      <a:defRPr sz="2400" kern="1200">
        <a:solidFill>
          <a:srgbClr val="C0C0C0"/>
        </a:solidFill>
        <a:latin typeface="Times New Roman" pitchFamily="18" charset="0"/>
        <a:ea typeface="+mn-ea"/>
        <a:cs typeface="+mn-cs"/>
      </a:defRPr>
    </a:lvl5pPr>
    <a:lvl6pPr marL="2286000" algn="l" defTabSz="914400" rtl="0" eaLnBrk="1" latinLnBrk="0" hangingPunct="1">
      <a:defRPr sz="2400" kern="1200">
        <a:solidFill>
          <a:srgbClr val="C0C0C0"/>
        </a:solidFill>
        <a:latin typeface="Times New Roman" pitchFamily="18" charset="0"/>
        <a:ea typeface="+mn-ea"/>
        <a:cs typeface="+mn-cs"/>
      </a:defRPr>
    </a:lvl6pPr>
    <a:lvl7pPr marL="2743200" algn="l" defTabSz="914400" rtl="0" eaLnBrk="1" latinLnBrk="0" hangingPunct="1">
      <a:defRPr sz="2400" kern="1200">
        <a:solidFill>
          <a:srgbClr val="C0C0C0"/>
        </a:solidFill>
        <a:latin typeface="Times New Roman" pitchFamily="18" charset="0"/>
        <a:ea typeface="+mn-ea"/>
        <a:cs typeface="+mn-cs"/>
      </a:defRPr>
    </a:lvl7pPr>
    <a:lvl8pPr marL="3200400" algn="l" defTabSz="914400" rtl="0" eaLnBrk="1" latinLnBrk="0" hangingPunct="1">
      <a:defRPr sz="2400" kern="1200">
        <a:solidFill>
          <a:srgbClr val="C0C0C0"/>
        </a:solidFill>
        <a:latin typeface="Times New Roman" pitchFamily="18" charset="0"/>
        <a:ea typeface="+mn-ea"/>
        <a:cs typeface="+mn-cs"/>
      </a:defRPr>
    </a:lvl8pPr>
    <a:lvl9pPr marL="3657600" algn="l" defTabSz="914400" rtl="0" eaLnBrk="1" latinLnBrk="0" hangingPunct="1">
      <a:defRPr sz="2400" kern="1200">
        <a:solidFill>
          <a:srgbClr val="C0C0C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488">
          <p15:clr>
            <a:srgbClr val="A4A3A4"/>
          </p15:clr>
        </p15:guide>
        <p15:guide id="2" pos="2880">
          <p15:clr>
            <a:srgbClr val="A4A3A4"/>
          </p15:clr>
        </p15:guide>
      </p15:sldGuideLst>
    </p:ext>
    <p:ext uri="{2D200454-40CA-4A62-9FC3-DE9A4176ACB9}">
      <p15:notesGuideLst xmlns:p15="http://schemas.microsoft.com/office/powerpoint/2012/main">
        <p15:guide id="1" orient="horz" pos="3108">
          <p15:clr>
            <a:srgbClr val="A4A3A4"/>
          </p15:clr>
        </p15:guide>
        <p15:guide id="2" pos="2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ECB8"/>
    <a:srgbClr val="FF00FF"/>
    <a:srgbClr val="CC00CC"/>
    <a:srgbClr val="969696"/>
    <a:srgbClr val="B2B2B2"/>
    <a:srgbClr val="C0C0C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6797" autoAdjust="0"/>
    <p:restoredTop sz="95291" autoAdjust="0"/>
  </p:normalViewPr>
  <p:slideViewPr>
    <p:cSldViewPr snapToGrid="0">
      <p:cViewPr varScale="1">
        <p:scale>
          <a:sx n="82" d="100"/>
          <a:sy n="82" d="100"/>
        </p:scale>
        <p:origin x="893" y="48"/>
      </p:cViewPr>
      <p:guideLst>
        <p:guide orient="horz" pos="48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44"/>
    </p:cViewPr>
  </p:sorterViewPr>
  <p:notesViewPr>
    <p:cSldViewPr snapToGrid="0">
      <p:cViewPr>
        <p:scale>
          <a:sx n="100" d="100"/>
          <a:sy n="100" d="100"/>
        </p:scale>
        <p:origin x="-894" y="678"/>
      </p:cViewPr>
      <p:guideLst>
        <p:guide orient="horz" pos="3108"/>
        <p:guide pos="212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O A. DA SILVA CATELA" userId="c132390429d202d0" providerId="LiveId" clId="{79AC0902-E957-4842-8498-E785571E9761}"/>
    <pc:docChg chg="modSld">
      <pc:chgData name="JULIO A. DA SILVA CATELA" userId="c132390429d202d0" providerId="LiveId" clId="{79AC0902-E957-4842-8498-E785571E9761}" dt="2026-04-14T19:43:15.486" v="8" actId="1076"/>
      <pc:docMkLst>
        <pc:docMk/>
      </pc:docMkLst>
      <pc:sldChg chg="modSp mod">
        <pc:chgData name="JULIO A. DA SILVA CATELA" userId="c132390429d202d0" providerId="LiveId" clId="{79AC0902-E957-4842-8498-E785571E9761}" dt="2026-04-14T19:42:59.103" v="7" actId="1076"/>
        <pc:sldMkLst>
          <pc:docMk/>
          <pc:sldMk cId="0" sldId="361"/>
        </pc:sldMkLst>
        <pc:grpChg chg="mod">
          <ac:chgData name="JULIO A. DA SILVA CATELA" userId="c132390429d202d0" providerId="LiveId" clId="{79AC0902-E957-4842-8498-E785571E9761}" dt="2026-04-14T19:42:59.103" v="7" actId="1076"/>
          <ac:grpSpMkLst>
            <pc:docMk/>
            <pc:sldMk cId="0" sldId="361"/>
            <ac:grpSpMk id="71" creationId="{00000000-0000-0000-0000-000000000000}"/>
          </ac:grpSpMkLst>
        </pc:grpChg>
      </pc:sldChg>
      <pc:sldChg chg="modSp mod">
        <pc:chgData name="JULIO A. DA SILVA CATELA" userId="c132390429d202d0" providerId="LiveId" clId="{79AC0902-E957-4842-8498-E785571E9761}" dt="2026-04-14T19:42:42.688" v="6" actId="1076"/>
        <pc:sldMkLst>
          <pc:docMk/>
          <pc:sldMk cId="0" sldId="363"/>
        </pc:sldMkLst>
        <pc:grpChg chg="mod">
          <ac:chgData name="JULIO A. DA SILVA CATELA" userId="c132390429d202d0" providerId="LiveId" clId="{79AC0902-E957-4842-8498-E785571E9761}" dt="2026-04-14T19:42:42.688" v="6" actId="1076"/>
          <ac:grpSpMkLst>
            <pc:docMk/>
            <pc:sldMk cId="0" sldId="363"/>
            <ac:grpSpMk id="17" creationId="{00000000-0000-0000-0000-000000000000}"/>
          </ac:grpSpMkLst>
        </pc:grpChg>
      </pc:sldChg>
      <pc:sldChg chg="modSp mod">
        <pc:chgData name="JULIO A. DA SILVA CATELA" userId="c132390429d202d0" providerId="LiveId" clId="{79AC0902-E957-4842-8498-E785571E9761}" dt="2026-04-14T19:42:34.837" v="5" actId="1076"/>
        <pc:sldMkLst>
          <pc:docMk/>
          <pc:sldMk cId="0" sldId="374"/>
        </pc:sldMkLst>
        <pc:grpChg chg="mod">
          <ac:chgData name="JULIO A. DA SILVA CATELA" userId="c132390429d202d0" providerId="LiveId" clId="{79AC0902-E957-4842-8498-E785571E9761}" dt="2026-04-14T19:42:34.837" v="5" actId="1076"/>
          <ac:grpSpMkLst>
            <pc:docMk/>
            <pc:sldMk cId="0" sldId="374"/>
            <ac:grpSpMk id="20" creationId="{00000000-0000-0000-0000-000000000000}"/>
          </ac:grpSpMkLst>
        </pc:grpChg>
      </pc:sldChg>
      <pc:sldChg chg="modSp mod">
        <pc:chgData name="JULIO A. DA SILVA CATELA" userId="c132390429d202d0" providerId="LiveId" clId="{79AC0902-E957-4842-8498-E785571E9761}" dt="2026-04-14T19:42:06.095" v="2" actId="1038"/>
        <pc:sldMkLst>
          <pc:docMk/>
          <pc:sldMk cId="0" sldId="381"/>
        </pc:sldMkLst>
        <pc:picChg chg="mod">
          <ac:chgData name="JULIO A. DA SILVA CATELA" userId="c132390429d202d0" providerId="LiveId" clId="{79AC0902-E957-4842-8498-E785571E9761}" dt="2026-04-14T19:42:06.095" v="2" actId="1038"/>
          <ac:picMkLst>
            <pc:docMk/>
            <pc:sldMk cId="0" sldId="381"/>
            <ac:picMk id="3079" creationId="{00000000-0000-0000-0000-000000000000}"/>
          </ac:picMkLst>
        </pc:picChg>
      </pc:sldChg>
      <pc:sldChg chg="modSp mod">
        <pc:chgData name="JULIO A. DA SILVA CATELA" userId="c132390429d202d0" providerId="LiveId" clId="{79AC0902-E957-4842-8498-E785571E9761}" dt="2026-04-14T19:43:15.486" v="8" actId="1076"/>
        <pc:sldMkLst>
          <pc:docMk/>
          <pc:sldMk cId="0" sldId="389"/>
        </pc:sldMkLst>
        <pc:picChg chg="mod">
          <ac:chgData name="JULIO A. DA SILVA CATELA" userId="c132390429d202d0" providerId="LiveId" clId="{79AC0902-E957-4842-8498-E785571E9761}" dt="2026-04-14T19:43:15.486" v="8" actId="1076"/>
          <ac:picMkLst>
            <pc:docMk/>
            <pc:sldMk cId="0" sldId="389"/>
            <ac:picMk id="3"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defRPr>
            </a:lvl1pPr>
          </a:lstStyle>
          <a:p>
            <a:endParaRPr lang="es-ES"/>
          </a:p>
        </p:txBody>
      </p:sp>
      <p:sp>
        <p:nvSpPr>
          <p:cNvPr id="161795" name="Rectangle 3"/>
          <p:cNvSpPr>
            <a:spLocks noGrp="1" noChangeArrowheads="1"/>
          </p:cNvSpPr>
          <p:nvPr>
            <p:ph type="dt" sz="quarter" idx="1"/>
          </p:nvPr>
        </p:nvSpPr>
        <p:spPr bwMode="auto">
          <a:xfrm>
            <a:off x="3825875"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defRPr>
            </a:lvl1pPr>
          </a:lstStyle>
          <a:p>
            <a:endParaRPr lang="es-ES"/>
          </a:p>
        </p:txBody>
      </p:sp>
      <p:sp>
        <p:nvSpPr>
          <p:cNvPr id="161796" name="Rectangle 4"/>
          <p:cNvSpPr>
            <a:spLocks noGrp="1" noChangeArrowheads="1"/>
          </p:cNvSpPr>
          <p:nvPr>
            <p:ph type="ftr" sz="quarter" idx="2"/>
          </p:nvPr>
        </p:nvSpPr>
        <p:spPr bwMode="auto">
          <a:xfrm>
            <a:off x="0"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defRPr>
            </a:lvl1pPr>
          </a:lstStyle>
          <a:p>
            <a:endParaRPr lang="es-ES"/>
          </a:p>
        </p:txBody>
      </p:sp>
      <p:sp>
        <p:nvSpPr>
          <p:cNvPr id="161797" name="Rectangle 5"/>
          <p:cNvSpPr>
            <a:spLocks noGrp="1" noChangeArrowheads="1"/>
          </p:cNvSpPr>
          <p:nvPr>
            <p:ph type="sldNum" sz="quarter" idx="3"/>
          </p:nvPr>
        </p:nvSpPr>
        <p:spPr bwMode="auto">
          <a:xfrm>
            <a:off x="3825875" y="9371013"/>
            <a:ext cx="2927350" cy="493712"/>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defRPr>
            </a:lvl1pPr>
          </a:lstStyle>
          <a:p>
            <a:fld id="{9CE37C41-A159-4594-91F3-888775DD85B5}" type="slidenum">
              <a:rPr lang="es-ES"/>
              <a:pPr/>
              <a:t>‹Nº›</a:t>
            </a:fld>
            <a:endParaRPr lang="es-E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39" name="Rectangle 3"/>
          <p:cNvSpPr>
            <a:spLocks noGrp="1" noChangeArrowheads="1"/>
          </p:cNvSpPr>
          <p:nvPr>
            <p:ph type="dt" idx="1"/>
          </p:nvPr>
        </p:nvSpPr>
        <p:spPr bwMode="auto">
          <a:xfrm>
            <a:off x="3827463" y="0"/>
            <a:ext cx="2927350" cy="493713"/>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lvl1pPr algn="r" defTabSz="923925">
              <a:defRPr sz="1200">
                <a:solidFill>
                  <a:schemeClr val="tx1"/>
                </a:solidFill>
                <a:latin typeface="Helvetica" pitchFamily="2" charset="0"/>
              </a:defRPr>
            </a:lvl1pPr>
          </a:lstStyle>
          <a:p>
            <a:endParaRPr lang="es-AR"/>
          </a:p>
        </p:txBody>
      </p:sp>
      <p:sp>
        <p:nvSpPr>
          <p:cNvPr id="65540" name="Rectangle 4"/>
          <p:cNvSpPr>
            <a:spLocks noGrp="1" noRot="1" noChangeAspect="1" noChangeArrowheads="1" noTextEdit="1"/>
          </p:cNvSpPr>
          <p:nvPr>
            <p:ph type="sldImg" idx="2"/>
          </p:nvPr>
        </p:nvSpPr>
        <p:spPr bwMode="auto">
          <a:xfrm>
            <a:off x="911225" y="739775"/>
            <a:ext cx="4933950" cy="3700463"/>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901700" y="4687888"/>
            <a:ext cx="4951413" cy="4438650"/>
          </a:xfrm>
          <a:prstGeom prst="rect">
            <a:avLst/>
          </a:prstGeom>
          <a:noFill/>
          <a:ln w="9525">
            <a:noFill/>
            <a:miter lim="800000"/>
            <a:headEnd/>
            <a:tailEnd/>
          </a:ln>
          <a:effectLst/>
        </p:spPr>
        <p:txBody>
          <a:bodyPr vert="horz" wrap="square" lIns="92464" tIns="46232" rIns="92464" bIns="4623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p:cNvSpPr>
            <a:spLocks noGrp="1" noChangeArrowheads="1"/>
          </p:cNvSpPr>
          <p:nvPr>
            <p:ph type="ftr" sz="quarter" idx="4"/>
          </p:nvPr>
        </p:nvSpPr>
        <p:spPr bwMode="auto">
          <a:xfrm>
            <a:off x="0"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l" defTabSz="923925">
              <a:defRPr sz="1200">
                <a:solidFill>
                  <a:schemeClr val="tx1"/>
                </a:solidFill>
                <a:latin typeface="Helvetica" pitchFamily="2" charset="0"/>
              </a:defRPr>
            </a:lvl1pPr>
          </a:lstStyle>
          <a:p>
            <a:endParaRPr lang="es-AR"/>
          </a:p>
        </p:txBody>
      </p:sp>
      <p:sp>
        <p:nvSpPr>
          <p:cNvPr id="39943" name="Rectangle 7"/>
          <p:cNvSpPr>
            <a:spLocks noGrp="1" noChangeArrowheads="1"/>
          </p:cNvSpPr>
          <p:nvPr>
            <p:ph type="sldNum" sz="quarter" idx="5"/>
          </p:nvPr>
        </p:nvSpPr>
        <p:spPr bwMode="auto">
          <a:xfrm>
            <a:off x="3827463" y="9372600"/>
            <a:ext cx="2927350" cy="493713"/>
          </a:xfrm>
          <a:prstGeom prst="rect">
            <a:avLst/>
          </a:prstGeom>
          <a:noFill/>
          <a:ln w="9525">
            <a:noFill/>
            <a:miter lim="800000"/>
            <a:headEnd/>
            <a:tailEnd/>
          </a:ln>
          <a:effectLst/>
        </p:spPr>
        <p:txBody>
          <a:bodyPr vert="horz" wrap="square" lIns="92464" tIns="46232" rIns="92464" bIns="46232" numCol="1" anchor="b" anchorCtr="0" compatLnSpc="1">
            <a:prstTxWarp prst="textNoShape">
              <a:avLst/>
            </a:prstTxWarp>
          </a:bodyPr>
          <a:lstStyle>
            <a:lvl1pPr algn="r" defTabSz="923925">
              <a:defRPr sz="1200">
                <a:solidFill>
                  <a:schemeClr val="tx1"/>
                </a:solidFill>
                <a:latin typeface="Helvetica" pitchFamily="2" charset="0"/>
              </a:defRPr>
            </a:lvl1pPr>
          </a:lstStyle>
          <a:p>
            <a:fld id="{98A73CF5-616C-4868-81A9-4AC3700A2DB9}" type="slidenum">
              <a:rPr lang="en-US"/>
              <a:pPr/>
              <a:t>‹Nº›</a:t>
            </a:fld>
            <a:endParaRPr 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4A3DAAAE-BB77-4FBD-80CD-8806CBC61BD7}"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02AE1CF4-E877-4C43-B0C9-9F5999A0129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7C01F3A6-EE0E-4D54-B51D-BEF7C6505C79}"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71067C7A-EA67-4BE9-B0DB-B07E46B014F5}"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pPr>
              <a:defRPr/>
            </a:pPr>
            <a:endParaRPr lang="en-US"/>
          </a:p>
        </p:txBody>
      </p:sp>
      <p:sp>
        <p:nvSpPr>
          <p:cNvPr id="8" name="7 Marcador de pie de página"/>
          <p:cNvSpPr>
            <a:spLocks noGrp="1"/>
          </p:cNvSpPr>
          <p:nvPr>
            <p:ph type="ftr" sz="quarter" idx="11"/>
          </p:nvPr>
        </p:nvSpPr>
        <p:spPr/>
        <p:txBody>
          <a:bodyPr/>
          <a:lstStyle/>
          <a:p>
            <a:pPr>
              <a:defRPr/>
            </a:pPr>
            <a:endParaRPr lang="en-US"/>
          </a:p>
        </p:txBody>
      </p:sp>
      <p:sp>
        <p:nvSpPr>
          <p:cNvPr id="9" name="8 Marcador de número de diapositiva"/>
          <p:cNvSpPr>
            <a:spLocks noGrp="1"/>
          </p:cNvSpPr>
          <p:nvPr>
            <p:ph type="sldNum" sz="quarter" idx="12"/>
          </p:nvPr>
        </p:nvSpPr>
        <p:spPr/>
        <p:txBody>
          <a:bodyPr/>
          <a:lstStyle/>
          <a:p>
            <a:fld id="{48CF61DD-4B4E-4120-8426-714380EE5029}"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pPr>
              <a:defRPr/>
            </a:pPr>
            <a:endParaRPr lang="en-US"/>
          </a:p>
        </p:txBody>
      </p:sp>
      <p:sp>
        <p:nvSpPr>
          <p:cNvPr id="4" name="3 Marcador de pie de página"/>
          <p:cNvSpPr>
            <a:spLocks noGrp="1"/>
          </p:cNvSpPr>
          <p:nvPr>
            <p:ph type="ftr" sz="quarter" idx="11"/>
          </p:nvPr>
        </p:nvSpPr>
        <p:spPr/>
        <p:txBody>
          <a:bodyPr/>
          <a:lstStyle/>
          <a:p>
            <a:pPr>
              <a:defRPr/>
            </a:pPr>
            <a:endParaRPr lang="en-US"/>
          </a:p>
        </p:txBody>
      </p:sp>
      <p:sp>
        <p:nvSpPr>
          <p:cNvPr id="5" name="4 Marcador de número de diapositiva"/>
          <p:cNvSpPr>
            <a:spLocks noGrp="1"/>
          </p:cNvSpPr>
          <p:nvPr>
            <p:ph type="sldNum" sz="quarter" idx="12"/>
          </p:nvPr>
        </p:nvSpPr>
        <p:spPr/>
        <p:txBody>
          <a:bodyPr/>
          <a:lstStyle/>
          <a:p>
            <a:fld id="{15DC7E45-CE50-45F6-AFAF-BBEC857663A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pPr>
              <a:defRPr/>
            </a:pPr>
            <a:endParaRPr lang="en-US"/>
          </a:p>
        </p:txBody>
      </p:sp>
      <p:sp>
        <p:nvSpPr>
          <p:cNvPr id="3" name="2 Marcador de pie de página"/>
          <p:cNvSpPr>
            <a:spLocks noGrp="1"/>
          </p:cNvSpPr>
          <p:nvPr>
            <p:ph type="ftr" sz="quarter" idx="11"/>
          </p:nvPr>
        </p:nvSpPr>
        <p:spPr/>
        <p:txBody>
          <a:bodyPr/>
          <a:lstStyle/>
          <a:p>
            <a:pPr>
              <a:defRPr/>
            </a:pPr>
            <a:endParaRPr lang="en-US"/>
          </a:p>
        </p:txBody>
      </p:sp>
      <p:sp>
        <p:nvSpPr>
          <p:cNvPr id="4" name="3 Marcador de número de diapositiva"/>
          <p:cNvSpPr>
            <a:spLocks noGrp="1"/>
          </p:cNvSpPr>
          <p:nvPr>
            <p:ph type="sldNum" sz="quarter" idx="12"/>
          </p:nvPr>
        </p:nvSpPr>
        <p:spPr/>
        <p:txBody>
          <a:bodyPr/>
          <a:lstStyle/>
          <a:p>
            <a:fld id="{B759D250-4BD8-4A02-9BB7-6F58C7E277CE}"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C34C138-3AA1-47A5-94C5-74E44E949D75}"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pPr>
              <a:defRPr/>
            </a:pPr>
            <a:endParaRPr lang="en-US"/>
          </a:p>
        </p:txBody>
      </p:sp>
      <p:sp>
        <p:nvSpPr>
          <p:cNvPr id="6" name="5 Marcador de pie de página"/>
          <p:cNvSpPr>
            <a:spLocks noGrp="1"/>
          </p:cNvSpPr>
          <p:nvPr>
            <p:ph type="ftr" sz="quarter" idx="11"/>
          </p:nvPr>
        </p:nvSpPr>
        <p:spPr/>
        <p:txBody>
          <a:bodyPr/>
          <a:lstStyle/>
          <a:p>
            <a:pPr>
              <a:defRPr/>
            </a:pPr>
            <a:endParaRPr lang="en-US"/>
          </a:p>
        </p:txBody>
      </p:sp>
      <p:sp>
        <p:nvSpPr>
          <p:cNvPr id="7" name="6 Marcador de número de diapositiva"/>
          <p:cNvSpPr>
            <a:spLocks noGrp="1"/>
          </p:cNvSpPr>
          <p:nvPr>
            <p:ph type="sldNum" sz="quarter" idx="12"/>
          </p:nvPr>
        </p:nvSpPr>
        <p:spPr/>
        <p:txBody>
          <a:bodyPr/>
          <a:lstStyle/>
          <a:p>
            <a:fld id="{92F53A78-FB7A-473A-B37B-537E71F8FD32}"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24E17C3E-6F24-490F-B5A6-302494F4F6F6}"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pPr>
              <a:defRPr/>
            </a:pPr>
            <a:endParaRPr lang="en-US"/>
          </a:p>
        </p:txBody>
      </p:sp>
      <p:sp>
        <p:nvSpPr>
          <p:cNvPr id="5" name="4 Marcador de pie de página"/>
          <p:cNvSpPr>
            <a:spLocks noGrp="1"/>
          </p:cNvSpPr>
          <p:nvPr>
            <p:ph type="ftr" sz="quarter" idx="11"/>
          </p:nvPr>
        </p:nvSpPr>
        <p:spPr/>
        <p:txBody>
          <a:bodyPr/>
          <a:lstStyle/>
          <a:p>
            <a:pPr>
              <a:defRPr/>
            </a:pPr>
            <a:endParaRPr lang="en-US"/>
          </a:p>
        </p:txBody>
      </p:sp>
      <p:sp>
        <p:nvSpPr>
          <p:cNvPr id="6" name="5 Marcador de número de diapositiva"/>
          <p:cNvSpPr>
            <a:spLocks noGrp="1"/>
          </p:cNvSpPr>
          <p:nvPr>
            <p:ph type="sldNum" sz="quarter" idx="12"/>
          </p:nvPr>
        </p:nvSpPr>
        <p:spPr/>
        <p:txBody>
          <a:bodyPr/>
          <a:lstStyle/>
          <a:p>
            <a:fld id="{C90A54AD-D593-41AF-9419-80BAB15846A4}" type="slidenum">
              <a:rPr lang="en-US" smtClean="0"/>
              <a:pPr/>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773113" y="0"/>
            <a:ext cx="7772400" cy="952500"/>
          </a:xfrm>
        </p:spPr>
        <p:txBody>
          <a:bodyPr/>
          <a:lstStyle/>
          <a:p>
            <a:r>
              <a:rPr lang="es-ES"/>
              <a:t>Haga clic para modificar el estilo de título del patrón</a:t>
            </a:r>
          </a:p>
        </p:txBody>
      </p:sp>
      <p:sp>
        <p:nvSpPr>
          <p:cNvPr id="3" name="2 Marcador de texto"/>
          <p:cNvSpPr>
            <a:spLocks noGrp="1"/>
          </p:cNvSpPr>
          <p:nvPr>
            <p:ph type="body" sz="half" idx="1"/>
          </p:nvPr>
        </p:nvSpPr>
        <p:spPr>
          <a:xfrm>
            <a:off x="685800" y="1981200"/>
            <a:ext cx="3810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981200"/>
            <a:ext cx="3810000" cy="4114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2CDFD1E-D31C-4027-98FC-BCB6935708C6}" type="slidenum">
              <a:rPr lang="en-US"/>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alphaModFix amt="30000"/>
            <a:lum/>
          </a:blip>
          <a:srcRect/>
          <a:stretch>
            <a:fillRect/>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C601D-D1AA-400D-878E-9B5C6DECE3A0}" type="slidenum">
              <a:rPr lang="en-US" smtClean="0"/>
              <a:pPr/>
              <a:t>‹Nº›</a:t>
            </a:fld>
            <a:endParaRPr lang="en-US"/>
          </a:p>
        </p:txBody>
      </p:sp>
      <p:sp>
        <p:nvSpPr>
          <p:cNvPr id="7" name="Line 8"/>
          <p:cNvSpPr>
            <a:spLocks noChangeShapeType="1"/>
          </p:cNvSpPr>
          <p:nvPr/>
        </p:nvSpPr>
        <p:spPr bwMode="auto">
          <a:xfrm>
            <a:off x="0" y="952500"/>
            <a:ext cx="9144000" cy="0"/>
          </a:xfrm>
          <a:prstGeom prst="line">
            <a:avLst/>
          </a:prstGeom>
          <a:noFill/>
          <a:ln w="9525">
            <a:solidFill>
              <a:srgbClr val="FF3300"/>
            </a:solidFill>
            <a:round/>
            <a:headEnd/>
            <a:tailEnd/>
          </a:ln>
          <a:effectLst/>
        </p:spPr>
        <p:txBody>
          <a:bodyPr anchor="ctr"/>
          <a:lstStyle/>
          <a:p>
            <a:pPr>
              <a:defRPr/>
            </a:pPr>
            <a:endParaRPr lang="es-E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hpc.llnl.gov/training/tutorial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omputing.llnl.gov/tutorials/pthreads/#Abstrac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a:solidFill>
                  <a:schemeClr val="tx1"/>
                </a:solidFill>
                <a:latin typeface="+mj-lt"/>
                <a:ea typeface="+mj-ea"/>
                <a:cs typeface="+mj-cs"/>
              </a:rPr>
              <a:t>Procesos – </a:t>
            </a:r>
            <a:r>
              <a:rPr lang="es-AR" sz="3400" dirty="0" err="1">
                <a:solidFill>
                  <a:schemeClr val="tx1"/>
                </a:solidFill>
                <a:latin typeface="+mj-lt"/>
                <a:ea typeface="+mj-ea"/>
                <a:cs typeface="+mj-cs"/>
              </a:rPr>
              <a:t>Theads</a:t>
            </a:r>
            <a:r>
              <a:rPr lang="es-AR" sz="3400" dirty="0">
                <a:solidFill>
                  <a:schemeClr val="tx1"/>
                </a:solidFill>
                <a:latin typeface="+mj-lt"/>
                <a:ea typeface="+mj-ea"/>
                <a:cs typeface="+mj-cs"/>
              </a:rPr>
              <a:t> (hilos)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454739" y="1054100"/>
            <a:ext cx="8460661" cy="4816703"/>
          </a:xfrm>
          <a:prstGeom prst="rect">
            <a:avLst/>
          </a:prstGeom>
          <a:noFill/>
        </p:spPr>
        <p:txBody>
          <a:bodyPr wrap="square" rtlCol="0">
            <a:spAutoFit/>
          </a:bodyPr>
          <a:lstStyle/>
          <a:p>
            <a:pPr algn="just">
              <a:spcBef>
                <a:spcPts val="600"/>
              </a:spcBef>
            </a:pPr>
            <a:r>
              <a:rPr lang="es-AR" sz="1800" dirty="0">
                <a:solidFill>
                  <a:schemeClr val="tx1"/>
                </a:solidFill>
                <a:latin typeface="Arial" pitchFamily="34" charset="0"/>
                <a:cs typeface="Arial" pitchFamily="34" charset="0"/>
              </a:rPr>
              <a:t>Un </a:t>
            </a:r>
            <a:r>
              <a:rPr lang="es-AR" sz="1800" dirty="0">
                <a:solidFill>
                  <a:srgbClr val="FF0000"/>
                </a:solidFill>
                <a:latin typeface="Arial" pitchFamily="34" charset="0"/>
                <a:cs typeface="Arial" pitchFamily="34" charset="0"/>
              </a:rPr>
              <a:t>hilo</a:t>
            </a:r>
            <a:r>
              <a:rPr lang="es-AR" sz="1800" dirty="0">
                <a:solidFill>
                  <a:schemeClr val="tx1"/>
                </a:solidFill>
                <a:latin typeface="Arial" pitchFamily="34" charset="0"/>
                <a:cs typeface="Arial" pitchFamily="34" charset="0"/>
              </a:rPr>
              <a:t>, </a:t>
            </a:r>
            <a:r>
              <a:rPr lang="es-AR" sz="1800" dirty="0">
                <a:solidFill>
                  <a:srgbClr val="FF0000"/>
                </a:solidFill>
                <a:latin typeface="Arial" pitchFamily="34" charset="0"/>
                <a:cs typeface="Arial" pitchFamily="34" charset="0"/>
              </a:rPr>
              <a:t>hebra</a:t>
            </a:r>
            <a:r>
              <a:rPr lang="es-AR" sz="1800" dirty="0">
                <a:solidFill>
                  <a:schemeClr val="tx1"/>
                </a:solidFill>
                <a:latin typeface="Arial" pitchFamily="34" charset="0"/>
                <a:cs typeface="Arial" pitchFamily="34" charset="0"/>
              </a:rPr>
              <a:t> o </a:t>
            </a:r>
            <a:r>
              <a:rPr lang="es-AR" sz="1800" dirty="0">
                <a:solidFill>
                  <a:srgbClr val="FF0000"/>
                </a:solidFill>
                <a:latin typeface="Arial" pitchFamily="34" charset="0"/>
                <a:cs typeface="Arial" pitchFamily="34" charset="0"/>
              </a:rPr>
              <a:t>proceso ligero </a:t>
            </a:r>
            <a:r>
              <a:rPr lang="es-AR" sz="1800" dirty="0">
                <a:solidFill>
                  <a:schemeClr val="tx1"/>
                </a:solidFill>
                <a:latin typeface="Arial" pitchFamily="34" charset="0"/>
                <a:cs typeface="Arial" pitchFamily="34" charset="0"/>
              </a:rPr>
              <a:t>es una unidad básica de ejecución, es una línea de ejecución de un proceso. Todo proceso parte inicialmente con un único hilo principal, aunque el sistema operativo ofrece llamadas al sistema que permiten al programador crear y destruir hilos. Un proceso está compuesto por uno o más hilos.</a:t>
            </a:r>
          </a:p>
          <a:p>
            <a:pPr algn="l">
              <a:spcBef>
                <a:spcPts val="600"/>
              </a:spcBef>
            </a:pPr>
            <a:r>
              <a:rPr lang="es-AR" sz="1800" u="sng" dirty="0">
                <a:solidFill>
                  <a:schemeClr val="tx1"/>
                </a:solidFill>
                <a:effectLst>
                  <a:outerShdw blurRad="38100" dist="38100" dir="2700000" algn="tl">
                    <a:srgbClr val="000000">
                      <a:alpha val="43137"/>
                    </a:srgbClr>
                  </a:outerShdw>
                </a:effectLst>
                <a:latin typeface="Arial" pitchFamily="34" charset="0"/>
                <a:cs typeface="Arial" pitchFamily="34" charset="0"/>
              </a:rPr>
              <a:t>Tienen elementos propios</a:t>
            </a:r>
            <a:r>
              <a:rPr lang="es-AR" sz="1800" dirty="0">
                <a:solidFill>
                  <a:schemeClr val="tx1"/>
                </a:solidFill>
                <a:effectLst>
                  <a:outerShdw blurRad="38100" dist="38100" dir="2700000" algn="tl">
                    <a:srgbClr val="000000">
                      <a:alpha val="43137"/>
                    </a:srgbClr>
                  </a:outerShdw>
                </a:effectLst>
                <a:latin typeface="Arial" pitchFamily="34" charset="0"/>
                <a:cs typeface="Arial" pitchFamily="34" charset="0"/>
              </a:rPr>
              <a:t>:</a:t>
            </a:r>
          </a:p>
          <a:p>
            <a:pPr marL="635000" lvl="1" indent="-177800" algn="l">
              <a:spcBef>
                <a:spcPts val="600"/>
              </a:spcBef>
            </a:pPr>
            <a:r>
              <a:rPr lang="es-AR" sz="1800" dirty="0">
                <a:solidFill>
                  <a:schemeClr val="tx1"/>
                </a:solidFill>
                <a:latin typeface="Arial" pitchFamily="34" charset="0"/>
                <a:cs typeface="Arial" pitchFamily="34" charset="0"/>
              </a:rPr>
              <a:t>Contador de programa	Registros de CPU </a:t>
            </a:r>
          </a:p>
          <a:p>
            <a:pPr marL="635000" lvl="1" indent="-177800" algn="l">
              <a:spcBef>
                <a:spcPts val="600"/>
              </a:spcBef>
            </a:pPr>
            <a:r>
              <a:rPr lang="es-AR" sz="1800" dirty="0">
                <a:solidFill>
                  <a:schemeClr val="tx1"/>
                </a:solidFill>
                <a:latin typeface="Arial" pitchFamily="34" charset="0"/>
                <a:cs typeface="Arial" pitchFamily="34" charset="0"/>
              </a:rPr>
              <a:t>Pila (</a:t>
            </a:r>
            <a:r>
              <a:rPr lang="es-AR" sz="1800" dirty="0" err="1">
                <a:solidFill>
                  <a:schemeClr val="tx1"/>
                </a:solidFill>
                <a:latin typeface="Arial" pitchFamily="34" charset="0"/>
                <a:cs typeface="Arial" pitchFamily="34" charset="0"/>
              </a:rPr>
              <a:t>stack</a:t>
            </a:r>
            <a:r>
              <a:rPr lang="es-AR" sz="1800" dirty="0">
                <a:solidFill>
                  <a:schemeClr val="tx1"/>
                </a:solidFill>
                <a:latin typeface="Arial" pitchFamily="34" charset="0"/>
                <a:cs typeface="Arial" pitchFamily="34" charset="0"/>
              </a:rPr>
              <a:t>)		             	Estado	</a:t>
            </a:r>
          </a:p>
          <a:p>
            <a:pPr algn="l">
              <a:spcBef>
                <a:spcPts val="1800"/>
              </a:spcBef>
            </a:pPr>
            <a:r>
              <a:rPr lang="es-AR" sz="1800" u="sng" dirty="0">
                <a:solidFill>
                  <a:schemeClr val="tx1"/>
                </a:solidFill>
                <a:effectLst>
                  <a:outerShdw blurRad="38100" dist="38100" dir="2700000" algn="tl">
                    <a:srgbClr val="000000">
                      <a:alpha val="43137"/>
                    </a:srgbClr>
                  </a:outerShdw>
                </a:effectLst>
                <a:latin typeface="Arial" pitchFamily="34" charset="0"/>
                <a:cs typeface="Arial" pitchFamily="34" charset="0"/>
              </a:rPr>
              <a:t>Los hilos dentro de una misma aplicación comparten</a:t>
            </a:r>
            <a:r>
              <a:rPr lang="es-AR" sz="1800" dirty="0">
                <a:solidFill>
                  <a:schemeClr val="tx1"/>
                </a:solidFill>
                <a:effectLst>
                  <a:outerShdw blurRad="38100" dist="38100" dir="2700000" algn="tl">
                    <a:srgbClr val="000000">
                      <a:alpha val="43137"/>
                    </a:srgbClr>
                  </a:outerShdw>
                </a:effectLst>
                <a:latin typeface="Arial" pitchFamily="34" charset="0"/>
                <a:cs typeface="Arial" pitchFamily="34" charset="0"/>
              </a:rPr>
              <a:t>:</a:t>
            </a:r>
          </a:p>
          <a:p>
            <a:pPr algn="l">
              <a:spcBef>
                <a:spcPts val="600"/>
              </a:spcBef>
            </a:pPr>
            <a:r>
              <a:rPr lang="es-AR" sz="1800" dirty="0">
                <a:solidFill>
                  <a:schemeClr val="tx1"/>
                </a:solidFill>
                <a:latin typeface="Arial" pitchFamily="34" charset="0"/>
                <a:cs typeface="Arial" pitchFamily="34" charset="0"/>
              </a:rPr>
              <a:t>Espacio de direcciones		Variables globales</a:t>
            </a:r>
          </a:p>
          <a:p>
            <a:pPr algn="l">
              <a:spcBef>
                <a:spcPts val="600"/>
              </a:spcBef>
            </a:pPr>
            <a:r>
              <a:rPr lang="es-AR" sz="1800" dirty="0">
                <a:solidFill>
                  <a:schemeClr val="tx1"/>
                </a:solidFill>
                <a:latin typeface="Arial" pitchFamily="34" charset="0"/>
                <a:cs typeface="Arial" pitchFamily="34" charset="0"/>
              </a:rPr>
              <a:t>Archivos abiertos			Procesos hijos</a:t>
            </a:r>
          </a:p>
          <a:p>
            <a:pPr algn="l">
              <a:spcBef>
                <a:spcPts val="600"/>
              </a:spcBef>
            </a:pPr>
            <a:r>
              <a:rPr lang="es-AR" sz="1800" dirty="0">
                <a:solidFill>
                  <a:schemeClr val="tx1"/>
                </a:solidFill>
                <a:latin typeface="Arial" pitchFamily="34" charset="0"/>
                <a:cs typeface="Arial" pitchFamily="34" charset="0"/>
              </a:rPr>
              <a:t>Alarmas pendientes		Señales y manipuladores de señales</a:t>
            </a:r>
          </a:p>
          <a:p>
            <a:pPr algn="l">
              <a:spcBef>
                <a:spcPts val="600"/>
              </a:spcBef>
            </a:pPr>
            <a:r>
              <a:rPr lang="es-AR" sz="1800" dirty="0">
                <a:solidFill>
                  <a:schemeClr val="tx1"/>
                </a:solidFill>
                <a:latin typeface="Arial" pitchFamily="34" charset="0"/>
                <a:cs typeface="Arial" pitchFamily="34" charset="0"/>
              </a:rPr>
              <a:t>Información de contabilidad	etc.</a:t>
            </a:r>
          </a:p>
          <a:p>
            <a:pPr marL="88900" lvl="1" indent="-88900" algn="l">
              <a:spcBef>
                <a:spcPts val="600"/>
              </a:spcBef>
            </a:pPr>
            <a:endParaRPr lang="es-AR" sz="1800" u="sng" dirty="0">
              <a:solidFill>
                <a:schemeClr val="tx1"/>
              </a:solidFill>
              <a:latin typeface="Arial" pitchFamily="34" charset="0"/>
              <a:cs typeface="Arial" pitchFamily="34" charset="0"/>
            </a:endParaRPr>
          </a:p>
        </p:txBody>
      </p:sp>
      <p:sp>
        <p:nvSpPr>
          <p:cNvPr id="6" name="5 CuadroTexto"/>
          <p:cNvSpPr txBox="1"/>
          <p:nvPr/>
        </p:nvSpPr>
        <p:spPr>
          <a:xfrm>
            <a:off x="9321800" y="609600"/>
            <a:ext cx="3238500" cy="4893647"/>
          </a:xfrm>
          <a:prstGeom prst="rect">
            <a:avLst/>
          </a:prstGeom>
          <a:solidFill>
            <a:schemeClr val="bg1"/>
          </a:solidFill>
        </p:spPr>
        <p:txBody>
          <a:bodyPr wrap="square" rtlCol="0">
            <a:spAutoFit/>
          </a:bodyPr>
          <a:lstStyle/>
          <a:p>
            <a:pPr algn="just"/>
            <a:r>
              <a:rPr lang="es-AR" sz="1200" b="1" dirty="0">
                <a:solidFill>
                  <a:schemeClr val="tx1"/>
                </a:solidFill>
                <a:latin typeface="Arial" pitchFamily="34" charset="0"/>
                <a:cs typeface="Arial" pitchFamily="34" charset="0"/>
              </a:rPr>
              <a:t>Pila de Usuario y Pila del núcleo</a:t>
            </a:r>
          </a:p>
          <a:p>
            <a:pPr algn="just"/>
            <a:r>
              <a:rPr lang="es-AR" sz="1200" dirty="0">
                <a:solidFill>
                  <a:schemeClr val="tx1"/>
                </a:solidFill>
                <a:latin typeface="Arial" pitchFamily="34" charset="0"/>
                <a:cs typeface="Arial" pitchFamily="34" charset="0"/>
              </a:rPr>
              <a:t>La existencia en UNIX de dos modos distintos de ejecución, modo usuario y modo núcleo, hace necesario la existencia de una pila independiente para cada modo y para cada proceso: la </a:t>
            </a:r>
            <a:r>
              <a:rPr lang="es-AR" sz="1200" i="1" dirty="0">
                <a:solidFill>
                  <a:schemeClr val="tx1"/>
                </a:solidFill>
                <a:latin typeface="Arial" pitchFamily="34" charset="0"/>
                <a:cs typeface="Arial" pitchFamily="34" charset="0"/>
              </a:rPr>
              <a:t>pila de usuario</a:t>
            </a:r>
            <a:r>
              <a:rPr lang="es-AR" sz="1200" dirty="0">
                <a:solidFill>
                  <a:schemeClr val="tx1"/>
                </a:solidFill>
                <a:latin typeface="Arial" pitchFamily="34" charset="0"/>
                <a:cs typeface="Arial" pitchFamily="34" charset="0"/>
              </a:rPr>
              <a:t> y la </a:t>
            </a:r>
            <a:r>
              <a:rPr lang="es-AR" sz="1200" i="1" dirty="0">
                <a:solidFill>
                  <a:schemeClr val="tx1"/>
                </a:solidFill>
                <a:latin typeface="Arial" pitchFamily="34" charset="0"/>
                <a:cs typeface="Arial" pitchFamily="34" charset="0"/>
              </a:rPr>
              <a:t>pila del núcleo</a:t>
            </a:r>
            <a:r>
              <a:rPr lang="es-AR" sz="1200" dirty="0">
                <a:solidFill>
                  <a:schemeClr val="tx1"/>
                </a:solidFill>
                <a:latin typeface="Arial" pitchFamily="34" charset="0"/>
                <a:cs typeface="Arial" pitchFamily="34" charset="0"/>
              </a:rPr>
              <a:t>. La </a:t>
            </a:r>
            <a:r>
              <a:rPr lang="es-AR" sz="1200" i="1" dirty="0">
                <a:solidFill>
                  <a:schemeClr val="tx1"/>
                </a:solidFill>
                <a:latin typeface="Arial" pitchFamily="34" charset="0"/>
                <a:cs typeface="Arial" pitchFamily="34" charset="0"/>
              </a:rPr>
              <a:t>pila de usuario</a:t>
            </a:r>
            <a:r>
              <a:rPr lang="es-AR" sz="1200" dirty="0">
                <a:solidFill>
                  <a:schemeClr val="tx1"/>
                </a:solidFill>
                <a:latin typeface="Arial" pitchFamily="34" charset="0"/>
                <a:cs typeface="Arial" pitchFamily="34" charset="0"/>
              </a:rPr>
              <a:t> contiene los marcos de pila de las funciones que se ejecutan en modo usuario. De forma análoga, la </a:t>
            </a:r>
            <a:r>
              <a:rPr lang="es-AR" sz="1200" i="1" dirty="0">
                <a:solidFill>
                  <a:schemeClr val="tx1"/>
                </a:solidFill>
                <a:latin typeface="Arial" pitchFamily="34" charset="0"/>
                <a:cs typeface="Arial" pitchFamily="34" charset="0"/>
              </a:rPr>
              <a:t>pila del núcleo</a:t>
            </a:r>
            <a:r>
              <a:rPr lang="es-AR" sz="1200" dirty="0">
                <a:solidFill>
                  <a:schemeClr val="tx1"/>
                </a:solidFill>
                <a:latin typeface="Arial" pitchFamily="34" charset="0"/>
                <a:cs typeface="Arial" pitchFamily="34" charset="0"/>
              </a:rPr>
              <a:t> contiene los marcos de pila de las funciones que se ejecutan en modo núcleo. Por tanto, estas dos pilas crecerán de forma autónoma. De hecho la pila del núcleo está vacía cuando el proceso se ejecuta en modo usuario.</a:t>
            </a:r>
          </a:p>
          <a:p>
            <a:pPr algn="just"/>
            <a:r>
              <a:rPr lang="es-AR" sz="1200" dirty="0">
                <a:solidFill>
                  <a:schemeClr val="tx1"/>
                </a:solidFill>
                <a:latin typeface="Arial" pitchFamily="34" charset="0"/>
                <a:cs typeface="Arial" pitchFamily="34" charset="0"/>
              </a:rPr>
              <a:t>Por otra parte, puesto que pueden estar ejecutándose en paralelo varias instancias de una misma rutina del núcleo asociada cada una de ellas a un proceso distinto, se hace necesario la existencia de una pila del núcleo distinta para cada proceso. Por tanto, la </a:t>
            </a:r>
            <a:r>
              <a:rPr lang="es-AR" sz="1200" i="1" dirty="0">
                <a:solidFill>
                  <a:schemeClr val="tx1"/>
                </a:solidFill>
                <a:latin typeface="Arial" pitchFamily="34" charset="0"/>
                <a:cs typeface="Arial" pitchFamily="34" charset="0"/>
              </a:rPr>
              <a:t>pila del núcleo</a:t>
            </a:r>
            <a:r>
              <a:rPr lang="es-AR" sz="1200" dirty="0">
                <a:solidFill>
                  <a:schemeClr val="tx1"/>
                </a:solidFill>
                <a:latin typeface="Arial" pitchFamily="34" charset="0"/>
                <a:cs typeface="Arial" pitchFamily="34" charset="0"/>
              </a:rPr>
              <a:t> se puede definir como una estructura local a cada proceso que contiene los marcos de pila de las funciones o rutinas del núcleo invocadas durante la ejecución del proceso en modo núcleo.</a:t>
            </a:r>
          </a:p>
        </p:txBody>
      </p:sp>
      <p:sp>
        <p:nvSpPr>
          <p:cNvPr id="10" name="9 CuadroTexto"/>
          <p:cNvSpPr txBox="1"/>
          <p:nvPr/>
        </p:nvSpPr>
        <p:spPr>
          <a:xfrm>
            <a:off x="361223" y="5504879"/>
            <a:ext cx="8260636" cy="1246511"/>
          </a:xfrm>
          <a:prstGeom prst="rect">
            <a:avLst/>
          </a:prstGeom>
          <a:noFill/>
        </p:spPr>
        <p:txBody>
          <a:bodyPr wrap="square" rtlCol="0">
            <a:spAutoFit/>
          </a:bodyPr>
          <a:lstStyle/>
          <a:p>
            <a:pPr marL="88900" lvl="1" indent="-88900" algn="just">
              <a:spcBef>
                <a:spcPts val="600"/>
              </a:spcBef>
            </a:pPr>
            <a:r>
              <a:rPr lang="es-AR" sz="1800" dirty="0">
                <a:solidFill>
                  <a:schemeClr val="tx1"/>
                </a:solidFill>
                <a:latin typeface="Arial" pitchFamily="34" charset="0"/>
                <a:cs typeface="Arial" pitchFamily="34" charset="0"/>
              </a:rPr>
              <a:t>Un proceso pesado (simplemente llamado proceso o tarea) puede contener uno o varios hilos que comparten la misma memoria y recursos y es una aplicación, mientras que los hilos son actividades concurrentes dentro de esa aplicación</a:t>
            </a:r>
            <a:endParaRPr lang="es-AR" sz="1800" u="sng" dirty="0">
              <a:solidFill>
                <a:schemeClr val="tx1"/>
              </a:solidFill>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fontScale="77500" lnSpcReduction="20000"/>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4400" dirty="0">
                <a:solidFill>
                  <a:schemeClr val="tx1"/>
                </a:solidFill>
                <a:latin typeface="+mj-lt"/>
                <a:ea typeface="+mj-ea"/>
                <a:cs typeface="+mj-cs"/>
              </a:rPr>
              <a:t>Beneficios y características del </a:t>
            </a:r>
            <a:r>
              <a:rPr lang="es-AR" sz="4400" dirty="0" err="1">
                <a:solidFill>
                  <a:schemeClr val="tx1"/>
                </a:solidFill>
                <a:latin typeface="+mj-lt"/>
                <a:ea typeface="+mj-ea"/>
                <a:cs typeface="+mj-cs"/>
              </a:rPr>
              <a:t>multithreading</a:t>
            </a:r>
            <a:endParaRPr kumimoji="0" lang="es-AR" sz="4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193485" y="1087934"/>
            <a:ext cx="8790861" cy="2970044"/>
          </a:xfrm>
          <a:prstGeom prst="rect">
            <a:avLst/>
          </a:prstGeom>
          <a:noFill/>
        </p:spPr>
        <p:txBody>
          <a:bodyPr wrap="square" rtlCol="0">
            <a:spAutoFit/>
          </a:bodyPr>
          <a:lstStyle/>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Es mucho más rápido </a:t>
            </a:r>
            <a:r>
              <a:rPr lang="es-AR" sz="1800" b="1" dirty="0">
                <a:solidFill>
                  <a:schemeClr val="tx1"/>
                </a:solidFill>
                <a:latin typeface="Arial" pitchFamily="34" charset="0"/>
                <a:cs typeface="Arial" pitchFamily="34" charset="0"/>
              </a:rPr>
              <a:t>crear</a:t>
            </a:r>
            <a:r>
              <a:rPr lang="es-AR" sz="1800" dirty="0">
                <a:solidFill>
                  <a:schemeClr val="tx1"/>
                </a:solidFill>
                <a:latin typeface="Arial" pitchFamily="34" charset="0"/>
                <a:cs typeface="Arial" pitchFamily="34" charset="0"/>
              </a:rPr>
              <a:t> y </a:t>
            </a:r>
            <a:r>
              <a:rPr lang="es-AR" sz="1800" b="1" dirty="0">
                <a:solidFill>
                  <a:schemeClr val="tx1"/>
                </a:solidFill>
                <a:latin typeface="Arial" pitchFamily="34" charset="0"/>
                <a:cs typeface="Arial" pitchFamily="34" charset="0"/>
              </a:rPr>
              <a:t>finalizar</a:t>
            </a:r>
            <a:r>
              <a:rPr lang="es-AR" sz="1800" dirty="0">
                <a:solidFill>
                  <a:schemeClr val="tx1"/>
                </a:solidFill>
                <a:latin typeface="Arial" pitchFamily="34" charset="0"/>
                <a:cs typeface="Arial" pitchFamily="34" charset="0"/>
              </a:rPr>
              <a:t> un hilo que un proceso</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Lleva menos tiempo </a:t>
            </a:r>
            <a:r>
              <a:rPr lang="es-AR" sz="1800" b="1" dirty="0">
                <a:solidFill>
                  <a:schemeClr val="tx1"/>
                </a:solidFill>
                <a:latin typeface="Arial" pitchFamily="34" charset="0"/>
                <a:cs typeface="Arial" pitchFamily="34" charset="0"/>
              </a:rPr>
              <a:t>cambiar</a:t>
            </a:r>
            <a:r>
              <a:rPr lang="es-AR" sz="1800" dirty="0">
                <a:solidFill>
                  <a:schemeClr val="tx1"/>
                </a:solidFill>
                <a:latin typeface="Arial" pitchFamily="34" charset="0"/>
                <a:cs typeface="Arial" pitchFamily="34" charset="0"/>
              </a:rPr>
              <a:t> entre 2 hilos del mismo proceso (porque los recursos se comparten)</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Mejoran la comunicación en el programa que se está ejecutando ya que al </a:t>
            </a:r>
            <a:r>
              <a:rPr lang="es-AR" sz="1800" b="1" dirty="0">
                <a:solidFill>
                  <a:schemeClr val="tx1"/>
                </a:solidFill>
                <a:latin typeface="Arial" pitchFamily="34" charset="0"/>
                <a:cs typeface="Arial" pitchFamily="34" charset="0"/>
              </a:rPr>
              <a:t>compartir la memoria y archivos</a:t>
            </a:r>
            <a:r>
              <a:rPr lang="es-AR" sz="1800" dirty="0">
                <a:solidFill>
                  <a:schemeClr val="tx1"/>
                </a:solidFill>
                <a:latin typeface="Arial" pitchFamily="34" charset="0"/>
                <a:cs typeface="Arial" pitchFamily="34" charset="0"/>
              </a:rPr>
              <a:t>, no es necesaria invocar a núcleo para esto.</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Simplifican la estructura de un programa al hacerlo más modular donde cada hilo realiza una tarea en particular.</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Etc.</a:t>
            </a:r>
          </a:p>
          <a:p>
            <a:pPr marL="177800" indent="-177800" algn="l">
              <a:spcBef>
                <a:spcPts val="600"/>
              </a:spcBef>
              <a:buFont typeface="Arial" pitchFamily="34" charset="0"/>
              <a:buChar char="•"/>
            </a:pPr>
            <a:endParaRPr lang="es-AR" sz="1800" dirty="0">
              <a:solidFill>
                <a:schemeClr val="tx1"/>
              </a:solidFill>
              <a:latin typeface="Arial" pitchFamily="34" charset="0"/>
              <a:cs typeface="Arial" pitchFamily="34" charset="0"/>
            </a:endParaRPr>
          </a:p>
        </p:txBody>
      </p:sp>
      <p:sp>
        <p:nvSpPr>
          <p:cNvPr id="23" name="22 CuadroTexto"/>
          <p:cNvSpPr txBox="1"/>
          <p:nvPr/>
        </p:nvSpPr>
        <p:spPr>
          <a:xfrm>
            <a:off x="183961" y="3689799"/>
            <a:ext cx="4304586" cy="3139321"/>
          </a:xfrm>
          <a:prstGeom prst="rect">
            <a:avLst/>
          </a:prstGeom>
          <a:noFill/>
        </p:spPr>
        <p:txBody>
          <a:bodyPr wrap="square" rtlCol="0">
            <a:spAutoFit/>
          </a:bodyPr>
          <a:lstStyle/>
          <a:p>
            <a:pPr marL="177800" indent="-177800" algn="just">
              <a:spcBef>
                <a:spcPts val="600"/>
              </a:spcBef>
            </a:pPr>
            <a:r>
              <a:rPr lang="es-AR" sz="1800" dirty="0">
                <a:solidFill>
                  <a:schemeClr val="tx1"/>
                </a:solidFill>
                <a:latin typeface="Arial" pitchFamily="34" charset="0"/>
                <a:cs typeface="Arial" pitchFamily="34" charset="0"/>
              </a:rPr>
              <a:t>En </a:t>
            </a:r>
            <a:r>
              <a:rPr lang="es-AR" sz="1800" dirty="0" err="1">
                <a:solidFill>
                  <a:schemeClr val="tx1"/>
                </a:solidFill>
                <a:latin typeface="Arial" pitchFamily="34" charset="0"/>
                <a:cs typeface="Arial" pitchFamily="34" charset="0"/>
              </a:rPr>
              <a:t>multithreading</a:t>
            </a:r>
            <a:r>
              <a:rPr lang="es-AR" sz="1800" dirty="0">
                <a:solidFill>
                  <a:schemeClr val="tx1"/>
                </a:solidFill>
                <a:latin typeface="Arial" pitchFamily="34" charset="0"/>
                <a:cs typeface="Arial" pitchFamily="34" charset="0"/>
              </a:rPr>
              <a:t>, todos los hilos tienen los mismos privilegios y comparten la memoria (</a:t>
            </a:r>
            <a:r>
              <a:rPr lang="es-AR" sz="1800" dirty="0" err="1">
                <a:solidFill>
                  <a:schemeClr val="tx1"/>
                </a:solidFill>
                <a:latin typeface="Arial" pitchFamily="34" charset="0"/>
                <a:cs typeface="Arial" pitchFamily="34" charset="0"/>
              </a:rPr>
              <a:t>heap</a:t>
            </a:r>
            <a:r>
              <a:rPr lang="es-AR" sz="1800" dirty="0">
                <a:solidFill>
                  <a:schemeClr val="tx1"/>
                </a:solidFill>
                <a:latin typeface="Arial" pitchFamily="34" charset="0"/>
                <a:cs typeface="Arial" pitchFamily="34" charset="0"/>
              </a:rPr>
              <a:t>, variables globales,  y código) y por otro lado, cada hilo tiene su propio </a:t>
            </a:r>
            <a:r>
              <a:rPr lang="es-AR" sz="1800" b="1" dirty="0">
                <a:solidFill>
                  <a:schemeClr val="tx1"/>
                </a:solidFill>
                <a:latin typeface="Arial" pitchFamily="34" charset="0"/>
                <a:cs typeface="Arial" pitchFamily="34" charset="0"/>
              </a:rPr>
              <a:t>bloque de control de hilo (TBC) </a:t>
            </a:r>
            <a:r>
              <a:rPr lang="es-AR" sz="1800" dirty="0">
                <a:solidFill>
                  <a:schemeClr val="tx1"/>
                </a:solidFill>
                <a:latin typeface="Arial" pitchFamily="34" charset="0"/>
                <a:cs typeface="Arial" pitchFamily="34" charset="0"/>
              </a:rPr>
              <a:t>(contiene valores de los registros, la prioridad, y otra </a:t>
            </a:r>
            <a:r>
              <a:rPr lang="es-AR" sz="1800" dirty="0" err="1">
                <a:solidFill>
                  <a:schemeClr val="tx1"/>
                </a:solidFill>
                <a:latin typeface="Arial" pitchFamily="34" charset="0"/>
                <a:cs typeface="Arial" pitchFamily="34" charset="0"/>
              </a:rPr>
              <a:t>infor-mación</a:t>
            </a:r>
            <a:r>
              <a:rPr lang="es-AR" sz="1800" dirty="0">
                <a:solidFill>
                  <a:schemeClr val="tx1"/>
                </a:solidFill>
                <a:latin typeface="Arial" pitchFamily="34" charset="0"/>
                <a:cs typeface="Arial" pitchFamily="34" charset="0"/>
              </a:rPr>
              <a:t> relativa al estado del hilo (id, estado, política de sincronización, etc.)). </a:t>
            </a:r>
            <a:r>
              <a:rPr lang="es-AR" sz="1800" dirty="0">
                <a:solidFill>
                  <a:srgbClr val="0070C0"/>
                </a:solidFill>
                <a:latin typeface="Arial" pitchFamily="34" charset="0"/>
                <a:cs typeface="Arial" pitchFamily="34" charset="0"/>
              </a:rPr>
              <a:t>Un hilo puede acceder al estado de otro hilo</a:t>
            </a:r>
          </a:p>
        </p:txBody>
      </p:sp>
      <p:pic>
        <p:nvPicPr>
          <p:cNvPr id="1027" name="Picture 3"/>
          <p:cNvPicPr>
            <a:picLocks noChangeAspect="1" noChangeArrowheads="1"/>
          </p:cNvPicPr>
          <p:nvPr/>
        </p:nvPicPr>
        <p:blipFill>
          <a:blip r:embed="rId3" cstate="print"/>
          <a:srcRect/>
          <a:stretch>
            <a:fillRect/>
          </a:stretch>
        </p:blipFill>
        <p:spPr bwMode="auto">
          <a:xfrm>
            <a:off x="6425556" y="4128379"/>
            <a:ext cx="2691285" cy="1748629"/>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cstate="print"/>
          <a:srcRect/>
          <a:stretch>
            <a:fillRect/>
          </a:stretch>
        </p:blipFill>
        <p:spPr bwMode="auto">
          <a:xfrm>
            <a:off x="4525367" y="4128382"/>
            <a:ext cx="1879852" cy="1692998"/>
          </a:xfrm>
          <a:prstGeom prst="rect">
            <a:avLst/>
          </a:prstGeom>
          <a:noFill/>
          <a:ln w="9525">
            <a:noFill/>
            <a:miter lim="800000"/>
            <a:headEnd/>
            <a:tailEnd/>
          </a:ln>
          <a:effectLst/>
        </p:spPr>
      </p:pic>
      <p:pic>
        <p:nvPicPr>
          <p:cNvPr id="10" name="Picture 2"/>
          <p:cNvPicPr>
            <a:picLocks noChangeAspect="1" noChangeArrowheads="1"/>
          </p:cNvPicPr>
          <p:nvPr/>
        </p:nvPicPr>
        <p:blipFill>
          <a:blip r:embed="rId5" cstate="print"/>
          <a:srcRect/>
          <a:stretch>
            <a:fillRect/>
          </a:stretch>
        </p:blipFill>
        <p:spPr bwMode="auto">
          <a:xfrm>
            <a:off x="9144000" y="1766897"/>
            <a:ext cx="4001859" cy="1890279"/>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err="1">
                <a:solidFill>
                  <a:schemeClr val="tx1"/>
                </a:solidFill>
                <a:latin typeface="+mj-lt"/>
                <a:ea typeface="+mj-ea"/>
                <a:cs typeface="+mj-cs"/>
              </a:rPr>
              <a:t>Threads</a:t>
            </a:r>
            <a:endParaRPr kumimoji="0" lang="es-AR" sz="3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353139" y="1087934"/>
            <a:ext cx="8638461" cy="5693866"/>
          </a:xfrm>
          <a:prstGeom prst="rect">
            <a:avLst/>
          </a:prstGeom>
          <a:noFill/>
        </p:spPr>
        <p:txBody>
          <a:bodyPr wrap="square" rtlCol="0">
            <a:spAutoFit/>
          </a:bodyPr>
          <a:lstStyle/>
          <a:p>
            <a:pPr marL="177800" indent="-177800" algn="l">
              <a:spcBef>
                <a:spcPts val="600"/>
              </a:spcBef>
            </a:pPr>
            <a:r>
              <a:rPr lang="es-AR" sz="1800" b="1" dirty="0">
                <a:solidFill>
                  <a:srgbClr val="7030A0"/>
                </a:solidFill>
                <a:latin typeface="Arial" pitchFamily="34" charset="0"/>
                <a:cs typeface="Arial" pitchFamily="34" charset="0"/>
              </a:rPr>
              <a:t>Algunos ejemplos de uso:</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Trabajo en primer plano y en segundo plano (ej. Un hilo puede mostrar la interface de una aplicación mientras otro realiza los cálculos).</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Procesamiento asíncrono. (ej. crear una copia de seguridad mientras otro sigue leyendo el teclado).</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Velocidad de ejecución. (ej. Se puede ejecutar un lote de datos mientras otro hilo lee el lote siguiente de un dispositivo.).</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Estructura modular de programas. (ej. los programas se pueden diseñar e implementar más fácilmente usando hilos separando las actividades)</a:t>
            </a:r>
          </a:p>
          <a:p>
            <a:pPr marL="177800" indent="-177800" algn="l">
              <a:spcBef>
                <a:spcPts val="600"/>
              </a:spcBef>
              <a:buFont typeface="Arial" pitchFamily="34" charset="0"/>
              <a:buChar char="•"/>
            </a:pPr>
            <a:r>
              <a:rPr lang="es-AR" sz="1800" dirty="0">
                <a:solidFill>
                  <a:schemeClr val="tx1"/>
                </a:solidFill>
                <a:latin typeface="Arial" pitchFamily="34" charset="0"/>
                <a:cs typeface="Arial" pitchFamily="34" charset="0"/>
              </a:rPr>
              <a:t>Etc.</a:t>
            </a:r>
          </a:p>
          <a:p>
            <a:pPr marL="177800" indent="-177800" algn="l">
              <a:spcBef>
                <a:spcPts val="600"/>
              </a:spcBef>
            </a:pPr>
            <a:r>
              <a:rPr lang="es-AR" sz="1800" b="1" dirty="0">
                <a:solidFill>
                  <a:srgbClr val="7030A0"/>
                </a:solidFill>
                <a:latin typeface="Arial" pitchFamily="34" charset="0"/>
                <a:cs typeface="Arial" pitchFamily="34" charset="0"/>
              </a:rPr>
              <a:t>Observación</a:t>
            </a:r>
            <a:r>
              <a:rPr lang="es-AR" sz="1800" dirty="0">
                <a:solidFill>
                  <a:schemeClr val="tx1"/>
                </a:solidFill>
                <a:latin typeface="Arial" pitchFamily="34" charset="0"/>
                <a:cs typeface="Arial" pitchFamily="34" charset="0"/>
              </a:rPr>
              <a:t>:</a:t>
            </a:r>
          </a:p>
          <a:p>
            <a:pPr marL="342900" indent="-342900" algn="l">
              <a:spcBef>
                <a:spcPts val="600"/>
              </a:spcBef>
            </a:pPr>
            <a:r>
              <a:rPr lang="es-AR" sz="1800" dirty="0">
                <a:solidFill>
                  <a:schemeClr val="tx1"/>
                </a:solidFill>
                <a:latin typeface="Arial" pitchFamily="34" charset="0"/>
                <a:cs typeface="Arial" pitchFamily="34" charset="0"/>
              </a:rPr>
              <a:t>En un sistema operativo que soporte hilos, la planificación y la activación se realizan a nivel de hilo por lo que la mayor parte de la información se mantiene en el </a:t>
            </a:r>
            <a:r>
              <a:rPr lang="es-AR" sz="1800" b="1" dirty="0">
                <a:solidFill>
                  <a:schemeClr val="tx1"/>
                </a:solidFill>
                <a:latin typeface="Arial" pitchFamily="34" charset="0"/>
                <a:cs typeface="Arial" pitchFamily="34" charset="0"/>
              </a:rPr>
              <a:t>bloque de control de hilo</a:t>
            </a:r>
            <a:r>
              <a:rPr lang="es-AR" sz="1800" dirty="0">
                <a:solidFill>
                  <a:schemeClr val="tx1"/>
                </a:solidFill>
                <a:latin typeface="Arial" pitchFamily="34" charset="0"/>
                <a:cs typeface="Arial" pitchFamily="34" charset="0"/>
              </a:rPr>
              <a:t>.</a:t>
            </a:r>
          </a:p>
          <a:p>
            <a:pPr marL="177800" indent="-177800" algn="l">
              <a:spcBef>
                <a:spcPts val="600"/>
              </a:spcBef>
            </a:pPr>
            <a:r>
              <a:rPr lang="es-AR" sz="1800" dirty="0">
                <a:solidFill>
                  <a:schemeClr val="tx1"/>
                </a:solidFill>
                <a:latin typeface="Arial" pitchFamily="34" charset="0"/>
                <a:cs typeface="Arial" pitchFamily="34" charset="0"/>
              </a:rPr>
              <a:t>Hay acciones que afectan a todos los hilos de un proceso, como por ejemplo un cambio de contexto o terminación del mismo ya que desasigna el espacio de direcciones utilizado y como todos los hilos lo comparten, todos los hilos se suspenden o terminan al mismo tiempo., </a:t>
            </a:r>
            <a:r>
              <a:rPr lang="es-AR" sz="1800" b="1" dirty="0">
                <a:solidFill>
                  <a:schemeClr val="tx1"/>
                </a:solidFill>
                <a:latin typeface="Arial" pitchFamily="34" charset="0"/>
                <a:cs typeface="Arial" pitchFamily="34" charset="0"/>
              </a:rPr>
              <a:t> </a:t>
            </a:r>
            <a:endParaRPr lang="es-AR" sz="1800" dirty="0">
              <a:solidFill>
                <a:schemeClr val="tx1"/>
              </a:solidFill>
              <a:latin typeface="Arial" pitchFamily="34" charset="0"/>
              <a:cs typeface="Arial" pitchFamily="34" charset="0"/>
            </a:endParaRPr>
          </a:p>
        </p:txBody>
      </p:sp>
      <p:grpSp>
        <p:nvGrpSpPr>
          <p:cNvPr id="8" name="7 Grupo"/>
          <p:cNvGrpSpPr/>
          <p:nvPr/>
        </p:nvGrpSpPr>
        <p:grpSpPr>
          <a:xfrm>
            <a:off x="9144000" y="1235413"/>
            <a:ext cx="4748458" cy="1948994"/>
            <a:chOff x="209550" y="1894202"/>
            <a:chExt cx="8934450" cy="3667125"/>
          </a:xfrm>
        </p:grpSpPr>
        <p:pic>
          <p:nvPicPr>
            <p:cNvPr id="5122" name="Picture 2"/>
            <p:cNvPicPr>
              <a:picLocks noChangeAspect="1" noChangeArrowheads="1"/>
            </p:cNvPicPr>
            <p:nvPr/>
          </p:nvPicPr>
          <p:blipFill>
            <a:blip r:embed="rId3" cstate="print"/>
            <a:srcRect/>
            <a:stretch>
              <a:fillRect/>
            </a:stretch>
          </p:blipFill>
          <p:spPr bwMode="auto">
            <a:xfrm>
              <a:off x="209550" y="1894202"/>
              <a:ext cx="8934450" cy="3667125"/>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cstate="print"/>
            <a:srcRect/>
            <a:stretch>
              <a:fillRect/>
            </a:stretch>
          </p:blipFill>
          <p:spPr bwMode="auto">
            <a:xfrm>
              <a:off x="4224857" y="4387489"/>
              <a:ext cx="4514850" cy="962025"/>
            </a:xfrm>
            <a:prstGeom prst="rect">
              <a:avLst/>
            </a:prstGeom>
            <a:noFill/>
            <a:ln w="9525">
              <a:noFill/>
              <a:miter lim="800000"/>
              <a:headEnd/>
              <a:tailEnd/>
            </a:ln>
            <a:effectLst/>
          </p:spPr>
        </p:pic>
      </p:grpSp>
      <p:grpSp>
        <p:nvGrpSpPr>
          <p:cNvPr id="12" name="11 Grupo"/>
          <p:cNvGrpSpPr/>
          <p:nvPr/>
        </p:nvGrpSpPr>
        <p:grpSpPr>
          <a:xfrm>
            <a:off x="9287823" y="3434043"/>
            <a:ext cx="5580906" cy="1670930"/>
            <a:chOff x="5229951" y="3367523"/>
            <a:chExt cx="5580906" cy="1670930"/>
          </a:xfrm>
        </p:grpSpPr>
        <p:pic>
          <p:nvPicPr>
            <p:cNvPr id="5126" name="Picture 6"/>
            <p:cNvPicPr>
              <a:picLocks noChangeAspect="1" noChangeArrowheads="1"/>
            </p:cNvPicPr>
            <p:nvPr/>
          </p:nvPicPr>
          <p:blipFill>
            <a:blip r:embed="rId5" cstate="print"/>
            <a:srcRect/>
            <a:stretch>
              <a:fillRect/>
            </a:stretch>
          </p:blipFill>
          <p:spPr bwMode="auto">
            <a:xfrm>
              <a:off x="5229951" y="3367523"/>
              <a:ext cx="5580906" cy="1670930"/>
            </a:xfrm>
            <a:prstGeom prst="rect">
              <a:avLst/>
            </a:prstGeom>
            <a:noFill/>
            <a:ln w="9525">
              <a:noFill/>
              <a:miter lim="800000"/>
              <a:headEnd/>
              <a:tailEnd/>
            </a:ln>
            <a:effectLst/>
          </p:spPr>
        </p:pic>
        <p:pic>
          <p:nvPicPr>
            <p:cNvPr id="5125" name="Picture 5"/>
            <p:cNvPicPr>
              <a:picLocks noChangeAspect="1" noChangeArrowheads="1"/>
            </p:cNvPicPr>
            <p:nvPr/>
          </p:nvPicPr>
          <p:blipFill>
            <a:blip r:embed="rId6" cstate="print"/>
            <a:srcRect/>
            <a:stretch>
              <a:fillRect/>
            </a:stretch>
          </p:blipFill>
          <p:spPr bwMode="auto">
            <a:xfrm>
              <a:off x="7802632" y="4390342"/>
              <a:ext cx="2738154" cy="550936"/>
            </a:xfrm>
            <a:prstGeom prst="rect">
              <a:avLst/>
            </a:prstGeom>
            <a:noFill/>
            <a:ln w="9525">
              <a:noFill/>
              <a:miter lim="800000"/>
              <a:headEnd/>
              <a:tailEnd/>
            </a:ln>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1"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Estado y operaciones de un hilo</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9" name="8 CuadroTexto"/>
          <p:cNvSpPr txBox="1"/>
          <p:nvPr/>
        </p:nvSpPr>
        <p:spPr>
          <a:xfrm>
            <a:off x="261257" y="1021444"/>
            <a:ext cx="8882743" cy="6478697"/>
          </a:xfrm>
          <a:prstGeom prst="rect">
            <a:avLst/>
          </a:prstGeom>
          <a:noFill/>
        </p:spPr>
        <p:txBody>
          <a:bodyPr wrap="square" rtlCol="0">
            <a:spAutoFit/>
          </a:bodyPr>
          <a:lstStyle/>
          <a:p>
            <a:pPr algn="l">
              <a:spcBef>
                <a:spcPts val="600"/>
              </a:spcBef>
            </a:pPr>
            <a:r>
              <a:rPr lang="es-AR" sz="1800" dirty="0">
                <a:solidFill>
                  <a:schemeClr val="tx1"/>
                </a:solidFill>
                <a:latin typeface="Arial" pitchFamily="34" charset="0"/>
                <a:cs typeface="Arial" pitchFamily="34" charset="0"/>
              </a:rPr>
              <a:t>Los </a:t>
            </a:r>
            <a:r>
              <a:rPr lang="es-AR" sz="1800" b="1" dirty="0">
                <a:solidFill>
                  <a:schemeClr val="tx1"/>
                </a:solidFill>
                <a:latin typeface="Arial" pitchFamily="34" charset="0"/>
                <a:cs typeface="Arial" pitchFamily="34" charset="0"/>
              </a:rPr>
              <a:t>estados</a:t>
            </a:r>
            <a:r>
              <a:rPr lang="es-AR" sz="1800" dirty="0">
                <a:solidFill>
                  <a:schemeClr val="tx1"/>
                </a:solidFill>
                <a:latin typeface="Arial" pitchFamily="34" charset="0"/>
                <a:cs typeface="Arial" pitchFamily="34" charset="0"/>
              </a:rPr>
              <a:t> (al igual que los procesos) son :</a:t>
            </a:r>
          </a:p>
          <a:p>
            <a:pPr marL="266700" indent="-266700" algn="l">
              <a:spcBef>
                <a:spcPts val="600"/>
              </a:spcBef>
              <a:buFont typeface="Arial" pitchFamily="34" charset="0"/>
              <a:buChar char="•"/>
            </a:pPr>
            <a:r>
              <a:rPr lang="es-AR" sz="1800" dirty="0">
                <a:solidFill>
                  <a:srgbClr val="7030A0"/>
                </a:solidFill>
                <a:latin typeface="Arial" pitchFamily="34" charset="0"/>
                <a:cs typeface="Arial" pitchFamily="34" charset="0"/>
              </a:rPr>
              <a:t>En ejecución: </a:t>
            </a:r>
            <a:r>
              <a:rPr lang="es-AR" sz="1800" dirty="0">
                <a:solidFill>
                  <a:schemeClr val="tx1"/>
                </a:solidFill>
                <a:latin typeface="Arial" pitchFamily="34" charset="0"/>
                <a:cs typeface="Arial" pitchFamily="34" charset="0"/>
              </a:rPr>
              <a:t>está en ejecución en un procesador</a:t>
            </a:r>
          </a:p>
          <a:p>
            <a:pPr marL="266700" indent="-266700" algn="l">
              <a:spcBef>
                <a:spcPts val="600"/>
              </a:spcBef>
              <a:buFont typeface="Arial" pitchFamily="34" charset="0"/>
              <a:buChar char="•"/>
            </a:pPr>
            <a:r>
              <a:rPr lang="es-AR" sz="1800" dirty="0">
                <a:solidFill>
                  <a:srgbClr val="7030A0"/>
                </a:solidFill>
                <a:latin typeface="Arial" pitchFamily="34" charset="0"/>
                <a:cs typeface="Arial" pitchFamily="34" charset="0"/>
              </a:rPr>
              <a:t>Listo : </a:t>
            </a:r>
            <a:r>
              <a:rPr lang="es-AR" sz="1800" dirty="0">
                <a:solidFill>
                  <a:schemeClr val="tx1"/>
                </a:solidFill>
                <a:latin typeface="Arial" pitchFamily="34" charset="0"/>
                <a:cs typeface="Arial" pitchFamily="34" charset="0"/>
              </a:rPr>
              <a:t>está preparado para ejecutar, pero aún no tiene un procesador disponible</a:t>
            </a:r>
          </a:p>
          <a:p>
            <a:pPr marL="266700" indent="-266700" algn="l">
              <a:spcBef>
                <a:spcPts val="600"/>
              </a:spcBef>
              <a:buFont typeface="Arial" pitchFamily="34" charset="0"/>
              <a:buChar char="•"/>
            </a:pPr>
            <a:r>
              <a:rPr lang="es-AR" sz="1800" dirty="0">
                <a:solidFill>
                  <a:srgbClr val="7030A0"/>
                </a:solidFill>
                <a:latin typeface="Arial" pitchFamily="34" charset="0"/>
                <a:cs typeface="Arial" pitchFamily="34" charset="0"/>
              </a:rPr>
              <a:t>Bloqueado: </a:t>
            </a:r>
            <a:r>
              <a:rPr lang="es-AR" sz="1800" dirty="0">
                <a:solidFill>
                  <a:schemeClr val="tx1"/>
                </a:solidFill>
                <a:latin typeface="Arial" pitchFamily="34" charset="0"/>
                <a:cs typeface="Arial" pitchFamily="34" charset="0"/>
              </a:rPr>
              <a:t>esperando a una condición para poder continuar ejecutando</a:t>
            </a:r>
          </a:p>
          <a:p>
            <a:pPr algn="l">
              <a:spcBef>
                <a:spcPts val="600"/>
              </a:spcBef>
            </a:pPr>
            <a:r>
              <a:rPr lang="es-AR" sz="1800" dirty="0">
                <a:solidFill>
                  <a:schemeClr val="tx1"/>
                </a:solidFill>
                <a:latin typeface="Arial" pitchFamily="34" charset="0"/>
                <a:cs typeface="Arial" pitchFamily="34" charset="0"/>
              </a:rPr>
              <a:t>Las </a:t>
            </a:r>
            <a:r>
              <a:rPr lang="es-AR" sz="1800" b="1" dirty="0">
                <a:solidFill>
                  <a:schemeClr val="tx1"/>
                </a:solidFill>
                <a:latin typeface="Arial" pitchFamily="34" charset="0"/>
                <a:cs typeface="Arial" pitchFamily="34" charset="0"/>
              </a:rPr>
              <a:t>operaciones</a:t>
            </a:r>
            <a:r>
              <a:rPr lang="es-AR" sz="1800" dirty="0">
                <a:solidFill>
                  <a:schemeClr val="tx1"/>
                </a:solidFill>
                <a:latin typeface="Arial" pitchFamily="34" charset="0"/>
                <a:cs typeface="Arial" pitchFamily="34" charset="0"/>
              </a:rPr>
              <a:t> relacionadas con los hilos asociadas al cambio de estado son:</a:t>
            </a:r>
          </a:p>
          <a:p>
            <a:pPr marL="180975" indent="-180975" algn="l">
              <a:spcBef>
                <a:spcPts val="600"/>
              </a:spcBef>
              <a:buFont typeface="Arial" pitchFamily="34" charset="0"/>
              <a:buChar char="•"/>
            </a:pPr>
            <a:r>
              <a:rPr lang="es-AR" sz="1800" dirty="0">
                <a:solidFill>
                  <a:srgbClr val="7030A0"/>
                </a:solidFill>
                <a:latin typeface="Arial" pitchFamily="34" charset="0"/>
                <a:cs typeface="Arial" pitchFamily="34" charset="0"/>
              </a:rPr>
              <a:t>Creación</a:t>
            </a:r>
            <a:r>
              <a:rPr lang="es-AR" sz="1800" dirty="0">
                <a:solidFill>
                  <a:schemeClr val="tx1"/>
                </a:solidFill>
                <a:latin typeface="Arial" pitchFamily="34" charset="0"/>
                <a:cs typeface="Arial" pitchFamily="34" charset="0"/>
              </a:rPr>
              <a:t>:  Cuando se crea un nuevo proceso, también se crea un hilo de dicho proceso. Este hilo puede crear otros dentro del mismo proceso dándoles punteros al código y argumentos. Este nuevo hilo tendrá su propio registro de contexto y espacio de pila y se coloca en la cola de Listos.</a:t>
            </a:r>
          </a:p>
          <a:p>
            <a:pPr marL="180975" indent="-180975" algn="l">
              <a:spcBef>
                <a:spcPts val="600"/>
              </a:spcBef>
              <a:buFont typeface="Arial" pitchFamily="34" charset="0"/>
              <a:buChar char="•"/>
            </a:pPr>
            <a:r>
              <a:rPr lang="es-AR" sz="1800" dirty="0">
                <a:solidFill>
                  <a:srgbClr val="7030A0"/>
                </a:solidFill>
                <a:latin typeface="Arial" pitchFamily="34" charset="0"/>
                <a:cs typeface="Arial" pitchFamily="34" charset="0"/>
              </a:rPr>
              <a:t>Bloqueo</a:t>
            </a:r>
            <a:r>
              <a:rPr lang="es-AR" sz="1800" dirty="0">
                <a:solidFill>
                  <a:schemeClr val="tx1"/>
                </a:solidFill>
                <a:latin typeface="Arial" pitchFamily="34" charset="0"/>
                <a:cs typeface="Arial" pitchFamily="34" charset="0"/>
              </a:rPr>
              <a:t>. Cuando un hilo necesita esperar por un evento se bloquea, almacenando los registros de usuario, contador de programa y punteros de pila. El procesador puede pasar a ejecutar otro hilo en estado Listo, dentro del mismo proceso o en otro diferente.</a:t>
            </a:r>
          </a:p>
          <a:p>
            <a:pPr marL="180975" indent="-180975" algn="l">
              <a:spcBef>
                <a:spcPts val="600"/>
              </a:spcBef>
              <a:buFont typeface="Arial" pitchFamily="34" charset="0"/>
              <a:buChar char="•"/>
            </a:pPr>
            <a:r>
              <a:rPr lang="es-AR" sz="1800" dirty="0">
                <a:solidFill>
                  <a:srgbClr val="7030A0"/>
                </a:solidFill>
                <a:latin typeface="Arial" pitchFamily="34" charset="0"/>
                <a:cs typeface="Arial" pitchFamily="34" charset="0"/>
              </a:rPr>
              <a:t>Desbloqueo</a:t>
            </a:r>
            <a:r>
              <a:rPr lang="es-AR" sz="1800" dirty="0">
                <a:solidFill>
                  <a:schemeClr val="tx1"/>
                </a:solidFill>
                <a:latin typeface="Arial" pitchFamily="34" charset="0"/>
                <a:cs typeface="Arial" pitchFamily="34" charset="0"/>
              </a:rPr>
              <a:t>. Cuando sucede el evento por el que el hilo está bloqueado, el hilo se pasa a la cola de Listos.</a:t>
            </a:r>
          </a:p>
          <a:p>
            <a:pPr marL="180975" indent="-180975" algn="l">
              <a:spcBef>
                <a:spcPts val="600"/>
              </a:spcBef>
              <a:buFont typeface="Arial" pitchFamily="34" charset="0"/>
              <a:buChar char="•"/>
            </a:pPr>
            <a:r>
              <a:rPr lang="es-AR" sz="1800" dirty="0">
                <a:solidFill>
                  <a:srgbClr val="7030A0"/>
                </a:solidFill>
                <a:latin typeface="Arial" pitchFamily="34" charset="0"/>
                <a:cs typeface="Arial" pitchFamily="34" charset="0"/>
              </a:rPr>
              <a:t>Planificación y expulsión </a:t>
            </a:r>
            <a:r>
              <a:rPr lang="es-AR" sz="1800" dirty="0">
                <a:solidFill>
                  <a:schemeClr val="tx1"/>
                </a:solidFill>
                <a:latin typeface="Arial" pitchFamily="34" charset="0"/>
                <a:cs typeface="Arial" pitchFamily="34" charset="0"/>
              </a:rPr>
              <a:t>son operaciones llevadas a cabo de acuerdo a las </a:t>
            </a:r>
            <a:r>
              <a:rPr lang="es-AR" sz="1800" dirty="0" err="1">
                <a:solidFill>
                  <a:schemeClr val="tx1"/>
                </a:solidFill>
                <a:latin typeface="Arial" pitchFamily="34" charset="0"/>
                <a:cs typeface="Arial" pitchFamily="34" charset="0"/>
              </a:rPr>
              <a:t>politicas</a:t>
            </a:r>
            <a:r>
              <a:rPr lang="es-AR" sz="1800" dirty="0">
                <a:solidFill>
                  <a:schemeClr val="tx1"/>
                </a:solidFill>
                <a:latin typeface="Arial" pitchFamily="34" charset="0"/>
                <a:cs typeface="Arial" pitchFamily="34" charset="0"/>
              </a:rPr>
              <a:t> de planificación</a:t>
            </a:r>
          </a:p>
          <a:p>
            <a:pPr marL="180975" indent="-180975" algn="l">
              <a:spcBef>
                <a:spcPts val="600"/>
              </a:spcBef>
              <a:buFont typeface="Arial" pitchFamily="34" charset="0"/>
              <a:buChar char="•"/>
            </a:pPr>
            <a:r>
              <a:rPr lang="es-AR" sz="1800" dirty="0">
                <a:solidFill>
                  <a:srgbClr val="7030A0"/>
                </a:solidFill>
                <a:latin typeface="Arial" pitchFamily="34" charset="0"/>
                <a:cs typeface="Arial" pitchFamily="34" charset="0"/>
              </a:rPr>
              <a:t>Finalización</a:t>
            </a:r>
            <a:r>
              <a:rPr lang="es-AR" sz="1800" dirty="0">
                <a:solidFill>
                  <a:schemeClr val="tx1"/>
                </a:solidFill>
                <a:latin typeface="Arial" pitchFamily="34" charset="0"/>
                <a:cs typeface="Arial" pitchFamily="34" charset="0"/>
              </a:rPr>
              <a:t>. Cuando se completa un hilo, se liberan su registro de contexto y pilas.</a:t>
            </a:r>
          </a:p>
          <a:p>
            <a:pPr algn="l">
              <a:spcBef>
                <a:spcPts val="600"/>
              </a:spcBef>
            </a:pPr>
            <a:endParaRPr lang="es-AR" sz="1800" dirty="0">
              <a:solidFill>
                <a:schemeClr val="tx1"/>
              </a:solidFill>
              <a:latin typeface="Arial" pitchFamily="34" charset="0"/>
              <a:cs typeface="Arial" pitchFamily="34" charset="0"/>
            </a:endParaRPr>
          </a:p>
          <a:p>
            <a:pPr algn="l">
              <a:spcBef>
                <a:spcPts val="600"/>
              </a:spcBef>
            </a:pPr>
            <a:endParaRPr lang="es-AR" sz="1800" dirty="0">
              <a:solidFill>
                <a:schemeClr val="tx1"/>
              </a:solidFill>
              <a:latin typeface="Arial" pitchFamily="34" charset="0"/>
              <a:cs typeface="Arial" pitchFamily="34" charset="0"/>
            </a:endParaRPr>
          </a:p>
        </p:txBody>
      </p:sp>
      <p:grpSp>
        <p:nvGrpSpPr>
          <p:cNvPr id="71" name="70 Grupo"/>
          <p:cNvGrpSpPr/>
          <p:nvPr/>
        </p:nvGrpSpPr>
        <p:grpSpPr>
          <a:xfrm>
            <a:off x="9355690" y="1108364"/>
            <a:ext cx="7852227" cy="5076871"/>
            <a:chOff x="1698173" y="0"/>
            <a:chExt cx="9260114" cy="5987143"/>
          </a:xfrm>
        </p:grpSpPr>
        <p:sp>
          <p:nvSpPr>
            <p:cNvPr id="7" name="6 Rectángulo"/>
            <p:cNvSpPr/>
            <p:nvPr/>
          </p:nvSpPr>
          <p:spPr>
            <a:xfrm>
              <a:off x="1698173" y="0"/>
              <a:ext cx="9260114" cy="5987143"/>
            </a:xfrm>
            <a:prstGeom prst="rect">
              <a:avLst/>
            </a:prstGeom>
            <a:gradFill flip="none" rotWithShape="1">
              <a:gsLst>
                <a:gs pos="0">
                  <a:schemeClr val="accent5">
                    <a:tint val="50000"/>
                    <a:satMod val="300000"/>
                  </a:schemeClr>
                </a:gs>
                <a:gs pos="35000">
                  <a:schemeClr val="accent5">
                    <a:tint val="37000"/>
                    <a:satMod val="300000"/>
                  </a:schemeClr>
                </a:gs>
                <a:gs pos="100000">
                  <a:schemeClr val="accent5">
                    <a:tint val="15000"/>
                    <a:satMod val="350000"/>
                  </a:schemeClr>
                </a:gs>
              </a:gsLst>
              <a:path path="circle">
                <a:fillToRect l="50000" t="50000" r="50000" b="50000"/>
              </a:path>
              <a:tileRec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s-AR" dirty="0"/>
                <a:t> </a:t>
              </a:r>
            </a:p>
          </p:txBody>
        </p:sp>
        <p:cxnSp>
          <p:nvCxnSpPr>
            <p:cNvPr id="16" name="15 Conector curvado"/>
            <p:cNvCxnSpPr/>
            <p:nvPr/>
          </p:nvCxnSpPr>
          <p:spPr>
            <a:xfrm rot="-6540000" flipH="1" flipV="1">
              <a:off x="4275101" y="1672895"/>
              <a:ext cx="2119085" cy="1886878"/>
            </a:xfrm>
            <a:prstGeom prst="curvedConnector2">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21" name="15 Conector curvado"/>
            <p:cNvCxnSpPr>
              <a:endCxn id="12" idx="1"/>
            </p:cNvCxnSpPr>
            <p:nvPr/>
          </p:nvCxnSpPr>
          <p:spPr>
            <a:xfrm>
              <a:off x="2220686" y="3367314"/>
              <a:ext cx="911817" cy="523369"/>
            </a:xfrm>
            <a:prstGeom prst="curvedConnector2">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1" name="15 Conector curvado"/>
            <p:cNvCxnSpPr/>
            <p:nvPr/>
          </p:nvCxnSpPr>
          <p:spPr>
            <a:xfrm rot="4620000" flipH="1" flipV="1">
              <a:off x="3839674" y="2079296"/>
              <a:ext cx="2119085" cy="1886878"/>
            </a:xfrm>
            <a:prstGeom prst="curvedConnector2">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2" name="15 Conector curvado"/>
            <p:cNvCxnSpPr/>
            <p:nvPr/>
          </p:nvCxnSpPr>
          <p:spPr>
            <a:xfrm rot="-10800000" flipH="1" flipV="1">
              <a:off x="6574973" y="1847065"/>
              <a:ext cx="2119085" cy="1886878"/>
            </a:xfrm>
            <a:prstGeom prst="curvedConnector2">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3" name="12 Elipse"/>
            <p:cNvSpPr/>
            <p:nvPr/>
          </p:nvSpPr>
          <p:spPr>
            <a:xfrm>
              <a:off x="5471907" y="812800"/>
              <a:ext cx="2162629" cy="1393371"/>
            </a:xfrm>
            <a:prstGeom prst="ellipse">
              <a:avLst/>
            </a:prstGeom>
            <a:solidFill>
              <a:srgbClr val="FFFF00"/>
            </a:solid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s-AR" sz="2000" dirty="0">
                  <a:solidFill>
                    <a:schemeClr val="tx1"/>
                  </a:solidFill>
                </a:rPr>
                <a:t>En ejecución</a:t>
              </a:r>
            </a:p>
          </p:txBody>
        </p:sp>
        <p:cxnSp>
          <p:nvCxnSpPr>
            <p:cNvPr id="63" name="15 Conector curvado"/>
            <p:cNvCxnSpPr/>
            <p:nvPr/>
          </p:nvCxnSpPr>
          <p:spPr>
            <a:xfrm rot="-2520000" flipH="1" flipV="1">
              <a:off x="5320131" y="3690385"/>
              <a:ext cx="2119085" cy="1886878"/>
            </a:xfrm>
            <a:prstGeom prst="curvedConnector2">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4" name="13 Elipse"/>
            <p:cNvSpPr/>
            <p:nvPr/>
          </p:nvSpPr>
          <p:spPr>
            <a:xfrm>
              <a:off x="7786913" y="3701144"/>
              <a:ext cx="2162629" cy="1393371"/>
            </a:xfrm>
            <a:prstGeom prst="ellipse">
              <a:avLst/>
            </a:prstGeom>
            <a:solidFill>
              <a:srgbClr val="FFFF00"/>
            </a:solid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s-AR" sz="2000" dirty="0">
                  <a:solidFill>
                    <a:schemeClr val="tx1"/>
                  </a:solidFill>
                </a:rPr>
                <a:t>Bloqueado</a:t>
              </a:r>
            </a:p>
          </p:txBody>
        </p:sp>
        <p:sp>
          <p:nvSpPr>
            <p:cNvPr id="12" name="11 Elipse"/>
            <p:cNvSpPr/>
            <p:nvPr/>
          </p:nvSpPr>
          <p:spPr>
            <a:xfrm>
              <a:off x="2815792" y="3686629"/>
              <a:ext cx="2162629" cy="1393371"/>
            </a:xfrm>
            <a:prstGeom prst="ellipse">
              <a:avLst/>
            </a:prstGeom>
            <a:solidFill>
              <a:srgbClr val="FFFF00"/>
            </a:solid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s-AR" sz="2000" dirty="0">
                  <a:solidFill>
                    <a:schemeClr val="tx1"/>
                  </a:solidFill>
                </a:rPr>
                <a:t>Listo</a:t>
              </a:r>
            </a:p>
          </p:txBody>
        </p:sp>
        <p:sp>
          <p:nvSpPr>
            <p:cNvPr id="64" name="63 CuadroTexto"/>
            <p:cNvSpPr txBox="1"/>
            <p:nvPr/>
          </p:nvSpPr>
          <p:spPr>
            <a:xfrm>
              <a:off x="2480603" y="3149600"/>
              <a:ext cx="797013" cy="276999"/>
            </a:xfrm>
            <a:prstGeom prst="rect">
              <a:avLst/>
            </a:prstGeom>
            <a:noFill/>
          </p:spPr>
          <p:txBody>
            <a:bodyPr wrap="none" rtlCol="0">
              <a:spAutoFit/>
            </a:bodyPr>
            <a:lstStyle/>
            <a:p>
              <a:r>
                <a:rPr lang="es-AR" sz="1200" dirty="0">
                  <a:solidFill>
                    <a:schemeClr val="tx1"/>
                  </a:solidFill>
                  <a:latin typeface="Arial" pitchFamily="34" charset="0"/>
                  <a:cs typeface="Arial" pitchFamily="34" charset="0"/>
                </a:rPr>
                <a:t>Creación</a:t>
              </a:r>
            </a:p>
          </p:txBody>
        </p:sp>
        <p:sp>
          <p:nvSpPr>
            <p:cNvPr id="65" name="64 CuadroTexto"/>
            <p:cNvSpPr txBox="1"/>
            <p:nvPr/>
          </p:nvSpPr>
          <p:spPr>
            <a:xfrm>
              <a:off x="8281250" y="2278743"/>
              <a:ext cx="1189749" cy="461665"/>
            </a:xfrm>
            <a:prstGeom prst="rect">
              <a:avLst/>
            </a:prstGeom>
            <a:noFill/>
          </p:spPr>
          <p:txBody>
            <a:bodyPr wrap="none" rtlCol="0">
              <a:spAutoFit/>
            </a:bodyPr>
            <a:lstStyle/>
            <a:p>
              <a:r>
                <a:rPr lang="es-AR" sz="1200" dirty="0">
                  <a:solidFill>
                    <a:schemeClr val="tx1"/>
                  </a:solidFill>
                  <a:latin typeface="Arial" pitchFamily="34" charset="0"/>
                  <a:cs typeface="Arial" pitchFamily="34" charset="0"/>
                </a:rPr>
                <a:t>Bloqueo</a:t>
              </a:r>
            </a:p>
            <a:p>
              <a:r>
                <a:rPr lang="es-AR" sz="1200" dirty="0">
                  <a:solidFill>
                    <a:schemeClr val="tx1"/>
                  </a:solidFill>
                  <a:latin typeface="Arial" pitchFamily="34" charset="0"/>
                  <a:cs typeface="Arial" pitchFamily="34" charset="0"/>
                </a:rPr>
                <a:t>(o suspensión)</a:t>
              </a:r>
            </a:p>
          </p:txBody>
        </p:sp>
        <p:sp>
          <p:nvSpPr>
            <p:cNvPr id="66" name="65 CuadroTexto"/>
            <p:cNvSpPr txBox="1"/>
            <p:nvPr/>
          </p:nvSpPr>
          <p:spPr>
            <a:xfrm>
              <a:off x="5860310" y="5210630"/>
              <a:ext cx="1096775" cy="461665"/>
            </a:xfrm>
            <a:prstGeom prst="rect">
              <a:avLst/>
            </a:prstGeom>
            <a:noFill/>
          </p:spPr>
          <p:txBody>
            <a:bodyPr wrap="none" rtlCol="0">
              <a:spAutoFit/>
            </a:bodyPr>
            <a:lstStyle/>
            <a:p>
              <a:r>
                <a:rPr lang="es-AR" sz="1200" dirty="0">
                  <a:solidFill>
                    <a:schemeClr val="tx1"/>
                  </a:solidFill>
                  <a:latin typeface="Arial" pitchFamily="34" charset="0"/>
                  <a:cs typeface="Arial" pitchFamily="34" charset="0"/>
                </a:rPr>
                <a:t>Desbloqueo</a:t>
              </a:r>
            </a:p>
            <a:p>
              <a:r>
                <a:rPr lang="es-AR" sz="1200" dirty="0">
                  <a:solidFill>
                    <a:schemeClr val="tx1"/>
                  </a:solidFill>
                  <a:latin typeface="Arial" pitchFamily="34" charset="0"/>
                  <a:cs typeface="Arial" pitchFamily="34" charset="0"/>
                </a:rPr>
                <a:t>(o activación)</a:t>
              </a:r>
            </a:p>
          </p:txBody>
        </p:sp>
        <p:sp>
          <p:nvSpPr>
            <p:cNvPr id="67" name="66 CuadroTexto"/>
            <p:cNvSpPr txBox="1"/>
            <p:nvPr/>
          </p:nvSpPr>
          <p:spPr>
            <a:xfrm>
              <a:off x="3520928" y="2336800"/>
              <a:ext cx="1043876" cy="276999"/>
            </a:xfrm>
            <a:prstGeom prst="rect">
              <a:avLst/>
            </a:prstGeom>
            <a:noFill/>
          </p:spPr>
          <p:txBody>
            <a:bodyPr wrap="none" rtlCol="0">
              <a:spAutoFit/>
            </a:bodyPr>
            <a:lstStyle/>
            <a:p>
              <a:r>
                <a:rPr lang="es-AR" sz="1200" dirty="0">
                  <a:solidFill>
                    <a:schemeClr val="tx1"/>
                  </a:solidFill>
                  <a:latin typeface="Arial" pitchFamily="34" charset="0"/>
                  <a:cs typeface="Arial" pitchFamily="34" charset="0"/>
                </a:rPr>
                <a:t>Planificación</a:t>
              </a:r>
            </a:p>
          </p:txBody>
        </p:sp>
        <p:sp>
          <p:nvSpPr>
            <p:cNvPr id="68" name="67 CuadroTexto"/>
            <p:cNvSpPr txBox="1"/>
            <p:nvPr/>
          </p:nvSpPr>
          <p:spPr>
            <a:xfrm>
              <a:off x="4852426" y="2815771"/>
              <a:ext cx="848310" cy="276999"/>
            </a:xfrm>
            <a:prstGeom prst="rect">
              <a:avLst/>
            </a:prstGeom>
            <a:noFill/>
          </p:spPr>
          <p:txBody>
            <a:bodyPr wrap="none" rtlCol="0">
              <a:spAutoFit/>
            </a:bodyPr>
            <a:lstStyle/>
            <a:p>
              <a:r>
                <a:rPr lang="es-AR" sz="1200" dirty="0">
                  <a:solidFill>
                    <a:schemeClr val="tx1"/>
                  </a:solidFill>
                  <a:latin typeface="Arial" pitchFamily="34" charset="0"/>
                  <a:cs typeface="Arial" pitchFamily="34" charset="0"/>
                </a:rPr>
                <a:t>Expulsión</a:t>
              </a:r>
            </a:p>
          </p:txBody>
        </p:sp>
        <p:cxnSp>
          <p:nvCxnSpPr>
            <p:cNvPr id="69" name="15 Conector curvado"/>
            <p:cNvCxnSpPr/>
            <p:nvPr/>
          </p:nvCxnSpPr>
          <p:spPr>
            <a:xfrm rot="-2460000">
              <a:off x="7663544" y="957942"/>
              <a:ext cx="911816" cy="528603"/>
            </a:xfrm>
            <a:prstGeom prst="curvedConnector2">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70" name="69 CuadroTexto"/>
            <p:cNvSpPr txBox="1"/>
            <p:nvPr/>
          </p:nvSpPr>
          <p:spPr>
            <a:xfrm>
              <a:off x="7796649" y="682172"/>
              <a:ext cx="992580" cy="276999"/>
            </a:xfrm>
            <a:prstGeom prst="rect">
              <a:avLst/>
            </a:prstGeom>
            <a:noFill/>
          </p:spPr>
          <p:txBody>
            <a:bodyPr wrap="none" rtlCol="0">
              <a:spAutoFit/>
            </a:bodyPr>
            <a:lstStyle/>
            <a:p>
              <a:r>
                <a:rPr lang="es-AR" sz="1200" dirty="0">
                  <a:solidFill>
                    <a:schemeClr val="tx1"/>
                  </a:solidFill>
                  <a:latin typeface="Arial" pitchFamily="34" charset="0"/>
                  <a:cs typeface="Arial" pitchFamily="34" charset="0"/>
                </a:rPr>
                <a:t>Finalización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p:cTn id="7" dur="500" fill="hold"/>
                                        <p:tgtEl>
                                          <p:spTgt spid="71"/>
                                        </p:tgtEl>
                                        <p:attrNameLst>
                                          <p:attrName>ppt_w</p:attrName>
                                        </p:attrNameLst>
                                      </p:cBhvr>
                                      <p:tavLst>
                                        <p:tav tm="0">
                                          <p:val>
                                            <p:strVal val="#ppt_w*2.5"/>
                                          </p:val>
                                        </p:tav>
                                        <p:tav tm="100000">
                                          <p:val>
                                            <p:strVal val="#ppt_w"/>
                                          </p:val>
                                        </p:tav>
                                      </p:tavLst>
                                    </p:anim>
                                    <p:anim calcmode="lin" valueType="num">
                                      <p:cBhvr>
                                        <p:cTn id="8" dur="500" fill="hold"/>
                                        <p:tgtEl>
                                          <p:spTgt spid="71"/>
                                        </p:tgtEl>
                                        <p:attrNameLst>
                                          <p:attrName>ppt_h</p:attrName>
                                        </p:attrNameLst>
                                      </p:cBhvr>
                                      <p:tavLst>
                                        <p:tav tm="0">
                                          <p:val>
                                            <p:strVal val="#ppt_h*0.01"/>
                                          </p:val>
                                        </p:tav>
                                        <p:tav tm="100000">
                                          <p:val>
                                            <p:strVal val="#ppt_h"/>
                                          </p:val>
                                        </p:tav>
                                      </p:tavLst>
                                    </p:anim>
                                    <p:anim calcmode="lin" valueType="num">
                                      <p:cBhvr>
                                        <p:cTn id="9" dur="500" fill="hold"/>
                                        <p:tgtEl>
                                          <p:spTgt spid="71"/>
                                        </p:tgtEl>
                                        <p:attrNameLst>
                                          <p:attrName>ppt_x</p:attrName>
                                        </p:attrNameLst>
                                      </p:cBhvr>
                                      <p:tavLst>
                                        <p:tav tm="0">
                                          <p:val>
                                            <p:strVal val="#ppt_x"/>
                                          </p:val>
                                        </p:tav>
                                        <p:tav tm="100000">
                                          <p:val>
                                            <p:strVal val="#ppt_x"/>
                                          </p:val>
                                        </p:tav>
                                      </p:tavLst>
                                    </p:anim>
                                    <p:anim calcmode="lin" valueType="num">
                                      <p:cBhvr>
                                        <p:cTn id="10" dur="500" fill="hold"/>
                                        <p:tgtEl>
                                          <p:spTgt spid="71"/>
                                        </p:tgtEl>
                                        <p:attrNameLst>
                                          <p:attrName>ppt_y</p:attrName>
                                        </p:attrNameLst>
                                      </p:cBhvr>
                                      <p:tavLst>
                                        <p:tav tm="0">
                                          <p:val>
                                            <p:strVal val="#ppt_h+1"/>
                                          </p:val>
                                        </p:tav>
                                        <p:tav tm="100000">
                                          <p:val>
                                            <p:strVal val="#ppt_y"/>
                                          </p:val>
                                        </p:tav>
                                      </p:tavLst>
                                    </p:anim>
                                    <p:animEffect transition="in" filter="fade">
                                      <p:cBhvr>
                                        <p:cTn id="11"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 Título"/>
          <p:cNvSpPr txBox="1">
            <a:spLocks/>
          </p:cNvSpPr>
          <p:nvPr/>
        </p:nvSpPr>
        <p:spPr>
          <a:xfrm>
            <a:off x="457200" y="158526"/>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Diferentes diseños de procesos e hilos</a:t>
            </a:r>
            <a:endParaRPr kumimoji="0" lang="es-AR" sz="1400" b="0" i="0" u="none" strike="noStrike" kern="1200" cap="none" spc="0" normalizeH="0" baseline="0" noProof="0" dirty="0">
              <a:ln>
                <a:noFill/>
              </a:ln>
              <a:solidFill>
                <a:schemeClr val="tx1"/>
              </a:solidFill>
              <a:effectLst/>
              <a:uLnTx/>
              <a:uFillTx/>
              <a:latin typeface="+mn-lt"/>
              <a:ea typeface="+mj-ea"/>
              <a:cs typeface="Arial" pitchFamily="34" charset="0"/>
            </a:endParaRPr>
          </a:p>
        </p:txBody>
      </p:sp>
      <p:grpSp>
        <p:nvGrpSpPr>
          <p:cNvPr id="52" name="51 Grupo"/>
          <p:cNvGrpSpPr/>
          <p:nvPr/>
        </p:nvGrpSpPr>
        <p:grpSpPr>
          <a:xfrm>
            <a:off x="462412" y="5859241"/>
            <a:ext cx="3354841" cy="577850"/>
            <a:chOff x="2871788" y="5920469"/>
            <a:chExt cx="3821113" cy="753381"/>
          </a:xfrm>
        </p:grpSpPr>
        <p:sp>
          <p:nvSpPr>
            <p:cNvPr id="15" name="14 CuadroTexto"/>
            <p:cNvSpPr txBox="1"/>
            <p:nvPr/>
          </p:nvSpPr>
          <p:spPr>
            <a:xfrm>
              <a:off x="5070021" y="6076950"/>
              <a:ext cx="1622880" cy="523220"/>
            </a:xfrm>
            <a:prstGeom prst="rect">
              <a:avLst/>
            </a:prstGeom>
            <a:noFill/>
          </p:spPr>
          <p:txBody>
            <a:bodyPr wrap="square" rtlCol="0">
              <a:spAutoFit/>
            </a:bodyPr>
            <a:lstStyle/>
            <a:p>
              <a:pPr algn="l"/>
              <a:r>
                <a:rPr lang="es-AR" sz="1400" dirty="0">
                  <a:solidFill>
                    <a:schemeClr val="tx1"/>
                  </a:solidFill>
                  <a:latin typeface="Arial" pitchFamily="34" charset="0"/>
                  <a:cs typeface="Arial" pitchFamily="34" charset="0"/>
                </a:rPr>
                <a:t>Espacio de Direcciones</a:t>
              </a:r>
            </a:p>
          </p:txBody>
        </p:sp>
        <p:sp>
          <p:nvSpPr>
            <p:cNvPr id="16" name="15 Rectángulo"/>
            <p:cNvSpPr/>
            <p:nvPr/>
          </p:nvSpPr>
          <p:spPr>
            <a:xfrm>
              <a:off x="4292600" y="6051550"/>
              <a:ext cx="723900" cy="584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2051"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2871788" y="5920469"/>
              <a:ext cx="341312" cy="753381"/>
            </a:xfrm>
            <a:prstGeom prst="rect">
              <a:avLst/>
            </a:prstGeom>
            <a:noFill/>
            <a:ln w="9525">
              <a:noFill/>
              <a:miter lim="800000"/>
              <a:headEnd/>
              <a:tailEnd/>
            </a:ln>
          </p:spPr>
        </p:pic>
        <p:sp>
          <p:nvSpPr>
            <p:cNvPr id="19" name="18 CuadroTexto"/>
            <p:cNvSpPr txBox="1"/>
            <p:nvPr/>
          </p:nvSpPr>
          <p:spPr>
            <a:xfrm>
              <a:off x="3152321" y="6216650"/>
              <a:ext cx="810079" cy="307777"/>
            </a:xfrm>
            <a:prstGeom prst="rect">
              <a:avLst/>
            </a:prstGeom>
            <a:noFill/>
          </p:spPr>
          <p:txBody>
            <a:bodyPr wrap="square" rtlCol="0">
              <a:spAutoFit/>
            </a:bodyPr>
            <a:lstStyle/>
            <a:p>
              <a:pPr algn="l"/>
              <a:r>
                <a:rPr lang="es-AR" sz="1400" dirty="0">
                  <a:solidFill>
                    <a:schemeClr val="tx1"/>
                  </a:solidFill>
                  <a:latin typeface="Arial" pitchFamily="34" charset="0"/>
                  <a:cs typeface="Arial" pitchFamily="34" charset="0"/>
                </a:rPr>
                <a:t>Hilo</a:t>
              </a:r>
            </a:p>
          </p:txBody>
        </p:sp>
      </p:grpSp>
      <p:grpSp>
        <p:nvGrpSpPr>
          <p:cNvPr id="62" name="61 Grupo"/>
          <p:cNvGrpSpPr/>
          <p:nvPr/>
        </p:nvGrpSpPr>
        <p:grpSpPr>
          <a:xfrm>
            <a:off x="1625586" y="1811561"/>
            <a:ext cx="7309461" cy="3355525"/>
            <a:chOff x="0" y="1343025"/>
            <a:chExt cx="9144000" cy="4563903"/>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 name="19 Rectángulo"/>
            <p:cNvSpPr/>
            <p:nvPr/>
          </p:nvSpPr>
          <p:spPr>
            <a:xfrm>
              <a:off x="2463800" y="1495425"/>
              <a:ext cx="990600" cy="1066800"/>
            </a:xfrm>
            <a:prstGeom prst="rect">
              <a:avLst/>
            </a:prstGeom>
            <a:solidFill>
              <a:srgbClr val="FFFF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21"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2782888" y="1643744"/>
              <a:ext cx="341312" cy="753381"/>
            </a:xfrm>
            <a:prstGeom prst="rect">
              <a:avLst/>
            </a:prstGeom>
            <a:noFill/>
            <a:ln w="9525">
              <a:noFill/>
              <a:miter lim="800000"/>
              <a:headEnd/>
              <a:tailEnd/>
            </a:ln>
          </p:spPr>
        </p:pic>
        <p:grpSp>
          <p:nvGrpSpPr>
            <p:cNvPr id="51" name="50 Grupo"/>
            <p:cNvGrpSpPr/>
            <p:nvPr/>
          </p:nvGrpSpPr>
          <p:grpSpPr>
            <a:xfrm>
              <a:off x="5676900" y="1470025"/>
              <a:ext cx="990600" cy="1066800"/>
              <a:chOff x="5676900" y="1384300"/>
              <a:chExt cx="990600" cy="1066800"/>
            </a:xfrm>
          </p:grpSpPr>
          <p:sp>
            <p:nvSpPr>
              <p:cNvPr id="22" name="21 Rectángulo"/>
              <p:cNvSpPr/>
              <p:nvPr/>
            </p:nvSpPr>
            <p:spPr>
              <a:xfrm>
                <a:off x="5676900" y="1384300"/>
                <a:ext cx="990600" cy="1066800"/>
              </a:xfrm>
              <a:prstGeom prst="rect">
                <a:avLst/>
              </a:prstGeom>
              <a:solidFill>
                <a:srgbClr val="FFFF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23"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008688" y="1532619"/>
                <a:ext cx="341312" cy="753381"/>
              </a:xfrm>
              <a:prstGeom prst="rect">
                <a:avLst/>
              </a:prstGeom>
              <a:noFill/>
              <a:ln w="9525">
                <a:noFill/>
                <a:miter lim="800000"/>
                <a:headEnd/>
                <a:tailEnd/>
              </a:ln>
            </p:spPr>
          </p:pic>
          <p:pic>
            <p:nvPicPr>
              <p:cNvPr id="24"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249988" y="1532619"/>
                <a:ext cx="341312" cy="753381"/>
              </a:xfrm>
              <a:prstGeom prst="rect">
                <a:avLst/>
              </a:prstGeom>
              <a:noFill/>
              <a:ln w="9525">
                <a:noFill/>
                <a:miter lim="800000"/>
                <a:headEnd/>
                <a:tailEnd/>
              </a:ln>
            </p:spPr>
          </p:pic>
          <p:pic>
            <p:nvPicPr>
              <p:cNvPr id="25"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5767388" y="1519919"/>
                <a:ext cx="341312" cy="753381"/>
              </a:xfrm>
              <a:prstGeom prst="rect">
                <a:avLst/>
              </a:prstGeom>
              <a:noFill/>
              <a:ln w="9525">
                <a:noFill/>
                <a:miter lim="800000"/>
                <a:headEnd/>
                <a:tailEnd/>
              </a:ln>
            </p:spPr>
          </p:pic>
        </p:grpSp>
        <p:grpSp>
          <p:nvGrpSpPr>
            <p:cNvPr id="49" name="48 Grupo"/>
            <p:cNvGrpSpPr/>
            <p:nvPr/>
          </p:nvGrpSpPr>
          <p:grpSpPr>
            <a:xfrm>
              <a:off x="5063331" y="3626644"/>
              <a:ext cx="990600" cy="1066800"/>
              <a:chOff x="5143500" y="3606800"/>
              <a:chExt cx="990600" cy="1066800"/>
            </a:xfrm>
          </p:grpSpPr>
          <p:sp>
            <p:nvSpPr>
              <p:cNvPr id="26" name="25 Rectángulo"/>
              <p:cNvSpPr/>
              <p:nvPr/>
            </p:nvSpPr>
            <p:spPr>
              <a:xfrm>
                <a:off x="5143500" y="3606800"/>
                <a:ext cx="990600" cy="1066800"/>
              </a:xfrm>
              <a:prstGeom prst="rect">
                <a:avLst/>
              </a:prstGeom>
              <a:solidFill>
                <a:srgbClr val="FFFF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27"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5475288" y="3755119"/>
                <a:ext cx="341312" cy="753381"/>
              </a:xfrm>
              <a:prstGeom prst="rect">
                <a:avLst/>
              </a:prstGeom>
              <a:noFill/>
              <a:ln w="9525">
                <a:noFill/>
                <a:miter lim="800000"/>
                <a:headEnd/>
                <a:tailEnd/>
              </a:ln>
            </p:spPr>
          </p:pic>
          <p:pic>
            <p:nvPicPr>
              <p:cNvPr id="28"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5716588" y="3755119"/>
                <a:ext cx="341312" cy="753381"/>
              </a:xfrm>
              <a:prstGeom prst="rect">
                <a:avLst/>
              </a:prstGeom>
              <a:noFill/>
              <a:ln w="9525">
                <a:noFill/>
                <a:miter lim="800000"/>
                <a:headEnd/>
                <a:tailEnd/>
              </a:ln>
            </p:spPr>
          </p:pic>
          <p:pic>
            <p:nvPicPr>
              <p:cNvPr id="29"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5233988" y="3742419"/>
                <a:ext cx="341312" cy="753381"/>
              </a:xfrm>
              <a:prstGeom prst="rect">
                <a:avLst/>
              </a:prstGeom>
              <a:noFill/>
              <a:ln w="9525">
                <a:noFill/>
                <a:miter lim="800000"/>
                <a:headEnd/>
                <a:tailEnd/>
              </a:ln>
            </p:spPr>
          </p:pic>
        </p:grpSp>
        <p:grpSp>
          <p:nvGrpSpPr>
            <p:cNvPr id="50" name="49 Grupo"/>
            <p:cNvGrpSpPr/>
            <p:nvPr/>
          </p:nvGrpSpPr>
          <p:grpSpPr>
            <a:xfrm>
              <a:off x="6756401" y="3600450"/>
              <a:ext cx="482599" cy="730250"/>
              <a:chOff x="6400800" y="3606800"/>
              <a:chExt cx="916881" cy="1066800"/>
            </a:xfrm>
          </p:grpSpPr>
          <p:sp>
            <p:nvSpPr>
              <p:cNvPr id="30" name="29 Rectángulo"/>
              <p:cNvSpPr/>
              <p:nvPr/>
            </p:nvSpPr>
            <p:spPr>
              <a:xfrm>
                <a:off x="6400800" y="3606800"/>
                <a:ext cx="916881" cy="1066800"/>
              </a:xfrm>
              <a:prstGeom prst="rect">
                <a:avLst/>
              </a:prstGeom>
              <a:solidFill>
                <a:srgbClr val="FFFF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1"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834188" y="3755119"/>
                <a:ext cx="315912" cy="753381"/>
              </a:xfrm>
              <a:prstGeom prst="rect">
                <a:avLst/>
              </a:prstGeom>
              <a:noFill/>
              <a:ln w="9525">
                <a:noFill/>
                <a:miter lim="800000"/>
                <a:headEnd/>
                <a:tailEnd/>
              </a:ln>
            </p:spPr>
          </p:pic>
          <p:pic>
            <p:nvPicPr>
              <p:cNvPr id="33"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592888" y="3742419"/>
                <a:ext cx="315912" cy="753381"/>
              </a:xfrm>
              <a:prstGeom prst="rect">
                <a:avLst/>
              </a:prstGeom>
              <a:noFill/>
              <a:ln w="9525">
                <a:noFill/>
                <a:miter lim="800000"/>
                <a:headEnd/>
                <a:tailEnd/>
              </a:ln>
            </p:spPr>
          </p:pic>
        </p:grpSp>
        <p:sp>
          <p:nvSpPr>
            <p:cNvPr id="34" name="33 Rectángulo"/>
            <p:cNvSpPr/>
            <p:nvPr/>
          </p:nvSpPr>
          <p:spPr>
            <a:xfrm>
              <a:off x="1816100" y="3679825"/>
              <a:ext cx="990600" cy="1066800"/>
            </a:xfrm>
            <a:prstGeom prst="rect">
              <a:avLst/>
            </a:prstGeom>
            <a:solidFill>
              <a:srgbClr val="FFFF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5"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2135188" y="3828144"/>
              <a:ext cx="341312" cy="753381"/>
            </a:xfrm>
            <a:prstGeom prst="rect">
              <a:avLst/>
            </a:prstGeom>
            <a:noFill/>
            <a:ln w="9525">
              <a:noFill/>
              <a:miter lim="800000"/>
              <a:headEnd/>
              <a:tailEnd/>
            </a:ln>
          </p:spPr>
        </p:pic>
        <p:sp>
          <p:nvSpPr>
            <p:cNvPr id="36" name="35 Rectángulo"/>
            <p:cNvSpPr/>
            <p:nvPr/>
          </p:nvSpPr>
          <p:spPr>
            <a:xfrm>
              <a:off x="2971800" y="3692525"/>
              <a:ext cx="990600" cy="1066800"/>
            </a:xfrm>
            <a:prstGeom prst="rect">
              <a:avLst/>
            </a:prstGeom>
            <a:solidFill>
              <a:srgbClr val="FFFF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7"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3290888" y="3840844"/>
              <a:ext cx="341312" cy="753381"/>
            </a:xfrm>
            <a:prstGeom prst="rect">
              <a:avLst/>
            </a:prstGeom>
            <a:noFill/>
            <a:ln w="9525">
              <a:noFill/>
              <a:miter lim="800000"/>
              <a:headEnd/>
              <a:tailEnd/>
            </a:ln>
          </p:spPr>
        </p:pic>
        <p:sp>
          <p:nvSpPr>
            <p:cNvPr id="38" name="37 CuadroTexto"/>
            <p:cNvSpPr txBox="1"/>
            <p:nvPr/>
          </p:nvSpPr>
          <p:spPr>
            <a:xfrm>
              <a:off x="1625178" y="2613025"/>
              <a:ext cx="2827810" cy="595154"/>
            </a:xfrm>
            <a:prstGeom prst="rect">
              <a:avLst/>
            </a:prstGeom>
            <a:noFill/>
          </p:spPr>
          <p:txBody>
            <a:bodyPr wrap="square" rtlCol="0">
              <a:spAutoFit/>
            </a:bodyPr>
            <a:lstStyle/>
            <a:p>
              <a:r>
                <a:rPr lang="es-AR" sz="1400" dirty="0">
                  <a:solidFill>
                    <a:srgbClr val="FF0000"/>
                  </a:solidFill>
                  <a:latin typeface="Arial" pitchFamily="34" charset="0"/>
                  <a:cs typeface="Arial" pitchFamily="34" charset="0"/>
                </a:rPr>
                <a:t>Un hilo por proceso</a:t>
              </a:r>
            </a:p>
            <a:p>
              <a:r>
                <a:rPr lang="es-AR" sz="1400" dirty="0">
                  <a:solidFill>
                    <a:srgbClr val="0070C0"/>
                  </a:solidFill>
                  <a:latin typeface="Arial" pitchFamily="34" charset="0"/>
                  <a:cs typeface="Arial" pitchFamily="34" charset="0"/>
                </a:rPr>
                <a:t>Un proceso</a:t>
              </a:r>
            </a:p>
          </p:txBody>
        </p:sp>
        <p:sp>
          <p:nvSpPr>
            <p:cNvPr id="39" name="38 CuadroTexto"/>
            <p:cNvSpPr txBox="1"/>
            <p:nvPr/>
          </p:nvSpPr>
          <p:spPr>
            <a:xfrm>
              <a:off x="4637177" y="2587625"/>
              <a:ext cx="3304528" cy="595154"/>
            </a:xfrm>
            <a:prstGeom prst="rect">
              <a:avLst/>
            </a:prstGeom>
            <a:noFill/>
          </p:spPr>
          <p:txBody>
            <a:bodyPr wrap="square" rtlCol="0">
              <a:spAutoFit/>
            </a:bodyPr>
            <a:lstStyle/>
            <a:p>
              <a:r>
                <a:rPr lang="es-AR" sz="1400" dirty="0">
                  <a:solidFill>
                    <a:srgbClr val="FF0000"/>
                  </a:solidFill>
                  <a:latin typeface="Arial" pitchFamily="34" charset="0"/>
                  <a:cs typeface="Arial" pitchFamily="34" charset="0"/>
                </a:rPr>
                <a:t>Múltiples hilos por proceso</a:t>
              </a:r>
            </a:p>
            <a:p>
              <a:r>
                <a:rPr lang="es-AR" sz="1400" dirty="0">
                  <a:solidFill>
                    <a:srgbClr val="0070C0"/>
                  </a:solidFill>
                  <a:latin typeface="Arial" pitchFamily="34" charset="0"/>
                  <a:cs typeface="Arial" pitchFamily="34" charset="0"/>
                </a:rPr>
                <a:t>Un proceso</a:t>
              </a:r>
            </a:p>
          </p:txBody>
        </p:sp>
        <p:sp>
          <p:nvSpPr>
            <p:cNvPr id="40" name="39 CuadroTexto"/>
            <p:cNvSpPr txBox="1"/>
            <p:nvPr/>
          </p:nvSpPr>
          <p:spPr>
            <a:xfrm>
              <a:off x="1560172" y="4860925"/>
              <a:ext cx="2784471" cy="595154"/>
            </a:xfrm>
            <a:prstGeom prst="rect">
              <a:avLst/>
            </a:prstGeom>
            <a:noFill/>
          </p:spPr>
          <p:txBody>
            <a:bodyPr wrap="square" rtlCol="0">
              <a:spAutoFit/>
            </a:bodyPr>
            <a:lstStyle/>
            <a:p>
              <a:r>
                <a:rPr lang="es-AR" sz="1400" dirty="0">
                  <a:solidFill>
                    <a:srgbClr val="FF0000"/>
                  </a:solidFill>
                  <a:latin typeface="Arial" pitchFamily="34" charset="0"/>
                  <a:cs typeface="Arial" pitchFamily="34" charset="0"/>
                </a:rPr>
                <a:t>Un hilo por proceso</a:t>
              </a:r>
            </a:p>
            <a:p>
              <a:r>
                <a:rPr lang="es-AR" sz="1400" dirty="0">
                  <a:solidFill>
                    <a:srgbClr val="0070C0"/>
                  </a:solidFill>
                  <a:latin typeface="Arial" pitchFamily="34" charset="0"/>
                  <a:cs typeface="Arial" pitchFamily="34" charset="0"/>
                </a:rPr>
                <a:t>Múltiples procesos</a:t>
              </a:r>
            </a:p>
          </p:txBody>
        </p:sp>
        <p:sp>
          <p:nvSpPr>
            <p:cNvPr id="41" name="40 CuadroTexto"/>
            <p:cNvSpPr txBox="1"/>
            <p:nvPr/>
          </p:nvSpPr>
          <p:spPr>
            <a:xfrm>
              <a:off x="4858071" y="5311774"/>
              <a:ext cx="3170310" cy="595154"/>
            </a:xfrm>
            <a:prstGeom prst="rect">
              <a:avLst/>
            </a:prstGeom>
            <a:noFill/>
          </p:spPr>
          <p:txBody>
            <a:bodyPr wrap="square" rtlCol="0">
              <a:spAutoFit/>
            </a:bodyPr>
            <a:lstStyle/>
            <a:p>
              <a:r>
                <a:rPr lang="es-AR" sz="1400" dirty="0">
                  <a:solidFill>
                    <a:srgbClr val="FF0000"/>
                  </a:solidFill>
                  <a:latin typeface="Arial" pitchFamily="34" charset="0"/>
                  <a:cs typeface="Arial" pitchFamily="34" charset="0"/>
                </a:rPr>
                <a:t>Múltiples hilos por proceso</a:t>
              </a:r>
            </a:p>
            <a:p>
              <a:r>
                <a:rPr lang="es-AR" sz="1400" dirty="0">
                  <a:solidFill>
                    <a:srgbClr val="0070C0"/>
                  </a:solidFill>
                  <a:latin typeface="Arial" pitchFamily="34" charset="0"/>
                  <a:cs typeface="Arial" pitchFamily="34" charset="0"/>
                </a:rPr>
                <a:t>Múltiples pr</a:t>
              </a:r>
              <a:r>
                <a:rPr lang="es-AR" sz="1400" i="1" dirty="0">
                  <a:solidFill>
                    <a:srgbClr val="0070C0"/>
                  </a:solidFill>
                  <a:latin typeface="Arial" pitchFamily="34" charset="0"/>
                  <a:cs typeface="Arial" pitchFamily="34" charset="0"/>
                </a:rPr>
                <a:t>ocesos</a:t>
              </a:r>
            </a:p>
          </p:txBody>
        </p:sp>
        <p:cxnSp>
          <p:nvCxnSpPr>
            <p:cNvPr id="43" name="42 Conector recto"/>
            <p:cNvCxnSpPr/>
            <p:nvPr/>
          </p:nvCxnSpPr>
          <p:spPr>
            <a:xfrm>
              <a:off x="927100" y="3349625"/>
              <a:ext cx="7188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44 Conector recto"/>
            <p:cNvCxnSpPr/>
            <p:nvPr/>
          </p:nvCxnSpPr>
          <p:spPr>
            <a:xfrm>
              <a:off x="4559300" y="1343025"/>
              <a:ext cx="0" cy="4165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6" name="45 CuadroTexto"/>
            <p:cNvSpPr txBox="1"/>
            <p:nvPr/>
          </p:nvSpPr>
          <p:spPr>
            <a:xfrm>
              <a:off x="723901" y="1673225"/>
              <a:ext cx="1384300" cy="307777"/>
            </a:xfrm>
            <a:prstGeom prst="rect">
              <a:avLst/>
            </a:prstGeom>
            <a:noFill/>
          </p:spPr>
          <p:txBody>
            <a:bodyPr wrap="square" rtlCol="0">
              <a:spAutoFit/>
            </a:bodyPr>
            <a:lstStyle/>
            <a:p>
              <a:r>
                <a:rPr lang="es-AR" sz="1400" dirty="0">
                  <a:solidFill>
                    <a:schemeClr val="tx1"/>
                  </a:solidFill>
                  <a:latin typeface="Arial" pitchFamily="34" charset="0"/>
                  <a:cs typeface="Arial" pitchFamily="34" charset="0"/>
                </a:rPr>
                <a:t>MS-DOS</a:t>
              </a:r>
            </a:p>
          </p:txBody>
        </p:sp>
        <p:sp>
          <p:nvSpPr>
            <p:cNvPr id="47" name="46 CuadroTexto"/>
            <p:cNvSpPr txBox="1"/>
            <p:nvPr/>
          </p:nvSpPr>
          <p:spPr>
            <a:xfrm>
              <a:off x="255866" y="3876045"/>
              <a:ext cx="1384300" cy="738664"/>
            </a:xfrm>
            <a:prstGeom prst="rect">
              <a:avLst/>
            </a:prstGeom>
            <a:noFill/>
          </p:spPr>
          <p:txBody>
            <a:bodyPr wrap="square" rtlCol="0">
              <a:spAutoFit/>
            </a:bodyPr>
            <a:lstStyle/>
            <a:p>
              <a:r>
                <a:rPr lang="es-AR" sz="1400" dirty="0">
                  <a:solidFill>
                    <a:schemeClr val="tx1"/>
                  </a:solidFill>
                  <a:latin typeface="Arial" pitchFamily="34" charset="0"/>
                  <a:cs typeface="Arial" pitchFamily="34" charset="0"/>
                </a:rPr>
                <a:t>UNIX – versiones iniciales</a:t>
              </a:r>
            </a:p>
          </p:txBody>
        </p:sp>
        <p:sp>
          <p:nvSpPr>
            <p:cNvPr id="48" name="47 CuadroTexto"/>
            <p:cNvSpPr txBox="1"/>
            <p:nvPr/>
          </p:nvSpPr>
          <p:spPr>
            <a:xfrm>
              <a:off x="6911974" y="1733550"/>
              <a:ext cx="2023926" cy="350091"/>
            </a:xfrm>
            <a:prstGeom prst="rect">
              <a:avLst/>
            </a:prstGeom>
            <a:noFill/>
          </p:spPr>
          <p:txBody>
            <a:bodyPr wrap="square" rtlCol="0">
              <a:spAutoFit/>
            </a:bodyPr>
            <a:lstStyle/>
            <a:p>
              <a:r>
                <a:rPr lang="es-AR" sz="1400" dirty="0">
                  <a:solidFill>
                    <a:schemeClr val="tx1"/>
                  </a:solidFill>
                  <a:latin typeface="Arial" pitchFamily="34" charset="0"/>
                  <a:cs typeface="Arial" pitchFamily="34" charset="0"/>
                </a:rPr>
                <a:t>Java, </a:t>
              </a:r>
            </a:p>
          </p:txBody>
        </p:sp>
        <p:sp>
          <p:nvSpPr>
            <p:cNvPr id="53" name="52 Rectángulo"/>
            <p:cNvSpPr/>
            <p:nvPr/>
          </p:nvSpPr>
          <p:spPr>
            <a:xfrm>
              <a:off x="6153145" y="4418012"/>
              <a:ext cx="774699" cy="850900"/>
            </a:xfrm>
            <a:prstGeom prst="rect">
              <a:avLst/>
            </a:prstGeom>
            <a:solidFill>
              <a:srgbClr val="FFFF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54"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357861" y="4545839"/>
              <a:ext cx="266923" cy="600911"/>
            </a:xfrm>
            <a:prstGeom prst="rect">
              <a:avLst/>
            </a:prstGeom>
            <a:noFill/>
            <a:ln w="9525">
              <a:noFill/>
              <a:miter lim="800000"/>
              <a:headEnd/>
              <a:tailEnd/>
            </a:ln>
          </p:spPr>
        </p:pic>
        <p:pic>
          <p:nvPicPr>
            <p:cNvPr id="55"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509260" y="4545839"/>
              <a:ext cx="266923" cy="600911"/>
            </a:xfrm>
            <a:prstGeom prst="rect">
              <a:avLst/>
            </a:prstGeom>
            <a:noFill/>
            <a:ln w="9525">
              <a:noFill/>
              <a:miter lim="800000"/>
              <a:headEnd/>
              <a:tailEnd/>
            </a:ln>
          </p:spPr>
        </p:pic>
        <p:pic>
          <p:nvPicPr>
            <p:cNvPr id="56"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208043" y="4547614"/>
              <a:ext cx="266923" cy="600911"/>
            </a:xfrm>
            <a:prstGeom prst="rect">
              <a:avLst/>
            </a:prstGeom>
            <a:noFill/>
            <a:ln w="9525">
              <a:noFill/>
              <a:miter lim="800000"/>
              <a:headEnd/>
              <a:tailEnd/>
            </a:ln>
          </p:spPr>
        </p:pic>
        <p:pic>
          <p:nvPicPr>
            <p:cNvPr id="57" name="Picture 3"/>
            <p:cNvPicPr>
              <a:picLocks noChangeAspect="1" noChangeArrowheads="1"/>
            </p:cNvPicPr>
            <p:nvPr/>
          </p:nvPicPr>
          <p:blipFill>
            <a:blip r:embed="rId3" cstate="print">
              <a:clrChange>
                <a:clrFrom>
                  <a:srgbClr val="E7E7E8"/>
                </a:clrFrom>
                <a:clrTo>
                  <a:srgbClr val="E7E7E8">
                    <a:alpha val="0"/>
                  </a:srgbClr>
                </a:clrTo>
              </a:clrChange>
            </a:blip>
            <a:srcRect/>
            <a:stretch>
              <a:fillRect/>
            </a:stretch>
          </p:blipFill>
          <p:spPr bwMode="auto">
            <a:xfrm>
              <a:off x="6641021" y="4545839"/>
              <a:ext cx="266923" cy="600911"/>
            </a:xfrm>
            <a:prstGeom prst="rect">
              <a:avLst/>
            </a:prstGeom>
            <a:noFill/>
            <a:ln w="9525">
              <a:noFill/>
              <a:miter lim="800000"/>
              <a:headEnd/>
              <a:tailEnd/>
            </a:ln>
          </p:spPr>
        </p:pic>
        <p:sp>
          <p:nvSpPr>
            <p:cNvPr id="58" name="57 CuadroTexto"/>
            <p:cNvSpPr txBox="1"/>
            <p:nvPr/>
          </p:nvSpPr>
          <p:spPr>
            <a:xfrm>
              <a:off x="7494310" y="3920496"/>
              <a:ext cx="1384300" cy="840217"/>
            </a:xfrm>
            <a:prstGeom prst="rect">
              <a:avLst/>
            </a:prstGeom>
            <a:noFill/>
          </p:spPr>
          <p:txBody>
            <a:bodyPr wrap="square" rtlCol="0">
              <a:spAutoFit/>
            </a:bodyPr>
            <a:lstStyle/>
            <a:p>
              <a:r>
                <a:rPr lang="es-AR" sz="1400" dirty="0">
                  <a:solidFill>
                    <a:schemeClr val="tx1"/>
                  </a:solidFill>
                  <a:latin typeface="Arial" pitchFamily="34" charset="0"/>
                  <a:cs typeface="Arial" pitchFamily="34" charset="0"/>
                </a:rPr>
                <a:t>NT, </a:t>
              </a:r>
              <a:r>
                <a:rPr lang="es-AR" sz="1400" dirty="0" err="1">
                  <a:solidFill>
                    <a:schemeClr val="tx1"/>
                  </a:solidFill>
                  <a:latin typeface="Arial" pitchFamily="34" charset="0"/>
                  <a:cs typeface="Arial" pitchFamily="34" charset="0"/>
                </a:rPr>
                <a:t>Solaris</a:t>
              </a:r>
              <a:r>
                <a:rPr lang="es-AR" sz="1400" dirty="0">
                  <a:solidFill>
                    <a:schemeClr val="tx1"/>
                  </a:solidFill>
                  <a:latin typeface="Arial" pitchFamily="34" charset="0"/>
                  <a:cs typeface="Arial" pitchFamily="34" charset="0"/>
                </a:rPr>
                <a:t>, Linux, OS/2, </a:t>
              </a:r>
            </a:p>
            <a:p>
              <a:r>
                <a:rPr lang="es-AR" sz="1400" dirty="0" err="1">
                  <a:solidFill>
                    <a:schemeClr val="tx1"/>
                  </a:solidFill>
                  <a:latin typeface="Arial" pitchFamily="34" charset="0"/>
                  <a:cs typeface="Arial" pitchFamily="34" charset="0"/>
                </a:rPr>
                <a:t>Trix</a:t>
              </a:r>
              <a:r>
                <a:rPr lang="es-AR" sz="1400" dirty="0">
                  <a:solidFill>
                    <a:schemeClr val="tx1"/>
                  </a:solidFill>
                  <a:latin typeface="Arial" pitchFamily="34" charset="0"/>
                  <a:cs typeface="Arial" pitchFamily="34" charset="0"/>
                </a:rPr>
                <a:t>, </a:t>
              </a:r>
              <a:r>
                <a:rPr lang="es-AR" sz="1400" dirty="0" err="1">
                  <a:solidFill>
                    <a:schemeClr val="tx1"/>
                  </a:solidFill>
                  <a:latin typeface="Arial" pitchFamily="34" charset="0"/>
                  <a:cs typeface="Arial" pitchFamily="34" charset="0"/>
                </a:rPr>
                <a:t>etc</a:t>
              </a:r>
              <a:endParaRPr lang="es-AR" sz="1400" dirty="0">
                <a:solidFill>
                  <a:schemeClr val="tx1"/>
                </a:solidFill>
                <a:latin typeface="Arial" pitchFamily="34" charset="0"/>
                <a:cs typeface="Arial" pitchFamily="34" charset="0"/>
              </a:endParaRPr>
            </a:p>
          </p:txBody>
        </p:sp>
      </p:grpSp>
      <p:sp>
        <p:nvSpPr>
          <p:cNvPr id="59" name="58 Rectángulo"/>
          <p:cNvSpPr/>
          <p:nvPr/>
        </p:nvSpPr>
        <p:spPr>
          <a:xfrm>
            <a:off x="247650" y="935504"/>
            <a:ext cx="8896350" cy="707886"/>
          </a:xfrm>
          <a:prstGeom prst="rect">
            <a:avLst/>
          </a:prstGeom>
        </p:spPr>
        <p:txBody>
          <a:bodyPr wrap="square">
            <a:spAutoFit/>
          </a:bodyPr>
          <a:lstStyle/>
          <a:p>
            <a:pPr algn="l">
              <a:spcBef>
                <a:spcPts val="600"/>
              </a:spcBef>
            </a:pPr>
            <a:r>
              <a:rPr lang="es-AR" sz="2000" dirty="0">
                <a:solidFill>
                  <a:schemeClr val="tx1"/>
                </a:solidFill>
                <a:latin typeface="Arial" pitchFamily="34" charset="0"/>
                <a:cs typeface="Arial" pitchFamily="34" charset="0"/>
              </a:rPr>
              <a:t>Con </a:t>
            </a:r>
            <a:r>
              <a:rPr lang="es-AR" sz="2000" dirty="0" err="1">
                <a:solidFill>
                  <a:schemeClr val="tx1"/>
                </a:solidFill>
                <a:latin typeface="Arial" pitchFamily="34" charset="0"/>
                <a:cs typeface="Arial" pitchFamily="34" charset="0"/>
              </a:rPr>
              <a:t>multithreading</a:t>
            </a:r>
            <a:r>
              <a:rPr lang="es-AR" sz="2000" dirty="0">
                <a:solidFill>
                  <a:schemeClr val="tx1"/>
                </a:solidFill>
                <a:latin typeface="Arial" pitchFamily="34" charset="0"/>
                <a:cs typeface="Arial" pitchFamily="34" charset="0"/>
              </a:rPr>
              <a:t> (</a:t>
            </a:r>
            <a:r>
              <a:rPr lang="es-AR" sz="2000" dirty="0" err="1">
                <a:solidFill>
                  <a:schemeClr val="tx1"/>
                </a:solidFill>
                <a:latin typeface="Arial" pitchFamily="34" charset="0"/>
                <a:cs typeface="Arial" pitchFamily="34" charset="0"/>
              </a:rPr>
              <a:t>multihilo</a:t>
            </a:r>
            <a:r>
              <a:rPr lang="es-AR" sz="2000" dirty="0">
                <a:solidFill>
                  <a:schemeClr val="tx1"/>
                </a:solidFill>
                <a:latin typeface="Arial" pitchFamily="34" charset="0"/>
                <a:cs typeface="Arial" pitchFamily="34" charset="0"/>
              </a:rPr>
              <a:t>) se refiere a la capacidad de un sistema operativo de dar soporte a múltiples hilos de ejecución en un solo proceso.</a:t>
            </a:r>
          </a:p>
        </p:txBody>
      </p:sp>
      <p:pic>
        <p:nvPicPr>
          <p:cNvPr id="5122" name="Picture 2"/>
          <p:cNvPicPr>
            <a:picLocks noChangeAspect="1" noChangeArrowheads="1"/>
          </p:cNvPicPr>
          <p:nvPr/>
        </p:nvPicPr>
        <p:blipFill>
          <a:blip r:embed="rId4" cstate="print"/>
          <a:srcRect/>
          <a:stretch>
            <a:fillRect/>
          </a:stretch>
        </p:blipFill>
        <p:spPr bwMode="auto">
          <a:xfrm>
            <a:off x="9535886" y="1103086"/>
            <a:ext cx="8455791" cy="4790849"/>
          </a:xfrm>
          <a:prstGeom prst="rect">
            <a:avLst/>
          </a:prstGeom>
          <a:noFill/>
          <a:ln w="9525">
            <a:noFill/>
            <a:miter lim="800000"/>
            <a:headEnd/>
            <a:tailEnd/>
          </a:ln>
        </p:spPr>
      </p:pic>
      <p:sp>
        <p:nvSpPr>
          <p:cNvPr id="60" name="59 Abrir llave"/>
          <p:cNvSpPr/>
          <p:nvPr/>
        </p:nvSpPr>
        <p:spPr>
          <a:xfrm>
            <a:off x="1567534" y="1712686"/>
            <a:ext cx="174171" cy="155302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64" name="63 Abrir llave"/>
          <p:cNvSpPr/>
          <p:nvPr/>
        </p:nvSpPr>
        <p:spPr>
          <a:xfrm>
            <a:off x="1567534" y="3425371"/>
            <a:ext cx="188686" cy="15965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66" name="65 CuadroTexto"/>
          <p:cNvSpPr txBox="1"/>
          <p:nvPr/>
        </p:nvSpPr>
        <p:spPr>
          <a:xfrm>
            <a:off x="281110" y="2235762"/>
            <a:ext cx="1106571" cy="523220"/>
          </a:xfrm>
          <a:prstGeom prst="rect">
            <a:avLst/>
          </a:prstGeom>
          <a:noFill/>
        </p:spPr>
        <p:txBody>
          <a:bodyPr wrap="square" rtlCol="0">
            <a:spAutoFit/>
          </a:bodyPr>
          <a:lstStyle/>
          <a:p>
            <a:r>
              <a:rPr lang="es-AR" sz="1400" dirty="0" err="1">
                <a:solidFill>
                  <a:schemeClr val="tx1"/>
                </a:solidFill>
                <a:latin typeface="Arial" pitchFamily="34" charset="0"/>
                <a:cs typeface="Arial" pitchFamily="34" charset="0"/>
              </a:rPr>
              <a:t>Monopro-cesadores</a:t>
            </a:r>
            <a:endParaRPr lang="es-AR" sz="1400" dirty="0">
              <a:solidFill>
                <a:schemeClr val="tx1"/>
              </a:solidFill>
              <a:latin typeface="Arial" pitchFamily="34" charset="0"/>
              <a:cs typeface="Arial" pitchFamily="34" charset="0"/>
            </a:endParaRPr>
          </a:p>
        </p:txBody>
      </p:sp>
      <p:sp>
        <p:nvSpPr>
          <p:cNvPr id="67" name="66 CuadroTexto"/>
          <p:cNvSpPr txBox="1"/>
          <p:nvPr/>
        </p:nvSpPr>
        <p:spPr>
          <a:xfrm>
            <a:off x="295624" y="3919419"/>
            <a:ext cx="1106571" cy="523220"/>
          </a:xfrm>
          <a:prstGeom prst="rect">
            <a:avLst/>
          </a:prstGeom>
          <a:noFill/>
        </p:spPr>
        <p:txBody>
          <a:bodyPr wrap="square" rtlCol="0">
            <a:spAutoFit/>
          </a:bodyPr>
          <a:lstStyle/>
          <a:p>
            <a:r>
              <a:rPr lang="es-AR" sz="1400" dirty="0" err="1">
                <a:solidFill>
                  <a:schemeClr val="tx1"/>
                </a:solidFill>
                <a:latin typeface="Arial" pitchFamily="34" charset="0"/>
                <a:cs typeface="Arial" pitchFamily="34" charset="0"/>
              </a:rPr>
              <a:t>Multiproce-sadores</a:t>
            </a:r>
            <a:endParaRPr lang="es-AR" sz="1400" dirty="0">
              <a:solidFill>
                <a:schemeClr val="tx1"/>
              </a:solidFill>
              <a:latin typeface="Arial" pitchFamily="34" charset="0"/>
              <a:cs typeface="Arial" pitchFamily="34" charset="0"/>
            </a:endParaRPr>
          </a:p>
        </p:txBody>
      </p:sp>
      <p:sp>
        <p:nvSpPr>
          <p:cNvPr id="68" name="67 Abrir llave"/>
          <p:cNvSpPr/>
          <p:nvPr/>
        </p:nvSpPr>
        <p:spPr>
          <a:xfrm rot="16200000">
            <a:off x="3744684" y="3940624"/>
            <a:ext cx="195942" cy="27940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69" name="68 Abrir llave"/>
          <p:cNvSpPr/>
          <p:nvPr/>
        </p:nvSpPr>
        <p:spPr>
          <a:xfrm rot="16200000">
            <a:off x="6618523" y="3940628"/>
            <a:ext cx="195942" cy="27940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70" name="69 CuadroTexto"/>
          <p:cNvSpPr txBox="1"/>
          <p:nvPr/>
        </p:nvSpPr>
        <p:spPr>
          <a:xfrm>
            <a:off x="2646938" y="5399876"/>
            <a:ext cx="2491119" cy="307777"/>
          </a:xfrm>
          <a:prstGeom prst="rect">
            <a:avLst/>
          </a:prstGeom>
          <a:noFill/>
        </p:spPr>
        <p:txBody>
          <a:bodyPr wrap="square" rtlCol="0">
            <a:spAutoFit/>
          </a:bodyPr>
          <a:lstStyle/>
          <a:p>
            <a:r>
              <a:rPr lang="es-AR" sz="1400" dirty="0">
                <a:solidFill>
                  <a:schemeClr val="tx1"/>
                </a:solidFill>
                <a:latin typeface="Arial" pitchFamily="34" charset="0"/>
                <a:cs typeface="Arial" pitchFamily="34" charset="0"/>
              </a:rPr>
              <a:t>Técnica </a:t>
            </a:r>
            <a:r>
              <a:rPr lang="es-AR" sz="1400" dirty="0" err="1">
                <a:solidFill>
                  <a:schemeClr val="tx1"/>
                </a:solidFill>
                <a:latin typeface="Arial" pitchFamily="34" charset="0"/>
                <a:cs typeface="Arial" pitchFamily="34" charset="0"/>
              </a:rPr>
              <a:t>Monohilo</a:t>
            </a:r>
            <a:endParaRPr lang="es-AR" sz="1400" dirty="0">
              <a:solidFill>
                <a:schemeClr val="tx1"/>
              </a:solidFill>
              <a:latin typeface="Arial" pitchFamily="34" charset="0"/>
              <a:cs typeface="Arial" pitchFamily="34" charset="0"/>
            </a:endParaRPr>
          </a:p>
        </p:txBody>
      </p:sp>
      <p:sp>
        <p:nvSpPr>
          <p:cNvPr id="71" name="70 CuadroTexto"/>
          <p:cNvSpPr txBox="1"/>
          <p:nvPr/>
        </p:nvSpPr>
        <p:spPr>
          <a:xfrm>
            <a:off x="5462715" y="5399877"/>
            <a:ext cx="2491119" cy="307777"/>
          </a:xfrm>
          <a:prstGeom prst="rect">
            <a:avLst/>
          </a:prstGeom>
          <a:noFill/>
        </p:spPr>
        <p:txBody>
          <a:bodyPr wrap="square" rtlCol="0">
            <a:spAutoFit/>
          </a:bodyPr>
          <a:lstStyle/>
          <a:p>
            <a:r>
              <a:rPr lang="es-AR" sz="1400" dirty="0">
                <a:solidFill>
                  <a:schemeClr val="tx1"/>
                </a:solidFill>
                <a:latin typeface="Arial" pitchFamily="34" charset="0"/>
                <a:cs typeface="Arial" pitchFamily="34" charset="0"/>
              </a:rPr>
              <a:t>Técnica </a:t>
            </a:r>
            <a:r>
              <a:rPr lang="es-AR" sz="1400" dirty="0" err="1">
                <a:solidFill>
                  <a:schemeClr val="tx1"/>
                </a:solidFill>
                <a:latin typeface="Arial" pitchFamily="34" charset="0"/>
                <a:cs typeface="Arial" pitchFamily="34" charset="0"/>
              </a:rPr>
              <a:t>Multihilo</a:t>
            </a:r>
            <a:endParaRPr lang="es-AR" sz="1400" dirty="0">
              <a:solidFill>
                <a:schemeClr val="tx1"/>
              </a:solidFill>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46743" y="1035958"/>
            <a:ext cx="8621486" cy="5816977"/>
          </a:xfrm>
          <a:prstGeom prst="rect">
            <a:avLst/>
          </a:prstGeom>
          <a:noFill/>
        </p:spPr>
        <p:txBody>
          <a:bodyPr wrap="square" rtlCol="0">
            <a:spAutoFit/>
          </a:bodyPr>
          <a:lstStyle/>
          <a:p>
            <a:pPr algn="l">
              <a:spcBef>
                <a:spcPts val="600"/>
              </a:spcBef>
            </a:pPr>
            <a:r>
              <a:rPr lang="es-AR" sz="1600" b="1" dirty="0">
                <a:solidFill>
                  <a:srgbClr val="7030A0"/>
                </a:solidFill>
                <a:latin typeface="Arial" pitchFamily="34" charset="0"/>
                <a:cs typeface="Arial" pitchFamily="34" charset="0"/>
              </a:rPr>
              <a:t>Hilos a nivel de usuario (ULT </a:t>
            </a:r>
            <a:r>
              <a:rPr lang="es-AR" sz="1600" b="1" dirty="0" err="1">
                <a:solidFill>
                  <a:srgbClr val="7030A0"/>
                </a:solidFill>
                <a:latin typeface="Arial" pitchFamily="34" charset="0"/>
                <a:cs typeface="Arial" pitchFamily="34" charset="0"/>
              </a:rPr>
              <a:t>user</a:t>
            </a:r>
            <a:r>
              <a:rPr lang="es-AR" sz="1600" b="1" dirty="0">
                <a:solidFill>
                  <a:srgbClr val="7030A0"/>
                </a:solidFill>
                <a:latin typeface="Arial" pitchFamily="34" charset="0"/>
                <a:cs typeface="Arial" pitchFamily="34" charset="0"/>
              </a:rPr>
              <a:t> </a:t>
            </a:r>
            <a:r>
              <a:rPr lang="es-AR" sz="1600" b="1" dirty="0" err="1">
                <a:solidFill>
                  <a:srgbClr val="7030A0"/>
                </a:solidFill>
                <a:latin typeface="Arial" pitchFamily="34" charset="0"/>
                <a:cs typeface="Arial" pitchFamily="34" charset="0"/>
              </a:rPr>
              <a:t>level</a:t>
            </a:r>
            <a:r>
              <a:rPr lang="es-AR" sz="1600" b="1" dirty="0">
                <a:solidFill>
                  <a:srgbClr val="7030A0"/>
                </a:solidFill>
                <a:latin typeface="Arial" pitchFamily="34" charset="0"/>
                <a:cs typeface="Arial" pitchFamily="34" charset="0"/>
              </a:rPr>
              <a:t> </a:t>
            </a:r>
            <a:r>
              <a:rPr lang="es-AR" sz="1600" b="1" dirty="0" err="1">
                <a:solidFill>
                  <a:srgbClr val="7030A0"/>
                </a:solidFill>
                <a:latin typeface="Arial" pitchFamily="34" charset="0"/>
                <a:cs typeface="Arial" pitchFamily="34" charset="0"/>
              </a:rPr>
              <a:t>thread</a:t>
            </a:r>
            <a:r>
              <a:rPr lang="es-AR" sz="1600" b="1" dirty="0">
                <a:solidFill>
                  <a:srgbClr val="7030A0"/>
                </a:solidFill>
                <a:latin typeface="Arial" pitchFamily="34" charset="0"/>
                <a:cs typeface="Arial" pitchFamily="34" charset="0"/>
              </a:rPr>
              <a:t>):</a:t>
            </a:r>
          </a:p>
          <a:p>
            <a:pPr algn="l">
              <a:spcBef>
                <a:spcPts val="600"/>
              </a:spcBef>
            </a:pPr>
            <a:r>
              <a:rPr lang="es-AR" sz="1600" dirty="0">
                <a:solidFill>
                  <a:schemeClr val="tx1"/>
                </a:solidFill>
                <a:latin typeface="Arial" pitchFamily="34" charset="0"/>
                <a:cs typeface="Arial" pitchFamily="34" charset="0"/>
              </a:rPr>
              <a:t>Todo el trabajo de gestión de hilos (crear, destruir, intercambiar mensajes y datos, planificar, guardar y recuperar contexto de hilos, </a:t>
            </a:r>
            <a:r>
              <a:rPr lang="es-AR" sz="1600" dirty="0" err="1">
                <a:solidFill>
                  <a:schemeClr val="tx1"/>
                </a:solidFill>
                <a:latin typeface="Arial" pitchFamily="34" charset="0"/>
                <a:cs typeface="Arial" pitchFamily="34" charset="0"/>
              </a:rPr>
              <a:t>etc</a:t>
            </a:r>
            <a:r>
              <a:rPr lang="es-AR" sz="1600" dirty="0">
                <a:solidFill>
                  <a:schemeClr val="tx1"/>
                </a:solidFill>
                <a:latin typeface="Arial" pitchFamily="34" charset="0"/>
                <a:cs typeface="Arial" pitchFamily="34" charset="0"/>
              </a:rPr>
              <a:t>) lo realiza la aplicación (generalmente por medio de una librería o bibliotecas). Todas las operaciones se realizan en el espacio del usuario de un mismo proceso.  El </a:t>
            </a:r>
            <a:r>
              <a:rPr lang="es-AR" sz="1600" dirty="0" err="1">
                <a:solidFill>
                  <a:schemeClr val="tx1"/>
                </a:solidFill>
                <a:latin typeface="Arial" pitchFamily="34" charset="0"/>
                <a:cs typeface="Arial" pitchFamily="34" charset="0"/>
              </a:rPr>
              <a:t>kernel</a:t>
            </a:r>
            <a:r>
              <a:rPr lang="es-AR" sz="1600" dirty="0">
                <a:solidFill>
                  <a:schemeClr val="tx1"/>
                </a:solidFill>
                <a:latin typeface="Arial" pitchFamily="34" charset="0"/>
                <a:cs typeface="Arial" pitchFamily="34" charset="0"/>
              </a:rPr>
              <a:t> continua planificando el proceso como una unidad y asignándole un único estado (listo, bloqueado, etc.)  y no es consciente de la existencia de los hilos. </a:t>
            </a:r>
          </a:p>
          <a:p>
            <a:pPr algn="l">
              <a:spcBef>
                <a:spcPts val="600"/>
              </a:spcBef>
            </a:pPr>
            <a:r>
              <a:rPr lang="es-AR" sz="1600" dirty="0">
                <a:solidFill>
                  <a:schemeClr val="tx1"/>
                </a:solidFill>
                <a:latin typeface="Arial" pitchFamily="34" charset="0"/>
                <a:cs typeface="Arial" pitchFamily="34" charset="0"/>
              </a:rPr>
              <a:t>Ejemplo de ULT: </a:t>
            </a:r>
            <a:r>
              <a:rPr lang="es-AR" sz="1600" dirty="0" err="1">
                <a:solidFill>
                  <a:schemeClr val="tx1"/>
                </a:solidFill>
                <a:latin typeface="Arial" pitchFamily="34" charset="0"/>
                <a:cs typeface="Arial" pitchFamily="34" charset="0"/>
              </a:rPr>
              <a:t>pthreads</a:t>
            </a:r>
            <a:r>
              <a:rPr lang="es-AR" sz="1600" dirty="0">
                <a:solidFill>
                  <a:schemeClr val="tx1"/>
                </a:solidFill>
                <a:latin typeface="Arial" pitchFamily="34" charset="0"/>
                <a:cs typeface="Arial" pitchFamily="34" charset="0"/>
              </a:rPr>
              <a:t> de POSIX.</a:t>
            </a:r>
          </a:p>
          <a:p>
            <a:pPr algn="l">
              <a:spcBef>
                <a:spcPts val="600"/>
              </a:spcBef>
            </a:pPr>
            <a:r>
              <a:rPr lang="es-AR" sz="1600" b="1" dirty="0">
                <a:solidFill>
                  <a:srgbClr val="7030A0"/>
                </a:solidFill>
                <a:latin typeface="Arial" pitchFamily="34" charset="0"/>
                <a:cs typeface="Arial" pitchFamily="34" charset="0"/>
              </a:rPr>
              <a:t>Ventajas:</a:t>
            </a:r>
          </a:p>
          <a:p>
            <a:pPr marL="174625" indent="-174625" algn="l">
              <a:spcBef>
                <a:spcPts val="600"/>
              </a:spcBef>
              <a:buFont typeface="Arial" pitchFamily="34" charset="0"/>
              <a:buChar char="•"/>
              <a:tabLst>
                <a:tab pos="0" algn="l"/>
              </a:tabLst>
            </a:pPr>
            <a:r>
              <a:rPr lang="es-AR" sz="1600" dirty="0">
                <a:solidFill>
                  <a:schemeClr val="tx1"/>
                </a:solidFill>
                <a:latin typeface="Arial" pitchFamily="34" charset="0"/>
                <a:cs typeface="Arial" pitchFamily="34" charset="0"/>
              </a:rPr>
              <a:t>Más rápidos porque no requieren </a:t>
            </a:r>
            <a:r>
              <a:rPr lang="es-AR" sz="1600" dirty="0" err="1">
                <a:solidFill>
                  <a:schemeClr val="tx1"/>
                </a:solidFill>
                <a:latin typeface="Arial" pitchFamily="34" charset="0"/>
                <a:cs typeface="Arial" pitchFamily="34" charset="0"/>
              </a:rPr>
              <a:t>system</a:t>
            </a:r>
            <a:r>
              <a:rPr lang="es-AR" sz="1600" dirty="0">
                <a:solidFill>
                  <a:schemeClr val="tx1"/>
                </a:solidFill>
                <a:latin typeface="Arial" pitchFamily="34" charset="0"/>
                <a:cs typeface="Arial" pitchFamily="34" charset="0"/>
              </a:rPr>
              <a:t> </a:t>
            </a:r>
            <a:r>
              <a:rPr lang="es-AR" sz="1600" dirty="0" err="1">
                <a:solidFill>
                  <a:schemeClr val="tx1"/>
                </a:solidFill>
                <a:latin typeface="Arial" pitchFamily="34" charset="0"/>
                <a:cs typeface="Arial" pitchFamily="34" charset="0"/>
              </a:rPr>
              <a:t>call</a:t>
            </a:r>
            <a:endParaRPr lang="es-AR" sz="1600" dirty="0">
              <a:solidFill>
                <a:schemeClr val="tx1"/>
              </a:solidFill>
              <a:latin typeface="Arial" pitchFamily="34" charset="0"/>
              <a:cs typeface="Arial" pitchFamily="34" charset="0"/>
            </a:endParaRPr>
          </a:p>
          <a:p>
            <a:pPr marL="174625" indent="-174625" algn="l">
              <a:spcBef>
                <a:spcPts val="600"/>
              </a:spcBef>
              <a:buFont typeface="Arial" pitchFamily="34" charset="0"/>
              <a:buChar char="•"/>
              <a:tabLst>
                <a:tab pos="0" algn="l"/>
              </a:tabLst>
            </a:pPr>
            <a:r>
              <a:rPr lang="es-AR" sz="1600" dirty="0">
                <a:solidFill>
                  <a:schemeClr val="tx1"/>
                </a:solidFill>
                <a:latin typeface="Arial" pitchFamily="34" charset="0"/>
                <a:cs typeface="Arial" pitchFamily="34" charset="0"/>
              </a:rPr>
              <a:t>Para cambiar de hilo no en necesario privilegios del modo </a:t>
            </a:r>
            <a:r>
              <a:rPr lang="es-AR" sz="1600" dirty="0" err="1">
                <a:solidFill>
                  <a:schemeClr val="tx1"/>
                </a:solidFill>
                <a:latin typeface="Arial" pitchFamily="34" charset="0"/>
                <a:cs typeface="Arial" pitchFamily="34" charset="0"/>
              </a:rPr>
              <a:t>kernel</a:t>
            </a:r>
            <a:r>
              <a:rPr lang="es-AR" sz="1600" dirty="0">
                <a:solidFill>
                  <a:schemeClr val="tx1"/>
                </a:solidFill>
                <a:latin typeface="Arial" pitchFamily="34" charset="0"/>
                <a:cs typeface="Arial" pitchFamily="34" charset="0"/>
              </a:rPr>
              <a:t> ( todas las estructuras de datos están en el espacio de direcciones de usuario de un mismo proceso.)</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De acuerdo a algún criterio y la aplicación puede seleccionar  una planificación específica.</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Se pueden ejecutar en cualquier sistema operativo. (están en una librería)</a:t>
            </a:r>
          </a:p>
          <a:p>
            <a:pPr marL="174625" indent="-174625" algn="l">
              <a:spcBef>
                <a:spcPts val="600"/>
              </a:spcBef>
            </a:pPr>
            <a:r>
              <a:rPr lang="es-AR" sz="1600" b="1" dirty="0">
                <a:solidFill>
                  <a:srgbClr val="7030A0"/>
                </a:solidFill>
                <a:latin typeface="Arial" pitchFamily="34" charset="0"/>
                <a:cs typeface="Arial" pitchFamily="34" charset="0"/>
              </a:rPr>
              <a:t>Desventajas:</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Cuando un hilo realiza una llamada al sistema, se bloquea el mismo y también el resto de los hilos del proceso (generalmente los </a:t>
            </a:r>
            <a:r>
              <a:rPr lang="es-AR" sz="1600" dirty="0" err="1">
                <a:solidFill>
                  <a:schemeClr val="tx1"/>
                </a:solidFill>
                <a:latin typeface="Arial" pitchFamily="34" charset="0"/>
                <a:cs typeface="Arial" pitchFamily="34" charset="0"/>
              </a:rPr>
              <a:t>system</a:t>
            </a:r>
            <a:r>
              <a:rPr lang="es-AR" sz="1600" dirty="0">
                <a:solidFill>
                  <a:schemeClr val="tx1"/>
                </a:solidFill>
                <a:latin typeface="Arial" pitchFamily="34" charset="0"/>
                <a:cs typeface="Arial" pitchFamily="34" charset="0"/>
              </a:rPr>
              <a:t> </a:t>
            </a:r>
            <a:r>
              <a:rPr lang="es-AR" sz="1600" dirty="0" err="1">
                <a:solidFill>
                  <a:schemeClr val="tx1"/>
                </a:solidFill>
                <a:latin typeface="Arial" pitchFamily="34" charset="0"/>
                <a:cs typeface="Arial" pitchFamily="34" charset="0"/>
              </a:rPr>
              <a:t>call</a:t>
            </a:r>
            <a:r>
              <a:rPr lang="es-AR" sz="1600" dirty="0">
                <a:solidFill>
                  <a:schemeClr val="tx1"/>
                </a:solidFill>
                <a:latin typeface="Arial" pitchFamily="34" charset="0"/>
                <a:cs typeface="Arial" pitchFamily="34" charset="0"/>
              </a:rPr>
              <a:t> son bloqueantes (esperan a que devuelta un resultado))</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Como el procesador ve al proceso </a:t>
            </a:r>
            <a:r>
              <a:rPr lang="es-AR" sz="1600" dirty="0" err="1">
                <a:solidFill>
                  <a:schemeClr val="tx1"/>
                </a:solidFill>
                <a:latin typeface="Arial" pitchFamily="34" charset="0"/>
                <a:cs typeface="Arial" pitchFamily="34" charset="0"/>
              </a:rPr>
              <a:t>multihilo</a:t>
            </a:r>
            <a:r>
              <a:rPr lang="es-AR" sz="1600" dirty="0">
                <a:solidFill>
                  <a:schemeClr val="tx1"/>
                </a:solidFill>
                <a:latin typeface="Arial" pitchFamily="34" charset="0"/>
                <a:cs typeface="Arial" pitchFamily="34" charset="0"/>
              </a:rPr>
              <a:t> como uno solo por los que no aprovecha las ventajas de multiprocesamiento</a:t>
            </a:r>
            <a:r>
              <a:rPr lang="es-AR" sz="1800" dirty="0">
                <a:solidFill>
                  <a:schemeClr val="tx1"/>
                </a:solidFill>
                <a:latin typeface="Arial" pitchFamily="34" charset="0"/>
                <a:cs typeface="Arial" pitchFamily="34" charset="0"/>
              </a:rPr>
              <a:t>.</a:t>
            </a:r>
          </a:p>
        </p:txBody>
      </p:sp>
      <p:sp>
        <p:nvSpPr>
          <p:cNvPr id="10" name="1 Título"/>
          <p:cNvSpPr txBox="1">
            <a:spLocks/>
          </p:cNvSpPr>
          <p:nvPr/>
        </p:nvSpPr>
        <p:spPr>
          <a:xfrm>
            <a:off x="0" y="115614"/>
            <a:ext cx="91440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a:solidFill>
                  <a:schemeClr val="tx1"/>
                </a:solidFill>
                <a:latin typeface="+mj-lt"/>
                <a:ea typeface="+mj-ea"/>
                <a:cs typeface="+mj-cs"/>
              </a:rPr>
              <a:t>Categorías en la implementación de hilos 1/3 </a:t>
            </a:r>
            <a:r>
              <a:rPr lang="es-AR" sz="1200" dirty="0">
                <a:solidFill>
                  <a:schemeClr val="tx1"/>
                </a:solidFill>
                <a:latin typeface="+mj-lt"/>
                <a:ea typeface="+mj-ea"/>
                <a:cs typeface="+mj-cs"/>
              </a:rPr>
              <a:t>(</a:t>
            </a:r>
            <a:r>
              <a:rPr lang="es-AR" sz="1200" dirty="0" err="1">
                <a:solidFill>
                  <a:schemeClr val="tx1"/>
                </a:solidFill>
                <a:latin typeface="+mj-lt"/>
                <a:ea typeface="+mj-ea"/>
                <a:cs typeface="+mj-cs"/>
              </a:rPr>
              <a:t>Stallings</a:t>
            </a:r>
            <a:r>
              <a:rPr lang="es-AR" sz="1200" dirty="0">
                <a:solidFill>
                  <a:schemeClr val="tx1"/>
                </a:solidFill>
                <a:latin typeface="+mj-lt"/>
                <a:ea typeface="+mj-ea"/>
                <a:cs typeface="+mj-cs"/>
              </a:rPr>
              <a:t> 165) </a:t>
            </a:r>
            <a:endParaRPr kumimoji="0" lang="es-AR" sz="12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2" name="11 Rectángulo"/>
          <p:cNvSpPr/>
          <p:nvPr/>
        </p:nvSpPr>
        <p:spPr>
          <a:xfrm>
            <a:off x="9477829" y="3964900"/>
            <a:ext cx="3904343" cy="2893100"/>
          </a:xfrm>
          <a:prstGeom prst="rect">
            <a:avLst/>
          </a:prstGeom>
        </p:spPr>
        <p:txBody>
          <a:bodyPr wrap="square">
            <a:spAutoFit/>
          </a:bodyPr>
          <a:lstStyle/>
          <a:p>
            <a:pPr algn="just"/>
            <a:r>
              <a:rPr lang="es-AR" sz="1400" b="1" dirty="0">
                <a:solidFill>
                  <a:srgbClr val="FFFF00"/>
                </a:solidFill>
                <a:latin typeface="Arial" pitchFamily="34" charset="0"/>
                <a:cs typeface="Arial" pitchFamily="34" charset="0"/>
              </a:rPr>
              <a:t>Sobre la primer desventaja:</a:t>
            </a:r>
          </a:p>
          <a:p>
            <a:pPr algn="just"/>
            <a:r>
              <a:rPr lang="es-AR" sz="1400" dirty="0">
                <a:solidFill>
                  <a:schemeClr val="tx1"/>
                </a:solidFill>
                <a:latin typeface="Arial" pitchFamily="34" charset="0"/>
                <a:cs typeface="Arial" pitchFamily="34" charset="0"/>
              </a:rPr>
              <a:t>Una solución al bloqueo mediante a llamadas al sistema es usando la técnica de </a:t>
            </a:r>
            <a:r>
              <a:rPr lang="es-AR" sz="1400" dirty="0" err="1">
                <a:solidFill>
                  <a:schemeClr val="tx1"/>
                </a:solidFill>
                <a:latin typeface="Arial" pitchFamily="34" charset="0"/>
                <a:cs typeface="Arial" pitchFamily="34" charset="0"/>
              </a:rPr>
              <a:t>jacketing</a:t>
            </a:r>
            <a:r>
              <a:rPr lang="es-AR" sz="1400" dirty="0">
                <a:solidFill>
                  <a:schemeClr val="tx1"/>
                </a:solidFill>
                <a:latin typeface="Arial" pitchFamily="34" charset="0"/>
                <a:cs typeface="Arial" pitchFamily="34" charset="0"/>
              </a:rPr>
              <a:t>, que es convertir una llamada bloqueante en no bloqueante; esto se consigue comprobando previamente si la llamada al sistema bloqueará el proceso o no. Si es así, se bloquea el hilo y se pasa el control a otro hilo. Más adelante se reactiva el hilo bloqueado y se vuelve a realizar la comprobación, hasta que se pueda realizar la llamada al sistema sin que el proceso completo sea bloqueado</a:t>
            </a:r>
          </a:p>
          <a:p>
            <a:pPr algn="just"/>
            <a:endParaRPr lang="es-AR" sz="1400" dirty="0">
              <a:solidFill>
                <a:schemeClr val="tx1"/>
              </a:solidFill>
              <a:latin typeface="Arial" pitchFamily="34" charset="0"/>
              <a:cs typeface="Arial" pitchFamily="34" charset="0"/>
            </a:endParaRPr>
          </a:p>
        </p:txBody>
      </p:sp>
      <p:sp>
        <p:nvSpPr>
          <p:cNvPr id="13" name="12 Rectángulo"/>
          <p:cNvSpPr/>
          <p:nvPr/>
        </p:nvSpPr>
        <p:spPr>
          <a:xfrm>
            <a:off x="9448800" y="0"/>
            <a:ext cx="3904343" cy="3754874"/>
          </a:xfrm>
          <a:prstGeom prst="rect">
            <a:avLst/>
          </a:prstGeom>
        </p:spPr>
        <p:txBody>
          <a:bodyPr wrap="square">
            <a:spAutoFit/>
          </a:bodyPr>
          <a:lstStyle/>
          <a:p>
            <a:pPr algn="just"/>
            <a:r>
              <a:rPr lang="es-AR" sz="1400" b="1" dirty="0">
                <a:solidFill>
                  <a:srgbClr val="FFFF00"/>
                </a:solidFill>
                <a:latin typeface="Arial" pitchFamily="34" charset="0"/>
                <a:cs typeface="Arial" pitchFamily="34" charset="0"/>
              </a:rPr>
              <a:t>Llamada al sistema.</a:t>
            </a:r>
          </a:p>
          <a:p>
            <a:pPr algn="just"/>
            <a:r>
              <a:rPr lang="es-AR" sz="1400" dirty="0">
                <a:solidFill>
                  <a:schemeClr val="tx1"/>
                </a:solidFill>
                <a:latin typeface="Arial" pitchFamily="34" charset="0"/>
                <a:cs typeface="Arial" pitchFamily="34" charset="0"/>
              </a:rPr>
              <a:t> </a:t>
            </a:r>
          </a:p>
          <a:p>
            <a:pPr algn="just"/>
            <a:r>
              <a:rPr lang="es-AR" sz="1400" dirty="0">
                <a:solidFill>
                  <a:schemeClr val="tx1"/>
                </a:solidFill>
                <a:latin typeface="Arial" pitchFamily="34" charset="0"/>
                <a:cs typeface="Arial" pitchFamily="34" charset="0"/>
              </a:rPr>
              <a:t>Llamadas que ejecutan los programas de aplicación para pedir algún servicio al SO.</a:t>
            </a:r>
          </a:p>
          <a:p>
            <a:pPr algn="just"/>
            <a:r>
              <a:rPr lang="es-AR" sz="1400" b="1" dirty="0">
                <a:solidFill>
                  <a:srgbClr val="FFFF00"/>
                </a:solidFill>
                <a:latin typeface="Arial" pitchFamily="34" charset="0"/>
                <a:cs typeface="Arial" pitchFamily="34" charset="0"/>
              </a:rPr>
              <a:t>Llamadas al sistema no bloqueantes</a:t>
            </a:r>
            <a:r>
              <a:rPr lang="es-AR" sz="1400" dirty="0">
                <a:solidFill>
                  <a:schemeClr val="tx1"/>
                </a:solidFill>
                <a:latin typeface="Arial" pitchFamily="34" charset="0"/>
                <a:cs typeface="Arial" pitchFamily="34" charset="0"/>
              </a:rPr>
              <a:t>: son aquellas llamadas en las que, si lo que se solicita no está disponible, el proceso no se queda bloqueado, sino que devuelven un valor especial indicando la condición de información no disponible</a:t>
            </a:r>
          </a:p>
          <a:p>
            <a:pPr algn="just"/>
            <a:r>
              <a:rPr lang="es-AR" sz="1400" dirty="0">
                <a:solidFill>
                  <a:schemeClr val="tx1"/>
                </a:solidFill>
                <a:latin typeface="Arial" pitchFamily="34" charset="0"/>
                <a:cs typeface="Arial" pitchFamily="34" charset="0"/>
              </a:rPr>
              <a:t> </a:t>
            </a:r>
          </a:p>
          <a:p>
            <a:pPr algn="just"/>
            <a:r>
              <a:rPr lang="es-AR" sz="1400" b="1" dirty="0">
                <a:solidFill>
                  <a:srgbClr val="FFFF00"/>
                </a:solidFill>
                <a:latin typeface="Arial" pitchFamily="34" charset="0"/>
                <a:cs typeface="Arial" pitchFamily="34" charset="0"/>
              </a:rPr>
              <a:t>Llamadas al sistema bloqueantes: </a:t>
            </a:r>
            <a:r>
              <a:rPr lang="es-AR" sz="1400" dirty="0">
                <a:solidFill>
                  <a:schemeClr val="tx1"/>
                </a:solidFill>
                <a:latin typeface="Arial" pitchFamily="34" charset="0"/>
                <a:cs typeface="Arial" pitchFamily="34" charset="0"/>
              </a:rPr>
              <a:t>la aplicación se bloquea a la espera del resultado. Si un hilo hace una llamada bloqueante, todos los hilos se bloquearán. Si hace una llamada no bloqueante, los demás hilos podrán seguir ejecutando.</a:t>
            </a:r>
          </a:p>
        </p:txBody>
      </p:sp>
      <p:sp>
        <p:nvSpPr>
          <p:cNvPr id="8" name="1 Título"/>
          <p:cNvSpPr txBox="1">
            <a:spLocks/>
          </p:cNvSpPr>
          <p:nvPr/>
        </p:nvSpPr>
        <p:spPr>
          <a:xfrm>
            <a:off x="7646503" y="689110"/>
            <a:ext cx="1603513" cy="357809"/>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1200" dirty="0">
                <a:solidFill>
                  <a:schemeClr val="tx1"/>
                </a:solidFill>
                <a:latin typeface="+mj-lt"/>
                <a:ea typeface="+mj-ea"/>
                <a:cs typeface="+mj-cs"/>
              </a:rPr>
              <a:t>(Tanenbaum2.2.4) </a:t>
            </a:r>
            <a:endParaRPr kumimoji="0" lang="es-AR" sz="1200" b="0" i="1" u="none" strike="noStrike" kern="1200" cap="none" spc="0" normalizeH="0" baseline="0" noProof="0" dirty="0">
              <a:ln>
                <a:noFill/>
              </a:ln>
              <a:solidFill>
                <a:schemeClr val="tx1"/>
              </a:solidFill>
              <a:effectLst/>
              <a:uLnTx/>
              <a:uFillTx/>
              <a:latin typeface="+mn-lt"/>
              <a:ea typeface="+mj-ea"/>
              <a:cs typeface="Arial" pitchFamily="34" charset="0"/>
            </a:endParaRPr>
          </a:p>
        </p:txBody>
      </p:sp>
      <p:grpSp>
        <p:nvGrpSpPr>
          <p:cNvPr id="17" name="16 Grupo"/>
          <p:cNvGrpSpPr/>
          <p:nvPr/>
        </p:nvGrpSpPr>
        <p:grpSpPr>
          <a:xfrm>
            <a:off x="-9178327" y="1137033"/>
            <a:ext cx="8815470" cy="5614826"/>
            <a:chOff x="195596" y="1107250"/>
            <a:chExt cx="8815470" cy="5614826"/>
          </a:xfrm>
        </p:grpSpPr>
        <p:pic>
          <p:nvPicPr>
            <p:cNvPr id="2050" name="Picture 2"/>
            <p:cNvPicPr>
              <a:picLocks noChangeAspect="1" noChangeArrowheads="1"/>
            </p:cNvPicPr>
            <p:nvPr/>
          </p:nvPicPr>
          <p:blipFill>
            <a:blip r:embed="rId3" cstate="print"/>
            <a:srcRect/>
            <a:stretch>
              <a:fillRect/>
            </a:stretch>
          </p:blipFill>
          <p:spPr bwMode="auto">
            <a:xfrm>
              <a:off x="195596" y="2383542"/>
              <a:ext cx="3433970" cy="3004723"/>
            </a:xfrm>
            <a:prstGeom prst="rect">
              <a:avLst/>
            </a:prstGeom>
            <a:ln>
              <a:noFill/>
            </a:ln>
            <a:effectLst>
              <a:outerShdw blurRad="190500" algn="tl" rotWithShape="0">
                <a:srgbClr val="000000">
                  <a:alpha val="70000"/>
                </a:srgbClr>
              </a:outerShdw>
            </a:effectLst>
          </p:spPr>
        </p:pic>
        <p:grpSp>
          <p:nvGrpSpPr>
            <p:cNvPr id="15" name="14 Grupo"/>
            <p:cNvGrpSpPr/>
            <p:nvPr/>
          </p:nvGrpSpPr>
          <p:grpSpPr>
            <a:xfrm>
              <a:off x="3739252" y="1107250"/>
              <a:ext cx="5271814" cy="5614826"/>
              <a:chOff x="3314378" y="784840"/>
              <a:chExt cx="5271814" cy="5614826"/>
            </a:xfrm>
          </p:grpSpPr>
          <p:grpSp>
            <p:nvGrpSpPr>
              <p:cNvPr id="14" name="13 Grupo"/>
              <p:cNvGrpSpPr/>
              <p:nvPr/>
            </p:nvGrpSpPr>
            <p:grpSpPr>
              <a:xfrm>
                <a:off x="3324750" y="784840"/>
                <a:ext cx="5247613" cy="2838674"/>
                <a:chOff x="5153004" y="1068676"/>
                <a:chExt cx="8968482" cy="4851463"/>
              </a:xfrm>
            </p:grpSpPr>
            <p:pic>
              <p:nvPicPr>
                <p:cNvPr id="3074" name="Picture 2"/>
                <p:cNvPicPr>
                  <a:picLocks noChangeAspect="1" noChangeArrowheads="1"/>
                </p:cNvPicPr>
                <p:nvPr/>
              </p:nvPicPr>
              <p:blipFill>
                <a:blip r:embed="rId4" cstate="print"/>
                <a:srcRect/>
                <a:stretch>
                  <a:fillRect/>
                </a:stretch>
              </p:blipFill>
              <p:spPr bwMode="auto">
                <a:xfrm>
                  <a:off x="5153004" y="1068676"/>
                  <a:ext cx="8968482" cy="4851463"/>
                </a:xfrm>
                <a:prstGeom prst="rect">
                  <a:avLst/>
                </a:prstGeom>
                <a:ln>
                  <a:noFill/>
                </a:ln>
                <a:effectLst>
                  <a:outerShdw blurRad="190500" algn="tl" rotWithShape="0">
                    <a:srgbClr val="000000">
                      <a:alpha val="70000"/>
                    </a:srgbClr>
                  </a:outerShdw>
                </a:effectLst>
              </p:spPr>
            </p:pic>
            <p:pic>
              <p:nvPicPr>
                <p:cNvPr id="3075" name="Picture 3"/>
                <p:cNvPicPr>
                  <a:picLocks noChangeAspect="1" noChangeArrowheads="1"/>
                </p:cNvPicPr>
                <p:nvPr/>
              </p:nvPicPr>
              <p:blipFill>
                <a:blip r:embed="rId5" cstate="print"/>
                <a:srcRect/>
                <a:stretch>
                  <a:fillRect/>
                </a:stretch>
              </p:blipFill>
              <p:spPr bwMode="auto">
                <a:xfrm>
                  <a:off x="11652857" y="3127233"/>
                  <a:ext cx="2392656" cy="2618536"/>
                </a:xfrm>
                <a:prstGeom prst="rect">
                  <a:avLst/>
                </a:prstGeom>
                <a:noFill/>
                <a:ln w="9525">
                  <a:noFill/>
                  <a:miter lim="800000"/>
                  <a:headEnd/>
                  <a:tailEnd/>
                </a:ln>
                <a:effectLst/>
              </p:spPr>
            </p:pic>
          </p:grpSp>
          <p:pic>
            <p:nvPicPr>
              <p:cNvPr id="3076" name="Picture 4"/>
              <p:cNvPicPr>
                <a:picLocks noChangeAspect="1" noChangeArrowheads="1"/>
              </p:cNvPicPr>
              <p:nvPr/>
            </p:nvPicPr>
            <p:blipFill>
              <a:blip r:embed="rId6" cstate="print"/>
              <a:srcRect/>
              <a:stretch>
                <a:fillRect/>
              </a:stretch>
            </p:blipFill>
            <p:spPr bwMode="auto">
              <a:xfrm>
                <a:off x="3314378" y="3755319"/>
                <a:ext cx="5271814" cy="2644347"/>
              </a:xfrm>
              <a:prstGeom prst="rect">
                <a:avLst/>
              </a:prstGeom>
              <a:ln>
                <a:noFill/>
              </a:ln>
              <a:effectLst>
                <a:outerShdw blurRad="190500" algn="tl" rotWithShape="0">
                  <a:srgbClr val="000000">
                    <a:alpha val="70000"/>
                  </a:srgbClr>
                </a:outerShdw>
              </a:effectLst>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46743" y="1035958"/>
            <a:ext cx="8621486" cy="5816977"/>
          </a:xfrm>
          <a:prstGeom prst="rect">
            <a:avLst/>
          </a:prstGeom>
          <a:noFill/>
        </p:spPr>
        <p:txBody>
          <a:bodyPr wrap="square" rtlCol="0">
            <a:spAutoFit/>
          </a:bodyPr>
          <a:lstStyle/>
          <a:p>
            <a:pPr algn="l">
              <a:spcBef>
                <a:spcPts val="600"/>
              </a:spcBef>
            </a:pPr>
            <a:r>
              <a:rPr lang="es-AR" sz="1600" b="1" dirty="0">
                <a:solidFill>
                  <a:srgbClr val="7030A0"/>
                </a:solidFill>
                <a:latin typeface="Arial" pitchFamily="34" charset="0"/>
                <a:cs typeface="Arial" pitchFamily="34" charset="0"/>
              </a:rPr>
              <a:t>Hilos a nivel de </a:t>
            </a:r>
            <a:r>
              <a:rPr lang="es-AR" sz="1600" b="1" dirty="0" err="1">
                <a:solidFill>
                  <a:srgbClr val="7030A0"/>
                </a:solidFill>
                <a:latin typeface="Arial" pitchFamily="34" charset="0"/>
                <a:cs typeface="Arial" pitchFamily="34" charset="0"/>
              </a:rPr>
              <a:t>kernel</a:t>
            </a:r>
            <a:r>
              <a:rPr lang="es-AR" sz="1600" b="1" dirty="0">
                <a:solidFill>
                  <a:srgbClr val="7030A0"/>
                </a:solidFill>
                <a:latin typeface="Arial" pitchFamily="34" charset="0"/>
                <a:cs typeface="Arial" pitchFamily="34" charset="0"/>
              </a:rPr>
              <a:t> (KLT </a:t>
            </a:r>
            <a:r>
              <a:rPr lang="es-AR" sz="1600" b="1" dirty="0" err="1">
                <a:solidFill>
                  <a:srgbClr val="7030A0"/>
                </a:solidFill>
                <a:latin typeface="Arial" pitchFamily="34" charset="0"/>
                <a:cs typeface="Arial" pitchFamily="34" charset="0"/>
              </a:rPr>
              <a:t>kernel</a:t>
            </a:r>
            <a:r>
              <a:rPr lang="es-AR" sz="1600" b="1" dirty="0">
                <a:solidFill>
                  <a:srgbClr val="7030A0"/>
                </a:solidFill>
                <a:latin typeface="Arial" pitchFamily="34" charset="0"/>
                <a:cs typeface="Arial" pitchFamily="34" charset="0"/>
              </a:rPr>
              <a:t> </a:t>
            </a:r>
            <a:r>
              <a:rPr lang="es-AR" sz="1600" b="1" dirty="0" err="1">
                <a:solidFill>
                  <a:srgbClr val="7030A0"/>
                </a:solidFill>
                <a:latin typeface="Arial" pitchFamily="34" charset="0"/>
                <a:cs typeface="Arial" pitchFamily="34" charset="0"/>
              </a:rPr>
              <a:t>level</a:t>
            </a:r>
            <a:r>
              <a:rPr lang="es-AR" sz="1600" b="1" dirty="0">
                <a:solidFill>
                  <a:srgbClr val="7030A0"/>
                </a:solidFill>
                <a:latin typeface="Arial" pitchFamily="34" charset="0"/>
                <a:cs typeface="Arial" pitchFamily="34" charset="0"/>
              </a:rPr>
              <a:t> </a:t>
            </a:r>
            <a:r>
              <a:rPr lang="es-AR" sz="1600" b="1" dirty="0" err="1">
                <a:solidFill>
                  <a:srgbClr val="7030A0"/>
                </a:solidFill>
                <a:latin typeface="Arial" pitchFamily="34" charset="0"/>
                <a:cs typeface="Arial" pitchFamily="34" charset="0"/>
              </a:rPr>
              <a:t>thread</a:t>
            </a:r>
            <a:r>
              <a:rPr lang="es-AR" sz="1600" b="1" dirty="0">
                <a:solidFill>
                  <a:srgbClr val="7030A0"/>
                </a:solidFill>
                <a:latin typeface="Arial" pitchFamily="34" charset="0"/>
                <a:cs typeface="Arial" pitchFamily="34" charset="0"/>
              </a:rPr>
              <a:t>):</a:t>
            </a:r>
          </a:p>
          <a:p>
            <a:pPr algn="l">
              <a:spcBef>
                <a:spcPts val="600"/>
              </a:spcBef>
            </a:pPr>
            <a:r>
              <a:rPr lang="es-AR" sz="1600" dirty="0">
                <a:solidFill>
                  <a:schemeClr val="tx1"/>
                </a:solidFill>
                <a:latin typeface="Arial" pitchFamily="34" charset="0"/>
                <a:cs typeface="Arial" pitchFamily="34" charset="0"/>
              </a:rPr>
              <a:t> Todo el trabajo de gestión de hilos lo realiza el </a:t>
            </a:r>
            <a:r>
              <a:rPr lang="es-AR" sz="1600" dirty="0" err="1">
                <a:solidFill>
                  <a:schemeClr val="tx1"/>
                </a:solidFill>
                <a:latin typeface="Arial" pitchFamily="34" charset="0"/>
                <a:cs typeface="Arial" pitchFamily="34" charset="0"/>
              </a:rPr>
              <a:t>kernel</a:t>
            </a:r>
            <a:r>
              <a:rPr lang="es-AR" sz="1600" dirty="0">
                <a:solidFill>
                  <a:schemeClr val="tx1"/>
                </a:solidFill>
                <a:latin typeface="Arial" pitchFamily="34" charset="0"/>
                <a:cs typeface="Arial" pitchFamily="34" charset="0"/>
              </a:rPr>
              <a:t> (planificación, sincronización, cambio, </a:t>
            </a:r>
            <a:r>
              <a:rPr lang="es-AR" sz="1600" dirty="0" err="1">
                <a:solidFill>
                  <a:schemeClr val="tx1"/>
                </a:solidFill>
                <a:latin typeface="Arial" pitchFamily="34" charset="0"/>
                <a:cs typeface="Arial" pitchFamily="34" charset="0"/>
              </a:rPr>
              <a:t>etc</a:t>
            </a:r>
            <a:r>
              <a:rPr lang="es-AR" sz="1600" dirty="0">
                <a:solidFill>
                  <a:schemeClr val="tx1"/>
                </a:solidFill>
                <a:latin typeface="Arial" pitchFamily="34" charset="0"/>
                <a:cs typeface="Arial" pitchFamily="34" charset="0"/>
              </a:rPr>
              <a:t>). En el área de la aplicación no hay código de gestión de hilos, únicamente un API (interfaz de programas de aplicación) para la gestión de hilos en el núcleo. Este método es utilizado en Windows 2000, Linux y OS/2.</a:t>
            </a:r>
          </a:p>
          <a:p>
            <a:pPr algn="l">
              <a:spcBef>
                <a:spcPts val="600"/>
              </a:spcBef>
            </a:pPr>
            <a:r>
              <a:rPr lang="es-AR" sz="1600" b="1" dirty="0">
                <a:solidFill>
                  <a:srgbClr val="7030A0"/>
                </a:solidFill>
                <a:latin typeface="Arial" pitchFamily="34" charset="0"/>
                <a:cs typeface="Arial" pitchFamily="34" charset="0"/>
              </a:rPr>
              <a:t>Ventajas:</a:t>
            </a:r>
          </a:p>
          <a:p>
            <a:pPr marL="174625" indent="-174625" algn="l">
              <a:buFont typeface="Arial"/>
              <a:buChar char="•"/>
            </a:pPr>
            <a:r>
              <a:rPr lang="es-AR" sz="1600" dirty="0">
                <a:solidFill>
                  <a:srgbClr val="222222"/>
                </a:solidFill>
                <a:latin typeface="Arial"/>
              </a:rPr>
              <a:t>El </a:t>
            </a:r>
            <a:r>
              <a:rPr lang="es-AR" sz="1600" dirty="0" err="1">
                <a:solidFill>
                  <a:srgbClr val="222222"/>
                </a:solidFill>
                <a:latin typeface="Arial"/>
              </a:rPr>
              <a:t>kernel</a:t>
            </a:r>
            <a:r>
              <a:rPr lang="es-AR" sz="1600" dirty="0">
                <a:solidFill>
                  <a:srgbClr val="222222"/>
                </a:solidFill>
                <a:latin typeface="Arial"/>
              </a:rPr>
              <a:t> puede planificar simultáneamente múltiples hilos del mismo proceso en múltiples procesadores.</a:t>
            </a:r>
          </a:p>
          <a:p>
            <a:pPr marL="174625" indent="-174625" algn="l">
              <a:buFont typeface="Arial"/>
              <a:buChar char="•"/>
            </a:pPr>
            <a:r>
              <a:rPr lang="es-AR" sz="1600" dirty="0">
                <a:solidFill>
                  <a:srgbClr val="222222"/>
                </a:solidFill>
                <a:latin typeface="Arial"/>
              </a:rPr>
              <a:t>Si se bloquea un hilo, puede planificar otro del mismo proceso o de otro proceso</a:t>
            </a:r>
          </a:p>
          <a:p>
            <a:pPr marL="174625" indent="-174625" algn="l">
              <a:buFont typeface="Arial"/>
              <a:buChar char="•"/>
            </a:pPr>
            <a:r>
              <a:rPr lang="es-AR" sz="1600" dirty="0">
                <a:solidFill>
                  <a:srgbClr val="222222"/>
                </a:solidFill>
                <a:latin typeface="Arial"/>
              </a:rPr>
              <a:t>Las propias funciones del </a:t>
            </a:r>
            <a:r>
              <a:rPr lang="es-AR" sz="1600" dirty="0" err="1">
                <a:solidFill>
                  <a:srgbClr val="222222"/>
                </a:solidFill>
                <a:latin typeface="Arial"/>
              </a:rPr>
              <a:t>kernel</a:t>
            </a:r>
            <a:r>
              <a:rPr lang="es-AR" sz="1600" dirty="0">
                <a:solidFill>
                  <a:srgbClr val="222222"/>
                </a:solidFill>
                <a:latin typeface="Arial"/>
              </a:rPr>
              <a:t> pueden ser </a:t>
            </a:r>
            <a:r>
              <a:rPr lang="es-AR" sz="1600" dirty="0" err="1">
                <a:solidFill>
                  <a:srgbClr val="222222"/>
                </a:solidFill>
                <a:latin typeface="Arial"/>
              </a:rPr>
              <a:t>multihilo</a:t>
            </a:r>
            <a:r>
              <a:rPr lang="es-AR" sz="1600" dirty="0">
                <a:solidFill>
                  <a:srgbClr val="222222"/>
                </a:solidFill>
                <a:latin typeface="Arial"/>
              </a:rPr>
              <a:t>.</a:t>
            </a:r>
          </a:p>
          <a:p>
            <a:pPr marL="174625" indent="-174625" algn="l">
              <a:spcBef>
                <a:spcPts val="600"/>
              </a:spcBef>
            </a:pPr>
            <a:r>
              <a:rPr lang="es-AR" sz="1600" b="1" dirty="0">
                <a:solidFill>
                  <a:srgbClr val="7030A0"/>
                </a:solidFill>
                <a:latin typeface="Arial" pitchFamily="34" charset="0"/>
                <a:cs typeface="Arial" pitchFamily="34" charset="0"/>
              </a:rPr>
              <a:t>Desventajas:</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El paso de control de un hilo a se realiza accediendo al núcleo..</a:t>
            </a:r>
            <a:endParaRPr lang="es-AR" sz="1800" dirty="0">
              <a:solidFill>
                <a:schemeClr val="tx1"/>
              </a:solidFill>
              <a:latin typeface="Arial" pitchFamily="34" charset="0"/>
              <a:cs typeface="Arial" pitchFamily="34" charset="0"/>
            </a:endParaRPr>
          </a:p>
          <a:p>
            <a:pPr marL="174625" indent="-174625" algn="l">
              <a:spcBef>
                <a:spcPts val="600"/>
              </a:spcBef>
            </a:pPr>
            <a:endParaRPr lang="es-AR" sz="1800" dirty="0">
              <a:solidFill>
                <a:schemeClr val="tx1"/>
              </a:solidFill>
              <a:latin typeface="Arial" pitchFamily="34" charset="0"/>
              <a:cs typeface="Arial" pitchFamily="34" charset="0"/>
            </a:endParaRPr>
          </a:p>
          <a:p>
            <a:pPr marL="174625" indent="-174625" algn="l">
              <a:spcBef>
                <a:spcPts val="600"/>
              </a:spcBef>
            </a:pPr>
            <a:r>
              <a:rPr lang="es-AR" sz="1600" dirty="0">
                <a:solidFill>
                  <a:schemeClr val="tx1"/>
                </a:solidFill>
                <a:latin typeface="Arial" pitchFamily="34" charset="0"/>
                <a:cs typeface="Arial" pitchFamily="34" charset="0"/>
              </a:rPr>
              <a:t>Puede </a:t>
            </a:r>
            <a:r>
              <a:rPr lang="es-AR" sz="1600" b="1" dirty="0">
                <a:solidFill>
                  <a:srgbClr val="0070C0"/>
                </a:solidFill>
                <a:latin typeface="Arial" pitchFamily="34" charset="0"/>
                <a:cs typeface="Arial" pitchFamily="34" charset="0"/>
              </a:rPr>
              <a:t>aproximaciones</a:t>
            </a:r>
            <a:r>
              <a:rPr lang="es-AR" sz="1600" dirty="0">
                <a:solidFill>
                  <a:schemeClr val="tx1"/>
                </a:solidFill>
                <a:latin typeface="Arial" pitchFamily="34" charset="0"/>
                <a:cs typeface="Arial" pitchFamily="34" charset="0"/>
              </a:rPr>
              <a:t> </a:t>
            </a:r>
            <a:r>
              <a:rPr lang="es-AR" sz="1600" b="1" dirty="0">
                <a:solidFill>
                  <a:srgbClr val="0070C0"/>
                </a:solidFill>
                <a:latin typeface="Arial" pitchFamily="34" charset="0"/>
                <a:cs typeface="Arial" pitchFamily="34" charset="0"/>
              </a:rPr>
              <a:t>combinadas</a:t>
            </a:r>
            <a:r>
              <a:rPr lang="es-AR" sz="1600" dirty="0">
                <a:solidFill>
                  <a:schemeClr val="tx1"/>
                </a:solidFill>
                <a:latin typeface="Arial" pitchFamily="34" charset="0"/>
                <a:cs typeface="Arial" pitchFamily="34" charset="0"/>
              </a:rPr>
              <a:t> de ULT y KLT, por ejemplo  algunas distribuciones de Linux como Ubuntu y </a:t>
            </a:r>
            <a:r>
              <a:rPr lang="es-AR" sz="1600" dirty="0" err="1">
                <a:solidFill>
                  <a:schemeClr val="tx1"/>
                </a:solidFill>
                <a:latin typeface="Arial" pitchFamily="34" charset="0"/>
                <a:cs typeface="Arial" pitchFamily="34" charset="0"/>
              </a:rPr>
              <a:t>Fedora</a:t>
            </a:r>
            <a:r>
              <a:rPr lang="es-AR" sz="1600" dirty="0">
                <a:solidFill>
                  <a:schemeClr val="tx1"/>
                </a:solidFill>
                <a:latin typeface="Arial" pitchFamily="34" charset="0"/>
                <a:cs typeface="Arial" pitchFamily="34" charset="0"/>
              </a:rPr>
              <a:t> y derivados de UNIX como </a:t>
            </a:r>
            <a:r>
              <a:rPr lang="es-AR" sz="1600" dirty="0" err="1">
                <a:solidFill>
                  <a:schemeClr val="tx1"/>
                </a:solidFill>
                <a:latin typeface="Arial" pitchFamily="34" charset="0"/>
                <a:cs typeface="Arial" pitchFamily="34" charset="0"/>
              </a:rPr>
              <a:t>Solaris</a:t>
            </a:r>
            <a:r>
              <a:rPr lang="es-AR" sz="1600" dirty="0">
                <a:solidFill>
                  <a:schemeClr val="tx1"/>
                </a:solidFill>
                <a:latin typeface="Arial" pitchFamily="34" charset="0"/>
                <a:cs typeface="Arial" pitchFamily="34" charset="0"/>
              </a:rPr>
              <a:t>. </a:t>
            </a:r>
          </a:p>
          <a:p>
            <a:pPr marL="174625" indent="-174625" algn="l">
              <a:spcBef>
                <a:spcPts val="600"/>
              </a:spcBef>
            </a:pPr>
            <a:r>
              <a:rPr lang="es-AR" sz="1600" dirty="0">
                <a:solidFill>
                  <a:schemeClr val="tx1"/>
                </a:solidFill>
                <a:latin typeface="Arial" pitchFamily="34" charset="0"/>
                <a:cs typeface="Arial" pitchFamily="34" charset="0"/>
              </a:rPr>
              <a:t>En un método combinado </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Creación, sincronización y planificación de hilos de una aplicación en modo usuario.</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Planificación de múltiples hilos de un proceso en múltiples procesadores.</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El bloqueo de un hilo no supone (necesariamente) bloquear todo el proceso. y las llamadas al sistema bloqueantes no necesitan bloquear todo el proceso.</a:t>
            </a:r>
          </a:p>
        </p:txBody>
      </p:sp>
      <p:sp>
        <p:nvSpPr>
          <p:cNvPr id="10" name="1 Título"/>
          <p:cNvSpPr txBox="1">
            <a:spLocks/>
          </p:cNvSpPr>
          <p:nvPr/>
        </p:nvSpPr>
        <p:spPr>
          <a:xfrm>
            <a:off x="46388" y="115614"/>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a:solidFill>
                  <a:schemeClr val="tx1"/>
                </a:solidFill>
                <a:latin typeface="+mj-lt"/>
                <a:ea typeface="+mj-ea"/>
                <a:cs typeface="+mj-cs"/>
              </a:rPr>
              <a:t>Categorías en la implementación de hilos 2/3 </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2" name="1 Título"/>
          <p:cNvSpPr txBox="1">
            <a:spLocks/>
          </p:cNvSpPr>
          <p:nvPr/>
        </p:nvSpPr>
        <p:spPr>
          <a:xfrm>
            <a:off x="7712763" y="662605"/>
            <a:ext cx="1603513" cy="357809"/>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1200" dirty="0">
                <a:solidFill>
                  <a:schemeClr val="tx1"/>
                </a:solidFill>
                <a:latin typeface="+mj-lt"/>
                <a:ea typeface="+mj-ea"/>
                <a:cs typeface="+mj-cs"/>
              </a:rPr>
              <a:t>(Tanenbaum2.2.5) </a:t>
            </a:r>
            <a:endParaRPr kumimoji="0" lang="es-AR" sz="12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3" name="1 Título"/>
          <p:cNvSpPr txBox="1">
            <a:spLocks/>
          </p:cNvSpPr>
          <p:nvPr/>
        </p:nvSpPr>
        <p:spPr>
          <a:xfrm>
            <a:off x="7686259" y="4426221"/>
            <a:ext cx="1603513" cy="357809"/>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1200" dirty="0">
                <a:solidFill>
                  <a:schemeClr val="tx1"/>
                </a:solidFill>
                <a:latin typeface="+mj-lt"/>
                <a:ea typeface="+mj-ea"/>
                <a:cs typeface="+mj-cs"/>
              </a:rPr>
              <a:t>(Tanenbaum2.2.6) </a:t>
            </a:r>
            <a:endParaRPr kumimoji="0" lang="es-AR" sz="1200" b="0" i="1" u="none" strike="noStrike" kern="1200" cap="none" spc="0" normalizeH="0" baseline="0" noProof="0" dirty="0">
              <a:ln>
                <a:noFill/>
              </a:ln>
              <a:solidFill>
                <a:schemeClr val="tx1"/>
              </a:solidFill>
              <a:effectLst/>
              <a:uLnTx/>
              <a:uFillTx/>
              <a:latin typeface="+mn-lt"/>
              <a:ea typeface="+mj-ea"/>
              <a:cs typeface="Arial" pitchFamily="34" charset="0"/>
            </a:endParaRPr>
          </a:p>
        </p:txBody>
      </p:sp>
      <p:grpSp>
        <p:nvGrpSpPr>
          <p:cNvPr id="20" name="19 Grupo"/>
          <p:cNvGrpSpPr/>
          <p:nvPr/>
        </p:nvGrpSpPr>
        <p:grpSpPr>
          <a:xfrm>
            <a:off x="9144000" y="946094"/>
            <a:ext cx="8782243" cy="5906841"/>
            <a:chOff x="194209" y="896841"/>
            <a:chExt cx="8782243" cy="5906841"/>
          </a:xfrm>
        </p:grpSpPr>
        <p:sp>
          <p:nvSpPr>
            <p:cNvPr id="19" name="18 Rectángulo"/>
            <p:cNvSpPr/>
            <p:nvPr/>
          </p:nvSpPr>
          <p:spPr>
            <a:xfrm>
              <a:off x="194209" y="2234924"/>
              <a:ext cx="3115113" cy="2851841"/>
            </a:xfrm>
            <a:prstGeom prst="rect">
              <a:avLst/>
            </a:prstGeom>
            <a:solidFill>
              <a:schemeClr val="bg1"/>
            </a:solidFill>
            <a:ln w="6350">
              <a:noFill/>
            </a:ln>
            <a:effectLst>
              <a:outerShdw blurRad="190500" dir="5400000" sx="103000" sy="103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a:effectLst>
                    <a:outerShdw blurRad="50800" dist="38100" dir="5400000" algn="t" rotWithShape="0">
                      <a:prstClr val="black">
                        <a:alpha val="40000"/>
                      </a:prstClr>
                    </a:outerShdw>
                  </a:effectLst>
                </a:rPr>
                <a:t> </a:t>
              </a:r>
            </a:p>
          </p:txBody>
        </p:sp>
        <p:grpSp>
          <p:nvGrpSpPr>
            <p:cNvPr id="18" name="17 Grupo"/>
            <p:cNvGrpSpPr/>
            <p:nvPr/>
          </p:nvGrpSpPr>
          <p:grpSpPr>
            <a:xfrm>
              <a:off x="199544" y="896841"/>
              <a:ext cx="8776908" cy="5906841"/>
              <a:chOff x="199544" y="896841"/>
              <a:chExt cx="8776908" cy="5906841"/>
            </a:xfrm>
          </p:grpSpPr>
          <p:grpSp>
            <p:nvGrpSpPr>
              <p:cNvPr id="16" name="15 Grupo"/>
              <p:cNvGrpSpPr/>
              <p:nvPr/>
            </p:nvGrpSpPr>
            <p:grpSpPr>
              <a:xfrm>
                <a:off x="199544" y="2367548"/>
                <a:ext cx="2969996" cy="2533650"/>
                <a:chOff x="199544" y="2367548"/>
                <a:chExt cx="2969996" cy="2533650"/>
              </a:xfrm>
            </p:grpSpPr>
            <p:pic>
              <p:nvPicPr>
                <p:cNvPr id="3074" name="Picture 2"/>
                <p:cNvPicPr>
                  <a:picLocks noChangeAspect="1" noChangeArrowheads="1"/>
                </p:cNvPicPr>
                <p:nvPr/>
              </p:nvPicPr>
              <p:blipFill>
                <a:blip r:embed="rId3" cstate="print"/>
                <a:stretch>
                  <a:fillRect/>
                </a:stretch>
              </p:blipFill>
              <p:spPr bwMode="auto">
                <a:xfrm>
                  <a:off x="883540" y="2367548"/>
                  <a:ext cx="2286000" cy="2533650"/>
                </a:xfrm>
                <a:prstGeom prst="rect">
                  <a:avLst/>
                </a:prstGeom>
                <a:noFill/>
                <a:ln>
                  <a:noFill/>
                </a:ln>
              </p:spPr>
            </p:pic>
            <p:pic>
              <p:nvPicPr>
                <p:cNvPr id="3076" name="Picture 4"/>
                <p:cNvPicPr>
                  <a:picLocks noChangeAspect="1" noChangeArrowheads="1"/>
                </p:cNvPicPr>
                <p:nvPr/>
              </p:nvPicPr>
              <p:blipFill>
                <a:blip r:embed="rId4" cstate="print"/>
                <a:stretch>
                  <a:fillRect/>
                </a:stretch>
              </p:blipFill>
              <p:spPr bwMode="auto">
                <a:xfrm>
                  <a:off x="199544" y="2428159"/>
                  <a:ext cx="800100" cy="2105025"/>
                </a:xfrm>
                <a:prstGeom prst="rect">
                  <a:avLst/>
                </a:prstGeom>
                <a:noFill/>
                <a:ln>
                  <a:noFill/>
                </a:ln>
              </p:spPr>
            </p:pic>
          </p:grpSp>
          <p:grpSp>
            <p:nvGrpSpPr>
              <p:cNvPr id="17" name="16 Grupo"/>
              <p:cNvGrpSpPr/>
              <p:nvPr/>
            </p:nvGrpSpPr>
            <p:grpSpPr>
              <a:xfrm>
                <a:off x="3388452" y="896841"/>
                <a:ext cx="5588000" cy="5906841"/>
                <a:chOff x="3388452" y="896841"/>
                <a:chExt cx="5588000" cy="5906841"/>
              </a:xfrm>
            </p:grpSpPr>
            <p:grpSp>
              <p:nvGrpSpPr>
                <p:cNvPr id="14" name="13 Grupo"/>
                <p:cNvGrpSpPr/>
                <p:nvPr/>
              </p:nvGrpSpPr>
              <p:grpSpPr>
                <a:xfrm>
                  <a:off x="3388452" y="896841"/>
                  <a:ext cx="5588000" cy="2822286"/>
                  <a:chOff x="3836318" y="869133"/>
                  <a:chExt cx="5588000" cy="2822286"/>
                </a:xfrm>
              </p:grpSpPr>
              <p:pic>
                <p:nvPicPr>
                  <p:cNvPr id="4098" name="Picture 2"/>
                  <p:cNvPicPr>
                    <a:picLocks noChangeAspect="1" noChangeArrowheads="1"/>
                  </p:cNvPicPr>
                  <p:nvPr/>
                </p:nvPicPr>
                <p:blipFill>
                  <a:blip r:embed="rId5" cstate="print"/>
                  <a:srcRect/>
                  <a:stretch>
                    <a:fillRect/>
                  </a:stretch>
                </p:blipFill>
                <p:spPr bwMode="auto">
                  <a:xfrm>
                    <a:off x="3836318" y="869133"/>
                    <a:ext cx="5588000" cy="2822286"/>
                  </a:xfrm>
                  <a:prstGeom prst="rect">
                    <a:avLst/>
                  </a:prstGeom>
                  <a:ln>
                    <a:noFill/>
                  </a:ln>
                  <a:effectLst>
                    <a:outerShdw blurRad="190500" algn="tl" rotWithShape="0">
                      <a:srgbClr val="000000">
                        <a:alpha val="70000"/>
                      </a:srgbClr>
                    </a:outerShdw>
                  </a:effectLst>
                </p:spPr>
              </p:pic>
              <p:pic>
                <p:nvPicPr>
                  <p:cNvPr id="4099" name="Picture 3"/>
                  <p:cNvPicPr>
                    <a:picLocks noChangeAspect="1" noChangeArrowheads="1"/>
                  </p:cNvPicPr>
                  <p:nvPr/>
                </p:nvPicPr>
                <p:blipFill>
                  <a:blip r:embed="rId6" cstate="print"/>
                  <a:srcRect/>
                  <a:stretch>
                    <a:fillRect/>
                  </a:stretch>
                </p:blipFill>
                <p:spPr bwMode="auto">
                  <a:xfrm>
                    <a:off x="7812640" y="1100042"/>
                    <a:ext cx="1496433" cy="701963"/>
                  </a:xfrm>
                  <a:prstGeom prst="rect">
                    <a:avLst/>
                  </a:prstGeom>
                  <a:noFill/>
                  <a:ln w="9525">
                    <a:noFill/>
                    <a:miter lim="800000"/>
                    <a:headEnd/>
                    <a:tailEnd/>
                  </a:ln>
                  <a:effectLst/>
                </p:spPr>
              </p:pic>
            </p:grpSp>
            <p:pic>
              <p:nvPicPr>
                <p:cNvPr id="4100" name="Picture 4"/>
                <p:cNvPicPr>
                  <a:picLocks noChangeAspect="1" noChangeArrowheads="1"/>
                </p:cNvPicPr>
                <p:nvPr/>
              </p:nvPicPr>
              <p:blipFill>
                <a:blip r:embed="rId7" cstate="print"/>
                <a:srcRect/>
                <a:stretch>
                  <a:fillRect/>
                </a:stretch>
              </p:blipFill>
              <p:spPr bwMode="auto">
                <a:xfrm>
                  <a:off x="3410143" y="3827308"/>
                  <a:ext cx="5543732" cy="2976374"/>
                </a:xfrm>
                <a:prstGeom prst="rect">
                  <a:avLst/>
                </a:prstGeom>
                <a:ln>
                  <a:noFill/>
                </a:ln>
                <a:effectLst>
                  <a:outerShdw blurRad="190500" algn="tl" rotWithShape="0">
                    <a:srgbClr val="000000">
                      <a:alpha val="70000"/>
                    </a:srgbClr>
                  </a:outerShdw>
                </a:effectLst>
              </p:spPr>
            </p:pic>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46743" y="1079500"/>
            <a:ext cx="8621486" cy="338554"/>
          </a:xfrm>
          <a:prstGeom prst="rect">
            <a:avLst/>
          </a:prstGeom>
          <a:noFill/>
        </p:spPr>
        <p:txBody>
          <a:bodyPr wrap="square" rtlCol="0">
            <a:spAutoFit/>
          </a:bodyPr>
          <a:lstStyle/>
          <a:p>
            <a:pPr marL="174625" indent="-174625" algn="l">
              <a:spcBef>
                <a:spcPts val="600"/>
              </a:spcBef>
            </a:pPr>
            <a:r>
              <a:rPr lang="es-AR" sz="1600" dirty="0">
                <a:solidFill>
                  <a:schemeClr val="tx1"/>
                </a:solidFill>
                <a:latin typeface="Arial" pitchFamily="34" charset="0"/>
                <a:cs typeface="Arial" pitchFamily="34" charset="0"/>
              </a:rPr>
              <a:t>Resumiendo se puede ver gráficamente:</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dirty="0">
                <a:solidFill>
                  <a:schemeClr val="tx1"/>
                </a:solidFill>
                <a:latin typeface="+mj-lt"/>
                <a:ea typeface="+mj-ea"/>
                <a:cs typeface="+mj-cs"/>
              </a:rPr>
              <a:t>Categorías en la implementación de hilos 3/3 </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4098" name="Picture 2"/>
          <p:cNvPicPr>
            <a:picLocks noChangeAspect="1" noChangeArrowheads="1"/>
          </p:cNvPicPr>
          <p:nvPr/>
        </p:nvPicPr>
        <p:blipFill>
          <a:blip r:embed="rId3" cstate="print">
            <a:clrChange>
              <a:clrFrom>
                <a:srgbClr val="FFFFFF"/>
              </a:clrFrom>
              <a:clrTo>
                <a:srgbClr val="FFFFFF">
                  <a:alpha val="0"/>
                </a:srgbClr>
              </a:clrTo>
            </a:clrChange>
            <a:lum bright="-20000" contrast="-20000"/>
          </a:blip>
          <a:srcRect/>
          <a:stretch>
            <a:fillRect/>
          </a:stretch>
        </p:blipFill>
        <p:spPr bwMode="auto">
          <a:xfrm>
            <a:off x="121929" y="1654174"/>
            <a:ext cx="8818875" cy="4151539"/>
          </a:xfrm>
          <a:prstGeom prst="rect">
            <a:avLst/>
          </a:prstGeom>
          <a:noFill/>
          <a:ln w="9525">
            <a:noFill/>
            <a:miter lim="800000"/>
            <a:headEnd/>
            <a:tailEnd/>
          </a:ln>
        </p:spPr>
      </p:pic>
      <p:sp>
        <p:nvSpPr>
          <p:cNvPr id="8" name="7 CuadroTexto"/>
          <p:cNvSpPr txBox="1"/>
          <p:nvPr/>
        </p:nvSpPr>
        <p:spPr>
          <a:xfrm>
            <a:off x="4049485" y="5999843"/>
            <a:ext cx="4644572" cy="276999"/>
          </a:xfrm>
          <a:prstGeom prst="rect">
            <a:avLst/>
          </a:prstGeom>
          <a:noFill/>
        </p:spPr>
        <p:txBody>
          <a:bodyPr wrap="square" rtlCol="0">
            <a:spAutoFit/>
          </a:bodyPr>
          <a:lstStyle/>
          <a:p>
            <a:pPr marL="174625" indent="-174625" algn="l">
              <a:spcBef>
                <a:spcPts val="600"/>
              </a:spcBef>
            </a:pPr>
            <a:r>
              <a:rPr lang="es-AR" sz="1200" dirty="0" err="1">
                <a:solidFill>
                  <a:schemeClr val="tx1"/>
                </a:solidFill>
                <a:latin typeface="Arial" pitchFamily="34" charset="0"/>
                <a:cs typeface="Arial" pitchFamily="34" charset="0"/>
              </a:rPr>
              <a:t>Stallings</a:t>
            </a:r>
            <a:r>
              <a:rPr lang="es-AR" sz="1200" dirty="0">
                <a:solidFill>
                  <a:schemeClr val="tx1"/>
                </a:solidFill>
                <a:latin typeface="Arial" pitchFamily="34" charset="0"/>
                <a:cs typeface="Arial" pitchFamily="34" charset="0"/>
              </a:rPr>
              <a:t> 166. Hilos de nivel de usuario y de nivel de núcleo </a:t>
            </a:r>
          </a:p>
        </p:txBody>
      </p:sp>
      <p:sp>
        <p:nvSpPr>
          <p:cNvPr id="11" name="10 Rectángulo"/>
          <p:cNvSpPr/>
          <p:nvPr/>
        </p:nvSpPr>
        <p:spPr>
          <a:xfrm>
            <a:off x="0" y="6550223"/>
            <a:ext cx="5021943" cy="307777"/>
          </a:xfrm>
          <a:prstGeom prst="rect">
            <a:avLst/>
          </a:prstGeom>
        </p:spPr>
        <p:txBody>
          <a:bodyPr wrap="square">
            <a:spAutoFit/>
          </a:bodyPr>
          <a:lstStyle/>
          <a:p>
            <a:r>
              <a:rPr lang="es-AR" sz="1400" dirty="0">
                <a:solidFill>
                  <a:schemeClr val="tx1"/>
                </a:solidFill>
                <a:latin typeface="Arial" pitchFamily="34" charset="0"/>
                <a:cs typeface="Arial" pitchFamily="34" charset="0"/>
                <a:hlinkClick r:id="rId4"/>
              </a:rPr>
              <a:t>Link interesante:   https://hpc.llnl.gov/training/tutorials</a:t>
            </a:r>
            <a:endParaRPr lang="es-AR" sz="1400" dirty="0">
              <a:solidFill>
                <a:schemeClr val="tx1"/>
              </a:solidFill>
              <a:latin typeface="Arial"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46743" y="1035958"/>
            <a:ext cx="8621486" cy="6093976"/>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En 1995 se adopto la norma IEEE POSIX (Portable </a:t>
            </a:r>
            <a:r>
              <a:rPr lang="es-AR" sz="1600" dirty="0" err="1">
                <a:solidFill>
                  <a:schemeClr val="tx1"/>
                </a:solidFill>
                <a:latin typeface="Arial" pitchFamily="34" charset="0"/>
                <a:cs typeface="Arial" pitchFamily="34" charset="0"/>
              </a:rPr>
              <a:t>Operating</a:t>
            </a:r>
            <a:r>
              <a:rPr lang="es-AR" sz="1600" dirty="0">
                <a:solidFill>
                  <a:schemeClr val="tx1"/>
                </a:solidFill>
                <a:latin typeface="Arial" pitchFamily="34" charset="0"/>
                <a:cs typeface="Arial" pitchFamily="34" charset="0"/>
              </a:rPr>
              <a:t> </a:t>
            </a:r>
            <a:r>
              <a:rPr lang="es-AR" sz="1600" dirty="0" err="1">
                <a:solidFill>
                  <a:schemeClr val="tx1"/>
                </a:solidFill>
                <a:latin typeface="Arial" pitchFamily="34" charset="0"/>
                <a:cs typeface="Arial" pitchFamily="34" charset="0"/>
              </a:rPr>
              <a:t>System</a:t>
            </a:r>
            <a:r>
              <a:rPr lang="es-AR" sz="1600" dirty="0">
                <a:solidFill>
                  <a:schemeClr val="tx1"/>
                </a:solidFill>
                <a:latin typeface="Arial" pitchFamily="34" charset="0"/>
                <a:cs typeface="Arial" pitchFamily="34" charset="0"/>
              </a:rPr>
              <a:t> </a:t>
            </a:r>
            <a:r>
              <a:rPr lang="es-AR" sz="1600" dirty="0" err="1">
                <a:solidFill>
                  <a:schemeClr val="tx1"/>
                </a:solidFill>
                <a:latin typeface="Arial" pitchFamily="34" charset="0"/>
                <a:cs typeface="Arial" pitchFamily="34" charset="0"/>
              </a:rPr>
              <a:t>Inferface</a:t>
            </a:r>
            <a:r>
              <a:rPr lang="es-AR" sz="1600" dirty="0">
                <a:solidFill>
                  <a:schemeClr val="tx1"/>
                </a:solidFill>
                <a:latin typeface="Arial" pitchFamily="34" charset="0"/>
                <a:cs typeface="Arial" pitchFamily="34" charset="0"/>
              </a:rPr>
              <a:t>), que  define un a interfaz estándar del sistema operativo y su entorno.  Permite manipular </a:t>
            </a:r>
            <a:r>
              <a:rPr lang="es-AR" sz="1600" dirty="0" err="1">
                <a:solidFill>
                  <a:schemeClr val="tx1"/>
                </a:solidFill>
                <a:latin typeface="Arial" pitchFamily="34" charset="0"/>
                <a:cs typeface="Arial" pitchFamily="34" charset="0"/>
              </a:rPr>
              <a:t>threads</a:t>
            </a:r>
            <a:r>
              <a:rPr lang="es-AR" sz="1600" dirty="0">
                <a:solidFill>
                  <a:schemeClr val="tx1"/>
                </a:solidFill>
                <a:latin typeface="Arial" pitchFamily="34" charset="0"/>
                <a:cs typeface="Arial" pitchFamily="34" charset="0"/>
              </a:rPr>
              <a:t> en  los programas.</a:t>
            </a: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r>
              <a:rPr lang="es-AR" sz="1600" dirty="0">
                <a:solidFill>
                  <a:schemeClr val="tx1"/>
                </a:solidFill>
                <a:latin typeface="Arial" pitchFamily="34" charset="0"/>
                <a:cs typeface="Arial" pitchFamily="34" charset="0"/>
              </a:rPr>
              <a:t>Para utilizar hilos en Linux debe utilizar la </a:t>
            </a:r>
            <a:r>
              <a:rPr lang="es-AR" sz="1600" u="sng" dirty="0">
                <a:solidFill>
                  <a:schemeClr val="tx1"/>
                </a:solidFill>
                <a:latin typeface="Arial" pitchFamily="34" charset="0"/>
                <a:cs typeface="Arial" pitchFamily="34" charset="0"/>
              </a:rPr>
              <a:t>librería</a:t>
            </a:r>
            <a:r>
              <a:rPr lang="es-AR" sz="1600" dirty="0">
                <a:solidFill>
                  <a:schemeClr val="tx1"/>
                </a:solidFill>
                <a:latin typeface="Arial" pitchFamily="34" charset="0"/>
                <a:cs typeface="Arial" pitchFamily="34" charset="0"/>
              </a:rPr>
              <a:t>:</a:t>
            </a:r>
          </a:p>
          <a:p>
            <a:pPr algn="l">
              <a:spcBef>
                <a:spcPts val="600"/>
              </a:spcBef>
            </a:pPr>
            <a:r>
              <a:rPr lang="es-AR" sz="4000" b="1" dirty="0">
                <a:solidFill>
                  <a:srgbClr val="7030A0"/>
                </a:solidFill>
                <a:latin typeface="Arial" pitchFamily="34" charset="0"/>
                <a:cs typeface="Arial" pitchFamily="34" charset="0"/>
              </a:rPr>
              <a:t>#</a:t>
            </a:r>
            <a:r>
              <a:rPr lang="es-AR" sz="4000" b="1" dirty="0" err="1">
                <a:solidFill>
                  <a:srgbClr val="7030A0"/>
                </a:solidFill>
                <a:latin typeface="Arial" pitchFamily="34" charset="0"/>
                <a:cs typeface="Arial" pitchFamily="34" charset="0"/>
              </a:rPr>
              <a:t>include</a:t>
            </a:r>
            <a:r>
              <a:rPr lang="es-AR" sz="4000" b="1" dirty="0">
                <a:solidFill>
                  <a:srgbClr val="7030A0"/>
                </a:solidFill>
                <a:latin typeface="Arial" pitchFamily="34" charset="0"/>
                <a:cs typeface="Arial" pitchFamily="34" charset="0"/>
              </a:rPr>
              <a:t> &lt;</a:t>
            </a:r>
            <a:r>
              <a:rPr lang="es-AR" sz="4000" b="1" dirty="0" err="1">
                <a:solidFill>
                  <a:srgbClr val="7030A0"/>
                </a:solidFill>
                <a:latin typeface="Arial" pitchFamily="34" charset="0"/>
                <a:cs typeface="Arial" pitchFamily="34" charset="0"/>
              </a:rPr>
              <a:t>pthread.h</a:t>
            </a:r>
            <a:r>
              <a:rPr lang="es-AR" sz="4000" b="1" dirty="0">
                <a:solidFill>
                  <a:srgbClr val="7030A0"/>
                </a:solidFill>
                <a:latin typeface="Arial" pitchFamily="34" charset="0"/>
                <a:cs typeface="Arial" pitchFamily="34" charset="0"/>
              </a:rPr>
              <a:t>&gt;</a:t>
            </a: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r>
              <a:rPr lang="es-AR" sz="1600" dirty="0">
                <a:solidFill>
                  <a:schemeClr val="tx1"/>
                </a:solidFill>
                <a:latin typeface="Arial" pitchFamily="34" charset="0"/>
                <a:cs typeface="Arial" pitchFamily="34" charset="0"/>
              </a:rPr>
              <a:t>En las </a:t>
            </a:r>
            <a:r>
              <a:rPr lang="es-AR" sz="1600" u="sng" dirty="0">
                <a:solidFill>
                  <a:schemeClr val="tx1"/>
                </a:solidFill>
                <a:latin typeface="Arial" pitchFamily="34" charset="0"/>
                <a:cs typeface="Arial" pitchFamily="34" charset="0"/>
              </a:rPr>
              <a:t>opciones de compilación </a:t>
            </a:r>
            <a:r>
              <a:rPr lang="es-AR" sz="1600" dirty="0">
                <a:solidFill>
                  <a:schemeClr val="tx1"/>
                </a:solidFill>
                <a:latin typeface="Arial" pitchFamily="34" charset="0"/>
                <a:cs typeface="Arial" pitchFamily="34" charset="0"/>
              </a:rPr>
              <a:t>se deberá agregar:</a:t>
            </a: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r>
              <a:rPr lang="es-AR" sz="4000" b="1" dirty="0">
                <a:solidFill>
                  <a:srgbClr val="7030A0"/>
                </a:solidFill>
                <a:latin typeface="Arial" pitchFamily="34" charset="0"/>
                <a:cs typeface="Arial" pitchFamily="34" charset="0"/>
              </a:rPr>
              <a:t>-</a:t>
            </a:r>
            <a:r>
              <a:rPr lang="es-AR" sz="4000" b="1" dirty="0" err="1">
                <a:solidFill>
                  <a:srgbClr val="7030A0"/>
                </a:solidFill>
                <a:latin typeface="Arial" pitchFamily="34" charset="0"/>
                <a:cs typeface="Arial" pitchFamily="34" charset="0"/>
              </a:rPr>
              <a:t>lpthread</a:t>
            </a:r>
            <a:endParaRPr lang="es-AR" sz="4000" b="1" dirty="0">
              <a:solidFill>
                <a:srgbClr val="7030A0"/>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Manejo de Hilos en C  (POSIX)</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3074" name="Picture 2"/>
          <p:cNvPicPr>
            <a:picLocks noChangeAspect="1" noChangeArrowheads="1"/>
          </p:cNvPicPr>
          <p:nvPr/>
        </p:nvPicPr>
        <p:blipFill>
          <a:blip r:embed="rId3" cstate="print"/>
          <a:srcRect/>
          <a:stretch>
            <a:fillRect/>
          </a:stretch>
        </p:blipFill>
        <p:spPr bwMode="auto">
          <a:xfrm>
            <a:off x="5080001" y="3632184"/>
            <a:ext cx="3439885" cy="292551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46743" y="1035958"/>
            <a:ext cx="8621486" cy="7432804"/>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En un proceso POSIX convencional:</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Existe un </a:t>
            </a:r>
            <a:r>
              <a:rPr lang="es-AR" sz="1600" b="1" dirty="0">
                <a:solidFill>
                  <a:schemeClr val="tx1"/>
                </a:solidFill>
                <a:latin typeface="Arial" pitchFamily="34" charset="0"/>
                <a:cs typeface="Arial" pitchFamily="34" charset="0"/>
              </a:rPr>
              <a:t>hilo inicial </a:t>
            </a:r>
            <a:r>
              <a:rPr lang="es-AR" sz="1600" dirty="0">
                <a:solidFill>
                  <a:schemeClr val="tx1"/>
                </a:solidFill>
                <a:latin typeface="Arial" pitchFamily="34" charset="0"/>
                <a:cs typeface="Arial" pitchFamily="34" charset="0"/>
              </a:rPr>
              <a:t>que ejecuta la función </a:t>
            </a:r>
            <a:r>
              <a:rPr lang="es-AR" dirty="0" err="1">
                <a:solidFill>
                  <a:schemeClr val="tx1"/>
                </a:solidFill>
                <a:latin typeface="Modern No. 20" pitchFamily="18" charset="0"/>
                <a:cs typeface="Arial" pitchFamily="34" charset="0"/>
              </a:rPr>
              <a:t>main</a:t>
            </a:r>
            <a:r>
              <a:rPr lang="es-AR" dirty="0">
                <a:solidFill>
                  <a:schemeClr val="tx1"/>
                </a:solidFill>
                <a:latin typeface="Modern No. 20" pitchFamily="18" charset="0"/>
                <a:cs typeface="Arial" pitchFamily="34" charset="0"/>
              </a:rPr>
              <a:t>()</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Este hilo puede crear más hilos para ejecutar otras funciones dentro del espacio de direcciones del proceso.</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Todos los hilos de un proceso se encuentran al mismo nivel. (Esto significa que son “hermanos”, a diferencia de los proceso cuya relación es “padre-hijo”) </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Se dice que un hilo es dinámico si se puede crear en cualquier instante durante la ejecución de un programa</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Los hilos de un proceso comparten las variables y recursos globales (archivos, manejadores de señales, etc.) del proceso. Además, cada uno tiene una copia privada de sus parámetros iniciales y de las variables locales de la función que ejecuta (almacenados en su pila particular).</a:t>
            </a:r>
          </a:p>
          <a:p>
            <a:pPr marL="261938" indent="-261938" algn="l">
              <a:spcBef>
                <a:spcPts val="600"/>
              </a:spcBef>
              <a:buFont typeface="Arial" pitchFamily="34" charset="0"/>
              <a:buChar char="•"/>
            </a:pPr>
            <a:endParaRPr lang="es-AR" sz="1600" dirty="0">
              <a:solidFill>
                <a:schemeClr val="tx1"/>
              </a:solidFill>
              <a:latin typeface="Arial" pitchFamily="34" charset="0"/>
              <a:cs typeface="Arial" pitchFamily="34" charset="0"/>
            </a:endParaRPr>
          </a:p>
          <a:p>
            <a:pPr algn="l">
              <a:spcBef>
                <a:spcPts val="600"/>
              </a:spcBef>
            </a:pPr>
            <a:r>
              <a:rPr lang="es-AR" sz="1600" dirty="0">
                <a:solidFill>
                  <a:schemeClr val="tx1"/>
                </a:solidFill>
                <a:latin typeface="Arial" pitchFamily="34" charset="0"/>
                <a:cs typeface="Arial" pitchFamily="34" charset="0"/>
              </a:rPr>
              <a:t> El estándar POSIX define, entre otras, funciones para:</a:t>
            </a:r>
          </a:p>
          <a:p>
            <a:pPr marL="719138" lvl="1" indent="-261938" algn="l">
              <a:spcBef>
                <a:spcPts val="600"/>
              </a:spcBef>
              <a:buFont typeface="Arial" pitchFamily="34" charset="0"/>
              <a:buChar char="•"/>
            </a:pPr>
            <a:r>
              <a:rPr lang="es-AR" sz="1600" dirty="0">
                <a:solidFill>
                  <a:schemeClr val="tx1"/>
                </a:solidFill>
                <a:latin typeface="Arial" pitchFamily="34" charset="0"/>
                <a:cs typeface="Arial" pitchFamily="34" charset="0"/>
              </a:rPr>
              <a:t>Creación de hilos</a:t>
            </a:r>
          </a:p>
          <a:p>
            <a:pPr marL="719138" lvl="1" indent="-261938" algn="l">
              <a:spcBef>
                <a:spcPts val="600"/>
              </a:spcBef>
              <a:buFont typeface="Arial" pitchFamily="34" charset="0"/>
              <a:buChar char="•"/>
            </a:pPr>
            <a:r>
              <a:rPr lang="es-AR" sz="1600" dirty="0">
                <a:solidFill>
                  <a:schemeClr val="tx1"/>
                </a:solidFill>
                <a:latin typeface="Arial" pitchFamily="34" charset="0"/>
                <a:cs typeface="Arial" pitchFamily="34" charset="0"/>
              </a:rPr>
              <a:t>Creación/destrucción de atributos de creación de hilos</a:t>
            </a:r>
          </a:p>
          <a:p>
            <a:pPr marL="719138" lvl="1" indent="-261938" algn="l">
              <a:spcBef>
                <a:spcPts val="600"/>
              </a:spcBef>
              <a:buFont typeface="Arial" pitchFamily="34" charset="0"/>
              <a:buChar char="•"/>
            </a:pPr>
            <a:r>
              <a:rPr lang="es-AR" sz="1600" dirty="0">
                <a:solidFill>
                  <a:schemeClr val="tx1"/>
                </a:solidFill>
                <a:latin typeface="Arial" pitchFamily="34" charset="0"/>
                <a:cs typeface="Arial" pitchFamily="34" charset="0"/>
              </a:rPr>
              <a:t>Terminación/espera a la terminación de un hilo</a:t>
            </a:r>
          </a:p>
          <a:p>
            <a:pPr marL="719138" lvl="1" indent="-261938" algn="l">
              <a:spcBef>
                <a:spcPts val="600"/>
              </a:spcBef>
              <a:buFont typeface="Arial" pitchFamily="34" charset="0"/>
              <a:buChar char="•"/>
            </a:pPr>
            <a:r>
              <a:rPr lang="es-AR" sz="1600" dirty="0">
                <a:solidFill>
                  <a:schemeClr val="tx1"/>
                </a:solidFill>
                <a:latin typeface="Arial" pitchFamily="34" charset="0"/>
                <a:cs typeface="Arial" pitchFamily="34" charset="0"/>
              </a:rPr>
              <a:t>Identificación de hilos</a:t>
            </a: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endParaRPr lang="es-AR" sz="1600" dirty="0">
              <a:solidFill>
                <a:schemeClr val="tx1"/>
              </a:solidFill>
              <a:latin typeface="Arial" pitchFamily="34" charset="0"/>
              <a:cs typeface="Arial" pitchFamily="34" charset="0"/>
            </a:endParaRP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Manejo de Hilos en C  (POSIX)</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8" name="7 CuadroTexto"/>
          <p:cNvSpPr txBox="1"/>
          <p:nvPr/>
        </p:nvSpPr>
        <p:spPr>
          <a:xfrm>
            <a:off x="5189838" y="6399769"/>
            <a:ext cx="3786614" cy="276999"/>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s-AR" sz="1200" dirty="0">
                <a:solidFill>
                  <a:srgbClr val="002060"/>
                </a:solidFill>
                <a:latin typeface="Arial" pitchFamily="34" charset="0"/>
                <a:cs typeface="Arial" pitchFamily="34" charset="0"/>
                <a:hlinkClick r:id="rId3"/>
              </a:rPr>
              <a:t>https://computing.llnl.gov/tutorials/pthreads/#Abstract</a:t>
            </a:r>
            <a:endParaRPr lang="es-AR" sz="1200" dirty="0">
              <a:solidFill>
                <a:srgbClr val="002060"/>
              </a:solidFill>
              <a:latin typeface="Arial" pitchFamily="34" charset="0"/>
              <a:cs typeface="Arial" pitchFamily="34" charset="0"/>
            </a:endParaRPr>
          </a:p>
        </p:txBody>
      </p:sp>
      <p:pic>
        <p:nvPicPr>
          <p:cNvPr id="6146" name="Picture 2"/>
          <p:cNvPicPr>
            <a:picLocks noChangeAspect="1" noChangeArrowheads="1"/>
          </p:cNvPicPr>
          <p:nvPr/>
        </p:nvPicPr>
        <p:blipFill>
          <a:blip r:embed="rId4" cstate="print"/>
          <a:srcRect/>
          <a:stretch>
            <a:fillRect/>
          </a:stretch>
        </p:blipFill>
        <p:spPr bwMode="auto">
          <a:xfrm>
            <a:off x="2296254" y="7044116"/>
            <a:ext cx="6062820" cy="902262"/>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46743" y="992416"/>
            <a:ext cx="8621486" cy="2292935"/>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Crea inmediatamente el hilo en estado listo, por lo que el hilo creado y su hilo creador entran a competir por la CPU de acuerdo a la política de planificación.</a:t>
            </a:r>
          </a:p>
          <a:p>
            <a:pPr algn="l">
              <a:spcBef>
                <a:spcPts val="600"/>
              </a:spcBef>
            </a:pPr>
            <a:r>
              <a:rPr lang="es-AR" sz="1600" dirty="0">
                <a:solidFill>
                  <a:schemeClr val="tx1"/>
                </a:solidFill>
                <a:latin typeface="Arial" pitchFamily="34" charset="0"/>
                <a:cs typeface="Arial" pitchFamily="34" charset="0"/>
              </a:rPr>
              <a:t>Cualquier hilo puede crear otro, no solamente el principal.</a:t>
            </a:r>
          </a:p>
          <a:p>
            <a:pPr algn="l">
              <a:spcBef>
                <a:spcPts val="600"/>
              </a:spcBef>
            </a:pPr>
            <a:r>
              <a:rPr lang="es-AR" sz="1600" u="sng" dirty="0">
                <a:solidFill>
                  <a:schemeClr val="tx1"/>
                </a:solidFill>
                <a:latin typeface="Arial" pitchFamily="34" charset="0"/>
                <a:cs typeface="Arial" pitchFamily="34" charset="0"/>
              </a:rPr>
              <a:t>Sintaxis</a:t>
            </a:r>
            <a:r>
              <a:rPr lang="es-AR" sz="1600" dirty="0">
                <a:solidFill>
                  <a:schemeClr val="tx1"/>
                </a:solidFill>
                <a:latin typeface="Arial" pitchFamily="34" charset="0"/>
                <a:cs typeface="Arial" pitchFamily="34" charset="0"/>
              </a:rPr>
              <a:t>:</a:t>
            </a:r>
          </a:p>
          <a:p>
            <a:pPr marL="363538" indent="-363538" algn="l">
              <a:spcBef>
                <a:spcPts val="600"/>
              </a:spcBef>
            </a:pPr>
            <a:r>
              <a:rPr lang="en-US" sz="1800"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int</a:t>
            </a: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pthread_create</a:t>
            </a:r>
            <a:r>
              <a:rPr lang="en-US" sz="1800" b="1" dirty="0">
                <a:solidFill>
                  <a:schemeClr val="tx1"/>
                </a:solidFill>
                <a:latin typeface="Courier New" pitchFamily="49" charset="0"/>
                <a:cs typeface="Courier New" pitchFamily="49" charset="0"/>
              </a:rPr>
              <a:t>(</a:t>
            </a:r>
            <a:r>
              <a:rPr lang="en-US" sz="1800" b="1" dirty="0" err="1">
                <a:solidFill>
                  <a:schemeClr val="tx1"/>
                </a:solidFill>
                <a:latin typeface="Courier New" pitchFamily="49" charset="0"/>
                <a:cs typeface="Courier New" pitchFamily="49" charset="0"/>
              </a:rPr>
              <a:t>pthread_t</a:t>
            </a:r>
            <a:r>
              <a:rPr lang="en-US" sz="1800" b="1" dirty="0">
                <a:solidFill>
                  <a:schemeClr val="tx1"/>
                </a:solidFill>
                <a:latin typeface="Courier New" pitchFamily="49" charset="0"/>
                <a:cs typeface="Courier New" pitchFamily="49" charset="0"/>
              </a:rPr>
              <a:t> *</a:t>
            </a:r>
            <a:r>
              <a:rPr lang="en-US" sz="1800" b="1" dirty="0">
                <a:solidFill>
                  <a:srgbClr val="C00000"/>
                </a:solidFill>
                <a:latin typeface="Courier New" pitchFamily="49" charset="0"/>
                <a:cs typeface="Courier New" pitchFamily="49" charset="0"/>
              </a:rPr>
              <a:t>thread</a:t>
            </a:r>
            <a:r>
              <a:rPr lang="en-US" sz="1800" b="1" dirty="0">
                <a:solidFill>
                  <a:schemeClr val="tx1"/>
                </a:solidFill>
                <a:latin typeface="Courier New" pitchFamily="49" charset="0"/>
                <a:cs typeface="Courier New" pitchFamily="49" charset="0"/>
              </a:rPr>
              <a:t>, </a:t>
            </a:r>
          </a:p>
          <a:p>
            <a:pPr marL="363538" indent="-363538" algn="l">
              <a:spcBef>
                <a:spcPts val="600"/>
              </a:spcBef>
            </a:pPr>
            <a:r>
              <a:rPr lang="en-US" sz="1800" b="1" dirty="0">
                <a:solidFill>
                  <a:schemeClr val="tx1"/>
                </a:solidFill>
                <a:latin typeface="Courier New" pitchFamily="49" charset="0"/>
                <a:cs typeface="Courier New" pitchFamily="49" charset="0"/>
              </a:rPr>
              <a:t>          const </a:t>
            </a:r>
            <a:r>
              <a:rPr lang="en-US" sz="1800" b="1" dirty="0" err="1">
                <a:solidFill>
                  <a:schemeClr val="tx1"/>
                </a:solidFill>
                <a:latin typeface="Courier New" pitchFamily="49" charset="0"/>
                <a:cs typeface="Courier New" pitchFamily="49" charset="0"/>
              </a:rPr>
              <a:t>pthread_attr_t</a:t>
            </a:r>
            <a:r>
              <a:rPr lang="en-US" sz="1800" b="1" dirty="0">
                <a:solidFill>
                  <a:schemeClr val="tx1"/>
                </a:solidFill>
                <a:latin typeface="Courier New" pitchFamily="49" charset="0"/>
                <a:cs typeface="Courier New" pitchFamily="49" charset="0"/>
              </a:rPr>
              <a:t> *</a:t>
            </a:r>
            <a:r>
              <a:rPr lang="en-US" sz="1800" b="1" dirty="0" err="1">
                <a:solidFill>
                  <a:srgbClr val="00B050"/>
                </a:solidFill>
                <a:latin typeface="Courier New" pitchFamily="49" charset="0"/>
                <a:cs typeface="Courier New" pitchFamily="49" charset="0"/>
              </a:rPr>
              <a:t>attr</a:t>
            </a:r>
            <a:r>
              <a:rPr lang="en-US" sz="1800" b="1" dirty="0">
                <a:solidFill>
                  <a:schemeClr val="tx1"/>
                </a:solidFill>
                <a:latin typeface="Courier New" pitchFamily="49" charset="0"/>
                <a:cs typeface="Courier New" pitchFamily="49" charset="0"/>
              </a:rPr>
              <a:t>,  </a:t>
            </a:r>
          </a:p>
          <a:p>
            <a:pPr marL="363538" indent="-363538" algn="l">
              <a:spcBef>
                <a:spcPts val="600"/>
              </a:spcBef>
            </a:pPr>
            <a:r>
              <a:rPr lang="en-US" sz="1800" b="1" dirty="0">
                <a:solidFill>
                  <a:schemeClr val="tx1"/>
                </a:solidFill>
                <a:latin typeface="Courier New" pitchFamily="49" charset="0"/>
                <a:cs typeface="Courier New" pitchFamily="49" charset="0"/>
              </a:rPr>
              <a:t>	       void *(* </a:t>
            </a:r>
            <a:r>
              <a:rPr lang="en-US" sz="1800" b="1" dirty="0" err="1">
                <a:solidFill>
                  <a:srgbClr val="FF0000"/>
                </a:solidFill>
                <a:latin typeface="Courier New" pitchFamily="49" charset="0"/>
                <a:cs typeface="Courier New" pitchFamily="49" charset="0"/>
              </a:rPr>
              <a:t>start_routine</a:t>
            </a:r>
            <a:r>
              <a:rPr lang="en-US" sz="1800" b="1" dirty="0">
                <a:solidFill>
                  <a:schemeClr val="tx1"/>
                </a:solidFill>
                <a:latin typeface="Courier New" pitchFamily="49" charset="0"/>
                <a:cs typeface="Courier New" pitchFamily="49" charset="0"/>
              </a:rPr>
              <a:t>)(void *), void *</a:t>
            </a:r>
            <a:r>
              <a:rPr lang="en-US" sz="1800" b="1" dirty="0" err="1">
                <a:solidFill>
                  <a:srgbClr val="00B0F0"/>
                </a:solidFill>
                <a:latin typeface="Courier New" pitchFamily="49" charset="0"/>
                <a:cs typeface="Courier New" pitchFamily="49" charset="0"/>
              </a:rPr>
              <a:t>arg</a:t>
            </a:r>
            <a:r>
              <a:rPr lang="en-US" sz="1800" b="1" dirty="0">
                <a:solidFill>
                  <a:schemeClr val="tx1"/>
                </a:solidFill>
                <a:latin typeface="Courier New" pitchFamily="49" charset="0"/>
                <a:cs typeface="Courier New" pitchFamily="49" charset="0"/>
              </a:rPr>
              <a:t>)</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Creación de Hilos en C  (</a:t>
            </a:r>
            <a:r>
              <a:rPr lang="es-AR" sz="3400" noProof="0" dirty="0" err="1">
                <a:solidFill>
                  <a:schemeClr val="tx1"/>
                </a:solidFill>
                <a:latin typeface="+mj-lt"/>
                <a:ea typeface="+mj-ea"/>
                <a:cs typeface="+mj-cs"/>
              </a:rPr>
              <a:t>create</a:t>
            </a:r>
            <a:r>
              <a:rPr lang="es-AR" sz="3400" noProof="0" dirty="0">
                <a:solidFill>
                  <a:schemeClr val="tx1"/>
                </a:solidFill>
                <a:latin typeface="+mj-lt"/>
                <a:ea typeface="+mj-ea"/>
                <a:cs typeface="+mj-cs"/>
              </a:rPr>
              <a:t>)</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6146" name="Picture 2"/>
          <p:cNvPicPr>
            <a:picLocks noChangeAspect="1" noChangeArrowheads="1"/>
          </p:cNvPicPr>
          <p:nvPr/>
        </p:nvPicPr>
        <p:blipFill>
          <a:blip r:embed="rId3" cstate="print"/>
          <a:srcRect/>
          <a:stretch>
            <a:fillRect/>
          </a:stretch>
        </p:blipFill>
        <p:spPr bwMode="auto">
          <a:xfrm>
            <a:off x="5030107" y="3554190"/>
            <a:ext cx="3867150" cy="3086100"/>
          </a:xfrm>
          <a:prstGeom prst="rect">
            <a:avLst/>
          </a:prstGeom>
          <a:ln>
            <a:noFill/>
          </a:ln>
          <a:effectLst>
            <a:outerShdw blurRad="292100" dist="139700" dir="2700000" algn="tl" rotWithShape="0">
              <a:srgbClr val="333333">
                <a:alpha val="65000"/>
              </a:srgbClr>
            </a:outerShdw>
          </a:effectLst>
        </p:spPr>
      </p:pic>
      <p:sp>
        <p:nvSpPr>
          <p:cNvPr id="11" name="10 CuadroTexto"/>
          <p:cNvSpPr txBox="1"/>
          <p:nvPr/>
        </p:nvSpPr>
        <p:spPr>
          <a:xfrm>
            <a:off x="130626" y="3331675"/>
            <a:ext cx="4876800" cy="3376811"/>
          </a:xfrm>
          <a:prstGeom prst="rect">
            <a:avLst/>
          </a:prstGeom>
          <a:noFill/>
        </p:spPr>
        <p:txBody>
          <a:bodyPr wrap="square" rtlCol="0">
            <a:spAutoFit/>
          </a:bodyPr>
          <a:lstStyle/>
          <a:p>
            <a:pPr marL="363538" indent="-363538" algn="l">
              <a:spcBef>
                <a:spcPts val="600"/>
              </a:spcBef>
            </a:pPr>
            <a:r>
              <a:rPr lang="es-AR" sz="1800" b="1" dirty="0" err="1">
                <a:solidFill>
                  <a:srgbClr val="00B050"/>
                </a:solidFill>
                <a:latin typeface="Courier New" pitchFamily="49" charset="0"/>
                <a:cs typeface="Courier New" pitchFamily="49" charset="0"/>
              </a:rPr>
              <a:t>attr</a:t>
            </a:r>
            <a:r>
              <a:rPr lang="es-AR" sz="1600" dirty="0">
                <a:solidFill>
                  <a:schemeClr val="tx1"/>
                </a:solidFill>
                <a:latin typeface="Arial" pitchFamily="34" charset="0"/>
                <a:cs typeface="Arial" pitchFamily="34" charset="0"/>
              </a:rPr>
              <a:t> es el atributo que contiene las características del hilo creado .</a:t>
            </a:r>
          </a:p>
          <a:p>
            <a:pPr marL="363538" indent="-363538" algn="l">
              <a:spcBef>
                <a:spcPts val="600"/>
              </a:spcBef>
            </a:pPr>
            <a:r>
              <a:rPr lang="es-AR" sz="1600" dirty="0">
                <a:solidFill>
                  <a:schemeClr val="tx1"/>
                </a:solidFill>
                <a:latin typeface="Arial" pitchFamily="34" charset="0"/>
                <a:cs typeface="Arial" pitchFamily="34" charset="0"/>
              </a:rPr>
              <a:t> </a:t>
            </a:r>
            <a:r>
              <a:rPr lang="es-AR" sz="1800" b="1" dirty="0" err="1">
                <a:solidFill>
                  <a:srgbClr val="FF0000"/>
                </a:solidFill>
                <a:latin typeface="Courier New" pitchFamily="49" charset="0"/>
                <a:cs typeface="Courier New" pitchFamily="49" charset="0"/>
              </a:rPr>
              <a:t>start_routine</a:t>
            </a:r>
            <a:r>
              <a:rPr lang="es-AR" sz="1600" dirty="0">
                <a:solidFill>
                  <a:schemeClr val="tx1"/>
                </a:solidFill>
                <a:latin typeface="Arial" pitchFamily="34" charset="0"/>
                <a:cs typeface="Arial" pitchFamily="34" charset="0"/>
              </a:rPr>
              <a:t> es la función que ejecutará el hilo (es decir la dirección donde el hilo se va a ejecutar).</a:t>
            </a:r>
          </a:p>
          <a:p>
            <a:pPr marL="363538" indent="-363538" algn="l">
              <a:spcBef>
                <a:spcPts val="600"/>
              </a:spcBef>
            </a:pPr>
            <a:r>
              <a:rPr lang="es-AR" sz="1600" dirty="0">
                <a:solidFill>
                  <a:schemeClr val="tx1"/>
                </a:solidFill>
                <a:latin typeface="Arial" pitchFamily="34" charset="0"/>
                <a:cs typeface="Arial" pitchFamily="34" charset="0"/>
              </a:rPr>
              <a:t> </a:t>
            </a:r>
            <a:r>
              <a:rPr lang="es-AR" sz="1800" b="1" dirty="0" err="1">
                <a:solidFill>
                  <a:srgbClr val="00B0F0"/>
                </a:solidFill>
                <a:latin typeface="Courier New" pitchFamily="49" charset="0"/>
                <a:cs typeface="Courier New" pitchFamily="49" charset="0"/>
              </a:rPr>
              <a:t>arg</a:t>
            </a:r>
            <a:r>
              <a:rPr lang="es-AR" sz="1600" dirty="0">
                <a:solidFill>
                  <a:schemeClr val="tx1"/>
                </a:solidFill>
                <a:latin typeface="Arial" pitchFamily="34" charset="0"/>
                <a:cs typeface="Arial" pitchFamily="34" charset="0"/>
              </a:rPr>
              <a:t> es un puntero a los parámetros iniciales del hilo</a:t>
            </a:r>
          </a:p>
          <a:p>
            <a:pPr marL="363538" indent="-363538" algn="l">
              <a:spcBef>
                <a:spcPts val="600"/>
              </a:spcBef>
            </a:pPr>
            <a:r>
              <a:rPr lang="es-AR" sz="1600" dirty="0">
                <a:solidFill>
                  <a:schemeClr val="tx1"/>
                </a:solidFill>
                <a:latin typeface="Arial" pitchFamily="34" charset="0"/>
                <a:cs typeface="Arial" pitchFamily="34" charset="0"/>
              </a:rPr>
              <a:t> En </a:t>
            </a:r>
            <a:r>
              <a:rPr lang="es-AR" sz="1800" b="1" dirty="0" err="1">
                <a:solidFill>
                  <a:srgbClr val="C00000"/>
                </a:solidFill>
                <a:latin typeface="Courier New" pitchFamily="49" charset="0"/>
                <a:cs typeface="Courier New" pitchFamily="49" charset="0"/>
              </a:rPr>
              <a:t>thread</a:t>
            </a:r>
            <a:r>
              <a:rPr lang="es-AR" sz="1600" dirty="0">
                <a:solidFill>
                  <a:schemeClr val="tx1"/>
                </a:solidFill>
                <a:latin typeface="Arial" pitchFamily="34" charset="0"/>
                <a:cs typeface="Arial" pitchFamily="34" charset="0"/>
              </a:rPr>
              <a:t> se devuelve el identificador del hilo creado si la llamada tiene éxito</a:t>
            </a:r>
          </a:p>
          <a:p>
            <a:pPr marL="363538" indent="-363538" algn="l">
              <a:spcBef>
                <a:spcPts val="1200"/>
              </a:spcBef>
            </a:pPr>
            <a:r>
              <a:rPr lang="es-AR" sz="1600" dirty="0">
                <a:solidFill>
                  <a:schemeClr val="tx1"/>
                </a:solidFill>
                <a:latin typeface="Arial" pitchFamily="34" charset="0"/>
                <a:cs typeface="Arial" pitchFamily="34" charset="0"/>
              </a:rPr>
              <a:t>Valor de retorno:</a:t>
            </a:r>
          </a:p>
          <a:p>
            <a:pPr marL="363538" indent="-363538" algn="l">
              <a:spcBef>
                <a:spcPts val="600"/>
              </a:spcBef>
            </a:pPr>
            <a:r>
              <a:rPr lang="es-AR" sz="1600" dirty="0">
                <a:solidFill>
                  <a:schemeClr val="tx1"/>
                </a:solidFill>
                <a:latin typeface="Arial" pitchFamily="34" charset="0"/>
                <a:cs typeface="Arial" pitchFamily="34" charset="0"/>
              </a:rPr>
              <a:t> 	0 si éxito y un valor negativo si hay error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92416"/>
            <a:ext cx="8752115" cy="2585323"/>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Un hilo puede finalizar por diferentes motivos:</a:t>
            </a:r>
          </a:p>
          <a:p>
            <a:pPr marL="174625" indent="-174625" algn="l">
              <a:spcBef>
                <a:spcPts val="600"/>
              </a:spcBef>
              <a:buFont typeface="Arial" pitchFamily="34" charset="0"/>
              <a:buChar char="•"/>
              <a:tabLst>
                <a:tab pos="174625" algn="l"/>
              </a:tabLst>
            </a:pPr>
            <a:r>
              <a:rPr lang="es-AR" sz="1600" b="1" dirty="0">
                <a:solidFill>
                  <a:schemeClr val="tx1"/>
                </a:solidFill>
                <a:latin typeface="Arial" pitchFamily="34" charset="0"/>
                <a:cs typeface="Arial" pitchFamily="34" charset="0"/>
              </a:rPr>
              <a:t>Implícitamente</a:t>
            </a:r>
            <a:r>
              <a:rPr lang="es-AR" sz="1600" dirty="0">
                <a:solidFill>
                  <a:schemeClr val="tx1"/>
                </a:solidFill>
                <a:latin typeface="Arial" pitchFamily="34" charset="0"/>
                <a:cs typeface="Arial" pitchFamily="34" charset="0"/>
              </a:rPr>
              <a:t>: cuando terminó el código del hilo</a:t>
            </a:r>
          </a:p>
          <a:p>
            <a:pPr marL="174625" indent="-174625" algn="l">
              <a:spcBef>
                <a:spcPts val="600"/>
              </a:spcBef>
              <a:buFont typeface="Arial" pitchFamily="34" charset="0"/>
              <a:buChar char="•"/>
              <a:tabLst>
                <a:tab pos="174625" algn="l"/>
              </a:tabLst>
            </a:pPr>
            <a:r>
              <a:rPr lang="es-AR" sz="1600" b="1" dirty="0">
                <a:solidFill>
                  <a:schemeClr val="tx1"/>
                </a:solidFill>
                <a:latin typeface="Arial" pitchFamily="34" charset="0"/>
                <a:cs typeface="Arial" pitchFamily="34" charset="0"/>
              </a:rPr>
              <a:t>Explícitamente</a:t>
            </a:r>
            <a:r>
              <a:rPr lang="es-AR" sz="1600" dirty="0">
                <a:solidFill>
                  <a:schemeClr val="tx1"/>
                </a:solidFill>
                <a:latin typeface="Arial" pitchFamily="34" charset="0"/>
                <a:cs typeface="Arial" pitchFamily="34" charset="0"/>
              </a:rPr>
              <a:t>: cuando desde el código se utiliza la función </a:t>
            </a:r>
            <a:r>
              <a:rPr lang="es-AR" sz="1600" b="1" dirty="0" err="1">
                <a:solidFill>
                  <a:schemeClr val="tx1"/>
                </a:solidFill>
                <a:latin typeface="Arial" pitchFamily="34" charset="0"/>
                <a:cs typeface="Arial" pitchFamily="34" charset="0"/>
              </a:rPr>
              <a:t>pthread_exit</a:t>
            </a:r>
            <a:r>
              <a:rPr lang="es-AR" sz="1600" b="1" dirty="0">
                <a:solidFill>
                  <a:schemeClr val="tx1"/>
                </a:solidFill>
                <a:latin typeface="Arial" pitchFamily="34" charset="0"/>
                <a:cs typeface="Arial" pitchFamily="34" charset="0"/>
              </a:rPr>
              <a:t>()</a:t>
            </a:r>
          </a:p>
          <a:p>
            <a:pPr marL="174625" indent="-174625" algn="l">
              <a:spcBef>
                <a:spcPts val="600"/>
              </a:spcBef>
              <a:buFont typeface="Arial" pitchFamily="34" charset="0"/>
              <a:buChar char="•"/>
              <a:tabLst>
                <a:tab pos="174625" algn="l"/>
              </a:tabLst>
            </a:pPr>
            <a:r>
              <a:rPr lang="es-AR" sz="1600" dirty="0">
                <a:solidFill>
                  <a:schemeClr val="tx1"/>
                </a:solidFill>
                <a:latin typeface="Arial" pitchFamily="34" charset="0"/>
                <a:cs typeface="Arial" pitchFamily="34" charset="0"/>
              </a:rPr>
              <a:t>Al invocar el comando </a:t>
            </a:r>
            <a:r>
              <a:rPr lang="es-AR" sz="1600" b="1" dirty="0" err="1">
                <a:solidFill>
                  <a:schemeClr val="tx1"/>
                </a:solidFill>
                <a:latin typeface="Arial" pitchFamily="34" charset="0"/>
                <a:cs typeface="Arial" pitchFamily="34" charset="0"/>
              </a:rPr>
              <a:t>exit</a:t>
            </a:r>
            <a:r>
              <a:rPr lang="es-AR" sz="1600" b="1" dirty="0">
                <a:solidFill>
                  <a:schemeClr val="tx1"/>
                </a:solidFill>
                <a:latin typeface="Arial" pitchFamily="34" charset="0"/>
                <a:cs typeface="Arial" pitchFamily="34" charset="0"/>
              </a:rPr>
              <a:t>() </a:t>
            </a:r>
            <a:r>
              <a:rPr lang="es-AR" sz="1600" dirty="0">
                <a:solidFill>
                  <a:schemeClr val="tx1"/>
                </a:solidFill>
                <a:latin typeface="Arial" pitchFamily="34" charset="0"/>
                <a:cs typeface="Arial" pitchFamily="34" charset="0"/>
              </a:rPr>
              <a:t>con lo cual finaliza el proceso y todos los hilos creados por éste.</a:t>
            </a:r>
          </a:p>
          <a:p>
            <a:pPr algn="l">
              <a:spcBef>
                <a:spcPts val="600"/>
              </a:spcBef>
            </a:pPr>
            <a:r>
              <a:rPr lang="es-AR" sz="1600" u="sng" dirty="0">
                <a:solidFill>
                  <a:schemeClr val="tx1"/>
                </a:solidFill>
                <a:latin typeface="Arial" pitchFamily="34" charset="0"/>
                <a:cs typeface="Arial" pitchFamily="34" charset="0"/>
              </a:rPr>
              <a:t>Sintaxis:</a:t>
            </a:r>
          </a:p>
          <a:p>
            <a:pPr algn="l">
              <a:spcBef>
                <a:spcPts val="600"/>
              </a:spcBef>
            </a:pP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void</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pthread_exit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void</a:t>
            </a:r>
            <a:r>
              <a:rPr lang="es-AR" sz="1800" b="1" dirty="0">
                <a:solidFill>
                  <a:schemeClr val="tx1"/>
                </a:solidFill>
                <a:latin typeface="Courier New" pitchFamily="49" charset="0"/>
                <a:cs typeface="Courier New" pitchFamily="49" charset="0"/>
              </a:rPr>
              <a:t>* </a:t>
            </a:r>
            <a:r>
              <a:rPr lang="es-AR" sz="1800" b="1" dirty="0" err="1">
                <a:solidFill>
                  <a:srgbClr val="0070C0"/>
                </a:solidFill>
                <a:latin typeface="Courier New" pitchFamily="49" charset="0"/>
                <a:cs typeface="Courier New" pitchFamily="49" charset="0"/>
              </a:rPr>
              <a:t>thread_return</a:t>
            </a:r>
            <a:r>
              <a:rPr lang="es-AR" sz="1800" b="1" dirty="0">
                <a:solidFill>
                  <a:schemeClr val="tx1"/>
                </a:solidFill>
                <a:latin typeface="Courier New" pitchFamily="49" charset="0"/>
                <a:cs typeface="Courier New" pitchFamily="49" charset="0"/>
              </a:rPr>
              <a:t>)</a:t>
            </a:r>
          </a:p>
          <a:p>
            <a:pPr marL="363538" indent="-363538" algn="l">
              <a:spcBef>
                <a:spcPts val="600"/>
              </a:spcBef>
              <a:buFont typeface="Arial" pitchFamily="34" charset="0"/>
              <a:buChar char="•"/>
            </a:pPr>
            <a:r>
              <a:rPr lang="es-AR" sz="1800" b="1" dirty="0" err="1">
                <a:solidFill>
                  <a:srgbClr val="0070C0"/>
                </a:solidFill>
                <a:latin typeface="Courier New" pitchFamily="49" charset="0"/>
                <a:cs typeface="Courier New" pitchFamily="49" charset="0"/>
              </a:rPr>
              <a:t>thread_return</a:t>
            </a:r>
            <a:r>
              <a:rPr lang="es-AR" sz="1600" b="1" dirty="0">
                <a:solidFill>
                  <a:srgbClr val="0070C0"/>
                </a:solidFill>
                <a:latin typeface="Arial" pitchFamily="34" charset="0"/>
                <a:cs typeface="Arial" pitchFamily="34" charset="0"/>
              </a:rPr>
              <a:t> </a:t>
            </a:r>
            <a:r>
              <a:rPr lang="es-AR" sz="1600" dirty="0">
                <a:solidFill>
                  <a:schemeClr val="tx1"/>
                </a:solidFill>
                <a:latin typeface="Arial" pitchFamily="34" charset="0"/>
                <a:cs typeface="Arial" pitchFamily="34" charset="0"/>
              </a:rPr>
              <a:t>: es un puntero de tipo </a:t>
            </a:r>
            <a:r>
              <a:rPr lang="es-AR" sz="1600" dirty="0" err="1">
                <a:solidFill>
                  <a:schemeClr val="tx1"/>
                </a:solidFill>
                <a:latin typeface="Arial" pitchFamily="34" charset="0"/>
                <a:cs typeface="Arial" pitchFamily="34" charset="0"/>
              </a:rPr>
              <a:t>void</a:t>
            </a:r>
            <a:r>
              <a:rPr lang="es-AR" sz="1600" dirty="0">
                <a:solidFill>
                  <a:schemeClr val="tx1"/>
                </a:solidFill>
                <a:latin typeface="Arial" pitchFamily="34" charset="0"/>
                <a:cs typeface="Arial" pitchFamily="34" charset="0"/>
              </a:rPr>
              <a:t>* (generalmente NULL cuando no se devuelve nada)</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Terminación de Hilos en C   (</a:t>
            </a:r>
            <a:r>
              <a:rPr lang="es-AR" sz="3400" noProof="0" dirty="0" err="1">
                <a:solidFill>
                  <a:schemeClr val="tx1"/>
                </a:solidFill>
                <a:latin typeface="+mj-lt"/>
                <a:ea typeface="+mj-ea"/>
                <a:cs typeface="+mj-cs"/>
              </a:rPr>
              <a:t>exit</a:t>
            </a:r>
            <a:r>
              <a:rPr lang="es-AR" sz="3400" noProof="0" dirty="0">
                <a:solidFill>
                  <a:schemeClr val="tx1"/>
                </a:solidFill>
                <a:latin typeface="+mj-lt"/>
                <a:ea typeface="+mj-ea"/>
                <a:cs typeface="+mj-cs"/>
              </a:rPr>
              <a:t>) </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5122" name="Picture 2"/>
          <p:cNvPicPr>
            <a:picLocks noChangeAspect="1" noChangeArrowheads="1"/>
          </p:cNvPicPr>
          <p:nvPr/>
        </p:nvPicPr>
        <p:blipFill>
          <a:blip r:embed="rId3" cstate="print"/>
          <a:srcRect l="586"/>
          <a:stretch>
            <a:fillRect/>
          </a:stretch>
        </p:blipFill>
        <p:spPr bwMode="auto">
          <a:xfrm>
            <a:off x="4354286" y="3598558"/>
            <a:ext cx="4310733" cy="3157844"/>
          </a:xfrm>
          <a:prstGeom prst="rect">
            <a:avLst/>
          </a:prstGeom>
          <a:ln>
            <a:noFill/>
          </a:ln>
          <a:effectLst>
            <a:outerShdw blurRad="292100" dist="139700" dir="2700000" algn="tl" rotWithShape="0">
              <a:srgbClr val="333333">
                <a:alpha val="65000"/>
              </a:srgbClr>
            </a:outerShdw>
          </a:effectLst>
        </p:spPr>
      </p:pic>
      <p:sp>
        <p:nvSpPr>
          <p:cNvPr id="8" name="7 CuadroTexto"/>
          <p:cNvSpPr txBox="1"/>
          <p:nvPr/>
        </p:nvSpPr>
        <p:spPr>
          <a:xfrm>
            <a:off x="246742" y="3556002"/>
            <a:ext cx="3904341" cy="3231654"/>
          </a:xfrm>
          <a:prstGeom prst="rect">
            <a:avLst/>
          </a:prstGeom>
          <a:noFill/>
        </p:spPr>
        <p:txBody>
          <a:bodyPr wrap="square" rtlCol="0">
            <a:spAutoFit/>
          </a:bodyPr>
          <a:lstStyle/>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Si en el hilo principal, se invoca a </a:t>
            </a:r>
            <a:r>
              <a:rPr lang="es-AR" sz="1600" dirty="0" err="1">
                <a:solidFill>
                  <a:schemeClr val="tx1"/>
                </a:solidFill>
                <a:latin typeface="Arial" pitchFamily="34" charset="0"/>
                <a:cs typeface="Arial" pitchFamily="34" charset="0"/>
              </a:rPr>
              <a:t>pthread_exit</a:t>
            </a:r>
            <a:r>
              <a:rPr lang="es-AR" sz="1600" dirty="0">
                <a:solidFill>
                  <a:schemeClr val="tx1"/>
                </a:solidFill>
                <a:latin typeface="Arial" pitchFamily="34" charset="0"/>
                <a:cs typeface="Arial" pitchFamily="34" charset="0"/>
              </a:rPr>
              <a:t>(), se esperará la finalización de todos los hilos.</a:t>
            </a: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Si el hilo es </a:t>
            </a:r>
            <a:r>
              <a:rPr lang="es-AR" sz="1600" dirty="0" err="1">
                <a:solidFill>
                  <a:schemeClr val="tx1"/>
                </a:solidFill>
                <a:latin typeface="Arial" pitchFamily="34" charset="0"/>
                <a:cs typeface="Arial" pitchFamily="34" charset="0"/>
              </a:rPr>
              <a:t>sincronizable</a:t>
            </a:r>
            <a:r>
              <a:rPr lang="es-AR" sz="1600" dirty="0">
                <a:solidFill>
                  <a:schemeClr val="tx1"/>
                </a:solidFill>
                <a:latin typeface="Arial" pitchFamily="34" charset="0"/>
                <a:cs typeface="Arial" pitchFamily="34" charset="0"/>
              </a:rPr>
              <a:t> (</a:t>
            </a:r>
            <a:r>
              <a:rPr lang="es-AR" sz="1600" i="1" dirty="0" err="1">
                <a:solidFill>
                  <a:schemeClr val="tx1"/>
                </a:solidFill>
                <a:latin typeface="Arial" pitchFamily="34" charset="0"/>
                <a:cs typeface="Arial" pitchFamily="34" charset="0"/>
              </a:rPr>
              <a:t>joinable</a:t>
            </a:r>
            <a:r>
              <a:rPr lang="es-AR" sz="1600" dirty="0">
                <a:solidFill>
                  <a:schemeClr val="tx1"/>
                </a:solidFill>
                <a:latin typeface="Arial" pitchFamily="34" charset="0"/>
                <a:cs typeface="Arial" pitchFamily="34" charset="0"/>
              </a:rPr>
              <a:t>) el identificador del hilo y su valor de retorno puede examinarse por otro hilo mediante la invocación a </a:t>
            </a:r>
            <a:r>
              <a:rPr lang="es-AR" sz="1600" dirty="0" err="1">
                <a:solidFill>
                  <a:schemeClr val="tx1"/>
                </a:solidFill>
                <a:latin typeface="Arial" pitchFamily="34" charset="0"/>
                <a:cs typeface="Arial" pitchFamily="34" charset="0"/>
              </a:rPr>
              <a:t>pthread_join</a:t>
            </a:r>
            <a:r>
              <a:rPr lang="es-AR" sz="1600" dirty="0">
                <a:solidFill>
                  <a:schemeClr val="tx1"/>
                </a:solidFill>
                <a:latin typeface="Arial" pitchFamily="34" charset="0"/>
                <a:cs typeface="Arial" pitchFamily="34" charset="0"/>
              </a:rPr>
              <a:t> a través del parámetro </a:t>
            </a:r>
            <a:r>
              <a:rPr lang="es-AR" sz="1800" b="1" dirty="0" err="1">
                <a:solidFill>
                  <a:srgbClr val="0070C0"/>
                </a:solidFill>
                <a:latin typeface="Courier New" pitchFamily="49" charset="0"/>
                <a:cs typeface="Courier New" pitchFamily="49" charset="0"/>
              </a:rPr>
              <a:t>thread_return</a:t>
            </a:r>
            <a:endParaRPr lang="es-AR" sz="1800" dirty="0">
              <a:solidFill>
                <a:schemeClr val="tx1"/>
              </a:solidFill>
              <a:latin typeface="Arial" pitchFamily="34" charset="0"/>
              <a:cs typeface="Arial" pitchFamily="34" charset="0"/>
            </a:endParaRPr>
          </a:p>
          <a:p>
            <a:pPr marL="174625" indent="-174625" algn="l">
              <a:spcBef>
                <a:spcPts val="600"/>
              </a:spcBef>
              <a:buFont typeface="Arial" pitchFamily="34" charset="0"/>
              <a:buChar char="•"/>
            </a:pPr>
            <a:r>
              <a:rPr lang="es-AR" sz="1600" dirty="0">
                <a:solidFill>
                  <a:schemeClr val="tx1"/>
                </a:solidFill>
                <a:latin typeface="Arial" pitchFamily="34" charset="0"/>
                <a:cs typeface="Arial" pitchFamily="34" charset="0"/>
              </a:rPr>
              <a:t>La finalización del último hilo de un proceso finaliza la ejecución del proceso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362857" y="992417"/>
            <a:ext cx="8752115" cy="2800767"/>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Con  </a:t>
            </a:r>
            <a:r>
              <a:rPr lang="es-AR" sz="1600" b="1" dirty="0" err="1">
                <a:solidFill>
                  <a:schemeClr val="tx1"/>
                </a:solidFill>
                <a:latin typeface="Arial" pitchFamily="34" charset="0"/>
                <a:cs typeface="Arial" pitchFamily="34" charset="0"/>
              </a:rPr>
              <a:t>pthread_attr_init</a:t>
            </a:r>
            <a:r>
              <a:rPr lang="es-AR" sz="1600" b="1" dirty="0">
                <a:solidFill>
                  <a:schemeClr val="tx1"/>
                </a:solidFill>
                <a:latin typeface="Arial" pitchFamily="34" charset="0"/>
                <a:cs typeface="Arial" pitchFamily="34" charset="0"/>
              </a:rPr>
              <a:t>/</a:t>
            </a:r>
            <a:r>
              <a:rPr lang="es-AR" sz="1600" b="1" dirty="0" err="1">
                <a:solidFill>
                  <a:schemeClr val="tx1"/>
                </a:solidFill>
                <a:latin typeface="Arial" pitchFamily="34" charset="0"/>
                <a:cs typeface="Arial" pitchFamily="34" charset="0"/>
              </a:rPr>
              <a:t>destroy</a:t>
            </a:r>
            <a:r>
              <a:rPr lang="es-AR" sz="1600" dirty="0">
                <a:solidFill>
                  <a:schemeClr val="tx1"/>
                </a:solidFill>
                <a:latin typeface="Arial" pitchFamily="34" charset="0"/>
                <a:cs typeface="Arial" pitchFamily="34" charset="0"/>
              </a:rPr>
              <a:t>: se manipulan los atributos de un hilo</a:t>
            </a:r>
          </a:p>
          <a:p>
            <a:pPr algn="l">
              <a:spcBef>
                <a:spcPts val="600"/>
              </a:spcBef>
            </a:pPr>
            <a:r>
              <a:rPr lang="es-AR" sz="1600" u="sng" dirty="0">
                <a:solidFill>
                  <a:schemeClr val="tx1"/>
                </a:solidFill>
                <a:latin typeface="Arial" pitchFamily="34" charset="0"/>
                <a:cs typeface="Arial" pitchFamily="34" charset="0"/>
              </a:rPr>
              <a:t>Sintaxis: </a:t>
            </a:r>
          </a:p>
          <a:p>
            <a:pPr algn="l">
              <a:spcBef>
                <a:spcPts val="0"/>
              </a:spcBef>
            </a:pP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int</a:t>
            </a:r>
            <a:r>
              <a:rPr lang="en-US" sz="1800" b="1" dirty="0">
                <a:solidFill>
                  <a:schemeClr val="tx1"/>
                </a:solidFill>
                <a:latin typeface="Courier New" pitchFamily="49" charset="0"/>
                <a:cs typeface="Courier New" pitchFamily="49" charset="0"/>
              </a:rPr>
              <a:t> </a:t>
            </a:r>
            <a:r>
              <a:rPr lang="en-US" sz="1800" b="1" dirty="0" err="1">
                <a:solidFill>
                  <a:srgbClr val="FF0000"/>
                </a:solidFill>
                <a:latin typeface="Courier New" pitchFamily="49" charset="0"/>
                <a:cs typeface="Courier New" pitchFamily="49" charset="0"/>
              </a:rPr>
              <a:t>pthread_attr_init</a:t>
            </a:r>
            <a:r>
              <a:rPr lang="en-US" sz="1800" b="1" dirty="0">
                <a:solidFill>
                  <a:schemeClr val="tx1"/>
                </a:solidFill>
                <a:latin typeface="Courier New" pitchFamily="49" charset="0"/>
                <a:cs typeface="Courier New" pitchFamily="49" charset="0"/>
              </a:rPr>
              <a:t>(</a:t>
            </a:r>
            <a:r>
              <a:rPr lang="en-US" sz="1800" b="1" dirty="0" err="1">
                <a:solidFill>
                  <a:schemeClr val="tx1"/>
                </a:solidFill>
                <a:latin typeface="Courier New" pitchFamily="49" charset="0"/>
                <a:cs typeface="Courier New" pitchFamily="49" charset="0"/>
              </a:rPr>
              <a:t>pthread_attr_t</a:t>
            </a:r>
            <a:r>
              <a:rPr lang="en-US" sz="1800" b="1" dirty="0">
                <a:solidFill>
                  <a:schemeClr val="tx1"/>
                </a:solidFill>
                <a:latin typeface="Courier New" pitchFamily="49" charset="0"/>
                <a:cs typeface="Courier New" pitchFamily="49" charset="0"/>
              </a:rPr>
              <a:t> * </a:t>
            </a:r>
            <a:r>
              <a:rPr lang="en-US" sz="1800" b="1" dirty="0" err="1">
                <a:solidFill>
                  <a:srgbClr val="00B0F0"/>
                </a:solidFill>
                <a:latin typeface="Courier New" pitchFamily="49" charset="0"/>
                <a:cs typeface="Courier New" pitchFamily="49" charset="0"/>
              </a:rPr>
              <a:t>attr</a:t>
            </a:r>
            <a:r>
              <a:rPr lang="en-US" sz="1800" b="1" dirty="0">
                <a:solidFill>
                  <a:schemeClr val="tx1"/>
                </a:solidFill>
                <a:latin typeface="Courier New" pitchFamily="49" charset="0"/>
                <a:cs typeface="Courier New" pitchFamily="49" charset="0"/>
              </a:rPr>
              <a:t>);</a:t>
            </a:r>
          </a:p>
          <a:p>
            <a:pPr algn="l">
              <a:spcBef>
                <a:spcPts val="0"/>
              </a:spcBef>
              <a:spcAft>
                <a:spcPts val="600"/>
              </a:spcAft>
            </a:pP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int</a:t>
            </a:r>
            <a:r>
              <a:rPr lang="en-US" sz="1800" b="1" dirty="0">
                <a:solidFill>
                  <a:schemeClr val="tx1"/>
                </a:solidFill>
                <a:latin typeface="Courier New" pitchFamily="49" charset="0"/>
                <a:cs typeface="Courier New" pitchFamily="49" charset="0"/>
              </a:rPr>
              <a:t> </a:t>
            </a:r>
            <a:r>
              <a:rPr lang="en-US" sz="1800" b="1" dirty="0" err="1">
                <a:solidFill>
                  <a:srgbClr val="FF0000"/>
                </a:solidFill>
                <a:latin typeface="Courier New" pitchFamily="49" charset="0"/>
                <a:cs typeface="Courier New" pitchFamily="49" charset="0"/>
              </a:rPr>
              <a:t>pthread_attr_destroy</a:t>
            </a:r>
            <a:r>
              <a:rPr lang="en-US" sz="1800" b="1" dirty="0">
                <a:solidFill>
                  <a:schemeClr val="tx1"/>
                </a:solidFill>
                <a:latin typeface="Courier New" pitchFamily="49" charset="0"/>
                <a:cs typeface="Courier New" pitchFamily="49" charset="0"/>
              </a:rPr>
              <a:t>(</a:t>
            </a:r>
            <a:r>
              <a:rPr lang="en-US" sz="1800" b="1" dirty="0" err="1">
                <a:solidFill>
                  <a:schemeClr val="tx1"/>
                </a:solidFill>
                <a:latin typeface="Courier New" pitchFamily="49" charset="0"/>
                <a:cs typeface="Courier New" pitchFamily="49" charset="0"/>
              </a:rPr>
              <a:t>pthread_attr_t</a:t>
            </a:r>
            <a:r>
              <a:rPr lang="en-US" sz="1800" b="1" dirty="0">
                <a:solidFill>
                  <a:schemeClr val="tx1"/>
                </a:solidFill>
                <a:latin typeface="Courier New" pitchFamily="49" charset="0"/>
                <a:cs typeface="Courier New" pitchFamily="49" charset="0"/>
              </a:rPr>
              <a:t> * </a:t>
            </a:r>
            <a:r>
              <a:rPr lang="en-US" sz="1800" b="1" dirty="0" err="1">
                <a:solidFill>
                  <a:srgbClr val="00B0F0"/>
                </a:solidFill>
                <a:latin typeface="Courier New" pitchFamily="49" charset="0"/>
                <a:cs typeface="Courier New" pitchFamily="49" charset="0"/>
              </a:rPr>
              <a:t>attr</a:t>
            </a:r>
            <a:r>
              <a:rPr lang="en-US" sz="1800" b="1" dirty="0">
                <a:solidFill>
                  <a:schemeClr val="tx1"/>
                </a:solidFill>
                <a:latin typeface="Courier New" pitchFamily="49" charset="0"/>
                <a:cs typeface="Courier New" pitchFamily="49" charset="0"/>
              </a:rPr>
              <a:t>);</a:t>
            </a:r>
            <a:endParaRPr lang="es-AR" sz="1800" b="1" dirty="0">
              <a:solidFill>
                <a:schemeClr val="tx1"/>
              </a:solidFill>
              <a:latin typeface="Courier New" pitchFamily="49" charset="0"/>
              <a:cs typeface="Courier New" pitchFamily="49" charset="0"/>
            </a:endParaRPr>
          </a:p>
          <a:p>
            <a:pPr marL="812800" indent="-812800" algn="l">
              <a:spcBef>
                <a:spcPts val="600"/>
              </a:spcBef>
            </a:pPr>
            <a:r>
              <a:rPr lang="es-AR" sz="1600" b="1" dirty="0">
                <a:solidFill>
                  <a:srgbClr val="FF0000"/>
                </a:solidFill>
                <a:latin typeface="Arial" pitchFamily="34" charset="0"/>
                <a:cs typeface="Arial" pitchFamily="34" charset="0"/>
              </a:rPr>
              <a:t> </a:t>
            </a:r>
            <a:r>
              <a:rPr lang="es-AR" sz="1600" b="1" dirty="0" err="1">
                <a:solidFill>
                  <a:srgbClr val="FF0000"/>
                </a:solidFill>
                <a:latin typeface="Arial" pitchFamily="34" charset="0"/>
                <a:cs typeface="Arial" pitchFamily="34" charset="0"/>
              </a:rPr>
              <a:t>pthread_attr_init</a:t>
            </a:r>
            <a:r>
              <a:rPr lang="es-AR" sz="1600" b="1" dirty="0">
                <a:solidFill>
                  <a:srgbClr val="FF0000"/>
                </a:solidFill>
                <a:latin typeface="Arial" pitchFamily="34" charset="0"/>
                <a:cs typeface="Arial" pitchFamily="34" charset="0"/>
              </a:rPr>
              <a:t> </a:t>
            </a:r>
            <a:r>
              <a:rPr lang="es-AR" sz="1600" dirty="0">
                <a:solidFill>
                  <a:schemeClr val="tx1"/>
                </a:solidFill>
                <a:latin typeface="Arial" pitchFamily="34" charset="0"/>
                <a:cs typeface="Arial" pitchFamily="34" charset="0"/>
              </a:rPr>
              <a:t>inicializa el objeto de atributos de un hilo </a:t>
            </a:r>
            <a:r>
              <a:rPr lang="es-AR" sz="1800" b="1" dirty="0" err="1">
                <a:solidFill>
                  <a:srgbClr val="00B0F0"/>
                </a:solidFill>
                <a:latin typeface="Courier New" pitchFamily="49" charset="0"/>
                <a:cs typeface="Courier New" pitchFamily="49" charset="0"/>
              </a:rPr>
              <a:t>attr</a:t>
            </a:r>
            <a:r>
              <a:rPr lang="es-AR" sz="1600" dirty="0">
                <a:solidFill>
                  <a:schemeClr val="tx1"/>
                </a:solidFill>
                <a:latin typeface="Arial" pitchFamily="34" charset="0"/>
                <a:cs typeface="Arial" pitchFamily="34" charset="0"/>
              </a:rPr>
              <a:t> y establece los valores por defecto.  Posteriormente, este objeto, con los atributos por defecto de un hilo, se puede utilizar para crear múltiples hilos .</a:t>
            </a:r>
          </a:p>
          <a:p>
            <a:pPr marL="812800" indent="-812800" algn="l">
              <a:spcBef>
                <a:spcPts val="600"/>
              </a:spcBef>
            </a:pPr>
            <a:r>
              <a:rPr lang="es-AR" sz="1600" dirty="0">
                <a:solidFill>
                  <a:schemeClr val="tx1"/>
                </a:solidFill>
                <a:latin typeface="Arial" pitchFamily="34" charset="0"/>
                <a:cs typeface="Arial" pitchFamily="34" charset="0"/>
              </a:rPr>
              <a:t> </a:t>
            </a:r>
            <a:r>
              <a:rPr lang="es-AR" sz="1600" b="1" dirty="0" err="1">
                <a:solidFill>
                  <a:srgbClr val="FF0000"/>
                </a:solidFill>
                <a:latin typeface="Arial" pitchFamily="34" charset="0"/>
                <a:cs typeface="Arial" pitchFamily="34" charset="0"/>
              </a:rPr>
              <a:t>pthread_attr_destroy</a:t>
            </a:r>
            <a:r>
              <a:rPr lang="es-AR" sz="1600" dirty="0">
                <a:solidFill>
                  <a:schemeClr val="tx1"/>
                </a:solidFill>
                <a:latin typeface="Arial" pitchFamily="34" charset="0"/>
                <a:cs typeface="Arial" pitchFamily="34" charset="0"/>
              </a:rPr>
              <a:t>, destruye el objeto de atributos de un hilo </a:t>
            </a:r>
            <a:r>
              <a:rPr lang="es-AR" sz="1800" b="1" dirty="0" err="1">
                <a:solidFill>
                  <a:srgbClr val="00B0F0"/>
                </a:solidFill>
                <a:latin typeface="Courier New" pitchFamily="49" charset="0"/>
                <a:cs typeface="Courier New" pitchFamily="49" charset="0"/>
              </a:rPr>
              <a:t>attr</a:t>
            </a:r>
            <a:r>
              <a:rPr lang="es-AR" sz="1600" dirty="0">
                <a:solidFill>
                  <a:schemeClr val="tx1"/>
                </a:solidFill>
                <a:latin typeface="Arial" pitchFamily="34" charset="0"/>
                <a:cs typeface="Arial" pitchFamily="34" charset="0"/>
              </a:rPr>
              <a:t>, y éste no puede volver a utilizarse hasta que no se vuelva a inicializar</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Atributos de hilos 1/2</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13" name="12 CuadroTexto"/>
          <p:cNvSpPr txBox="1"/>
          <p:nvPr/>
        </p:nvSpPr>
        <p:spPr>
          <a:xfrm>
            <a:off x="420915" y="3831773"/>
            <a:ext cx="8694057" cy="3231654"/>
          </a:xfrm>
          <a:prstGeom prst="rect">
            <a:avLst/>
          </a:prstGeom>
          <a:noFill/>
        </p:spPr>
        <p:txBody>
          <a:bodyPr wrap="square" rtlCol="0">
            <a:spAutoFit/>
          </a:bodyPr>
          <a:lstStyle/>
          <a:p>
            <a:pPr algn="l"/>
            <a:r>
              <a:rPr lang="es-AR" sz="1600" b="1" dirty="0">
                <a:solidFill>
                  <a:srgbClr val="0070C0"/>
                </a:solidFill>
                <a:latin typeface="Arial" pitchFamily="34" charset="0"/>
                <a:cs typeface="Arial" pitchFamily="34" charset="0"/>
              </a:rPr>
              <a:t>Algunos atributos (más relevantes) de un hilo POSIX:</a:t>
            </a:r>
          </a:p>
          <a:p>
            <a:pPr marL="449263" indent="-449263" algn="l"/>
            <a:r>
              <a:rPr lang="es-AR" sz="1600" dirty="0">
                <a:solidFill>
                  <a:schemeClr val="tx1"/>
                </a:solidFill>
                <a:latin typeface="Arial" pitchFamily="34" charset="0"/>
                <a:cs typeface="Arial" pitchFamily="34" charset="0"/>
              </a:rPr>
              <a:t></a:t>
            </a:r>
            <a:r>
              <a:rPr lang="es-AR" sz="1600" b="1" dirty="0" err="1">
                <a:solidFill>
                  <a:schemeClr val="tx1"/>
                </a:solidFill>
                <a:latin typeface="Arial" pitchFamily="34" charset="0"/>
                <a:cs typeface="Arial" pitchFamily="34" charset="0"/>
              </a:rPr>
              <a:t>detachstate</a:t>
            </a:r>
            <a:r>
              <a:rPr lang="es-AR" sz="1600" dirty="0">
                <a:solidFill>
                  <a:schemeClr val="tx1"/>
                </a:solidFill>
                <a:latin typeface="Arial" pitchFamily="34" charset="0"/>
                <a:cs typeface="Arial" pitchFamily="34" charset="0"/>
              </a:rPr>
              <a:t>: controla si otro hilo podrá esperar por la terminación de este hilo (mediante la invocación a </a:t>
            </a:r>
            <a:r>
              <a:rPr lang="es-AR" sz="1600" dirty="0" err="1">
                <a:solidFill>
                  <a:schemeClr val="tx1"/>
                </a:solidFill>
                <a:latin typeface="Arial" pitchFamily="34" charset="0"/>
                <a:cs typeface="Arial" pitchFamily="34" charset="0"/>
              </a:rPr>
              <a:t>pthread_join</a:t>
            </a:r>
            <a:r>
              <a:rPr lang="es-AR" sz="1600" dirty="0">
                <a:solidFill>
                  <a:schemeClr val="tx1"/>
                </a:solidFill>
                <a:latin typeface="Arial" pitchFamily="34" charset="0"/>
                <a:cs typeface="Arial" pitchFamily="34" charset="0"/>
              </a:rPr>
              <a:t>):</a:t>
            </a:r>
          </a:p>
          <a:p>
            <a:pPr algn="l">
              <a:tabLst>
                <a:tab pos="536575" algn="l"/>
              </a:tabLst>
            </a:pPr>
            <a:r>
              <a:rPr lang="es-AR" sz="1800" b="1" dirty="0">
                <a:solidFill>
                  <a:schemeClr val="tx1"/>
                </a:solidFill>
                <a:latin typeface="Courier New" pitchFamily="49" charset="0"/>
                <a:cs typeface="Courier New" pitchFamily="49" charset="0"/>
              </a:rPr>
              <a:t> 	PTHREAD_CREATE_JOINABLE </a:t>
            </a:r>
            <a:r>
              <a:rPr lang="es-AR" sz="1600" dirty="0">
                <a:solidFill>
                  <a:schemeClr val="tx1"/>
                </a:solidFill>
                <a:latin typeface="Arial" pitchFamily="34" charset="0"/>
                <a:cs typeface="Arial" pitchFamily="34" charset="0"/>
              </a:rPr>
              <a:t>(valor por defecto)</a:t>
            </a:r>
          </a:p>
          <a:p>
            <a:pPr algn="l">
              <a:tabLst>
                <a:tab pos="536575" algn="l"/>
              </a:tabLst>
            </a:pPr>
            <a:r>
              <a:rPr lang="es-AR" sz="1600" dirty="0">
                <a:solidFill>
                  <a:schemeClr val="tx1"/>
                </a:solidFill>
                <a:latin typeface="Arial" pitchFamily="34" charset="0"/>
                <a:cs typeface="Arial" pitchFamily="34" charset="0"/>
              </a:rPr>
              <a:t> 	</a:t>
            </a:r>
            <a:r>
              <a:rPr lang="es-AR" sz="1800" b="1" dirty="0">
                <a:solidFill>
                  <a:schemeClr val="tx1"/>
                </a:solidFill>
                <a:latin typeface="Courier New" pitchFamily="49" charset="0"/>
                <a:cs typeface="Courier New" pitchFamily="49" charset="0"/>
              </a:rPr>
              <a:t>PTHREAD_CREATE_DETACHED</a:t>
            </a:r>
          </a:p>
          <a:p>
            <a:pPr algn="l"/>
            <a:r>
              <a:rPr lang="es-AR" sz="1600" dirty="0">
                <a:solidFill>
                  <a:schemeClr val="tx1"/>
                </a:solidFill>
                <a:latin typeface="Arial" pitchFamily="34" charset="0"/>
                <a:cs typeface="Arial" pitchFamily="34" charset="0"/>
              </a:rPr>
              <a:t> </a:t>
            </a:r>
            <a:r>
              <a:rPr lang="es-AR" sz="1600" b="1" dirty="0" err="1">
                <a:solidFill>
                  <a:schemeClr val="tx1"/>
                </a:solidFill>
                <a:latin typeface="Arial" pitchFamily="34" charset="0"/>
                <a:cs typeface="Arial" pitchFamily="34" charset="0"/>
              </a:rPr>
              <a:t>schedpolicy</a:t>
            </a:r>
            <a:r>
              <a:rPr lang="es-AR" sz="1600" dirty="0">
                <a:solidFill>
                  <a:schemeClr val="tx1"/>
                </a:solidFill>
                <a:latin typeface="Arial" pitchFamily="34" charset="0"/>
                <a:cs typeface="Arial" pitchFamily="34" charset="0"/>
              </a:rPr>
              <a:t>: controla cómo se planificará el hilo</a:t>
            </a:r>
          </a:p>
          <a:p>
            <a:pPr algn="l">
              <a:tabLst>
                <a:tab pos="536575" algn="l"/>
              </a:tabLst>
            </a:pPr>
            <a:r>
              <a:rPr lang="es-AR" sz="1800" b="1" dirty="0">
                <a:solidFill>
                  <a:schemeClr val="tx1"/>
                </a:solidFill>
                <a:latin typeface="Courier New" pitchFamily="49" charset="0"/>
                <a:cs typeface="Courier New" pitchFamily="49" charset="0"/>
              </a:rPr>
              <a:t> 	SCHED_OTHER </a:t>
            </a:r>
            <a:r>
              <a:rPr lang="es-AR" sz="1600" dirty="0">
                <a:solidFill>
                  <a:schemeClr val="tx1"/>
                </a:solidFill>
                <a:latin typeface="Arial" pitchFamily="34" charset="0"/>
                <a:cs typeface="Arial" pitchFamily="34" charset="0"/>
              </a:rPr>
              <a:t>(valor por defecto, planificación normal + no tiempo real)</a:t>
            </a:r>
          </a:p>
          <a:p>
            <a:pPr algn="l">
              <a:tabLst>
                <a:tab pos="536575" algn="l"/>
              </a:tabLst>
            </a:pPr>
            <a:r>
              <a:rPr lang="es-AR" sz="1600" dirty="0">
                <a:solidFill>
                  <a:schemeClr val="tx1"/>
                </a:solidFill>
                <a:latin typeface="Arial" pitchFamily="34" charset="0"/>
                <a:cs typeface="Arial" pitchFamily="34" charset="0"/>
              </a:rPr>
              <a:t> 	</a:t>
            </a:r>
            <a:r>
              <a:rPr lang="es-AR" sz="1800" b="1" dirty="0">
                <a:solidFill>
                  <a:schemeClr val="tx1"/>
                </a:solidFill>
                <a:latin typeface="Courier New" pitchFamily="49" charset="0"/>
                <a:cs typeface="Courier New" pitchFamily="49" charset="0"/>
              </a:rPr>
              <a:t>SCHED_RR</a:t>
            </a:r>
            <a:r>
              <a:rPr lang="es-AR" sz="1600" dirty="0">
                <a:solidFill>
                  <a:schemeClr val="tx1"/>
                </a:solidFill>
                <a:latin typeface="Arial" pitchFamily="34" charset="0"/>
                <a:cs typeface="Arial" pitchFamily="34" charset="0"/>
              </a:rPr>
              <a:t>  (Round </a:t>
            </a:r>
            <a:r>
              <a:rPr lang="es-AR" sz="1600" dirty="0" err="1">
                <a:solidFill>
                  <a:schemeClr val="tx1"/>
                </a:solidFill>
                <a:latin typeface="Arial" pitchFamily="34" charset="0"/>
                <a:cs typeface="Arial" pitchFamily="34" charset="0"/>
              </a:rPr>
              <a:t>Robin</a:t>
            </a:r>
            <a:r>
              <a:rPr lang="es-AR" sz="1600" dirty="0">
                <a:solidFill>
                  <a:schemeClr val="tx1"/>
                </a:solidFill>
                <a:latin typeface="Arial" pitchFamily="34" charset="0"/>
                <a:cs typeface="Arial" pitchFamily="34" charset="0"/>
              </a:rPr>
              <a:t> + tiempo real + privilegios </a:t>
            </a:r>
            <a:r>
              <a:rPr lang="es-AR" sz="1600" dirty="0" err="1">
                <a:solidFill>
                  <a:schemeClr val="tx1"/>
                </a:solidFill>
                <a:latin typeface="Arial" pitchFamily="34" charset="0"/>
                <a:cs typeface="Arial" pitchFamily="34" charset="0"/>
              </a:rPr>
              <a:t>root</a:t>
            </a:r>
            <a:r>
              <a:rPr lang="es-AR" sz="1600" dirty="0">
                <a:solidFill>
                  <a:schemeClr val="tx1"/>
                </a:solidFill>
                <a:latin typeface="Arial" pitchFamily="34" charset="0"/>
                <a:cs typeface="Arial" pitchFamily="34" charset="0"/>
              </a:rPr>
              <a:t>)</a:t>
            </a:r>
          </a:p>
          <a:p>
            <a:pPr algn="l">
              <a:tabLst>
                <a:tab pos="536575" algn="l"/>
              </a:tabLst>
            </a:pPr>
            <a:r>
              <a:rPr lang="es-AR" sz="1600" dirty="0">
                <a:solidFill>
                  <a:schemeClr val="tx1"/>
                </a:solidFill>
                <a:latin typeface="Arial" pitchFamily="34" charset="0"/>
                <a:cs typeface="Arial" pitchFamily="34" charset="0"/>
              </a:rPr>
              <a:t> 	</a:t>
            </a:r>
            <a:r>
              <a:rPr lang="es-AR" sz="1800" b="1" dirty="0">
                <a:solidFill>
                  <a:schemeClr val="tx1"/>
                </a:solidFill>
                <a:latin typeface="Courier New" pitchFamily="49" charset="0"/>
                <a:cs typeface="Courier New" pitchFamily="49" charset="0"/>
              </a:rPr>
              <a:t>SCHER_FIFO </a:t>
            </a:r>
            <a:r>
              <a:rPr lang="es-AR" sz="1600" dirty="0">
                <a:solidFill>
                  <a:schemeClr val="tx1"/>
                </a:solidFill>
                <a:latin typeface="Arial" pitchFamily="34" charset="0"/>
                <a:cs typeface="Arial" pitchFamily="34" charset="0"/>
              </a:rPr>
              <a:t>(</a:t>
            </a:r>
            <a:r>
              <a:rPr lang="es-AR" sz="1600" dirty="0" err="1">
                <a:solidFill>
                  <a:schemeClr val="tx1"/>
                </a:solidFill>
                <a:latin typeface="Arial" pitchFamily="34" charset="0"/>
                <a:cs typeface="Arial" pitchFamily="34" charset="0"/>
              </a:rPr>
              <a:t>First</a:t>
            </a:r>
            <a:r>
              <a:rPr lang="es-AR" sz="1600" dirty="0">
                <a:solidFill>
                  <a:schemeClr val="tx1"/>
                </a:solidFill>
                <a:latin typeface="Arial" pitchFamily="34" charset="0"/>
                <a:cs typeface="Arial" pitchFamily="34" charset="0"/>
              </a:rPr>
              <a:t> In </a:t>
            </a:r>
            <a:r>
              <a:rPr lang="es-AR" sz="1600" dirty="0" err="1">
                <a:solidFill>
                  <a:schemeClr val="tx1"/>
                </a:solidFill>
                <a:latin typeface="Arial" pitchFamily="34" charset="0"/>
                <a:cs typeface="Arial" pitchFamily="34" charset="0"/>
              </a:rPr>
              <a:t>First</a:t>
            </a:r>
            <a:r>
              <a:rPr lang="es-AR" sz="1600" dirty="0">
                <a:solidFill>
                  <a:schemeClr val="tx1"/>
                </a:solidFill>
                <a:latin typeface="Arial" pitchFamily="34" charset="0"/>
                <a:cs typeface="Arial" pitchFamily="34" charset="0"/>
              </a:rPr>
              <a:t> </a:t>
            </a:r>
            <a:r>
              <a:rPr lang="es-AR" sz="1600" dirty="0" err="1">
                <a:solidFill>
                  <a:schemeClr val="tx1"/>
                </a:solidFill>
                <a:latin typeface="Arial" pitchFamily="34" charset="0"/>
                <a:cs typeface="Arial" pitchFamily="34" charset="0"/>
              </a:rPr>
              <a:t>Out</a:t>
            </a:r>
            <a:r>
              <a:rPr lang="es-AR" sz="1600" dirty="0">
                <a:solidFill>
                  <a:schemeClr val="tx1"/>
                </a:solidFill>
                <a:latin typeface="Arial" pitchFamily="34" charset="0"/>
                <a:cs typeface="Arial" pitchFamily="34" charset="0"/>
              </a:rPr>
              <a:t> + tiempo real + privilegios </a:t>
            </a:r>
            <a:r>
              <a:rPr lang="es-AR" sz="1600" dirty="0" err="1">
                <a:solidFill>
                  <a:schemeClr val="tx1"/>
                </a:solidFill>
                <a:latin typeface="Arial" pitchFamily="34" charset="0"/>
                <a:cs typeface="Arial" pitchFamily="34" charset="0"/>
              </a:rPr>
              <a:t>root</a:t>
            </a:r>
            <a:r>
              <a:rPr lang="es-AR" sz="1600" dirty="0">
                <a:solidFill>
                  <a:schemeClr val="tx1"/>
                </a:solidFill>
                <a:latin typeface="Arial" pitchFamily="34" charset="0"/>
                <a:cs typeface="Arial" pitchFamily="34" charset="0"/>
              </a:rPr>
              <a:t>)</a:t>
            </a:r>
          </a:p>
          <a:p>
            <a:pPr algn="l"/>
            <a:r>
              <a:rPr lang="es-AR" sz="1600" dirty="0">
                <a:solidFill>
                  <a:schemeClr val="tx1"/>
                </a:solidFill>
                <a:latin typeface="Arial" pitchFamily="34" charset="0"/>
                <a:cs typeface="Arial" pitchFamily="34" charset="0"/>
              </a:rPr>
              <a:t> </a:t>
            </a:r>
            <a:r>
              <a:rPr lang="es-AR" sz="1600" b="1" dirty="0" err="1">
                <a:solidFill>
                  <a:schemeClr val="tx1"/>
                </a:solidFill>
                <a:latin typeface="Arial" pitchFamily="34" charset="0"/>
                <a:cs typeface="Arial" pitchFamily="34" charset="0"/>
              </a:rPr>
              <a:t>scope</a:t>
            </a:r>
            <a:r>
              <a:rPr lang="es-AR" sz="1600" dirty="0">
                <a:solidFill>
                  <a:schemeClr val="tx1"/>
                </a:solidFill>
                <a:latin typeface="Arial" pitchFamily="34" charset="0"/>
                <a:cs typeface="Arial" pitchFamily="34" charset="0"/>
              </a:rPr>
              <a:t>: controla a qué nivel es reconocido el hilo</a:t>
            </a:r>
          </a:p>
          <a:p>
            <a:pPr algn="l">
              <a:tabLst>
                <a:tab pos="536575" algn="l"/>
              </a:tabLst>
            </a:pPr>
            <a:r>
              <a:rPr lang="es-AR" sz="1600" dirty="0">
                <a:solidFill>
                  <a:schemeClr val="tx1"/>
                </a:solidFill>
                <a:latin typeface="Arial" pitchFamily="34" charset="0"/>
                <a:cs typeface="Arial" pitchFamily="34" charset="0"/>
              </a:rPr>
              <a:t> 	</a:t>
            </a:r>
            <a:r>
              <a:rPr lang="es-AR" sz="1800" b="1" dirty="0">
                <a:solidFill>
                  <a:schemeClr val="tx1"/>
                </a:solidFill>
                <a:latin typeface="Courier New" pitchFamily="49" charset="0"/>
                <a:cs typeface="Courier New" pitchFamily="49" charset="0"/>
              </a:rPr>
              <a:t>PTHREAD_SCOPE_SYSTEM</a:t>
            </a:r>
            <a:r>
              <a:rPr lang="es-AR" sz="1600" dirty="0">
                <a:solidFill>
                  <a:schemeClr val="tx1"/>
                </a:solidFill>
                <a:latin typeface="Arial" pitchFamily="34" charset="0"/>
                <a:cs typeface="Arial" pitchFamily="34" charset="0"/>
              </a:rPr>
              <a:t>  (valor por defecto, el hilo es reconocido por el núcleo)</a:t>
            </a:r>
          </a:p>
          <a:p>
            <a:pPr algn="l"/>
            <a:r>
              <a:rPr lang="es-AR" sz="1600" dirty="0">
                <a:solidFill>
                  <a:schemeClr val="tx1"/>
                </a:solidFill>
                <a:latin typeface="Arial" pitchFamily="34" charset="0"/>
                <a:cs typeface="Arial" pitchFamily="34"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391885" y="977903"/>
            <a:ext cx="8752115" cy="5539978"/>
          </a:xfrm>
          <a:prstGeom prst="rect">
            <a:avLst/>
          </a:prstGeom>
          <a:noFill/>
        </p:spPr>
        <p:txBody>
          <a:bodyPr wrap="square" rtlCol="0">
            <a:spAutoFit/>
          </a:bodyPr>
          <a:lstStyle/>
          <a:p>
            <a:pPr algn="l">
              <a:spcBef>
                <a:spcPts val="600"/>
              </a:spcBef>
            </a:pPr>
            <a:r>
              <a:rPr lang="es-AR" sz="1600" b="1" dirty="0">
                <a:solidFill>
                  <a:schemeClr val="tx1"/>
                </a:solidFill>
                <a:latin typeface="Arial" pitchFamily="34" charset="0"/>
                <a:cs typeface="Arial" pitchFamily="34" charset="0"/>
              </a:rPr>
              <a:t></a:t>
            </a:r>
            <a:r>
              <a:rPr lang="es-AR" sz="1600" dirty="0">
                <a:solidFill>
                  <a:schemeClr val="tx1"/>
                </a:solidFill>
                <a:latin typeface="Arial" pitchFamily="34" charset="0"/>
                <a:cs typeface="Arial" pitchFamily="34" charset="0"/>
              </a:rPr>
              <a:t>Con</a:t>
            </a:r>
            <a:r>
              <a:rPr lang="es-AR" sz="1600" b="1" dirty="0">
                <a:solidFill>
                  <a:schemeClr val="tx1"/>
                </a:solidFill>
                <a:latin typeface="Arial" pitchFamily="34" charset="0"/>
                <a:cs typeface="Arial" pitchFamily="34" charset="0"/>
              </a:rPr>
              <a:t> </a:t>
            </a:r>
            <a:r>
              <a:rPr lang="es-AR" sz="1600" b="1" dirty="0" err="1">
                <a:solidFill>
                  <a:srgbClr val="FF0000"/>
                </a:solidFill>
                <a:latin typeface="Arial" pitchFamily="34" charset="0"/>
                <a:cs typeface="Arial" pitchFamily="34" charset="0"/>
              </a:rPr>
              <a:t>pthread_attr_set</a:t>
            </a:r>
            <a:r>
              <a:rPr lang="es-AR" sz="1600" b="1" dirty="0">
                <a:solidFill>
                  <a:srgbClr val="FF0000"/>
                </a:solidFill>
                <a:latin typeface="Arial" pitchFamily="34" charset="0"/>
                <a:cs typeface="Arial" pitchFamily="34" charset="0"/>
              </a:rPr>
              <a:t>/</a:t>
            </a:r>
            <a:r>
              <a:rPr lang="es-AR" sz="1600" b="1" dirty="0" err="1">
                <a:solidFill>
                  <a:srgbClr val="FF0000"/>
                </a:solidFill>
                <a:latin typeface="Arial" pitchFamily="34" charset="0"/>
                <a:cs typeface="Arial" pitchFamily="34" charset="0"/>
              </a:rPr>
              <a:t>getxxxxx</a:t>
            </a:r>
            <a:r>
              <a:rPr lang="es-AR" sz="1600" b="1" dirty="0">
                <a:solidFill>
                  <a:schemeClr val="tx1"/>
                </a:solidFill>
                <a:latin typeface="Arial" pitchFamily="34" charset="0"/>
                <a:cs typeface="Arial" pitchFamily="34" charset="0"/>
              </a:rPr>
              <a:t>: </a:t>
            </a:r>
            <a:r>
              <a:rPr lang="es-AR" sz="1600" dirty="0">
                <a:solidFill>
                  <a:schemeClr val="tx1"/>
                </a:solidFill>
                <a:latin typeface="Arial" pitchFamily="34" charset="0"/>
                <a:cs typeface="Arial" pitchFamily="34" charset="0"/>
              </a:rPr>
              <a:t>se pueden establecer o consultar atributos particulares de un objeto con los atributos de un hilo</a:t>
            </a:r>
          </a:p>
          <a:p>
            <a:pPr algn="l">
              <a:spcBef>
                <a:spcPts val="1200"/>
              </a:spcBef>
            </a:pPr>
            <a:r>
              <a:rPr lang="es-AR" sz="1600" u="sng" dirty="0">
                <a:solidFill>
                  <a:schemeClr val="tx1"/>
                </a:solidFill>
                <a:latin typeface="Arial" pitchFamily="34" charset="0"/>
                <a:cs typeface="Arial" pitchFamily="34" charset="0"/>
              </a:rPr>
              <a:t>Sintaxis</a:t>
            </a:r>
            <a:r>
              <a:rPr lang="es-AR" sz="1600" dirty="0">
                <a:solidFill>
                  <a:schemeClr val="tx1"/>
                </a:solidFill>
                <a:latin typeface="Arial" pitchFamily="34" charset="0"/>
                <a:cs typeface="Arial" pitchFamily="34" charset="0"/>
              </a:rPr>
              <a:t>:</a:t>
            </a:r>
          </a:p>
          <a:p>
            <a:pPr algn="l">
              <a:spcBef>
                <a:spcPts val="600"/>
              </a:spcBef>
            </a:pP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pthread_attr_setdetachstate</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pthread_attr_t</a:t>
            </a:r>
            <a:r>
              <a:rPr lang="es-AR" sz="1800" b="1" dirty="0">
                <a:solidFill>
                  <a:schemeClr val="tx1"/>
                </a:solidFill>
                <a:latin typeface="Courier New" pitchFamily="49" charset="0"/>
                <a:cs typeface="Courier New" pitchFamily="49" charset="0"/>
              </a:rPr>
              <a:t> *</a:t>
            </a:r>
            <a:r>
              <a:rPr lang="es-AR" sz="1800" b="1" dirty="0" err="1">
                <a:solidFill>
                  <a:srgbClr val="0070C0"/>
                </a:solidFill>
                <a:latin typeface="Courier New" pitchFamily="49" charset="0"/>
                <a:cs typeface="Courier New" pitchFamily="49" charset="0"/>
              </a:rPr>
              <a:t>attr</a:t>
            </a:r>
            <a:r>
              <a:rPr lang="es-AR" sz="1800" b="1" dirty="0">
                <a:solidFill>
                  <a:schemeClr val="tx1"/>
                </a:solidFill>
                <a:latin typeface="Courier New" pitchFamily="49" charset="0"/>
                <a:cs typeface="Courier New" pitchFamily="49" charset="0"/>
              </a:rPr>
              <a:t>,</a:t>
            </a:r>
          </a:p>
          <a:p>
            <a:pPr algn="l">
              <a:spcBef>
                <a:spcPts val="0"/>
              </a:spcBef>
              <a:spcAft>
                <a:spcPts val="1200"/>
              </a:spcAft>
            </a:pP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rgbClr val="C00000"/>
                </a:solidFill>
                <a:latin typeface="Courier New" pitchFamily="49" charset="0"/>
                <a:cs typeface="Courier New" pitchFamily="49" charset="0"/>
              </a:rPr>
              <a:t>detachstate</a:t>
            </a:r>
            <a:r>
              <a:rPr lang="es-AR" sz="1800" b="1" dirty="0">
                <a:solidFill>
                  <a:schemeClr val="tx1"/>
                </a:solidFill>
                <a:latin typeface="Courier New" pitchFamily="49" charset="0"/>
                <a:cs typeface="Courier New" pitchFamily="49" charset="0"/>
              </a:rPr>
              <a:t>);</a:t>
            </a:r>
          </a:p>
          <a:p>
            <a:pPr algn="l">
              <a:spcBef>
                <a:spcPts val="600"/>
              </a:spcBef>
            </a:pP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pthread_attr_getdetachstate</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const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pthread_attr_t</a:t>
            </a:r>
            <a:r>
              <a:rPr lang="es-AR" sz="1800" b="1" dirty="0">
                <a:solidFill>
                  <a:schemeClr val="tx1"/>
                </a:solidFill>
                <a:latin typeface="Courier New" pitchFamily="49" charset="0"/>
                <a:cs typeface="Courier New" pitchFamily="49" charset="0"/>
              </a:rPr>
              <a:t> *</a:t>
            </a:r>
            <a:r>
              <a:rPr lang="es-AR" sz="1800" b="1" dirty="0" err="1">
                <a:solidFill>
                  <a:srgbClr val="0070C0"/>
                </a:solidFill>
                <a:latin typeface="Courier New" pitchFamily="49" charset="0"/>
                <a:cs typeface="Courier New" pitchFamily="49" charset="0"/>
              </a:rPr>
              <a:t>attr</a:t>
            </a:r>
            <a:r>
              <a:rPr lang="es-AR" sz="1800" b="1" dirty="0">
                <a:solidFill>
                  <a:schemeClr val="tx1"/>
                </a:solidFill>
                <a:latin typeface="Courier New" pitchFamily="49" charset="0"/>
                <a:cs typeface="Courier New" pitchFamily="49" charset="0"/>
              </a:rPr>
              <a:t>,</a:t>
            </a:r>
          </a:p>
          <a:p>
            <a:pPr algn="l">
              <a:spcBef>
                <a:spcPts val="0"/>
              </a:spcBef>
              <a:spcAft>
                <a:spcPts val="1200"/>
              </a:spcAft>
            </a:pP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rgbClr val="C00000"/>
                </a:solidFill>
                <a:latin typeface="Courier New" pitchFamily="49" charset="0"/>
                <a:cs typeface="Courier New" pitchFamily="49" charset="0"/>
              </a:rPr>
              <a:t>detachstate</a:t>
            </a:r>
            <a:r>
              <a:rPr lang="es-AR" sz="1800" b="1" dirty="0">
                <a:solidFill>
                  <a:schemeClr val="tx1"/>
                </a:solidFill>
                <a:latin typeface="Courier New" pitchFamily="49" charset="0"/>
                <a:cs typeface="Courier New" pitchFamily="49" charset="0"/>
              </a:rPr>
              <a:t>);</a:t>
            </a:r>
          </a:p>
          <a:p>
            <a:pPr algn="l">
              <a:spcBef>
                <a:spcPts val="600"/>
              </a:spcBef>
            </a:pP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pthread_attr_setschedpolicy</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pthread_attr_t</a:t>
            </a:r>
            <a:r>
              <a:rPr lang="es-AR" sz="1800" b="1" dirty="0">
                <a:solidFill>
                  <a:schemeClr val="tx1"/>
                </a:solidFill>
                <a:latin typeface="Courier New" pitchFamily="49" charset="0"/>
                <a:cs typeface="Courier New" pitchFamily="49" charset="0"/>
              </a:rPr>
              <a:t> *</a:t>
            </a:r>
            <a:r>
              <a:rPr lang="es-AR" sz="1800" b="1" dirty="0" err="1">
                <a:solidFill>
                  <a:srgbClr val="0070C0"/>
                </a:solidFill>
                <a:latin typeface="Courier New" pitchFamily="49" charset="0"/>
                <a:cs typeface="Courier New" pitchFamily="49" charset="0"/>
              </a:rPr>
              <a:t>attr</a:t>
            </a:r>
            <a:r>
              <a:rPr lang="es-AR" sz="1800" b="1" dirty="0">
                <a:solidFill>
                  <a:schemeClr val="tx1"/>
                </a:solidFill>
                <a:latin typeface="Courier New" pitchFamily="49" charset="0"/>
                <a:cs typeface="Courier New" pitchFamily="49" charset="0"/>
              </a:rPr>
              <a:t>,</a:t>
            </a:r>
          </a:p>
          <a:p>
            <a:pPr algn="l">
              <a:spcBef>
                <a:spcPts val="0"/>
              </a:spcBef>
              <a:spcAft>
                <a:spcPts val="1200"/>
              </a:spcAft>
            </a:pP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rgbClr val="00B050"/>
                </a:solidFill>
                <a:latin typeface="Courier New" pitchFamily="49" charset="0"/>
                <a:cs typeface="Courier New" pitchFamily="49" charset="0"/>
              </a:rPr>
              <a:t>policy</a:t>
            </a:r>
            <a:r>
              <a:rPr lang="es-AR" sz="1800" b="1" dirty="0">
                <a:solidFill>
                  <a:schemeClr val="tx1"/>
                </a:solidFill>
                <a:latin typeface="Courier New" pitchFamily="49" charset="0"/>
                <a:cs typeface="Courier New" pitchFamily="49" charset="0"/>
              </a:rPr>
              <a:t>);</a:t>
            </a:r>
          </a:p>
          <a:p>
            <a:pPr algn="l">
              <a:spcBef>
                <a:spcPts val="600"/>
              </a:spcBef>
            </a:pP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pthread_attr_getdetachstate</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const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pthread_attr_t</a:t>
            </a:r>
            <a:r>
              <a:rPr lang="es-AR" sz="1800" b="1" dirty="0">
                <a:solidFill>
                  <a:schemeClr val="tx1"/>
                </a:solidFill>
                <a:latin typeface="Courier New" pitchFamily="49" charset="0"/>
                <a:cs typeface="Courier New" pitchFamily="49" charset="0"/>
              </a:rPr>
              <a:t> *</a:t>
            </a:r>
            <a:r>
              <a:rPr lang="es-AR" sz="1800" b="1" dirty="0" err="1">
                <a:solidFill>
                  <a:srgbClr val="0070C0"/>
                </a:solidFill>
                <a:latin typeface="Courier New" pitchFamily="49" charset="0"/>
                <a:cs typeface="Courier New" pitchFamily="49" charset="0"/>
              </a:rPr>
              <a:t>attr</a:t>
            </a:r>
            <a:r>
              <a:rPr lang="es-AR" sz="1800" b="1" dirty="0">
                <a:solidFill>
                  <a:schemeClr val="tx1"/>
                </a:solidFill>
                <a:latin typeface="Courier New" pitchFamily="49" charset="0"/>
                <a:cs typeface="Courier New" pitchFamily="49" charset="0"/>
              </a:rPr>
              <a:t>,</a:t>
            </a:r>
          </a:p>
          <a:p>
            <a:pPr algn="l">
              <a:spcBef>
                <a:spcPts val="0"/>
              </a:spcBef>
              <a:spcAft>
                <a:spcPts val="1200"/>
              </a:spcAft>
            </a:pP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rgbClr val="00B050"/>
                </a:solidFill>
                <a:latin typeface="Courier New" pitchFamily="49" charset="0"/>
                <a:cs typeface="Courier New" pitchFamily="49" charset="0"/>
              </a:rPr>
              <a:t>policy</a:t>
            </a:r>
            <a:r>
              <a:rPr lang="es-AR" sz="1800" b="1" dirty="0">
                <a:solidFill>
                  <a:schemeClr val="tx1"/>
                </a:solidFill>
                <a:latin typeface="Courier New" pitchFamily="49" charset="0"/>
                <a:cs typeface="Courier New" pitchFamily="49" charset="0"/>
              </a:rPr>
              <a:t>);</a:t>
            </a:r>
          </a:p>
          <a:p>
            <a:pPr algn="l">
              <a:spcBef>
                <a:spcPts val="600"/>
              </a:spcBef>
            </a:pP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pthread_attr_setscope</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pthread_attr_t</a:t>
            </a:r>
            <a:r>
              <a:rPr lang="es-AR" sz="1800" b="1" dirty="0">
                <a:solidFill>
                  <a:schemeClr val="tx1"/>
                </a:solidFill>
                <a:latin typeface="Courier New" pitchFamily="49" charset="0"/>
                <a:cs typeface="Courier New" pitchFamily="49" charset="0"/>
              </a:rPr>
              <a:t> *</a:t>
            </a:r>
            <a:r>
              <a:rPr lang="es-AR" sz="1800" b="1" dirty="0" err="1">
                <a:solidFill>
                  <a:srgbClr val="0070C0"/>
                </a:solidFill>
                <a:latin typeface="Courier New" pitchFamily="49" charset="0"/>
                <a:cs typeface="Courier New" pitchFamily="49" charset="0"/>
              </a:rPr>
              <a:t>attr</a:t>
            </a:r>
            <a:r>
              <a:rPr lang="es-AR" sz="1800" b="1" dirty="0">
                <a:solidFill>
                  <a:schemeClr val="tx1"/>
                </a:solidFill>
                <a:latin typeface="Courier New" pitchFamily="49" charset="0"/>
                <a:cs typeface="Courier New" pitchFamily="49" charset="0"/>
              </a:rPr>
              <a:t>,</a:t>
            </a:r>
          </a:p>
          <a:p>
            <a:pPr algn="l">
              <a:spcBef>
                <a:spcPts val="0"/>
              </a:spcBef>
              <a:spcAft>
                <a:spcPts val="1200"/>
              </a:spcAft>
            </a:pP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rgbClr val="7030A0"/>
                </a:solidFill>
                <a:latin typeface="Courier New" pitchFamily="49" charset="0"/>
                <a:cs typeface="Courier New" pitchFamily="49" charset="0"/>
              </a:rPr>
              <a:t>contentionscope</a:t>
            </a:r>
            <a:r>
              <a:rPr lang="es-AR" sz="1800" b="1" dirty="0">
                <a:solidFill>
                  <a:schemeClr val="tx1"/>
                </a:solidFill>
                <a:latin typeface="Courier New" pitchFamily="49" charset="0"/>
                <a:cs typeface="Courier New" pitchFamily="49" charset="0"/>
              </a:rPr>
              <a:t>);</a:t>
            </a:r>
          </a:p>
          <a:p>
            <a:pPr algn="l">
              <a:spcBef>
                <a:spcPts val="0"/>
              </a:spcBef>
            </a:pP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pthread_attr_getscope</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const</a:t>
            </a: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pthread_attr_t</a:t>
            </a:r>
            <a:r>
              <a:rPr lang="es-AR" sz="1800" b="1" dirty="0">
                <a:solidFill>
                  <a:schemeClr val="tx1"/>
                </a:solidFill>
                <a:latin typeface="Courier New" pitchFamily="49" charset="0"/>
                <a:cs typeface="Courier New" pitchFamily="49" charset="0"/>
              </a:rPr>
              <a:t> *</a:t>
            </a:r>
            <a:r>
              <a:rPr lang="es-AR" sz="1800" b="1" dirty="0" err="1">
                <a:solidFill>
                  <a:srgbClr val="0070C0"/>
                </a:solidFill>
                <a:latin typeface="Courier New" pitchFamily="49" charset="0"/>
                <a:cs typeface="Courier New" pitchFamily="49" charset="0"/>
              </a:rPr>
              <a:t>attr</a:t>
            </a:r>
            <a:r>
              <a:rPr lang="es-AR" sz="1800" b="1" dirty="0">
                <a:solidFill>
                  <a:schemeClr val="tx1"/>
                </a:solidFill>
                <a:latin typeface="Courier New" pitchFamily="49" charset="0"/>
                <a:cs typeface="Courier New" pitchFamily="49" charset="0"/>
              </a:rPr>
              <a:t>,</a:t>
            </a:r>
          </a:p>
          <a:p>
            <a:pPr algn="l">
              <a:spcBef>
                <a:spcPts val="600"/>
              </a:spcBef>
            </a:pPr>
            <a:r>
              <a:rPr lang="es-AR" sz="1800" b="1" dirty="0">
                <a:solidFill>
                  <a:schemeClr val="tx1"/>
                </a:solidFill>
                <a:latin typeface="Courier New" pitchFamily="49" charset="0"/>
                <a:cs typeface="Courier New" pitchFamily="49" charset="0"/>
              </a:rPr>
              <a:t>					</a:t>
            </a:r>
            <a:r>
              <a:rPr lang="es-AR" sz="1800" b="1" dirty="0" err="1">
                <a:solidFill>
                  <a:schemeClr val="tx1"/>
                </a:solidFill>
                <a:latin typeface="Courier New" pitchFamily="49" charset="0"/>
                <a:cs typeface="Courier New" pitchFamily="49" charset="0"/>
              </a:rPr>
              <a:t>int</a:t>
            </a:r>
            <a:r>
              <a:rPr lang="es-AR" sz="1800" b="1" dirty="0">
                <a:solidFill>
                  <a:schemeClr val="tx1"/>
                </a:solidFill>
                <a:latin typeface="Courier New" pitchFamily="49" charset="0"/>
                <a:cs typeface="Courier New" pitchFamily="49" charset="0"/>
              </a:rPr>
              <a:t> *</a:t>
            </a:r>
            <a:r>
              <a:rPr lang="es-AR" sz="1800" b="1" dirty="0" err="1">
                <a:solidFill>
                  <a:srgbClr val="7030A0"/>
                </a:solidFill>
                <a:latin typeface="Courier New" pitchFamily="49" charset="0"/>
                <a:cs typeface="Courier New" pitchFamily="49" charset="0"/>
              </a:rPr>
              <a:t>contentionscope</a:t>
            </a:r>
            <a:r>
              <a:rPr lang="es-AR" sz="1800" b="1" dirty="0">
                <a:solidFill>
                  <a:schemeClr val="tx1"/>
                </a:solidFill>
                <a:latin typeface="Courier New" pitchFamily="49" charset="0"/>
                <a:cs typeface="Courier New" pitchFamily="49" charset="0"/>
              </a:rPr>
              <a:t>);</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Atributos de hilos 2/2</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92416"/>
            <a:ext cx="8752115" cy="4939814"/>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Sintaxis:</a:t>
            </a:r>
          </a:p>
          <a:p>
            <a:pPr algn="l">
              <a:spcBef>
                <a:spcPts val="600"/>
              </a:spcBef>
            </a:pP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int</a:t>
            </a: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pthread_join</a:t>
            </a:r>
            <a:r>
              <a:rPr lang="en-US" sz="1800" b="1" dirty="0">
                <a:solidFill>
                  <a:schemeClr val="tx1"/>
                </a:solidFill>
                <a:latin typeface="Courier New" pitchFamily="49" charset="0"/>
                <a:cs typeface="Courier New" pitchFamily="49" charset="0"/>
              </a:rPr>
              <a:t>(</a:t>
            </a:r>
            <a:r>
              <a:rPr lang="en-US" sz="1800" b="1" dirty="0" err="1">
                <a:solidFill>
                  <a:schemeClr val="tx1"/>
                </a:solidFill>
                <a:latin typeface="Courier New" pitchFamily="49" charset="0"/>
                <a:cs typeface="Courier New" pitchFamily="49" charset="0"/>
              </a:rPr>
              <a:t>pthread_t</a:t>
            </a:r>
            <a:r>
              <a:rPr lang="en-US" sz="1800" b="1" dirty="0">
                <a:solidFill>
                  <a:schemeClr val="tx1"/>
                </a:solidFill>
                <a:latin typeface="Courier New" pitchFamily="49" charset="0"/>
                <a:cs typeface="Courier New" pitchFamily="49" charset="0"/>
              </a:rPr>
              <a:t> </a:t>
            </a:r>
            <a:r>
              <a:rPr lang="en-US" sz="1800" b="1" dirty="0" err="1">
                <a:solidFill>
                  <a:srgbClr val="C00000"/>
                </a:solidFill>
                <a:latin typeface="Courier New" pitchFamily="49" charset="0"/>
                <a:cs typeface="Courier New" pitchFamily="49" charset="0"/>
              </a:rPr>
              <a:t>tid</a:t>
            </a:r>
            <a:r>
              <a:rPr lang="en-US" sz="1800" b="1" dirty="0">
                <a:solidFill>
                  <a:schemeClr val="tx1"/>
                </a:solidFill>
                <a:latin typeface="Courier New" pitchFamily="49" charset="0"/>
                <a:cs typeface="Courier New" pitchFamily="49" charset="0"/>
              </a:rPr>
              <a:t>, void **</a:t>
            </a:r>
            <a:r>
              <a:rPr lang="en-US" sz="1800" b="1" dirty="0">
                <a:solidFill>
                  <a:srgbClr val="0070C0"/>
                </a:solidFill>
                <a:latin typeface="Courier New" pitchFamily="49" charset="0"/>
                <a:cs typeface="Courier New" pitchFamily="49" charset="0"/>
              </a:rPr>
              <a:t>status</a:t>
            </a:r>
            <a:r>
              <a:rPr lang="en-US" sz="1800" b="1" dirty="0">
                <a:solidFill>
                  <a:schemeClr val="tx1"/>
                </a:solidFill>
                <a:latin typeface="Courier New" pitchFamily="49" charset="0"/>
                <a:cs typeface="Courier New" pitchFamily="49" charset="0"/>
              </a:rPr>
              <a:t>);</a:t>
            </a:r>
            <a:endParaRPr lang="es-AR" sz="1800" b="1" dirty="0">
              <a:solidFill>
                <a:schemeClr val="tx1"/>
              </a:solidFill>
              <a:latin typeface="Courier New" pitchFamily="49" charset="0"/>
              <a:cs typeface="Courier New" pitchFamily="49" charset="0"/>
            </a:endParaRP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r>
              <a:rPr lang="es-AR" sz="1600" dirty="0">
                <a:solidFill>
                  <a:schemeClr val="tx1"/>
                </a:solidFill>
                <a:latin typeface="Arial" pitchFamily="34" charset="0"/>
                <a:cs typeface="Arial" pitchFamily="34" charset="0"/>
              </a:rPr>
              <a:t>Descripción </a:t>
            </a:r>
          </a:p>
          <a:p>
            <a:pPr algn="l">
              <a:spcBef>
                <a:spcPts val="600"/>
              </a:spcBef>
            </a:pPr>
            <a:r>
              <a:rPr lang="es-AR" sz="1600" dirty="0">
                <a:solidFill>
                  <a:schemeClr val="tx1"/>
                </a:solidFill>
                <a:latin typeface="Arial" pitchFamily="34" charset="0"/>
                <a:cs typeface="Arial" pitchFamily="34" charset="0"/>
              </a:rPr>
              <a:t>Esta función suspende la ejecución del hilo que la invoca hasta que el hilo identificado por el valor </a:t>
            </a:r>
            <a:r>
              <a:rPr lang="es-AR" sz="1800" b="1" dirty="0" err="1">
                <a:solidFill>
                  <a:srgbClr val="C00000"/>
                </a:solidFill>
                <a:latin typeface="Courier New" pitchFamily="49" charset="0"/>
                <a:cs typeface="Courier New" pitchFamily="49" charset="0"/>
              </a:rPr>
              <a:t>tid</a:t>
            </a:r>
            <a:r>
              <a:rPr lang="es-AR" sz="1600" dirty="0">
                <a:solidFill>
                  <a:schemeClr val="tx1"/>
                </a:solidFill>
                <a:latin typeface="Arial" pitchFamily="34" charset="0"/>
                <a:cs typeface="Arial" pitchFamily="34" charset="0"/>
              </a:rPr>
              <a:t> finaliza, bien por la invocación a la función </a:t>
            </a:r>
            <a:r>
              <a:rPr lang="es-AR" sz="1600" dirty="0" err="1">
                <a:solidFill>
                  <a:schemeClr val="tx1"/>
                </a:solidFill>
                <a:latin typeface="Arial" pitchFamily="34" charset="0"/>
                <a:cs typeface="Arial" pitchFamily="34" charset="0"/>
              </a:rPr>
              <a:t>pthread_exit</a:t>
            </a:r>
            <a:r>
              <a:rPr lang="es-AR" sz="1600" dirty="0">
                <a:solidFill>
                  <a:schemeClr val="tx1"/>
                </a:solidFill>
                <a:latin typeface="Arial" pitchFamily="34" charset="0"/>
                <a:cs typeface="Arial" pitchFamily="34" charset="0"/>
              </a:rPr>
              <a:t> o por estar cancelado.</a:t>
            </a:r>
          </a:p>
          <a:p>
            <a:pPr algn="l">
              <a:spcBef>
                <a:spcPts val="600"/>
              </a:spcBef>
            </a:pPr>
            <a:r>
              <a:rPr lang="es-AR" sz="1600" dirty="0">
                <a:solidFill>
                  <a:schemeClr val="tx1"/>
                </a:solidFill>
                <a:latin typeface="Arial" pitchFamily="34" charset="0"/>
                <a:cs typeface="Arial" pitchFamily="34" charset="0"/>
              </a:rPr>
              <a:t>Si </a:t>
            </a:r>
            <a:r>
              <a:rPr lang="es-AR" sz="1800" b="1" dirty="0">
                <a:solidFill>
                  <a:srgbClr val="0070C0"/>
                </a:solidFill>
                <a:latin typeface="Courier New" pitchFamily="49" charset="0"/>
                <a:cs typeface="Courier New" pitchFamily="49" charset="0"/>
              </a:rPr>
              <a:t>status</a:t>
            </a:r>
            <a:r>
              <a:rPr lang="es-AR" sz="1600" dirty="0">
                <a:solidFill>
                  <a:schemeClr val="tx1"/>
                </a:solidFill>
                <a:latin typeface="Arial" pitchFamily="34" charset="0"/>
                <a:cs typeface="Arial" pitchFamily="34" charset="0"/>
              </a:rPr>
              <a:t> no es </a:t>
            </a:r>
            <a:r>
              <a:rPr lang="es-AR" sz="1600" b="1" dirty="0">
                <a:solidFill>
                  <a:schemeClr val="tx1"/>
                </a:solidFill>
                <a:latin typeface="Arial" pitchFamily="34" charset="0"/>
                <a:cs typeface="Arial" pitchFamily="34" charset="0"/>
              </a:rPr>
              <a:t>NULL</a:t>
            </a:r>
            <a:r>
              <a:rPr lang="es-AR" sz="1600" dirty="0">
                <a:solidFill>
                  <a:schemeClr val="tx1"/>
                </a:solidFill>
                <a:latin typeface="Arial" pitchFamily="34" charset="0"/>
                <a:cs typeface="Arial" pitchFamily="34" charset="0"/>
              </a:rPr>
              <a:t>, el valor devuelto por el hilo (el argumento de la función </a:t>
            </a:r>
            <a:r>
              <a:rPr lang="es-AR" sz="1800" b="1" dirty="0" err="1">
                <a:solidFill>
                  <a:schemeClr val="tx1"/>
                </a:solidFill>
                <a:latin typeface="Courier New" pitchFamily="49" charset="0"/>
                <a:cs typeface="Courier New" pitchFamily="49" charset="0"/>
              </a:rPr>
              <a:t>pthread_exit</a:t>
            </a:r>
            <a:r>
              <a:rPr lang="es-AR" sz="1800" b="1" dirty="0">
                <a:solidFill>
                  <a:schemeClr val="tx1"/>
                </a:solidFill>
                <a:latin typeface="Courier New" pitchFamily="49" charset="0"/>
                <a:cs typeface="Courier New" pitchFamily="49" charset="0"/>
              </a:rPr>
              <a:t>,</a:t>
            </a:r>
            <a:r>
              <a:rPr lang="es-AR" sz="1600" dirty="0">
                <a:solidFill>
                  <a:schemeClr val="tx1"/>
                </a:solidFill>
                <a:latin typeface="Arial" pitchFamily="34" charset="0"/>
                <a:cs typeface="Arial" pitchFamily="34" charset="0"/>
              </a:rPr>
              <a:t> cuando el hilo hijo finaliza) se almacena en la dirección indicada por </a:t>
            </a:r>
            <a:r>
              <a:rPr lang="es-AR" sz="1800" b="1" dirty="0">
                <a:solidFill>
                  <a:srgbClr val="0070C0"/>
                </a:solidFill>
                <a:latin typeface="Courier New" pitchFamily="49" charset="0"/>
                <a:cs typeface="Courier New" pitchFamily="49" charset="0"/>
              </a:rPr>
              <a:t>status</a:t>
            </a:r>
            <a:r>
              <a:rPr lang="es-AR" sz="1600" dirty="0">
                <a:solidFill>
                  <a:schemeClr val="tx1"/>
                </a:solidFill>
                <a:latin typeface="Arial" pitchFamily="34" charset="0"/>
                <a:cs typeface="Arial" pitchFamily="34" charset="0"/>
              </a:rPr>
              <a:t>.</a:t>
            </a:r>
          </a:p>
          <a:p>
            <a:pPr algn="l">
              <a:spcBef>
                <a:spcPts val="600"/>
              </a:spcBef>
            </a:pPr>
            <a:r>
              <a:rPr lang="es-AR" sz="1600" dirty="0">
                <a:solidFill>
                  <a:schemeClr val="tx1"/>
                </a:solidFill>
                <a:latin typeface="Arial" pitchFamily="34" charset="0"/>
                <a:cs typeface="Arial" pitchFamily="34" charset="0"/>
              </a:rPr>
              <a:t> El valor devuelto es o bien el argumento de la función </a:t>
            </a:r>
            <a:r>
              <a:rPr lang="es-AR" sz="1800" b="1" dirty="0" err="1">
                <a:solidFill>
                  <a:schemeClr val="tx1"/>
                </a:solidFill>
                <a:latin typeface="Courier New" pitchFamily="49" charset="0"/>
                <a:cs typeface="Courier New" pitchFamily="49" charset="0"/>
              </a:rPr>
              <a:t>pthread_exit</a:t>
            </a:r>
            <a:r>
              <a:rPr lang="es-AR" sz="1800" b="1" dirty="0">
                <a:solidFill>
                  <a:schemeClr val="tx1"/>
                </a:solidFill>
                <a:latin typeface="Courier New" pitchFamily="49" charset="0"/>
                <a:cs typeface="Courier New" pitchFamily="49" charset="0"/>
              </a:rPr>
              <a:t> </a:t>
            </a:r>
            <a:r>
              <a:rPr lang="es-AR" sz="1600" dirty="0">
                <a:solidFill>
                  <a:schemeClr val="tx1"/>
                </a:solidFill>
                <a:latin typeface="Arial" pitchFamily="34" charset="0"/>
                <a:cs typeface="Arial" pitchFamily="34" charset="0"/>
              </a:rPr>
              <a:t>o el valor </a:t>
            </a:r>
            <a:r>
              <a:rPr lang="es-AR" sz="1800" b="1" dirty="0">
                <a:solidFill>
                  <a:schemeClr val="tx1"/>
                </a:solidFill>
                <a:latin typeface="Courier New" pitchFamily="49" charset="0"/>
                <a:cs typeface="Courier New" pitchFamily="49" charset="0"/>
              </a:rPr>
              <a:t>PTHREAD_CANCELED</a:t>
            </a:r>
            <a:r>
              <a:rPr lang="es-AR" sz="1600" dirty="0">
                <a:solidFill>
                  <a:schemeClr val="tx1"/>
                </a:solidFill>
                <a:latin typeface="Arial" pitchFamily="34" charset="0"/>
                <a:cs typeface="Arial" pitchFamily="34" charset="0"/>
              </a:rPr>
              <a:t> si el hilo </a:t>
            </a:r>
            <a:r>
              <a:rPr lang="es-AR" sz="1800" b="1" dirty="0" err="1">
                <a:solidFill>
                  <a:srgbClr val="C00000"/>
                </a:solidFill>
                <a:latin typeface="Courier New" pitchFamily="49" charset="0"/>
                <a:cs typeface="Courier New" pitchFamily="49" charset="0"/>
              </a:rPr>
              <a:t>tid</a:t>
            </a:r>
            <a:r>
              <a:rPr lang="es-AR" sz="1800" dirty="0">
                <a:solidFill>
                  <a:schemeClr val="tx1"/>
                </a:solidFill>
                <a:latin typeface="Arial" pitchFamily="34" charset="0"/>
                <a:cs typeface="Arial" pitchFamily="34" charset="0"/>
              </a:rPr>
              <a:t> </a:t>
            </a:r>
            <a:r>
              <a:rPr lang="es-AR" sz="1600" dirty="0">
                <a:solidFill>
                  <a:schemeClr val="tx1"/>
                </a:solidFill>
                <a:latin typeface="Arial" pitchFamily="34" charset="0"/>
                <a:cs typeface="Arial" pitchFamily="34" charset="0"/>
              </a:rPr>
              <a:t>está cancelado (o el valor en el </a:t>
            </a:r>
            <a:r>
              <a:rPr lang="es-AR" sz="1600" dirty="0" err="1">
                <a:solidFill>
                  <a:schemeClr val="tx1"/>
                </a:solidFill>
                <a:latin typeface="Arial" pitchFamily="34" charset="0"/>
                <a:cs typeface="Arial" pitchFamily="34" charset="0"/>
              </a:rPr>
              <a:t>return</a:t>
            </a:r>
            <a:r>
              <a:rPr lang="es-AR" sz="1600" dirty="0">
                <a:solidFill>
                  <a:schemeClr val="tx1"/>
                </a:solidFill>
                <a:latin typeface="Arial" pitchFamily="34" charset="0"/>
                <a:cs typeface="Arial" pitchFamily="34" charset="0"/>
              </a:rPr>
              <a:t> de la función)</a:t>
            </a:r>
          </a:p>
          <a:p>
            <a:pPr algn="l">
              <a:spcBef>
                <a:spcPts val="600"/>
              </a:spcBef>
            </a:pPr>
            <a:r>
              <a:rPr lang="es-AR" sz="1600" dirty="0">
                <a:solidFill>
                  <a:schemeClr val="tx1"/>
                </a:solidFill>
                <a:latin typeface="Arial" pitchFamily="34" charset="0"/>
                <a:cs typeface="Arial" pitchFamily="34" charset="0"/>
              </a:rPr>
              <a:t>El hilo por el que se espera su terminación debe estar en estado </a:t>
            </a:r>
            <a:r>
              <a:rPr lang="es-AR" sz="1600" dirty="0" err="1">
                <a:solidFill>
                  <a:schemeClr val="tx1"/>
                </a:solidFill>
                <a:latin typeface="Arial" pitchFamily="34" charset="0"/>
                <a:cs typeface="Arial" pitchFamily="34" charset="0"/>
              </a:rPr>
              <a:t>sincronizable</a:t>
            </a:r>
            <a:r>
              <a:rPr lang="es-AR" sz="1600" dirty="0">
                <a:solidFill>
                  <a:schemeClr val="tx1"/>
                </a:solidFill>
                <a:latin typeface="Arial" pitchFamily="34" charset="0"/>
                <a:cs typeface="Arial" pitchFamily="34" charset="0"/>
              </a:rPr>
              <a:t> (</a:t>
            </a:r>
            <a:r>
              <a:rPr lang="es-AR" sz="1600" i="1" dirty="0" err="1">
                <a:solidFill>
                  <a:schemeClr val="tx1"/>
                </a:solidFill>
                <a:latin typeface="Arial" pitchFamily="34" charset="0"/>
                <a:cs typeface="Arial" pitchFamily="34" charset="0"/>
              </a:rPr>
              <a:t>joinable</a:t>
            </a:r>
            <a:r>
              <a:rPr lang="es-AR" sz="1600" i="1" dirty="0">
                <a:solidFill>
                  <a:schemeClr val="tx1"/>
                </a:solidFill>
                <a:latin typeface="Arial" pitchFamily="34" charset="0"/>
                <a:cs typeface="Arial" pitchFamily="34" charset="0"/>
              </a:rPr>
              <a:t> </a:t>
            </a:r>
            <a:r>
              <a:rPr lang="es-AR" sz="1600" i="1" dirty="0" err="1">
                <a:solidFill>
                  <a:schemeClr val="tx1"/>
                </a:solidFill>
                <a:latin typeface="Arial" pitchFamily="34" charset="0"/>
                <a:cs typeface="Arial" pitchFamily="34" charset="0"/>
              </a:rPr>
              <a:t>state</a:t>
            </a:r>
            <a:r>
              <a:rPr lang="es-AR" sz="1600" dirty="0">
                <a:solidFill>
                  <a:schemeClr val="tx1"/>
                </a:solidFill>
                <a:latin typeface="Arial" pitchFamily="34" charset="0"/>
                <a:cs typeface="Arial" pitchFamily="34" charset="0"/>
              </a:rPr>
              <a:t>)</a:t>
            </a:r>
          </a:p>
          <a:p>
            <a:pPr marL="711200" indent="-174625" algn="l">
              <a:spcBef>
                <a:spcPts val="600"/>
              </a:spcBef>
              <a:buFont typeface="Arial" pitchFamily="34" charset="0"/>
              <a:buChar char="•"/>
            </a:pPr>
            <a:r>
              <a:rPr lang="es-AR" sz="1600" dirty="0">
                <a:solidFill>
                  <a:schemeClr val="tx1"/>
                </a:solidFill>
                <a:latin typeface="Arial" pitchFamily="34" charset="0"/>
                <a:cs typeface="Arial" pitchFamily="34" charset="0"/>
              </a:rPr>
              <a:t>Cuando un hilo en este estado termina, no se liberan sus propios recursos (descriptor del hilo y pila) hasta que otro hilo espere por él</a:t>
            </a:r>
          </a:p>
          <a:p>
            <a:pPr marL="711200" indent="-174625" algn="l">
              <a:spcBef>
                <a:spcPts val="600"/>
              </a:spcBef>
              <a:buFont typeface="Arial" pitchFamily="34" charset="0"/>
              <a:buChar char="•"/>
            </a:pPr>
            <a:r>
              <a:rPr lang="es-ES" sz="1600" dirty="0">
                <a:solidFill>
                  <a:schemeClr val="tx1"/>
                </a:solidFill>
                <a:latin typeface="Arial" pitchFamily="34" charset="0"/>
                <a:cs typeface="Arial" pitchFamily="34" charset="0"/>
              </a:rPr>
              <a:t>La espera por la terminación de un hilo para el cual ya hay otro hilo esperando, genera un error</a:t>
            </a:r>
            <a:endParaRPr lang="es-AR" sz="1600" dirty="0">
              <a:solidFill>
                <a:schemeClr val="tx1"/>
              </a:solidFill>
              <a:latin typeface="Arial" pitchFamily="34" charset="0"/>
              <a:cs typeface="Arial" pitchFamily="34" charset="0"/>
            </a:endParaRP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Espera la ejecución de hilos </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92416"/>
            <a:ext cx="8752115" cy="5724644"/>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Sintaxis:</a:t>
            </a:r>
          </a:p>
          <a:p>
            <a:pPr algn="l">
              <a:spcBef>
                <a:spcPts val="600"/>
              </a:spcBef>
            </a:pP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int</a:t>
            </a: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pthread_cancel</a:t>
            </a:r>
            <a:r>
              <a:rPr lang="en-US" sz="1800" b="1" dirty="0">
                <a:solidFill>
                  <a:schemeClr val="tx1"/>
                </a:solidFill>
                <a:latin typeface="Courier New" pitchFamily="49" charset="0"/>
                <a:cs typeface="Courier New" pitchFamily="49" charset="0"/>
              </a:rPr>
              <a:t>(</a:t>
            </a:r>
            <a:r>
              <a:rPr lang="en-US" sz="1800" b="1" dirty="0" err="1">
                <a:solidFill>
                  <a:schemeClr val="tx1"/>
                </a:solidFill>
                <a:latin typeface="Courier New" pitchFamily="49" charset="0"/>
                <a:cs typeface="Courier New" pitchFamily="49" charset="0"/>
              </a:rPr>
              <a:t>pthread_t</a:t>
            </a:r>
            <a:r>
              <a:rPr lang="en-US" sz="1800" b="1" dirty="0">
                <a:solidFill>
                  <a:schemeClr val="tx1"/>
                </a:solidFill>
                <a:latin typeface="Courier New" pitchFamily="49" charset="0"/>
                <a:cs typeface="Courier New" pitchFamily="49" charset="0"/>
              </a:rPr>
              <a:t> </a:t>
            </a:r>
            <a:r>
              <a:rPr lang="en-US" sz="1800" b="1" dirty="0" err="1">
                <a:solidFill>
                  <a:srgbClr val="C00000"/>
                </a:solidFill>
                <a:latin typeface="Courier New" pitchFamily="49" charset="0"/>
                <a:cs typeface="Courier New" pitchFamily="49" charset="0"/>
              </a:rPr>
              <a:t>tid</a:t>
            </a:r>
            <a:r>
              <a:rPr lang="en-US" sz="1800" b="1" dirty="0">
                <a:solidFill>
                  <a:schemeClr val="tx1"/>
                </a:solidFill>
                <a:latin typeface="Courier New" pitchFamily="49" charset="0"/>
                <a:cs typeface="Courier New" pitchFamily="49" charset="0"/>
              </a:rPr>
              <a:t>);</a:t>
            </a:r>
            <a:endParaRPr lang="es-AR" sz="1800" b="1" dirty="0">
              <a:solidFill>
                <a:schemeClr val="tx1"/>
              </a:solidFill>
              <a:latin typeface="Courier New" pitchFamily="49" charset="0"/>
              <a:cs typeface="Courier New" pitchFamily="49" charset="0"/>
            </a:endParaRPr>
          </a:p>
          <a:p>
            <a:pPr algn="l">
              <a:spcBef>
                <a:spcPts val="600"/>
              </a:spcBef>
            </a:pPr>
            <a:r>
              <a:rPr lang="es-AR" sz="1600" dirty="0">
                <a:solidFill>
                  <a:schemeClr val="tx1"/>
                </a:solidFill>
                <a:latin typeface="Arial" pitchFamily="34" charset="0"/>
                <a:cs typeface="Arial" pitchFamily="34" charset="0"/>
              </a:rPr>
              <a:t>Descripción </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La cancelación es el mecanismo por el cual un hilo puede solicitar la terminación de la ejecución de otro </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Dependiendo de la configuración del hilo al que se solicita su cancelación, puede aceptar peticiones de cancelación (</a:t>
            </a:r>
            <a:r>
              <a:rPr lang="es-AR" sz="1800" b="1" dirty="0">
                <a:solidFill>
                  <a:schemeClr val="tx1"/>
                </a:solidFill>
                <a:latin typeface="Courier New" pitchFamily="49" charset="0"/>
                <a:cs typeface="Courier New" pitchFamily="49" charset="0"/>
              </a:rPr>
              <a:t>PTHREAD_CANCEL_ENABLE</a:t>
            </a:r>
            <a:r>
              <a:rPr lang="es-AR" sz="1600" dirty="0">
                <a:solidFill>
                  <a:schemeClr val="tx1"/>
                </a:solidFill>
                <a:latin typeface="Arial" pitchFamily="34" charset="0"/>
                <a:cs typeface="Arial" pitchFamily="34" charset="0"/>
              </a:rPr>
              <a:t>, estado por defecto) o rechazarlas (</a:t>
            </a:r>
            <a:r>
              <a:rPr lang="es-AR" sz="1800" b="1" dirty="0">
                <a:solidFill>
                  <a:schemeClr val="tx1"/>
                </a:solidFill>
                <a:latin typeface="Courier New" pitchFamily="49" charset="0"/>
                <a:cs typeface="Courier New" pitchFamily="49" charset="0"/>
              </a:rPr>
              <a:t>PTHREAD_CANCEL_DISABLE</a:t>
            </a:r>
            <a:r>
              <a:rPr lang="es-AR" sz="1600" dirty="0">
                <a:solidFill>
                  <a:schemeClr val="tx1"/>
                </a:solidFill>
                <a:latin typeface="Arial" pitchFamily="34" charset="0"/>
                <a:cs typeface="Arial" pitchFamily="34" charset="0"/>
              </a:rPr>
              <a:t>) </a:t>
            </a:r>
          </a:p>
          <a:p>
            <a:pPr marL="261938" indent="-261938" algn="l">
              <a:spcBef>
                <a:spcPts val="600"/>
              </a:spcBef>
            </a:pPr>
            <a:r>
              <a:rPr lang="es-AR" sz="1600" dirty="0">
                <a:solidFill>
                  <a:schemeClr val="tx1"/>
                </a:solidFill>
                <a:latin typeface="Arial" pitchFamily="34" charset="0"/>
                <a:cs typeface="Arial" pitchFamily="34" charset="0"/>
              </a:rPr>
              <a:t>Ej. cambio atributo: </a:t>
            </a:r>
            <a:r>
              <a:rPr lang="es-AR" sz="1600" dirty="0" err="1">
                <a:solidFill>
                  <a:schemeClr val="tx1"/>
                </a:solidFill>
                <a:latin typeface="Courier New" pitchFamily="49" charset="0"/>
                <a:cs typeface="Courier New" pitchFamily="49" charset="0"/>
              </a:rPr>
              <a:t>pthread_setcancelstate</a:t>
            </a:r>
            <a:r>
              <a:rPr lang="es-AR" sz="1600" dirty="0">
                <a:solidFill>
                  <a:schemeClr val="tx1"/>
                </a:solidFill>
                <a:latin typeface="Courier New" pitchFamily="49" charset="0"/>
                <a:cs typeface="Courier New" pitchFamily="49" charset="0"/>
              </a:rPr>
              <a:t>(PTHREAD_CANCEL_ENABLE, NULL);</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En caso de aceptar peticiones de cancelación, un hilo puede completar la cancelación de dos formas diferentes:</a:t>
            </a:r>
          </a:p>
          <a:p>
            <a:pPr marL="987425" indent="-174625" algn="l" defTabSz="987425">
              <a:spcBef>
                <a:spcPts val="600"/>
              </a:spcBef>
              <a:buFont typeface="Arial" pitchFamily="34" charset="0"/>
              <a:buChar char="•"/>
              <a:tabLst>
                <a:tab pos="1074738" algn="l"/>
              </a:tabLst>
            </a:pPr>
            <a:r>
              <a:rPr lang="es-AR" sz="1600" dirty="0">
                <a:solidFill>
                  <a:schemeClr val="tx1"/>
                </a:solidFill>
                <a:latin typeface="Arial" pitchFamily="34" charset="0"/>
                <a:cs typeface="Arial" pitchFamily="34" charset="0"/>
              </a:rPr>
              <a:t>De forma asíncrona (</a:t>
            </a:r>
            <a:r>
              <a:rPr lang="es-AR" sz="1800" b="1" dirty="0">
                <a:solidFill>
                  <a:schemeClr val="tx1"/>
                </a:solidFill>
                <a:latin typeface="Courier New" pitchFamily="49" charset="0"/>
                <a:cs typeface="Courier New" pitchFamily="49" charset="0"/>
              </a:rPr>
              <a:t>PTHREAD_CANCEL_ASYNCHRONOUS</a:t>
            </a:r>
            <a:r>
              <a:rPr lang="es-AR" sz="1600" dirty="0">
                <a:solidFill>
                  <a:schemeClr val="tx1"/>
                </a:solidFill>
                <a:latin typeface="Arial" pitchFamily="34" charset="0"/>
                <a:cs typeface="Arial" pitchFamily="34" charset="0"/>
              </a:rPr>
              <a:t>),: Se cancela inmediatamente o</a:t>
            </a:r>
          </a:p>
          <a:p>
            <a:pPr marL="987425" indent="-174625" algn="l" defTabSz="987425">
              <a:spcBef>
                <a:spcPts val="600"/>
              </a:spcBef>
              <a:buFont typeface="Arial" pitchFamily="34" charset="0"/>
              <a:buChar char="•"/>
              <a:tabLst>
                <a:tab pos="1074738" algn="l"/>
              </a:tabLst>
            </a:pPr>
            <a:r>
              <a:rPr lang="es-AR" sz="1600" dirty="0">
                <a:solidFill>
                  <a:schemeClr val="tx1"/>
                </a:solidFill>
                <a:latin typeface="Arial" pitchFamily="34" charset="0"/>
                <a:cs typeface="Arial" pitchFamily="34" charset="0"/>
              </a:rPr>
              <a:t>De forma diferida (</a:t>
            </a:r>
            <a:r>
              <a:rPr lang="es-AR" sz="1800" b="1" dirty="0">
                <a:solidFill>
                  <a:schemeClr val="tx1"/>
                </a:solidFill>
                <a:latin typeface="Courier New" pitchFamily="49" charset="0"/>
                <a:cs typeface="Courier New" pitchFamily="49" charset="0"/>
              </a:rPr>
              <a:t>PTHREAD_CANCEL_DEFERRED</a:t>
            </a:r>
            <a:r>
              <a:rPr lang="es-AR" sz="1600" dirty="0">
                <a:solidFill>
                  <a:schemeClr val="tx1"/>
                </a:solidFill>
                <a:latin typeface="Arial" pitchFamily="34" charset="0"/>
                <a:cs typeface="Arial" pitchFamily="34" charset="0"/>
              </a:rPr>
              <a:t>, valor por defecto) hasta que se alcance un punto de cancelación.</a:t>
            </a:r>
          </a:p>
          <a:p>
            <a:pPr marL="1262063" indent="-101600" algn="l">
              <a:spcBef>
                <a:spcPts val="600"/>
              </a:spcBef>
              <a:buFont typeface="Arial" pitchFamily="34" charset="0"/>
              <a:buChar char="•"/>
            </a:pPr>
            <a:r>
              <a:rPr lang="es-AR" sz="1600" dirty="0">
                <a:solidFill>
                  <a:schemeClr val="tx1"/>
                </a:solidFill>
                <a:latin typeface="Arial" pitchFamily="34" charset="0"/>
                <a:cs typeface="Arial" pitchFamily="34" charset="0"/>
              </a:rPr>
              <a:t>Un punto de cancelación (</a:t>
            </a:r>
            <a:r>
              <a:rPr lang="es-AR" sz="1600" i="1" dirty="0" err="1">
                <a:solidFill>
                  <a:schemeClr val="tx1"/>
                </a:solidFill>
                <a:latin typeface="Arial" pitchFamily="34" charset="0"/>
                <a:cs typeface="Arial" pitchFamily="34" charset="0"/>
              </a:rPr>
              <a:t>cancelation</a:t>
            </a:r>
            <a:r>
              <a:rPr lang="es-AR" sz="1600" i="1" dirty="0">
                <a:solidFill>
                  <a:schemeClr val="tx1"/>
                </a:solidFill>
                <a:latin typeface="Arial" pitchFamily="34" charset="0"/>
                <a:cs typeface="Arial" pitchFamily="34" charset="0"/>
              </a:rPr>
              <a:t> </a:t>
            </a:r>
            <a:r>
              <a:rPr lang="es-AR" sz="1600" i="1" dirty="0" err="1">
                <a:solidFill>
                  <a:schemeClr val="tx1"/>
                </a:solidFill>
                <a:latin typeface="Arial" pitchFamily="34" charset="0"/>
                <a:cs typeface="Arial" pitchFamily="34" charset="0"/>
              </a:rPr>
              <a:t>point</a:t>
            </a:r>
            <a:r>
              <a:rPr lang="es-AR" sz="1600" dirty="0">
                <a:solidFill>
                  <a:schemeClr val="tx1"/>
                </a:solidFill>
                <a:latin typeface="Arial" pitchFamily="34" charset="0"/>
                <a:cs typeface="Arial" pitchFamily="34" charset="0"/>
              </a:rPr>
              <a:t>) es un punto en el flujo de control de un hilo en el que se comprueba si hay solicitudes de cancelación pendientes.</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Cuando un hilo acepta una petición de cancelación, el hilo actúa como si se hubiese realizado la siguiente invocación </a:t>
            </a:r>
            <a:r>
              <a:rPr lang="es-AR" sz="1800" b="1" dirty="0" err="1">
                <a:solidFill>
                  <a:schemeClr val="tx1"/>
                </a:solidFill>
                <a:latin typeface="Courier New" pitchFamily="49" charset="0"/>
                <a:cs typeface="Courier New" pitchFamily="49" charset="0"/>
              </a:rPr>
              <a:t>pthread_exit</a:t>
            </a:r>
            <a:r>
              <a:rPr lang="es-AR" sz="1800" b="1" dirty="0">
                <a:solidFill>
                  <a:schemeClr val="tx1"/>
                </a:solidFill>
                <a:latin typeface="Courier New" pitchFamily="49" charset="0"/>
                <a:cs typeface="Courier New" pitchFamily="49" charset="0"/>
              </a:rPr>
              <a:t>(PTHREAD_CANCELED</a:t>
            </a:r>
            <a:r>
              <a:rPr lang="es-AR" sz="1600" dirty="0">
                <a:solidFill>
                  <a:schemeClr val="tx1"/>
                </a:solidFill>
                <a:latin typeface="Arial" pitchFamily="34" charset="0"/>
                <a:cs typeface="Arial" pitchFamily="34" charset="0"/>
              </a:rPr>
              <a:t>)</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Cancelación de hilos </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
        <p:nvSpPr>
          <p:cNvPr id="7" name="6 Rectángulo"/>
          <p:cNvSpPr/>
          <p:nvPr/>
        </p:nvSpPr>
        <p:spPr>
          <a:xfrm>
            <a:off x="9442938" y="1055476"/>
            <a:ext cx="2453500" cy="4832092"/>
          </a:xfrm>
          <a:prstGeom prst="rect">
            <a:avLst/>
          </a:prstGeom>
          <a:solidFill>
            <a:schemeClr val="bg1"/>
          </a:solidFill>
        </p:spPr>
        <p:txBody>
          <a:bodyPr wrap="square">
            <a:spAutoFit/>
          </a:bodyPr>
          <a:lstStyle/>
          <a:p>
            <a:pPr algn="just"/>
            <a:r>
              <a:rPr lang="es-AR" sz="1400" dirty="0">
                <a:solidFill>
                  <a:schemeClr val="tx1"/>
                </a:solidFill>
                <a:latin typeface="Arial" pitchFamily="34" charset="0"/>
                <a:cs typeface="Arial" pitchFamily="34" charset="0"/>
              </a:rPr>
              <a:t>La cancelación asíncrona de subprocesos solo se puede </a:t>
            </a:r>
            <a:r>
              <a:rPr lang="es-AR" sz="1400" dirty="0">
                <a:noFill/>
                <a:latin typeface="Arial" pitchFamily="34" charset="0"/>
                <a:cs typeface="Arial" pitchFamily="34" charset="0"/>
              </a:rPr>
              <a:t>usar</a:t>
            </a:r>
            <a:r>
              <a:rPr lang="es-AR" sz="1400" dirty="0">
                <a:solidFill>
                  <a:schemeClr val="tx1"/>
                </a:solidFill>
                <a:latin typeface="Arial" pitchFamily="34" charset="0"/>
                <a:cs typeface="Arial" pitchFamily="34" charset="0"/>
              </a:rPr>
              <a:t> de forma segura en subprocesos que realizan un conjunto muy restringido de operaciones; las reglas oficiales son largas y confusas, pero </a:t>
            </a:r>
            <a:r>
              <a:rPr lang="es-AR" sz="1400" i="1" dirty="0">
                <a:solidFill>
                  <a:schemeClr val="tx1"/>
                </a:solidFill>
                <a:latin typeface="Arial" pitchFamily="34" charset="0"/>
                <a:cs typeface="Arial" pitchFamily="34" charset="0"/>
              </a:rPr>
              <a:t>en efecto, los</a:t>
            </a:r>
            <a:r>
              <a:rPr lang="es-AR" sz="1400" dirty="0">
                <a:solidFill>
                  <a:schemeClr val="tx1"/>
                </a:solidFill>
                <a:latin typeface="Arial" pitchFamily="34" charset="0"/>
                <a:cs typeface="Arial" pitchFamily="34" charset="0"/>
              </a:rPr>
              <a:t> subprocesos sujetos </a:t>
            </a:r>
            <a:r>
              <a:rPr lang="es-AR" sz="1400">
                <a:solidFill>
                  <a:schemeClr val="tx1"/>
                </a:solidFill>
                <a:latin typeface="Arial" pitchFamily="34" charset="0"/>
                <a:cs typeface="Arial" pitchFamily="34" charset="0"/>
              </a:rPr>
              <a:t>a cancelaciones </a:t>
            </a:r>
            <a:r>
              <a:rPr lang="es-AR" sz="1400" dirty="0">
                <a:solidFill>
                  <a:schemeClr val="tx1"/>
                </a:solidFill>
                <a:latin typeface="Arial" pitchFamily="34" charset="0"/>
                <a:cs typeface="Arial" pitchFamily="34" charset="0"/>
              </a:rPr>
              <a:t>asíncronas solo pueden realizar cálculos puros. </a:t>
            </a:r>
          </a:p>
          <a:p>
            <a:pPr algn="just"/>
            <a:r>
              <a:rPr lang="es-AR" sz="1400" dirty="0">
                <a:solidFill>
                  <a:schemeClr val="tx1"/>
                </a:solidFill>
                <a:latin typeface="Arial" pitchFamily="34" charset="0"/>
                <a:cs typeface="Arial" pitchFamily="34" charset="0"/>
              </a:rPr>
              <a:t>No pueden hacer E / S, no pueden asignar memoria, no pueden realizar bloqueos de ningún tipo y no </a:t>
            </a:r>
            <a:r>
              <a:rPr lang="es-AR" sz="1400" i="1" dirty="0">
                <a:solidFill>
                  <a:schemeClr val="tx1"/>
                </a:solidFill>
                <a:latin typeface="Arial" pitchFamily="34" charset="0"/>
                <a:cs typeface="Arial" pitchFamily="34" charset="0"/>
              </a:rPr>
              <a:t>pueden llamar a ninguna función de biblioteca que</a:t>
            </a:r>
            <a:r>
              <a:rPr lang="es-AR" sz="1400" dirty="0">
                <a:solidFill>
                  <a:schemeClr val="tx1"/>
                </a:solidFill>
                <a:latin typeface="Arial" pitchFamily="34" charset="0"/>
                <a:cs typeface="Arial" pitchFamily="34" charset="0"/>
              </a:rPr>
              <a:t> pueda </a:t>
            </a:r>
            <a:r>
              <a:rPr lang="es-AR" sz="1400" i="1" dirty="0">
                <a:solidFill>
                  <a:schemeClr val="tx1"/>
                </a:solidFill>
                <a:latin typeface="Arial" pitchFamily="34" charset="0"/>
                <a:cs typeface="Arial" pitchFamily="34" charset="0"/>
              </a:rPr>
              <a:t>hacer cualquiera de las anteriores. </a:t>
            </a:r>
            <a:r>
              <a:rPr lang="es-AR" sz="1400" dirty="0">
                <a:solidFill>
                  <a:schemeClr val="tx1"/>
                </a:solidFill>
                <a:latin typeface="Arial" pitchFamily="34" charset="0"/>
                <a:cs typeface="Arial" pitchFamily="34" charset="0"/>
              </a:rPr>
              <a:t> que sea seguro aplicar una cancelación asíncrona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9" name="8 CuadroTexto"/>
          <p:cNvSpPr txBox="1"/>
          <p:nvPr/>
        </p:nvSpPr>
        <p:spPr>
          <a:xfrm>
            <a:off x="217714" y="992416"/>
            <a:ext cx="8752115" cy="5109091"/>
          </a:xfrm>
          <a:prstGeom prst="rect">
            <a:avLst/>
          </a:prstGeom>
          <a:noFill/>
        </p:spPr>
        <p:txBody>
          <a:bodyPr wrap="square" rtlCol="0">
            <a:spAutoFit/>
          </a:bodyPr>
          <a:lstStyle/>
          <a:p>
            <a:pPr algn="l">
              <a:spcBef>
                <a:spcPts val="600"/>
              </a:spcBef>
            </a:pPr>
            <a:r>
              <a:rPr lang="es-AR" sz="1600" dirty="0">
                <a:solidFill>
                  <a:schemeClr val="tx1"/>
                </a:solidFill>
                <a:latin typeface="Arial" pitchFamily="34" charset="0"/>
                <a:cs typeface="Arial" pitchFamily="34" charset="0"/>
              </a:rPr>
              <a:t>A veces es necesario obtener que </a:t>
            </a:r>
            <a:r>
              <a:rPr lang="es-AR" sz="1600" dirty="0" err="1">
                <a:solidFill>
                  <a:schemeClr val="tx1"/>
                </a:solidFill>
                <a:latin typeface="Arial" pitchFamily="34" charset="0"/>
                <a:cs typeface="Arial" pitchFamily="34" charset="0"/>
              </a:rPr>
              <a:t>thread</a:t>
            </a:r>
            <a:r>
              <a:rPr lang="es-AR" sz="1600" dirty="0">
                <a:solidFill>
                  <a:schemeClr val="tx1"/>
                </a:solidFill>
                <a:latin typeface="Arial" pitchFamily="34" charset="0"/>
                <a:cs typeface="Arial" pitchFamily="34" charset="0"/>
              </a:rPr>
              <a:t> está ejecutando cierta parte de un código.</a:t>
            </a: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r>
              <a:rPr lang="es-AR" sz="1600" dirty="0">
                <a:solidFill>
                  <a:schemeClr val="tx1"/>
                </a:solidFill>
                <a:latin typeface="Arial" pitchFamily="34" charset="0"/>
                <a:cs typeface="Arial" pitchFamily="34" charset="0"/>
              </a:rPr>
              <a:t>Sintaxis:</a:t>
            </a:r>
          </a:p>
          <a:p>
            <a:pPr algn="l">
              <a:spcBef>
                <a:spcPts val="600"/>
              </a:spcBef>
            </a:pP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pthread_t</a:t>
            </a: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pthread_self</a:t>
            </a:r>
            <a:r>
              <a:rPr lang="en-US" sz="1800" b="1" dirty="0">
                <a:solidFill>
                  <a:schemeClr val="tx1"/>
                </a:solidFill>
                <a:latin typeface="Courier New" pitchFamily="49" charset="0"/>
                <a:cs typeface="Courier New" pitchFamily="49" charset="0"/>
              </a:rPr>
              <a:t>(void);</a:t>
            </a:r>
          </a:p>
          <a:p>
            <a:pPr algn="l">
              <a:spcBef>
                <a:spcPts val="600"/>
              </a:spcBef>
            </a:pP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int</a:t>
            </a: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pthread_equal</a:t>
            </a:r>
            <a:r>
              <a:rPr lang="en-US" sz="1800" b="1" dirty="0">
                <a:solidFill>
                  <a:schemeClr val="tx1"/>
                </a:solidFill>
                <a:latin typeface="Courier New" pitchFamily="49" charset="0"/>
                <a:cs typeface="Courier New" pitchFamily="49" charset="0"/>
              </a:rPr>
              <a:t>(</a:t>
            </a:r>
            <a:r>
              <a:rPr lang="en-US" sz="1800" b="1" dirty="0" err="1">
                <a:solidFill>
                  <a:schemeClr val="tx1"/>
                </a:solidFill>
                <a:latin typeface="Courier New" pitchFamily="49" charset="0"/>
                <a:cs typeface="Courier New" pitchFamily="49" charset="0"/>
              </a:rPr>
              <a:t>pthread_t</a:t>
            </a:r>
            <a:r>
              <a:rPr lang="en-US" sz="1800" b="1" dirty="0">
                <a:solidFill>
                  <a:schemeClr val="tx1"/>
                </a:solidFill>
                <a:latin typeface="Courier New" pitchFamily="49" charset="0"/>
                <a:cs typeface="Courier New" pitchFamily="49" charset="0"/>
              </a:rPr>
              <a:t> </a:t>
            </a:r>
            <a:r>
              <a:rPr lang="en-US" sz="1800" b="1" dirty="0">
                <a:solidFill>
                  <a:srgbClr val="C00000"/>
                </a:solidFill>
                <a:latin typeface="Courier New" pitchFamily="49" charset="0"/>
                <a:cs typeface="Courier New" pitchFamily="49" charset="0"/>
              </a:rPr>
              <a:t>tid1</a:t>
            </a:r>
            <a:r>
              <a:rPr lang="en-US" sz="1800" b="1" dirty="0">
                <a:solidFill>
                  <a:schemeClr val="tx1"/>
                </a:solidFill>
                <a:latin typeface="Courier New" pitchFamily="49" charset="0"/>
                <a:cs typeface="Courier New" pitchFamily="49" charset="0"/>
              </a:rPr>
              <a:t>, </a:t>
            </a:r>
            <a:r>
              <a:rPr lang="en-US" sz="1800" b="1" dirty="0" err="1">
                <a:solidFill>
                  <a:schemeClr val="tx1"/>
                </a:solidFill>
                <a:latin typeface="Courier New" pitchFamily="49" charset="0"/>
                <a:cs typeface="Courier New" pitchFamily="49" charset="0"/>
              </a:rPr>
              <a:t>pthread_t</a:t>
            </a:r>
            <a:r>
              <a:rPr lang="en-US" sz="1800" b="1" dirty="0">
                <a:solidFill>
                  <a:schemeClr val="tx1"/>
                </a:solidFill>
                <a:latin typeface="Courier New" pitchFamily="49" charset="0"/>
                <a:cs typeface="Courier New" pitchFamily="49" charset="0"/>
              </a:rPr>
              <a:t> </a:t>
            </a:r>
            <a:r>
              <a:rPr lang="en-US" sz="1800" b="1" dirty="0">
                <a:solidFill>
                  <a:srgbClr val="0070C0"/>
                </a:solidFill>
                <a:latin typeface="Courier New" pitchFamily="49" charset="0"/>
                <a:cs typeface="Courier New" pitchFamily="49" charset="0"/>
              </a:rPr>
              <a:t>tid2</a:t>
            </a:r>
            <a:r>
              <a:rPr lang="en-US" sz="1800" b="1" dirty="0">
                <a:solidFill>
                  <a:schemeClr val="tx1"/>
                </a:solidFill>
                <a:latin typeface="Courier New" pitchFamily="49" charset="0"/>
                <a:cs typeface="Courier New" pitchFamily="49" charset="0"/>
              </a:rPr>
              <a:t>);</a:t>
            </a:r>
          </a:p>
          <a:p>
            <a:pPr algn="l">
              <a:spcBef>
                <a:spcPts val="600"/>
              </a:spcBef>
            </a:pPr>
            <a:endParaRPr lang="en-US" sz="1800" b="1" dirty="0">
              <a:solidFill>
                <a:schemeClr val="tx1"/>
              </a:solidFill>
              <a:latin typeface="Courier New" pitchFamily="49" charset="0"/>
              <a:cs typeface="Courier New" pitchFamily="49" charset="0"/>
            </a:endParaRPr>
          </a:p>
          <a:p>
            <a:pPr algn="l">
              <a:spcBef>
                <a:spcPts val="600"/>
              </a:spcBef>
            </a:pPr>
            <a:r>
              <a:rPr lang="es-AR" sz="1600" dirty="0">
                <a:solidFill>
                  <a:schemeClr val="tx1"/>
                </a:solidFill>
                <a:latin typeface="Arial" pitchFamily="34" charset="0"/>
                <a:cs typeface="Arial" pitchFamily="34" charset="0"/>
              </a:rPr>
              <a:t>Descripción </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 La función </a:t>
            </a:r>
            <a:r>
              <a:rPr lang="es-AR" sz="1800" b="1" dirty="0" err="1">
                <a:solidFill>
                  <a:schemeClr val="tx1"/>
                </a:solidFill>
                <a:latin typeface="Courier New" pitchFamily="49" charset="0"/>
                <a:cs typeface="Courier New" pitchFamily="49" charset="0"/>
              </a:rPr>
              <a:t>pthread_self</a:t>
            </a:r>
            <a:r>
              <a:rPr lang="es-AR" sz="1600" dirty="0">
                <a:solidFill>
                  <a:schemeClr val="tx1"/>
                </a:solidFill>
                <a:latin typeface="Arial" pitchFamily="34" charset="0"/>
                <a:cs typeface="Arial" pitchFamily="34" charset="0"/>
              </a:rPr>
              <a:t> devuelve el identificador de hilo (</a:t>
            </a:r>
            <a:r>
              <a:rPr lang="es-AR" sz="1600" dirty="0" err="1">
                <a:solidFill>
                  <a:schemeClr val="tx1"/>
                </a:solidFill>
                <a:latin typeface="Arial" pitchFamily="34" charset="0"/>
                <a:cs typeface="Arial" pitchFamily="34" charset="0"/>
              </a:rPr>
              <a:t>tid</a:t>
            </a:r>
            <a:r>
              <a:rPr lang="es-AR" sz="1600" dirty="0">
                <a:solidFill>
                  <a:schemeClr val="tx1"/>
                </a:solidFill>
                <a:latin typeface="Arial" pitchFamily="34" charset="0"/>
                <a:cs typeface="Arial" pitchFamily="34" charset="0"/>
              </a:rPr>
              <a:t>, </a:t>
            </a:r>
            <a:r>
              <a:rPr lang="es-AR" sz="1600" i="1" dirty="0" err="1">
                <a:solidFill>
                  <a:schemeClr val="tx1"/>
                </a:solidFill>
                <a:latin typeface="Arial" pitchFamily="34" charset="0"/>
                <a:cs typeface="Arial" pitchFamily="34" charset="0"/>
              </a:rPr>
              <a:t>thread</a:t>
            </a:r>
            <a:r>
              <a:rPr lang="es-AR" sz="1600" i="1" dirty="0">
                <a:solidFill>
                  <a:schemeClr val="tx1"/>
                </a:solidFill>
                <a:latin typeface="Arial" pitchFamily="34" charset="0"/>
                <a:cs typeface="Arial" pitchFamily="34" charset="0"/>
              </a:rPr>
              <a:t> </a:t>
            </a:r>
            <a:r>
              <a:rPr lang="es-AR" sz="1600" i="1" dirty="0" err="1">
                <a:solidFill>
                  <a:schemeClr val="tx1"/>
                </a:solidFill>
                <a:latin typeface="Arial" pitchFamily="34" charset="0"/>
                <a:cs typeface="Arial" pitchFamily="34" charset="0"/>
              </a:rPr>
              <a:t>identifier</a:t>
            </a:r>
            <a:r>
              <a:rPr lang="es-AR" sz="1600" dirty="0">
                <a:solidFill>
                  <a:schemeClr val="tx1"/>
                </a:solidFill>
                <a:latin typeface="Arial" pitchFamily="34" charset="0"/>
                <a:cs typeface="Arial" pitchFamily="34" charset="0"/>
              </a:rPr>
              <a:t>) del hilo que la invoca</a:t>
            </a:r>
          </a:p>
          <a:p>
            <a:pPr marL="261938" indent="-261938" algn="l">
              <a:spcBef>
                <a:spcPts val="600"/>
              </a:spcBef>
              <a:buFont typeface="Arial" pitchFamily="34" charset="0"/>
              <a:buChar char="•"/>
            </a:pPr>
            <a:r>
              <a:rPr lang="es-AR" sz="1600" dirty="0">
                <a:solidFill>
                  <a:schemeClr val="tx1"/>
                </a:solidFill>
                <a:latin typeface="Arial" pitchFamily="34" charset="0"/>
                <a:cs typeface="Arial" pitchFamily="34" charset="0"/>
              </a:rPr>
              <a:t> Para comparar diferentes identificadores de hilo debe utilizarse la función </a:t>
            </a:r>
            <a:r>
              <a:rPr lang="es-AR" sz="1800" b="1" dirty="0" err="1">
                <a:solidFill>
                  <a:schemeClr val="tx1"/>
                </a:solidFill>
                <a:latin typeface="Courier New" pitchFamily="49" charset="0"/>
                <a:cs typeface="Courier New" pitchFamily="49" charset="0"/>
              </a:rPr>
              <a:t>pthread_equal</a:t>
            </a:r>
            <a:r>
              <a:rPr lang="es-AR" sz="1600" dirty="0">
                <a:solidFill>
                  <a:schemeClr val="tx1"/>
                </a:solidFill>
                <a:latin typeface="Arial" pitchFamily="34" charset="0"/>
                <a:cs typeface="Arial" pitchFamily="34" charset="0"/>
              </a:rPr>
              <a:t> que:</a:t>
            </a:r>
          </a:p>
          <a:p>
            <a:pPr marL="987425" indent="-276225" algn="l">
              <a:spcBef>
                <a:spcPts val="600"/>
              </a:spcBef>
              <a:buFont typeface="Arial" pitchFamily="34" charset="0"/>
              <a:buChar char="•"/>
            </a:pPr>
            <a:r>
              <a:rPr lang="es-AR" sz="1600" dirty="0">
                <a:solidFill>
                  <a:schemeClr val="tx1"/>
                </a:solidFill>
                <a:latin typeface="Arial" pitchFamily="34" charset="0"/>
                <a:cs typeface="Arial" pitchFamily="34" charset="0"/>
              </a:rPr>
              <a:t> Devuelve 0 si los identificares no son iguales</a:t>
            </a:r>
          </a:p>
          <a:p>
            <a:pPr marL="987425" indent="-276225" algn="l">
              <a:spcBef>
                <a:spcPts val="600"/>
              </a:spcBef>
              <a:buFont typeface="Arial" pitchFamily="34" charset="0"/>
              <a:buChar char="•"/>
            </a:pPr>
            <a:r>
              <a:rPr lang="es-AR" sz="1600" dirty="0">
                <a:solidFill>
                  <a:schemeClr val="tx1"/>
                </a:solidFill>
                <a:latin typeface="Arial" pitchFamily="34" charset="0"/>
                <a:cs typeface="Arial" pitchFamily="34" charset="0"/>
              </a:rPr>
              <a:t> Otro valor si los identificadores sí son iguales)</a:t>
            </a:r>
          </a:p>
          <a:p>
            <a:pPr algn="l">
              <a:spcBef>
                <a:spcPts val="600"/>
              </a:spcBef>
            </a:pPr>
            <a:endParaRPr lang="es-AR" sz="1600" dirty="0">
              <a:solidFill>
                <a:schemeClr val="tx1"/>
              </a:solidFill>
              <a:latin typeface="Arial" pitchFamily="34" charset="0"/>
              <a:cs typeface="Arial" pitchFamily="34" charset="0"/>
            </a:endParaRPr>
          </a:p>
          <a:p>
            <a:pPr algn="l">
              <a:spcBef>
                <a:spcPts val="600"/>
              </a:spcBef>
            </a:pPr>
            <a:r>
              <a:rPr lang="es-AR" sz="1600" dirty="0">
                <a:solidFill>
                  <a:schemeClr val="tx1"/>
                </a:solidFill>
                <a:latin typeface="Arial" pitchFamily="34" charset="0"/>
                <a:cs typeface="Arial" pitchFamily="34" charset="0"/>
              </a:rPr>
              <a:t>Con estas funciones se puede por ejemplo controlar de antemano la posibilidad de hacer un </a:t>
            </a:r>
            <a:r>
              <a:rPr lang="es-AR" sz="1600" dirty="0" err="1">
                <a:solidFill>
                  <a:schemeClr val="tx1"/>
                </a:solidFill>
                <a:latin typeface="Arial" pitchFamily="34" charset="0"/>
                <a:cs typeface="Arial" pitchFamily="34" charset="0"/>
              </a:rPr>
              <a:t>pthread_join</a:t>
            </a:r>
            <a:r>
              <a:rPr lang="es-AR" sz="1600" dirty="0">
                <a:solidFill>
                  <a:schemeClr val="tx1"/>
                </a:solidFill>
                <a:latin typeface="Arial" pitchFamily="34" charset="0"/>
                <a:cs typeface="Arial" pitchFamily="34" charset="0"/>
              </a:rPr>
              <a:t> sobre uno mismo.</a:t>
            </a:r>
          </a:p>
        </p:txBody>
      </p:sp>
      <p:sp>
        <p:nvSpPr>
          <p:cNvPr id="10" name="1 Título"/>
          <p:cNvSpPr txBox="1">
            <a:spLocks/>
          </p:cNvSpPr>
          <p:nvPr/>
        </p:nvSpPr>
        <p:spPr>
          <a:xfrm>
            <a:off x="457200" y="274638"/>
            <a:ext cx="8229600" cy="833726"/>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Identificación de hilos </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0" name="1 Título"/>
          <p:cNvSpPr txBox="1">
            <a:spLocks/>
          </p:cNvSpPr>
          <p:nvPr/>
        </p:nvSpPr>
        <p:spPr>
          <a:xfrm>
            <a:off x="0" y="0"/>
            <a:ext cx="8229600" cy="83372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Ejemplo 1  -   </a:t>
            </a:r>
            <a:r>
              <a:rPr lang="es-AR" sz="2000" noProof="0" dirty="0">
                <a:solidFill>
                  <a:srgbClr val="7030A0"/>
                </a:solidFill>
                <a:latin typeface="+mj-lt"/>
                <a:ea typeface="+mj-ea"/>
                <a:cs typeface="+mj-cs"/>
              </a:rPr>
              <a:t>creación de hilos</a:t>
            </a:r>
            <a:endParaRPr kumimoji="0" lang="es-AR" sz="3400" b="0" i="1" u="none" strike="noStrike" kern="1200" cap="none" spc="0" normalizeH="0" baseline="0" noProof="0" dirty="0">
              <a:ln>
                <a:noFill/>
              </a:ln>
              <a:solidFill>
                <a:srgbClr val="7030A0"/>
              </a:solidFill>
              <a:effectLst/>
              <a:uLnTx/>
              <a:uFillTx/>
              <a:latin typeface="+mn-lt"/>
              <a:ea typeface="+mj-ea"/>
              <a:cs typeface="Arial"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522511" y="800563"/>
            <a:ext cx="7168672" cy="5796189"/>
          </a:xfrm>
          <a:prstGeom prst="rect">
            <a:avLst/>
          </a:prstGeom>
          <a:ln>
            <a:noFill/>
          </a:ln>
          <a:effectLst>
            <a:outerShdw blurRad="292100" dist="139700" dir="2700000" algn="tl" rotWithShape="0">
              <a:srgbClr val="333333">
                <a:alpha val="65000"/>
              </a:srgbClr>
            </a:outerShdw>
          </a:effectLst>
        </p:spPr>
      </p:pic>
      <p:pic>
        <p:nvPicPr>
          <p:cNvPr id="1027" name="Picture 3"/>
          <p:cNvPicPr>
            <a:picLocks noChangeAspect="1" noChangeArrowheads="1"/>
          </p:cNvPicPr>
          <p:nvPr/>
        </p:nvPicPr>
        <p:blipFill>
          <a:blip r:embed="rId4" cstate="print"/>
          <a:srcRect/>
          <a:stretch>
            <a:fillRect/>
          </a:stretch>
        </p:blipFill>
        <p:spPr bwMode="auto">
          <a:xfrm>
            <a:off x="4267203" y="307591"/>
            <a:ext cx="4731657" cy="234127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p:cTn id="7" dur="500" fill="hold"/>
                                        <p:tgtEl>
                                          <p:spTgt spid="1027"/>
                                        </p:tgtEl>
                                        <p:attrNameLst>
                                          <p:attrName>ppt_w</p:attrName>
                                        </p:attrNameLst>
                                      </p:cBhvr>
                                      <p:tavLst>
                                        <p:tav tm="0">
                                          <p:val>
                                            <p:strVal val="#ppt_w*2.5"/>
                                          </p:val>
                                        </p:tav>
                                        <p:tav tm="100000">
                                          <p:val>
                                            <p:strVal val="#ppt_w"/>
                                          </p:val>
                                        </p:tav>
                                      </p:tavLst>
                                    </p:anim>
                                    <p:anim calcmode="lin" valueType="num">
                                      <p:cBhvr>
                                        <p:cTn id="8" dur="500" fill="hold"/>
                                        <p:tgtEl>
                                          <p:spTgt spid="1027"/>
                                        </p:tgtEl>
                                        <p:attrNameLst>
                                          <p:attrName>ppt_h</p:attrName>
                                        </p:attrNameLst>
                                      </p:cBhvr>
                                      <p:tavLst>
                                        <p:tav tm="0">
                                          <p:val>
                                            <p:strVal val="#ppt_h*0.01"/>
                                          </p:val>
                                        </p:tav>
                                        <p:tav tm="100000">
                                          <p:val>
                                            <p:strVal val="#ppt_h"/>
                                          </p:val>
                                        </p:tav>
                                      </p:tavLst>
                                    </p:anim>
                                    <p:anim calcmode="lin" valueType="num">
                                      <p:cBhvr>
                                        <p:cTn id="9" dur="500" fill="hold"/>
                                        <p:tgtEl>
                                          <p:spTgt spid="1027"/>
                                        </p:tgtEl>
                                        <p:attrNameLst>
                                          <p:attrName>ppt_x</p:attrName>
                                        </p:attrNameLst>
                                      </p:cBhvr>
                                      <p:tavLst>
                                        <p:tav tm="0">
                                          <p:val>
                                            <p:strVal val="#ppt_x"/>
                                          </p:val>
                                        </p:tav>
                                        <p:tav tm="100000">
                                          <p:val>
                                            <p:strVal val="#ppt_x"/>
                                          </p:val>
                                        </p:tav>
                                      </p:tavLst>
                                    </p:anim>
                                    <p:anim calcmode="lin" valueType="num">
                                      <p:cBhvr>
                                        <p:cTn id="10" dur="500" fill="hold"/>
                                        <p:tgtEl>
                                          <p:spTgt spid="1027"/>
                                        </p:tgtEl>
                                        <p:attrNameLst>
                                          <p:attrName>ppt_y</p:attrName>
                                        </p:attrNameLst>
                                      </p:cBhvr>
                                      <p:tavLst>
                                        <p:tav tm="0">
                                          <p:val>
                                            <p:strVal val="#ppt_h+1"/>
                                          </p:val>
                                        </p:tav>
                                        <p:tav tm="100000">
                                          <p:val>
                                            <p:strVal val="#ppt_y"/>
                                          </p:val>
                                        </p:tav>
                                      </p:tavLst>
                                    </p:anim>
                                    <p:animEffect transition="in" filter="fade">
                                      <p:cBhvr>
                                        <p:cTn id="11"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0" name="1 Título"/>
          <p:cNvSpPr txBox="1">
            <a:spLocks/>
          </p:cNvSpPr>
          <p:nvPr/>
        </p:nvSpPr>
        <p:spPr>
          <a:xfrm>
            <a:off x="0" y="0"/>
            <a:ext cx="8229600" cy="833726"/>
          </a:xfrm>
          <a:prstGeom prst="rect">
            <a:avLst/>
          </a:prstGeom>
        </p:spPr>
        <p:txBody>
          <a:bodyPr vert="horz" lIns="91440" tIns="45720" rIns="91440" bIns="45720" rtlCol="0" anchor="ctr">
            <a:normAutofit/>
          </a:bodyPr>
          <a:lstStyle/>
          <a:p>
            <a:pPr algn="l" fontAlgn="auto">
              <a:spcAft>
                <a:spcPts val="0"/>
              </a:spcAft>
              <a:defRPr/>
            </a:pPr>
            <a:r>
              <a:rPr lang="es-AR" sz="3400" noProof="0" dirty="0">
                <a:solidFill>
                  <a:schemeClr val="tx1"/>
                </a:solidFill>
                <a:latin typeface="+mj-lt"/>
                <a:ea typeface="+mj-ea"/>
                <a:cs typeface="+mj-cs"/>
              </a:rPr>
              <a:t>Ejemplo 2  -   </a:t>
            </a:r>
            <a:r>
              <a:rPr lang="es-AR" sz="2000" dirty="0">
                <a:solidFill>
                  <a:srgbClr val="7030A0"/>
                </a:solidFill>
                <a:latin typeface="+mn-lt"/>
              </a:rPr>
              <a:t>ejecución concurrente</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2050" name="Picture 2"/>
          <p:cNvPicPr>
            <a:picLocks noChangeAspect="1" noChangeArrowheads="1"/>
          </p:cNvPicPr>
          <p:nvPr/>
        </p:nvPicPr>
        <p:blipFill>
          <a:blip r:embed="rId3" cstate="print"/>
          <a:srcRect/>
          <a:stretch>
            <a:fillRect/>
          </a:stretch>
        </p:blipFill>
        <p:spPr bwMode="auto">
          <a:xfrm>
            <a:off x="606856" y="861490"/>
            <a:ext cx="5283205" cy="5858487"/>
          </a:xfrm>
          <a:prstGeom prst="rect">
            <a:avLst/>
          </a:prstGeom>
          <a:ln>
            <a:noFill/>
          </a:ln>
          <a:effectLst>
            <a:outerShdw blurRad="292100" dist="139700" dir="2700000" algn="tl" rotWithShape="0">
              <a:srgbClr val="333333">
                <a:alpha val="65000"/>
              </a:srgbClr>
            </a:outerShdw>
          </a:effectLst>
        </p:spPr>
      </p:pic>
      <p:pic>
        <p:nvPicPr>
          <p:cNvPr id="2051" name="Picture 3"/>
          <p:cNvPicPr>
            <a:picLocks noChangeAspect="1" noChangeArrowheads="1"/>
          </p:cNvPicPr>
          <p:nvPr/>
        </p:nvPicPr>
        <p:blipFill>
          <a:blip r:embed="rId4" cstate="print"/>
          <a:srcRect/>
          <a:stretch>
            <a:fillRect/>
          </a:stretch>
        </p:blipFill>
        <p:spPr bwMode="auto">
          <a:xfrm>
            <a:off x="6150197" y="849083"/>
            <a:ext cx="2538610" cy="4680857"/>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p:cTn id="7" dur="500" fill="hold"/>
                                        <p:tgtEl>
                                          <p:spTgt spid="2051"/>
                                        </p:tgtEl>
                                        <p:attrNameLst>
                                          <p:attrName>ppt_w</p:attrName>
                                        </p:attrNameLst>
                                      </p:cBhvr>
                                      <p:tavLst>
                                        <p:tav tm="0">
                                          <p:val>
                                            <p:strVal val="#ppt_w*2.5"/>
                                          </p:val>
                                        </p:tav>
                                        <p:tav tm="100000">
                                          <p:val>
                                            <p:strVal val="#ppt_w"/>
                                          </p:val>
                                        </p:tav>
                                      </p:tavLst>
                                    </p:anim>
                                    <p:anim calcmode="lin" valueType="num">
                                      <p:cBhvr>
                                        <p:cTn id="8" dur="500" fill="hold"/>
                                        <p:tgtEl>
                                          <p:spTgt spid="2051"/>
                                        </p:tgtEl>
                                        <p:attrNameLst>
                                          <p:attrName>ppt_h</p:attrName>
                                        </p:attrNameLst>
                                      </p:cBhvr>
                                      <p:tavLst>
                                        <p:tav tm="0">
                                          <p:val>
                                            <p:strVal val="#ppt_h*0.01"/>
                                          </p:val>
                                        </p:tav>
                                        <p:tav tm="100000">
                                          <p:val>
                                            <p:strVal val="#ppt_h"/>
                                          </p:val>
                                        </p:tav>
                                      </p:tavLst>
                                    </p:anim>
                                    <p:anim calcmode="lin" valueType="num">
                                      <p:cBhvr>
                                        <p:cTn id="9" dur="500" fill="hold"/>
                                        <p:tgtEl>
                                          <p:spTgt spid="2051"/>
                                        </p:tgtEl>
                                        <p:attrNameLst>
                                          <p:attrName>ppt_x</p:attrName>
                                        </p:attrNameLst>
                                      </p:cBhvr>
                                      <p:tavLst>
                                        <p:tav tm="0">
                                          <p:val>
                                            <p:strVal val="#ppt_x"/>
                                          </p:val>
                                        </p:tav>
                                        <p:tav tm="100000">
                                          <p:val>
                                            <p:strVal val="#ppt_x"/>
                                          </p:val>
                                        </p:tav>
                                      </p:tavLst>
                                    </p:anim>
                                    <p:anim calcmode="lin" valueType="num">
                                      <p:cBhvr>
                                        <p:cTn id="10" dur="500" fill="hold"/>
                                        <p:tgtEl>
                                          <p:spTgt spid="2051"/>
                                        </p:tgtEl>
                                        <p:attrNameLst>
                                          <p:attrName>ppt_y</p:attrName>
                                        </p:attrNameLst>
                                      </p:cBhvr>
                                      <p:tavLst>
                                        <p:tav tm="0">
                                          <p:val>
                                            <p:strVal val="#ppt_h+1"/>
                                          </p:val>
                                        </p:tav>
                                        <p:tav tm="100000">
                                          <p:val>
                                            <p:strVal val="#ppt_y"/>
                                          </p:val>
                                        </p:tav>
                                      </p:tavLst>
                                    </p:anim>
                                    <p:animEffect transition="in" filter="fade">
                                      <p:cBhvr>
                                        <p:cTn id="11"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0" name="1 Título"/>
          <p:cNvSpPr txBox="1">
            <a:spLocks/>
          </p:cNvSpPr>
          <p:nvPr/>
        </p:nvSpPr>
        <p:spPr>
          <a:xfrm>
            <a:off x="0" y="0"/>
            <a:ext cx="8229600" cy="83372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s-AR" sz="3400" noProof="0" dirty="0">
                <a:solidFill>
                  <a:schemeClr val="tx1"/>
                </a:solidFill>
                <a:latin typeface="+mj-lt"/>
                <a:ea typeface="+mj-ea"/>
                <a:cs typeface="+mj-cs"/>
              </a:rPr>
              <a:t>Ejemplo 3  -  </a:t>
            </a:r>
            <a:r>
              <a:rPr lang="es-AR" sz="2000" noProof="0" dirty="0">
                <a:solidFill>
                  <a:srgbClr val="7030A0"/>
                </a:solidFill>
                <a:latin typeface="+mj-lt"/>
                <a:ea typeface="+mj-ea"/>
                <a:cs typeface="+mj-cs"/>
              </a:rPr>
              <a:t>procesamiento en paralelo</a:t>
            </a:r>
            <a:endParaRPr kumimoji="0" lang="es-AR" sz="2000" b="0" i="1" u="none" strike="noStrike" kern="1200" cap="none" spc="0" normalizeH="0" baseline="0" noProof="0" dirty="0">
              <a:ln>
                <a:noFill/>
              </a:ln>
              <a:solidFill>
                <a:srgbClr val="7030A0"/>
              </a:solidFill>
              <a:effectLst/>
              <a:uLnTx/>
              <a:uFillTx/>
              <a:latin typeface="+mn-lt"/>
              <a:ea typeface="+mj-ea"/>
              <a:cs typeface="Arial" pitchFamily="34" charset="0"/>
            </a:endParaRPr>
          </a:p>
        </p:txBody>
      </p:sp>
      <p:pic>
        <p:nvPicPr>
          <p:cNvPr id="3075" name="Picture 3"/>
          <p:cNvPicPr>
            <a:picLocks noChangeAspect="1" noChangeArrowheads="1"/>
          </p:cNvPicPr>
          <p:nvPr/>
        </p:nvPicPr>
        <p:blipFill>
          <a:blip r:embed="rId3" cstate="print"/>
          <a:srcRect l="1523"/>
          <a:stretch>
            <a:fillRect/>
          </a:stretch>
        </p:blipFill>
        <p:spPr bwMode="auto">
          <a:xfrm>
            <a:off x="188686" y="885373"/>
            <a:ext cx="3753754" cy="5392058"/>
          </a:xfrm>
          <a:prstGeom prst="rect">
            <a:avLst/>
          </a:prstGeom>
          <a:ln>
            <a:noFill/>
          </a:ln>
          <a:effectLst>
            <a:outerShdw blurRad="292100" dist="139700" dir="2700000" algn="tl" rotWithShape="0">
              <a:srgbClr val="333333">
                <a:alpha val="65000"/>
              </a:srgbClr>
            </a:outerShdw>
          </a:effectLst>
        </p:spPr>
      </p:pic>
      <p:pic>
        <p:nvPicPr>
          <p:cNvPr id="3077" name="Picture 5"/>
          <p:cNvPicPr>
            <a:picLocks noChangeAspect="1" noChangeArrowheads="1"/>
          </p:cNvPicPr>
          <p:nvPr/>
        </p:nvPicPr>
        <p:blipFill>
          <a:blip r:embed="rId4" cstate="print"/>
          <a:srcRect l="286"/>
          <a:stretch>
            <a:fillRect/>
          </a:stretch>
        </p:blipFill>
        <p:spPr bwMode="auto">
          <a:xfrm>
            <a:off x="4034971" y="681268"/>
            <a:ext cx="4910767" cy="5944507"/>
          </a:xfrm>
          <a:prstGeom prst="rect">
            <a:avLst/>
          </a:prstGeom>
          <a:ln>
            <a:noFill/>
          </a:ln>
          <a:effectLst>
            <a:outerShdw blurRad="292100" dist="139700" dir="2700000" algn="tl" rotWithShape="0">
              <a:srgbClr val="333333">
                <a:alpha val="65000"/>
              </a:srgbClr>
            </a:outerShdw>
          </a:effectLst>
        </p:spPr>
      </p:pic>
      <p:pic>
        <p:nvPicPr>
          <p:cNvPr id="3079" name="Picture 7"/>
          <p:cNvPicPr>
            <a:picLocks noChangeAspect="1" noChangeArrowheads="1"/>
          </p:cNvPicPr>
          <p:nvPr/>
        </p:nvPicPr>
        <p:blipFill>
          <a:blip r:embed="rId5" cstate="print"/>
          <a:srcRect/>
          <a:stretch>
            <a:fillRect/>
          </a:stretch>
        </p:blipFill>
        <p:spPr bwMode="auto">
          <a:xfrm>
            <a:off x="9084469" y="437016"/>
            <a:ext cx="3198764" cy="598396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3079"/>
                                        </p:tgtEl>
                                        <p:attrNameLst>
                                          <p:attrName>style.visibility</p:attrName>
                                        </p:attrNameLst>
                                      </p:cBhvr>
                                      <p:to>
                                        <p:strVal val="visible"/>
                                      </p:to>
                                    </p:set>
                                    <p:anim calcmode="lin" valueType="num">
                                      <p:cBhvr>
                                        <p:cTn id="7" dur="500" fill="hold"/>
                                        <p:tgtEl>
                                          <p:spTgt spid="3079"/>
                                        </p:tgtEl>
                                        <p:attrNameLst>
                                          <p:attrName>ppt_w</p:attrName>
                                        </p:attrNameLst>
                                      </p:cBhvr>
                                      <p:tavLst>
                                        <p:tav tm="0">
                                          <p:val>
                                            <p:strVal val="#ppt_w*2.5"/>
                                          </p:val>
                                        </p:tav>
                                        <p:tav tm="100000">
                                          <p:val>
                                            <p:strVal val="#ppt_w"/>
                                          </p:val>
                                        </p:tav>
                                      </p:tavLst>
                                    </p:anim>
                                    <p:anim calcmode="lin" valueType="num">
                                      <p:cBhvr>
                                        <p:cTn id="8" dur="500" fill="hold"/>
                                        <p:tgtEl>
                                          <p:spTgt spid="3079"/>
                                        </p:tgtEl>
                                        <p:attrNameLst>
                                          <p:attrName>ppt_h</p:attrName>
                                        </p:attrNameLst>
                                      </p:cBhvr>
                                      <p:tavLst>
                                        <p:tav tm="0">
                                          <p:val>
                                            <p:strVal val="#ppt_h*0.01"/>
                                          </p:val>
                                        </p:tav>
                                        <p:tav tm="100000">
                                          <p:val>
                                            <p:strVal val="#ppt_h"/>
                                          </p:val>
                                        </p:tav>
                                      </p:tavLst>
                                    </p:anim>
                                    <p:anim calcmode="lin" valueType="num">
                                      <p:cBhvr>
                                        <p:cTn id="9" dur="500" fill="hold"/>
                                        <p:tgtEl>
                                          <p:spTgt spid="3079"/>
                                        </p:tgtEl>
                                        <p:attrNameLst>
                                          <p:attrName>ppt_x</p:attrName>
                                        </p:attrNameLst>
                                      </p:cBhvr>
                                      <p:tavLst>
                                        <p:tav tm="0">
                                          <p:val>
                                            <p:strVal val="#ppt_x"/>
                                          </p:val>
                                        </p:tav>
                                        <p:tav tm="100000">
                                          <p:val>
                                            <p:strVal val="#ppt_x"/>
                                          </p:val>
                                        </p:tav>
                                      </p:tavLst>
                                    </p:anim>
                                    <p:anim calcmode="lin" valueType="num">
                                      <p:cBhvr>
                                        <p:cTn id="10" dur="500" fill="hold"/>
                                        <p:tgtEl>
                                          <p:spTgt spid="3079"/>
                                        </p:tgtEl>
                                        <p:attrNameLst>
                                          <p:attrName>ppt_y</p:attrName>
                                        </p:attrNameLst>
                                      </p:cBhvr>
                                      <p:tavLst>
                                        <p:tav tm="0">
                                          <p:val>
                                            <p:strVal val="#ppt_h+1"/>
                                          </p:val>
                                        </p:tav>
                                        <p:tav tm="100000">
                                          <p:val>
                                            <p:strVal val="#ppt_y"/>
                                          </p:val>
                                        </p:tav>
                                      </p:tavLst>
                                    </p:anim>
                                    <p:animEffect transition="in" filter="fade">
                                      <p:cBhvr>
                                        <p:cTn id="11"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624013"/>
            <a:ext cx="9144000" cy="0"/>
          </a:xfrm>
          <a:prstGeom prst="rect">
            <a:avLst/>
          </a:prstGeom>
          <a:noFill/>
          <a:ln w="9525">
            <a:noFill/>
            <a:miter lim="800000"/>
            <a:headEnd/>
            <a:tailEnd/>
          </a:ln>
        </p:spPr>
        <p:txBody>
          <a:bodyPr wrap="none" anchor="ctr">
            <a:spAutoFit/>
          </a:bodyPr>
          <a:lstStyle/>
          <a:p>
            <a:endParaRPr lang="es-ES"/>
          </a:p>
        </p:txBody>
      </p:sp>
      <p:sp>
        <p:nvSpPr>
          <p:cNvPr id="10" name="1 Título"/>
          <p:cNvSpPr txBox="1">
            <a:spLocks/>
          </p:cNvSpPr>
          <p:nvPr/>
        </p:nvSpPr>
        <p:spPr>
          <a:xfrm>
            <a:off x="0" y="0"/>
            <a:ext cx="8229600" cy="833726"/>
          </a:xfrm>
          <a:prstGeom prst="rect">
            <a:avLst/>
          </a:prstGeom>
        </p:spPr>
        <p:txBody>
          <a:bodyPr vert="horz" lIns="91440" tIns="45720" rIns="91440" bIns="45720" rtlCol="0" anchor="ctr">
            <a:normAutofit/>
          </a:bodyPr>
          <a:lstStyle/>
          <a:p>
            <a:pPr algn="l" fontAlgn="auto">
              <a:spcAft>
                <a:spcPts val="0"/>
              </a:spcAft>
              <a:defRPr/>
            </a:pPr>
            <a:r>
              <a:rPr lang="es-AR" sz="3400" noProof="0" dirty="0">
                <a:solidFill>
                  <a:schemeClr val="tx1"/>
                </a:solidFill>
                <a:latin typeface="+mj-lt"/>
                <a:ea typeface="+mj-ea"/>
                <a:cs typeface="+mj-cs"/>
              </a:rPr>
              <a:t>Ejemplo 4  -  </a:t>
            </a:r>
            <a:r>
              <a:rPr lang="es-AR" sz="2000" dirty="0">
                <a:solidFill>
                  <a:srgbClr val="7030A0"/>
                </a:solidFill>
                <a:latin typeface="+mn-lt"/>
              </a:rPr>
              <a:t>pasaje de parámetros y obtención de resultados</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7171" name="Picture 3"/>
          <p:cNvPicPr>
            <a:picLocks noChangeAspect="1" noChangeArrowheads="1"/>
          </p:cNvPicPr>
          <p:nvPr/>
        </p:nvPicPr>
        <p:blipFill>
          <a:blip r:embed="rId3" cstate="print"/>
          <a:srcRect/>
          <a:stretch>
            <a:fillRect/>
          </a:stretch>
        </p:blipFill>
        <p:spPr bwMode="auto">
          <a:xfrm>
            <a:off x="175079" y="1029408"/>
            <a:ext cx="5494262" cy="5159829"/>
          </a:xfrm>
          <a:prstGeom prst="rect">
            <a:avLst/>
          </a:prstGeom>
          <a:ln>
            <a:noFill/>
          </a:ln>
          <a:effectLst>
            <a:outerShdw blurRad="292100" dist="139700" dir="2700000" algn="tl" rotWithShape="0">
              <a:srgbClr val="333333">
                <a:alpha val="65000"/>
              </a:srgbClr>
            </a:outerShdw>
          </a:effectLst>
        </p:spPr>
      </p:pic>
      <p:pic>
        <p:nvPicPr>
          <p:cNvPr id="7172" name="Picture 4"/>
          <p:cNvPicPr>
            <a:picLocks noChangeAspect="1" noChangeArrowheads="1"/>
          </p:cNvPicPr>
          <p:nvPr/>
        </p:nvPicPr>
        <p:blipFill>
          <a:blip r:embed="rId4" cstate="print"/>
          <a:srcRect/>
          <a:stretch>
            <a:fillRect/>
          </a:stretch>
        </p:blipFill>
        <p:spPr bwMode="auto">
          <a:xfrm>
            <a:off x="4165600" y="5015449"/>
            <a:ext cx="4978400" cy="155743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p:cTn id="7" dur="500" fill="hold"/>
                                        <p:tgtEl>
                                          <p:spTgt spid="7172"/>
                                        </p:tgtEl>
                                        <p:attrNameLst>
                                          <p:attrName>ppt_w</p:attrName>
                                        </p:attrNameLst>
                                      </p:cBhvr>
                                      <p:tavLst>
                                        <p:tav tm="0">
                                          <p:val>
                                            <p:strVal val="#ppt_w*2.5"/>
                                          </p:val>
                                        </p:tav>
                                        <p:tav tm="100000">
                                          <p:val>
                                            <p:strVal val="#ppt_w"/>
                                          </p:val>
                                        </p:tav>
                                      </p:tavLst>
                                    </p:anim>
                                    <p:anim calcmode="lin" valueType="num">
                                      <p:cBhvr>
                                        <p:cTn id="8" dur="500" fill="hold"/>
                                        <p:tgtEl>
                                          <p:spTgt spid="7172"/>
                                        </p:tgtEl>
                                        <p:attrNameLst>
                                          <p:attrName>ppt_h</p:attrName>
                                        </p:attrNameLst>
                                      </p:cBhvr>
                                      <p:tavLst>
                                        <p:tav tm="0">
                                          <p:val>
                                            <p:strVal val="#ppt_h*0.01"/>
                                          </p:val>
                                        </p:tav>
                                        <p:tav tm="100000">
                                          <p:val>
                                            <p:strVal val="#ppt_h"/>
                                          </p:val>
                                        </p:tav>
                                      </p:tavLst>
                                    </p:anim>
                                    <p:anim calcmode="lin" valueType="num">
                                      <p:cBhvr>
                                        <p:cTn id="9" dur="500" fill="hold"/>
                                        <p:tgtEl>
                                          <p:spTgt spid="7172"/>
                                        </p:tgtEl>
                                        <p:attrNameLst>
                                          <p:attrName>ppt_x</p:attrName>
                                        </p:attrNameLst>
                                      </p:cBhvr>
                                      <p:tavLst>
                                        <p:tav tm="0">
                                          <p:val>
                                            <p:strVal val="#ppt_x"/>
                                          </p:val>
                                        </p:tav>
                                        <p:tav tm="100000">
                                          <p:val>
                                            <p:strVal val="#ppt_x"/>
                                          </p:val>
                                        </p:tav>
                                      </p:tavLst>
                                    </p:anim>
                                    <p:anim calcmode="lin" valueType="num">
                                      <p:cBhvr>
                                        <p:cTn id="10" dur="500" fill="hold"/>
                                        <p:tgtEl>
                                          <p:spTgt spid="7172"/>
                                        </p:tgtEl>
                                        <p:attrNameLst>
                                          <p:attrName>ppt_y</p:attrName>
                                        </p:attrNameLst>
                                      </p:cBhvr>
                                      <p:tavLst>
                                        <p:tav tm="0">
                                          <p:val>
                                            <p:strVal val="#ppt_h+1"/>
                                          </p:val>
                                        </p:tav>
                                        <p:tav tm="100000">
                                          <p:val>
                                            <p:strVal val="#ppt_y"/>
                                          </p:val>
                                        </p:tav>
                                      </p:tavLst>
                                    </p:anim>
                                    <p:animEffect transition="in" filter="fade">
                                      <p:cBhvr>
                                        <p:cTn id="11" dur="500"/>
                                        <p:tgtEl>
                                          <p:spTgt spid="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6"/>
          <p:cNvSpPr>
            <a:spLocks noChangeArrowheads="1"/>
          </p:cNvSpPr>
          <p:nvPr/>
        </p:nvSpPr>
        <p:spPr bwMode="auto">
          <a:xfrm>
            <a:off x="0" y="1789113"/>
            <a:ext cx="9144000" cy="0"/>
          </a:xfrm>
          <a:prstGeom prst="rect">
            <a:avLst/>
          </a:prstGeom>
          <a:noFill/>
          <a:ln w="9525">
            <a:noFill/>
            <a:miter lim="800000"/>
            <a:headEnd/>
            <a:tailEnd/>
          </a:ln>
        </p:spPr>
        <p:txBody>
          <a:bodyPr wrap="none" anchor="ctr">
            <a:spAutoFit/>
          </a:bodyPr>
          <a:lstStyle/>
          <a:p>
            <a:endParaRPr lang="es-ES"/>
          </a:p>
        </p:txBody>
      </p:sp>
      <p:sp>
        <p:nvSpPr>
          <p:cNvPr id="2056" name="Rectangle 8"/>
          <p:cNvSpPr>
            <a:spLocks noChangeArrowheads="1"/>
          </p:cNvSpPr>
          <p:nvPr/>
        </p:nvSpPr>
        <p:spPr bwMode="auto">
          <a:xfrm>
            <a:off x="0" y="1789113"/>
            <a:ext cx="9144000" cy="0"/>
          </a:xfrm>
          <a:prstGeom prst="rect">
            <a:avLst/>
          </a:prstGeom>
          <a:noFill/>
          <a:ln w="9525">
            <a:noFill/>
            <a:miter lim="800000"/>
            <a:headEnd/>
            <a:tailEnd/>
          </a:ln>
        </p:spPr>
        <p:txBody>
          <a:bodyPr wrap="none" anchor="ctr">
            <a:spAutoFit/>
          </a:bodyPr>
          <a:lstStyle/>
          <a:p>
            <a:endParaRPr lang="es-ES"/>
          </a:p>
        </p:txBody>
      </p:sp>
      <p:sp>
        <p:nvSpPr>
          <p:cNvPr id="10" name="1 Título"/>
          <p:cNvSpPr txBox="1">
            <a:spLocks/>
          </p:cNvSpPr>
          <p:nvPr/>
        </p:nvSpPr>
        <p:spPr>
          <a:xfrm>
            <a:off x="0" y="0"/>
            <a:ext cx="8229600" cy="833726"/>
          </a:xfrm>
          <a:prstGeom prst="rect">
            <a:avLst/>
          </a:prstGeom>
        </p:spPr>
        <p:txBody>
          <a:bodyPr vert="horz" lIns="91440" tIns="45720" rIns="91440" bIns="45720" rtlCol="0" anchor="ctr">
            <a:normAutofit/>
          </a:bodyPr>
          <a:lstStyle/>
          <a:p>
            <a:pPr lvl="0" algn="l" fontAlgn="auto">
              <a:spcAft>
                <a:spcPts val="0"/>
              </a:spcAft>
              <a:defRPr/>
            </a:pPr>
            <a:r>
              <a:rPr lang="es-AR" sz="3400" noProof="0" dirty="0">
                <a:solidFill>
                  <a:schemeClr val="tx1"/>
                </a:solidFill>
                <a:latin typeface="+mj-lt"/>
                <a:ea typeface="+mj-ea"/>
                <a:cs typeface="+mj-cs"/>
              </a:rPr>
              <a:t>Ejemplo </a:t>
            </a:r>
            <a:r>
              <a:rPr lang="es-AR" sz="3400" dirty="0">
                <a:solidFill>
                  <a:schemeClr val="tx1"/>
                </a:solidFill>
                <a:latin typeface="+mj-lt"/>
                <a:ea typeface="+mj-ea"/>
                <a:cs typeface="+mj-cs"/>
              </a:rPr>
              <a:t>5 - </a:t>
            </a:r>
            <a:r>
              <a:rPr lang="es-AR" sz="2000" dirty="0" err="1">
                <a:solidFill>
                  <a:srgbClr val="7030A0"/>
                </a:solidFill>
                <a:latin typeface="+mj-lt"/>
                <a:ea typeface="+mj-ea"/>
                <a:cs typeface="+mj-cs"/>
              </a:rPr>
              <a:t>pthread_setcancelstate</a:t>
            </a:r>
            <a:r>
              <a:rPr lang="es-AR" sz="2000" dirty="0">
                <a:solidFill>
                  <a:srgbClr val="7030A0"/>
                </a:solidFill>
                <a:latin typeface="+mj-lt"/>
                <a:ea typeface="+mj-ea"/>
                <a:cs typeface="+mj-cs"/>
              </a:rPr>
              <a:t>()</a:t>
            </a:r>
            <a:r>
              <a:rPr lang="es-AR" sz="3400" dirty="0">
                <a:solidFill>
                  <a:schemeClr val="tx1"/>
                </a:solidFill>
                <a:latin typeface="+mj-lt"/>
                <a:ea typeface="+mj-ea"/>
                <a:cs typeface="+mj-cs"/>
              </a:rPr>
              <a:t> </a:t>
            </a:r>
            <a:endParaRPr kumimoji="0" lang="es-AR" sz="3400" b="0" i="1" u="none" strike="noStrike" kern="1200" cap="none" spc="0" normalizeH="0" baseline="0" noProof="0" dirty="0">
              <a:ln>
                <a:noFill/>
              </a:ln>
              <a:solidFill>
                <a:schemeClr val="tx1"/>
              </a:solidFill>
              <a:effectLst/>
              <a:uLnTx/>
              <a:uFillTx/>
              <a:latin typeface="+mn-lt"/>
              <a:ea typeface="+mj-ea"/>
              <a:cs typeface="Arial"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233135" y="999218"/>
            <a:ext cx="6697435" cy="5581196"/>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r="1750"/>
          <a:stretch>
            <a:fillRect/>
          </a:stretch>
        </p:blipFill>
        <p:spPr bwMode="auto">
          <a:xfrm>
            <a:off x="4535716" y="1456866"/>
            <a:ext cx="4278084" cy="2586445"/>
          </a:xfrm>
          <a:prstGeom prst="rect">
            <a:avLst/>
          </a:prstGeom>
          <a:ln>
            <a:noFill/>
          </a:ln>
          <a:effectLst>
            <a:outerShdw blurRad="292100" dist="139700" dir="2700000" algn="tl" rotWithShape="0">
              <a:srgbClr val="333333">
                <a:alpha val="65000"/>
              </a:srgbClr>
            </a:outerShdw>
          </a:effectLst>
        </p:spPr>
      </p:pic>
      <p:grpSp>
        <p:nvGrpSpPr>
          <p:cNvPr id="12" name="11 Grupo"/>
          <p:cNvGrpSpPr/>
          <p:nvPr/>
        </p:nvGrpSpPr>
        <p:grpSpPr>
          <a:xfrm>
            <a:off x="546100" y="1273002"/>
            <a:ext cx="8597900" cy="3984309"/>
            <a:chOff x="228600" y="1279841"/>
            <a:chExt cx="8597900" cy="3984309"/>
          </a:xfrm>
        </p:grpSpPr>
        <p:pic>
          <p:nvPicPr>
            <p:cNvPr id="1029" name="Picture 5"/>
            <p:cNvPicPr>
              <a:picLocks noChangeAspect="1" noChangeArrowheads="1"/>
            </p:cNvPicPr>
            <p:nvPr/>
          </p:nvPicPr>
          <p:blipFill>
            <a:blip r:embed="rId5" cstate="print"/>
            <a:srcRect l="685" r="5953"/>
            <a:stretch>
              <a:fillRect/>
            </a:stretch>
          </p:blipFill>
          <p:spPr bwMode="auto">
            <a:xfrm>
              <a:off x="4501242" y="1279841"/>
              <a:ext cx="4325258" cy="2807745"/>
            </a:xfrm>
            <a:prstGeom prst="rect">
              <a:avLst/>
            </a:prstGeom>
            <a:ln>
              <a:noFill/>
            </a:ln>
            <a:effectLst>
              <a:outerShdw blurRad="292100" dist="139700" dir="2700000" algn="tl" rotWithShape="0">
                <a:srgbClr val="333333">
                  <a:alpha val="65000"/>
                </a:srgbClr>
              </a:outerShdw>
            </a:effectLst>
          </p:spPr>
        </p:pic>
        <p:pic>
          <p:nvPicPr>
            <p:cNvPr id="1030" name="Picture 6"/>
            <p:cNvPicPr>
              <a:picLocks noChangeAspect="1" noChangeArrowheads="1"/>
            </p:cNvPicPr>
            <p:nvPr/>
          </p:nvPicPr>
          <p:blipFill>
            <a:blip r:embed="rId6" cstate="print">
              <a:clrChange>
                <a:clrFrom>
                  <a:srgbClr val="000000"/>
                </a:clrFrom>
                <a:clrTo>
                  <a:srgbClr val="000000">
                    <a:alpha val="0"/>
                  </a:srgbClr>
                </a:clrTo>
              </a:clrChange>
            </a:blip>
            <a:srcRect l="1272" b="7973"/>
            <a:stretch>
              <a:fillRect/>
            </a:stretch>
          </p:blipFill>
          <p:spPr bwMode="auto">
            <a:xfrm>
              <a:off x="228600" y="4499786"/>
              <a:ext cx="5772150" cy="764364"/>
            </a:xfrm>
            <a:prstGeom prst="rect">
              <a:avLst/>
            </a:prstGeom>
            <a:noFill/>
            <a:ln w="9525">
              <a:noFill/>
              <a:miter lim="800000"/>
              <a:headEnd/>
              <a:tailEnd/>
            </a:ln>
          </p:spPr>
        </p:pic>
      </p:grpSp>
      <p:sp>
        <p:nvSpPr>
          <p:cNvPr id="11" name="10 Rectángulo"/>
          <p:cNvSpPr/>
          <p:nvPr/>
        </p:nvSpPr>
        <p:spPr>
          <a:xfrm>
            <a:off x="4691204" y="6858000"/>
            <a:ext cx="4572000" cy="338554"/>
          </a:xfrm>
          <a:prstGeom prst="rect">
            <a:avLst/>
          </a:prstGeom>
        </p:spPr>
        <p:txBody>
          <a:bodyPr>
            <a:spAutoFit/>
          </a:bodyPr>
          <a:lstStyle/>
          <a:p>
            <a:r>
              <a:rPr lang="es-ES" sz="1600" dirty="0">
                <a:solidFill>
                  <a:schemeClr val="tx1"/>
                </a:solidFill>
                <a:latin typeface="Arial" pitchFamily="34" charset="0"/>
                <a:cs typeface="Arial" pitchFamily="34" charset="0"/>
              </a:rPr>
              <a:t>https://hpc-tutorials.llnl.gov/posix/#Joining</a:t>
            </a:r>
          </a:p>
        </p:txBody>
      </p:sp>
      <p:pic>
        <p:nvPicPr>
          <p:cNvPr id="3" name="Picture 3"/>
          <p:cNvPicPr>
            <a:picLocks noChangeAspect="1" noChangeArrowheads="1"/>
          </p:cNvPicPr>
          <p:nvPr/>
        </p:nvPicPr>
        <p:blipFill>
          <a:blip r:embed="rId7" cstate="print"/>
          <a:srcRect/>
          <a:stretch>
            <a:fillRect/>
          </a:stretch>
        </p:blipFill>
        <p:spPr bwMode="auto">
          <a:xfrm>
            <a:off x="9263204" y="1985190"/>
            <a:ext cx="5460167" cy="28899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p:cTn id="7" dur="500" fill="hold"/>
                                        <p:tgtEl>
                                          <p:spTgt spid="1027"/>
                                        </p:tgtEl>
                                        <p:attrNameLst>
                                          <p:attrName>ppt_w</p:attrName>
                                        </p:attrNameLst>
                                      </p:cBhvr>
                                      <p:tavLst>
                                        <p:tav tm="0">
                                          <p:val>
                                            <p:strVal val="#ppt_w*2.5"/>
                                          </p:val>
                                        </p:tav>
                                        <p:tav tm="100000">
                                          <p:val>
                                            <p:strVal val="#ppt_w"/>
                                          </p:val>
                                        </p:tav>
                                      </p:tavLst>
                                    </p:anim>
                                    <p:anim calcmode="lin" valueType="num">
                                      <p:cBhvr>
                                        <p:cTn id="8" dur="500" fill="hold"/>
                                        <p:tgtEl>
                                          <p:spTgt spid="1027"/>
                                        </p:tgtEl>
                                        <p:attrNameLst>
                                          <p:attrName>ppt_h</p:attrName>
                                        </p:attrNameLst>
                                      </p:cBhvr>
                                      <p:tavLst>
                                        <p:tav tm="0">
                                          <p:val>
                                            <p:strVal val="#ppt_h*0.01"/>
                                          </p:val>
                                        </p:tav>
                                        <p:tav tm="100000">
                                          <p:val>
                                            <p:strVal val="#ppt_h"/>
                                          </p:val>
                                        </p:tav>
                                      </p:tavLst>
                                    </p:anim>
                                    <p:anim calcmode="lin" valueType="num">
                                      <p:cBhvr>
                                        <p:cTn id="9" dur="500" fill="hold"/>
                                        <p:tgtEl>
                                          <p:spTgt spid="1027"/>
                                        </p:tgtEl>
                                        <p:attrNameLst>
                                          <p:attrName>ppt_x</p:attrName>
                                        </p:attrNameLst>
                                      </p:cBhvr>
                                      <p:tavLst>
                                        <p:tav tm="0">
                                          <p:val>
                                            <p:strVal val="#ppt_x"/>
                                          </p:val>
                                        </p:tav>
                                        <p:tav tm="100000">
                                          <p:val>
                                            <p:strVal val="#ppt_x"/>
                                          </p:val>
                                        </p:tav>
                                      </p:tavLst>
                                    </p:anim>
                                    <p:anim calcmode="lin" valueType="num">
                                      <p:cBhvr>
                                        <p:cTn id="10" dur="500" fill="hold"/>
                                        <p:tgtEl>
                                          <p:spTgt spid="1027"/>
                                        </p:tgtEl>
                                        <p:attrNameLst>
                                          <p:attrName>ppt_y</p:attrName>
                                        </p:attrNameLst>
                                      </p:cBhvr>
                                      <p:tavLst>
                                        <p:tav tm="0">
                                          <p:val>
                                            <p:strVal val="#ppt_h+1"/>
                                          </p:val>
                                        </p:tav>
                                        <p:tav tm="100000">
                                          <p:val>
                                            <p:strVal val="#ppt_y"/>
                                          </p:val>
                                        </p:tav>
                                      </p:tavLst>
                                    </p:anim>
                                    <p:animEffect transition="in" filter="fade">
                                      <p:cBhvr>
                                        <p:cTn id="11" dur="500"/>
                                        <p:tgtEl>
                                          <p:spTgt spid="102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20579</TotalTime>
  <Words>3486</Words>
  <Application>Microsoft Office PowerPoint</Application>
  <PresentationFormat>Presentación en pantalla (4:3)</PresentationFormat>
  <Paragraphs>252</Paragraphs>
  <Slides>22</Slides>
  <Notes>22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22</vt:i4>
      </vt:variant>
    </vt:vector>
  </HeadingPairs>
  <TitlesOfParts>
    <vt:vector size="29" baseType="lpstr">
      <vt:lpstr>Arial</vt:lpstr>
      <vt:lpstr>Calibri</vt:lpstr>
      <vt:lpstr>Courier New</vt:lpstr>
      <vt:lpstr>Helvetica</vt:lpstr>
      <vt:lpstr>Modern No. 20</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Steve  Armstrong</dc:creator>
  <cp:lastModifiedBy>JULIO A. DA SILVA CATELA</cp:lastModifiedBy>
  <cp:revision>1221</cp:revision>
  <cp:lastPrinted>2001-01-13T18:08:51Z</cp:lastPrinted>
  <dcterms:created xsi:type="dcterms:W3CDTF">2000-11-18T17:50:49Z</dcterms:created>
  <dcterms:modified xsi:type="dcterms:W3CDTF">2026-04-14T20:11:05Z</dcterms:modified>
</cp:coreProperties>
</file>