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32"/>
  </p:notesMasterIdLst>
  <p:handoutMasterIdLst>
    <p:handoutMasterId r:id="rId33"/>
  </p:handoutMasterIdLst>
  <p:sldIdLst>
    <p:sldId id="256" r:id="rId2"/>
    <p:sldId id="257" r:id="rId3"/>
    <p:sldId id="357" r:id="rId4"/>
    <p:sldId id="334" r:id="rId5"/>
    <p:sldId id="336" r:id="rId6"/>
    <p:sldId id="339" r:id="rId7"/>
    <p:sldId id="340" r:id="rId8"/>
    <p:sldId id="335" r:id="rId9"/>
    <p:sldId id="337" r:id="rId10"/>
    <p:sldId id="341" r:id="rId11"/>
    <p:sldId id="342" r:id="rId12"/>
    <p:sldId id="354" r:id="rId13"/>
    <p:sldId id="298" r:id="rId14"/>
    <p:sldId id="356" r:id="rId15"/>
    <p:sldId id="355" r:id="rId16"/>
    <p:sldId id="344" r:id="rId17"/>
    <p:sldId id="350" r:id="rId18"/>
    <p:sldId id="345" r:id="rId19"/>
    <p:sldId id="358" r:id="rId20"/>
    <p:sldId id="348" r:id="rId21"/>
    <p:sldId id="347" r:id="rId22"/>
    <p:sldId id="346" r:id="rId23"/>
    <p:sldId id="349" r:id="rId24"/>
    <p:sldId id="360" r:id="rId25"/>
    <p:sldId id="359" r:id="rId26"/>
    <p:sldId id="361" r:id="rId27"/>
    <p:sldId id="353" r:id="rId28"/>
    <p:sldId id="309" r:id="rId29"/>
    <p:sldId id="352" r:id="rId30"/>
    <p:sldId id="276" r:id="rId31"/>
  </p:sldIdLst>
  <p:sldSz cx="9144000" cy="6858000" type="screen4x3"/>
  <p:notesSz cx="6754813" cy="9866313"/>
  <p:defaultTextStyle>
    <a:defPPr>
      <a:defRPr lang="en-US"/>
    </a:defPPr>
    <a:lvl1pPr algn="ctr" rtl="0" fontAlgn="base">
      <a:spcBef>
        <a:spcPct val="0"/>
      </a:spcBef>
      <a:spcAft>
        <a:spcPct val="0"/>
      </a:spcAft>
      <a:defRPr sz="2400" kern="1200">
        <a:solidFill>
          <a:srgbClr val="C0C0C0"/>
        </a:solidFill>
        <a:latin typeface="Times New Roman" pitchFamily="18" charset="0"/>
        <a:ea typeface="+mn-ea"/>
        <a:cs typeface="+mn-cs"/>
      </a:defRPr>
    </a:lvl1pPr>
    <a:lvl2pPr marL="457200" algn="ctr" rtl="0" fontAlgn="base">
      <a:spcBef>
        <a:spcPct val="0"/>
      </a:spcBef>
      <a:spcAft>
        <a:spcPct val="0"/>
      </a:spcAft>
      <a:defRPr sz="2400" kern="1200">
        <a:solidFill>
          <a:srgbClr val="C0C0C0"/>
        </a:solidFill>
        <a:latin typeface="Times New Roman" pitchFamily="18" charset="0"/>
        <a:ea typeface="+mn-ea"/>
        <a:cs typeface="+mn-cs"/>
      </a:defRPr>
    </a:lvl2pPr>
    <a:lvl3pPr marL="914400" algn="ctr" rtl="0" fontAlgn="base">
      <a:spcBef>
        <a:spcPct val="0"/>
      </a:spcBef>
      <a:spcAft>
        <a:spcPct val="0"/>
      </a:spcAft>
      <a:defRPr sz="2400" kern="1200">
        <a:solidFill>
          <a:srgbClr val="C0C0C0"/>
        </a:solidFill>
        <a:latin typeface="Times New Roman" pitchFamily="18" charset="0"/>
        <a:ea typeface="+mn-ea"/>
        <a:cs typeface="+mn-cs"/>
      </a:defRPr>
    </a:lvl3pPr>
    <a:lvl4pPr marL="1371600" algn="ctr" rtl="0" fontAlgn="base">
      <a:spcBef>
        <a:spcPct val="0"/>
      </a:spcBef>
      <a:spcAft>
        <a:spcPct val="0"/>
      </a:spcAft>
      <a:defRPr sz="2400" kern="1200">
        <a:solidFill>
          <a:srgbClr val="C0C0C0"/>
        </a:solidFill>
        <a:latin typeface="Times New Roman" pitchFamily="18" charset="0"/>
        <a:ea typeface="+mn-ea"/>
        <a:cs typeface="+mn-cs"/>
      </a:defRPr>
    </a:lvl4pPr>
    <a:lvl5pPr marL="1828800" algn="ctr" rtl="0" fontAlgn="base">
      <a:spcBef>
        <a:spcPct val="0"/>
      </a:spcBef>
      <a:spcAft>
        <a:spcPct val="0"/>
      </a:spcAft>
      <a:defRPr sz="2400" kern="1200">
        <a:solidFill>
          <a:srgbClr val="C0C0C0"/>
        </a:solidFill>
        <a:latin typeface="Times New Roman" pitchFamily="18" charset="0"/>
        <a:ea typeface="+mn-ea"/>
        <a:cs typeface="+mn-cs"/>
      </a:defRPr>
    </a:lvl5pPr>
    <a:lvl6pPr marL="2286000" algn="l" defTabSz="914400" rtl="0" eaLnBrk="1" latinLnBrk="0" hangingPunct="1">
      <a:defRPr sz="2400" kern="1200">
        <a:solidFill>
          <a:srgbClr val="C0C0C0"/>
        </a:solidFill>
        <a:latin typeface="Times New Roman" pitchFamily="18" charset="0"/>
        <a:ea typeface="+mn-ea"/>
        <a:cs typeface="+mn-cs"/>
      </a:defRPr>
    </a:lvl6pPr>
    <a:lvl7pPr marL="2743200" algn="l" defTabSz="914400" rtl="0" eaLnBrk="1" latinLnBrk="0" hangingPunct="1">
      <a:defRPr sz="2400" kern="1200">
        <a:solidFill>
          <a:srgbClr val="C0C0C0"/>
        </a:solidFill>
        <a:latin typeface="Times New Roman" pitchFamily="18" charset="0"/>
        <a:ea typeface="+mn-ea"/>
        <a:cs typeface="+mn-cs"/>
      </a:defRPr>
    </a:lvl7pPr>
    <a:lvl8pPr marL="3200400" algn="l" defTabSz="914400" rtl="0" eaLnBrk="1" latinLnBrk="0" hangingPunct="1">
      <a:defRPr sz="2400" kern="1200">
        <a:solidFill>
          <a:srgbClr val="C0C0C0"/>
        </a:solidFill>
        <a:latin typeface="Times New Roman" pitchFamily="18" charset="0"/>
        <a:ea typeface="+mn-ea"/>
        <a:cs typeface="+mn-cs"/>
      </a:defRPr>
    </a:lvl8pPr>
    <a:lvl9pPr marL="3657600" algn="l" defTabSz="914400" rtl="0" eaLnBrk="1" latinLnBrk="0" hangingPunct="1">
      <a:defRPr sz="2400" kern="1200">
        <a:solidFill>
          <a:srgbClr val="C0C0C0"/>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CC00CC"/>
    <a:srgbClr val="969696"/>
    <a:srgbClr val="B2B2B2"/>
    <a:srgbClr val="C0C0C0"/>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6797" autoAdjust="0"/>
    <p:restoredTop sz="95291" autoAdjust="0"/>
  </p:normalViewPr>
  <p:slideViewPr>
    <p:cSldViewPr snapToGrid="0">
      <p:cViewPr>
        <p:scale>
          <a:sx n="100" d="100"/>
          <a:sy n="100" d="100"/>
        </p:scale>
        <p:origin x="-2592" y="-306"/>
      </p:cViewPr>
      <p:guideLst>
        <p:guide orient="horz" pos="48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44"/>
    </p:cViewPr>
  </p:sorterViewPr>
  <p:notesViewPr>
    <p:cSldViewPr snapToGrid="0">
      <p:cViewPr>
        <p:scale>
          <a:sx n="100" d="100"/>
          <a:sy n="100" d="100"/>
        </p:scale>
        <p:origin x="-894" y="678"/>
      </p:cViewPr>
      <p:guideLst>
        <p:guide orient="horz" pos="3108"/>
        <p:guide pos="2128"/>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defRPr>
            </a:lvl1pPr>
          </a:lstStyle>
          <a:p>
            <a:endParaRPr lang="es-ES"/>
          </a:p>
        </p:txBody>
      </p:sp>
      <p:sp>
        <p:nvSpPr>
          <p:cNvPr id="161795" name="Rectangle 3"/>
          <p:cNvSpPr>
            <a:spLocks noGrp="1" noChangeArrowheads="1"/>
          </p:cNvSpPr>
          <p:nvPr>
            <p:ph type="dt" sz="quarter" idx="1"/>
          </p:nvPr>
        </p:nvSpPr>
        <p:spPr bwMode="auto">
          <a:xfrm>
            <a:off x="3825875"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defRPr>
            </a:lvl1pPr>
          </a:lstStyle>
          <a:p>
            <a:endParaRPr lang="es-ES"/>
          </a:p>
        </p:txBody>
      </p:sp>
      <p:sp>
        <p:nvSpPr>
          <p:cNvPr id="161796" name="Rectangle 4"/>
          <p:cNvSpPr>
            <a:spLocks noGrp="1" noChangeArrowheads="1"/>
          </p:cNvSpPr>
          <p:nvPr>
            <p:ph type="ftr" sz="quarter" idx="2"/>
          </p:nvPr>
        </p:nvSpPr>
        <p:spPr bwMode="auto">
          <a:xfrm>
            <a:off x="0"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defRPr>
            </a:lvl1pPr>
          </a:lstStyle>
          <a:p>
            <a:endParaRPr lang="es-ES"/>
          </a:p>
        </p:txBody>
      </p:sp>
      <p:sp>
        <p:nvSpPr>
          <p:cNvPr id="161797" name="Rectangle 5"/>
          <p:cNvSpPr>
            <a:spLocks noGrp="1" noChangeArrowheads="1"/>
          </p:cNvSpPr>
          <p:nvPr>
            <p:ph type="sldNum" sz="quarter" idx="3"/>
          </p:nvPr>
        </p:nvSpPr>
        <p:spPr bwMode="auto">
          <a:xfrm>
            <a:off x="3825875"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defRPr>
            </a:lvl1pPr>
          </a:lstStyle>
          <a:p>
            <a:fld id="{9CE37C41-A159-4594-91F3-888775DD85B5}" type="slidenum">
              <a:rPr lang="es-ES"/>
              <a:pPr/>
              <a:t>‹Nº›</a:t>
            </a:fld>
            <a:endParaRPr lang="es-E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39" name="Rectangle 3"/>
          <p:cNvSpPr>
            <a:spLocks noGrp="1" noChangeArrowheads="1"/>
          </p:cNvSpPr>
          <p:nvPr>
            <p:ph type="dt" idx="1"/>
          </p:nvPr>
        </p:nvSpPr>
        <p:spPr bwMode="auto">
          <a:xfrm>
            <a:off x="3827463"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latin typeface="Helvetica" pitchFamily="2" charset="0"/>
              </a:defRPr>
            </a:lvl1pPr>
          </a:lstStyle>
          <a:p>
            <a:endParaRPr lang="es-AR"/>
          </a:p>
        </p:txBody>
      </p:sp>
      <p:sp>
        <p:nvSpPr>
          <p:cNvPr id="65540" name="Rectangle 4"/>
          <p:cNvSpPr>
            <a:spLocks noGrp="1" noRot="1" noChangeAspect="1" noChangeArrowheads="1" noTextEdit="1"/>
          </p:cNvSpPr>
          <p:nvPr>
            <p:ph type="sldImg" idx="2"/>
          </p:nvPr>
        </p:nvSpPr>
        <p:spPr bwMode="auto">
          <a:xfrm>
            <a:off x="911225" y="739775"/>
            <a:ext cx="4933950" cy="3700463"/>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01700" y="4687888"/>
            <a:ext cx="4951413" cy="4438650"/>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9942" name="Rectangle 6"/>
          <p:cNvSpPr>
            <a:spLocks noGrp="1" noChangeArrowheads="1"/>
          </p:cNvSpPr>
          <p:nvPr>
            <p:ph type="ftr" sz="quarter" idx="4"/>
          </p:nvPr>
        </p:nvSpPr>
        <p:spPr bwMode="auto">
          <a:xfrm>
            <a:off x="0"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43" name="Rectangle 7"/>
          <p:cNvSpPr>
            <a:spLocks noGrp="1" noChangeArrowheads="1"/>
          </p:cNvSpPr>
          <p:nvPr>
            <p:ph type="sldNum" sz="quarter" idx="5"/>
          </p:nvPr>
        </p:nvSpPr>
        <p:spPr bwMode="auto">
          <a:xfrm>
            <a:off x="3827463"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latin typeface="Helvetica" pitchFamily="2" charset="0"/>
              </a:defRPr>
            </a:lvl1pPr>
          </a:lstStyle>
          <a:p>
            <a:fld id="{98A73CF5-616C-4868-81A9-4AC3700A2DB9}" type="slidenum">
              <a:rPr lang="en-US"/>
              <a:pPr/>
              <a:t>‹Nº›</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A4AFA68A-872D-46C9-9316-3C8BA7D6019F}" type="slidenum">
              <a:rPr lang="en-US"/>
              <a:pPr/>
              <a:t>1</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r>
              <a:rPr lang="es-ES" smtClean="0"/>
              <a:t>Lo que está más claro, se lo estudian ellos por su cuenta. Los epígrafes puestos corresponden con los del capítulo del Tanenbaum.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83CDC52E-CCB2-40C5-BFA8-FC1F03ACFFCE}" type="slidenum">
              <a:rPr lang="en-US"/>
              <a:pPr/>
              <a:t>2</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83CDC52E-CCB2-40C5-BFA8-FC1F03ACFFCE}" type="slidenum">
              <a:rPr lang="en-US"/>
              <a:pPr/>
              <a:t>3</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98A73CF5-616C-4868-81A9-4AC3700A2DB9}"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98A73CF5-616C-4868-81A9-4AC3700A2DB9}"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98A73CF5-616C-4868-81A9-4AC3700A2DB9}"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98A73CF5-616C-4868-81A9-4AC3700A2DB9}"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98A73CF5-616C-4868-81A9-4AC3700A2DB9}"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98A73CF5-616C-4868-81A9-4AC3700A2DB9}"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98A73CF5-616C-4868-81A9-4AC3700A2DB9}"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98A73CF5-616C-4868-81A9-4AC3700A2DB9}"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13</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14</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15</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16</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17</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18</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19</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20</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21</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22</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23</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24</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25</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26</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27</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28</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28BF8E33-7D73-4ACB-93C2-19B310CBD2A5}" type="slidenum">
              <a:rPr lang="en-US"/>
              <a:pPr/>
              <a:t>29</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B8524B81-5CA1-462B-B389-2E65810CD33B}" type="slidenum">
              <a:rPr lang="en-US"/>
              <a:pPr/>
              <a:t>30</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pPr>
              <a:defRPr/>
            </a:pPr>
            <a:r>
              <a:rPr lang="en-US" smtClean="0"/>
              <a:t>D.I.A.</a:t>
            </a:r>
            <a:endParaRPr lang="en-US"/>
          </a:p>
        </p:txBody>
      </p:sp>
      <p:sp>
        <p:nvSpPr>
          <p:cNvPr id="5" name="4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6" name="5 Marcador de número de diapositiva"/>
          <p:cNvSpPr>
            <a:spLocks noGrp="1"/>
          </p:cNvSpPr>
          <p:nvPr>
            <p:ph type="sldNum" sz="quarter" idx="12"/>
          </p:nvPr>
        </p:nvSpPr>
        <p:spPr/>
        <p:txBody>
          <a:bodyPr/>
          <a:lstStyle/>
          <a:p>
            <a:fld id="{4A3DAAAE-BB77-4FBD-80CD-8806CBC61BD7}"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r>
              <a:rPr lang="en-US" smtClean="0"/>
              <a:t>D.I.A.</a:t>
            </a:r>
            <a:endParaRPr lang="en-US"/>
          </a:p>
        </p:txBody>
      </p:sp>
      <p:sp>
        <p:nvSpPr>
          <p:cNvPr id="5" name="4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pPr>
              <a:defRPr/>
            </a:pPr>
            <a:r>
              <a:rPr lang="en-US" smtClean="0"/>
              <a:t>D.I.A.</a:t>
            </a:r>
            <a:endParaRPr lang="en-US"/>
          </a:p>
        </p:txBody>
      </p:sp>
      <p:sp>
        <p:nvSpPr>
          <p:cNvPr id="5" name="4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6" name="5 Marcador de número de diapositiva"/>
          <p:cNvSpPr>
            <a:spLocks noGrp="1"/>
          </p:cNvSpPr>
          <p:nvPr>
            <p:ph type="sldNum" sz="quarter" idx="12"/>
          </p:nvPr>
        </p:nvSpPr>
        <p:spPr/>
        <p:txBody>
          <a:bodyPr/>
          <a:lstStyle/>
          <a:p>
            <a:fld id="{7C01F3A6-EE0E-4D54-B51D-BEF7C6505C79}"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pPr>
              <a:defRPr/>
            </a:pPr>
            <a:r>
              <a:rPr lang="en-US" smtClean="0"/>
              <a:t>D.I.A.</a:t>
            </a:r>
            <a:endParaRPr lang="en-US"/>
          </a:p>
        </p:txBody>
      </p:sp>
      <p:sp>
        <p:nvSpPr>
          <p:cNvPr id="6" name="5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7" name="6 Marcador de número de diapositiva"/>
          <p:cNvSpPr>
            <a:spLocks noGrp="1"/>
          </p:cNvSpPr>
          <p:nvPr>
            <p:ph type="sldNum" sz="quarter" idx="12"/>
          </p:nvPr>
        </p:nvSpPr>
        <p:spPr/>
        <p:txBody>
          <a:bodyPr/>
          <a:lstStyle/>
          <a:p>
            <a:fld id="{71067C7A-EA67-4BE9-B0DB-B07E46B014F5}"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pPr>
              <a:defRPr/>
            </a:pPr>
            <a:r>
              <a:rPr lang="en-US" smtClean="0"/>
              <a:t>D.I.A.</a:t>
            </a:r>
            <a:endParaRPr lang="en-US"/>
          </a:p>
        </p:txBody>
      </p:sp>
      <p:sp>
        <p:nvSpPr>
          <p:cNvPr id="8" name="7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9" name="8 Marcador de número de diapositiva"/>
          <p:cNvSpPr>
            <a:spLocks noGrp="1"/>
          </p:cNvSpPr>
          <p:nvPr>
            <p:ph type="sldNum" sz="quarter" idx="12"/>
          </p:nvPr>
        </p:nvSpPr>
        <p:spPr/>
        <p:txBody>
          <a:bodyPr/>
          <a:lstStyle/>
          <a:p>
            <a:fld id="{48CF61DD-4B4E-4120-8426-714380EE5029}"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pPr>
              <a:defRPr/>
            </a:pPr>
            <a:r>
              <a:rPr lang="en-US" smtClean="0"/>
              <a:t>D.I.A.</a:t>
            </a:r>
            <a:endParaRPr lang="en-US"/>
          </a:p>
        </p:txBody>
      </p:sp>
      <p:sp>
        <p:nvSpPr>
          <p:cNvPr id="4" name="3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5" name="4 Marcador de número de diapositiva"/>
          <p:cNvSpPr>
            <a:spLocks noGrp="1"/>
          </p:cNvSpPr>
          <p:nvPr>
            <p:ph type="sldNum" sz="quarter" idx="12"/>
          </p:nvPr>
        </p:nvSpPr>
        <p:spPr/>
        <p:txBody>
          <a:bodyPr/>
          <a:lstStyle/>
          <a:p>
            <a:fld id="{15DC7E45-CE50-45F6-AFAF-BBEC857663AF}"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pPr>
              <a:defRPr/>
            </a:pPr>
            <a:r>
              <a:rPr lang="en-US" smtClean="0"/>
              <a:t>D.I.A.</a:t>
            </a:r>
            <a:endParaRPr lang="en-US"/>
          </a:p>
        </p:txBody>
      </p:sp>
      <p:sp>
        <p:nvSpPr>
          <p:cNvPr id="3" name="2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4" name="3 Marcador de número de diapositiva"/>
          <p:cNvSpPr>
            <a:spLocks noGrp="1"/>
          </p:cNvSpPr>
          <p:nvPr>
            <p:ph type="sldNum" sz="quarter" idx="12"/>
          </p:nvPr>
        </p:nvSpPr>
        <p:spPr/>
        <p:txBody>
          <a:bodyPr/>
          <a:lstStyle/>
          <a:p>
            <a:fld id="{B759D250-4BD8-4A02-9BB7-6F58C7E277CE}"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r>
              <a:rPr lang="en-US" smtClean="0"/>
              <a:t>D.I.A.</a:t>
            </a:r>
            <a:endParaRPr lang="en-US"/>
          </a:p>
        </p:txBody>
      </p:sp>
      <p:sp>
        <p:nvSpPr>
          <p:cNvPr id="6" name="5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7" name="6 Marcador de número de diapositiva"/>
          <p:cNvSpPr>
            <a:spLocks noGrp="1"/>
          </p:cNvSpPr>
          <p:nvPr>
            <p:ph type="sldNum" sz="quarter" idx="12"/>
          </p:nvPr>
        </p:nvSpPr>
        <p:spPr/>
        <p:txBody>
          <a:bodyPr/>
          <a:lstStyle/>
          <a:p>
            <a:fld id="{9C34C138-3AA1-47A5-94C5-74E44E949D75}"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r>
              <a:rPr lang="en-US" smtClean="0"/>
              <a:t>D.I.A.</a:t>
            </a:r>
            <a:endParaRPr lang="en-US"/>
          </a:p>
        </p:txBody>
      </p:sp>
      <p:sp>
        <p:nvSpPr>
          <p:cNvPr id="6" name="5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7" name="6 Marcador de número de diapositiva"/>
          <p:cNvSpPr>
            <a:spLocks noGrp="1"/>
          </p:cNvSpPr>
          <p:nvPr>
            <p:ph type="sldNum" sz="quarter" idx="12"/>
          </p:nvPr>
        </p:nvSpPr>
        <p:spPr/>
        <p:txBody>
          <a:bodyPr/>
          <a:lstStyle/>
          <a:p>
            <a:fld id="{92F53A78-FB7A-473A-B37B-537E71F8FD32}"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r>
              <a:rPr lang="en-US" smtClean="0"/>
              <a:t>D.I.A.</a:t>
            </a:r>
            <a:endParaRPr lang="en-US"/>
          </a:p>
        </p:txBody>
      </p:sp>
      <p:sp>
        <p:nvSpPr>
          <p:cNvPr id="5" name="4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6" name="5 Marcador de número de diapositiva"/>
          <p:cNvSpPr>
            <a:spLocks noGrp="1"/>
          </p:cNvSpPr>
          <p:nvPr>
            <p:ph type="sldNum" sz="quarter" idx="12"/>
          </p:nvPr>
        </p:nvSpPr>
        <p:spPr/>
        <p:txBody>
          <a:bodyPr/>
          <a:lstStyle/>
          <a:p>
            <a:fld id="{24E17C3E-6F24-490F-B5A6-302494F4F6F6}"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r>
              <a:rPr lang="en-US" smtClean="0"/>
              <a:t>D.I.A.</a:t>
            </a:r>
            <a:endParaRPr lang="en-US"/>
          </a:p>
        </p:txBody>
      </p:sp>
      <p:sp>
        <p:nvSpPr>
          <p:cNvPr id="5" name="4 Marcador de pie de página"/>
          <p:cNvSpPr>
            <a:spLocks noGrp="1"/>
          </p:cNvSpPr>
          <p:nvPr>
            <p:ph type="ftr" sz="quarter" idx="11"/>
          </p:nvPr>
        </p:nvSpPr>
        <p:spPr/>
        <p:txBody>
          <a:bodyPr/>
          <a:lstStyle/>
          <a:p>
            <a:pPr>
              <a:defRPr/>
            </a:pPr>
            <a:r>
              <a:rPr lang="en-US" smtClean="0"/>
              <a:t>Sistemas Operativos I @ (ITIS)</a:t>
            </a:r>
            <a:endParaRPr lang="en-US"/>
          </a:p>
        </p:txBody>
      </p:sp>
      <p:sp>
        <p:nvSpPr>
          <p:cNvPr id="6" name="5 Marcador de número de diapositiva"/>
          <p:cNvSpPr>
            <a:spLocks noGrp="1"/>
          </p:cNvSpPr>
          <p:nvPr>
            <p:ph type="sldNum" sz="quarter" idx="12"/>
          </p:nvPr>
        </p:nvSpPr>
        <p:spPr/>
        <p:txBody>
          <a:bodyPr/>
          <a:lstStyle/>
          <a:p>
            <a:fld id="{C90A54AD-D593-41AF-9419-80BAB15846A4}"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773113" y="0"/>
            <a:ext cx="7772400" cy="952500"/>
          </a:xfrm>
        </p:spPr>
        <p:txBody>
          <a:bodyPr/>
          <a:lstStyle/>
          <a:p>
            <a:r>
              <a:rPr lang="es-ES" smtClean="0"/>
              <a:t>Haga clic para modificar el estilo de título del patrón</a:t>
            </a:r>
            <a:endParaRPr lang="es-ES"/>
          </a:p>
        </p:txBody>
      </p:sp>
      <p:sp>
        <p:nvSpPr>
          <p:cNvPr id="3" name="2 Marcador de texto"/>
          <p:cNvSpPr>
            <a:spLocks noGrp="1"/>
          </p:cNvSpPr>
          <p:nvPr>
            <p:ph type="body" sz="half" idx="1"/>
          </p:nvPr>
        </p:nvSpPr>
        <p:spPr>
          <a:xfrm>
            <a:off x="6858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4"/>
          <p:cNvSpPr>
            <a:spLocks noGrp="1" noChangeArrowheads="1"/>
          </p:cNvSpPr>
          <p:nvPr>
            <p:ph type="dt" sz="half" idx="10"/>
          </p:nvPr>
        </p:nvSpPr>
        <p:spPr>
          <a:ln/>
        </p:spPr>
        <p:txBody>
          <a:bodyPr/>
          <a:lstStyle>
            <a:lvl1pPr>
              <a:defRPr/>
            </a:lvl1pPr>
          </a:lstStyle>
          <a:p>
            <a:pPr>
              <a:defRPr/>
            </a:pPr>
            <a:r>
              <a:rPr lang="en-US"/>
              <a:t>D.I.A.</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Sistemas Operativos I @ (ITIS)</a:t>
            </a:r>
          </a:p>
        </p:txBody>
      </p:sp>
      <p:sp>
        <p:nvSpPr>
          <p:cNvPr id="7" name="Rectangle 6"/>
          <p:cNvSpPr>
            <a:spLocks noGrp="1" noChangeArrowheads="1"/>
          </p:cNvSpPr>
          <p:nvPr>
            <p:ph type="sldNum" sz="quarter" idx="12"/>
          </p:nvPr>
        </p:nvSpPr>
        <p:spPr>
          <a:ln/>
        </p:spPr>
        <p:txBody>
          <a:bodyPr/>
          <a:lstStyle>
            <a:lvl1pPr>
              <a:defRPr/>
            </a:lvl1pPr>
          </a:lstStyle>
          <a:p>
            <a:fld id="{02CDFD1E-D31C-4027-98FC-BCB6935708C6}" type="slidenum">
              <a:rPr lang="en-US"/>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alphaModFix amt="27000"/>
            <a:lum bright="9000" contrast="-18000"/>
          </a:blip>
          <a:srcRect/>
          <a:stretch>
            <a:fillRect l="-25000" r="-25000"/>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r>
              <a:rPr lang="en-US" smtClean="0"/>
              <a:t>D.I.A.</a:t>
            </a:r>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Sistemas Operativos I @ (ITIS)</a:t>
            </a:r>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C601D-D1AA-400D-878E-9B5C6DECE3A0}" type="slidenum">
              <a:rPr lang="en-US" smtClean="0"/>
              <a:pPr/>
              <a:t>‹Nº›</a:t>
            </a:fld>
            <a:endParaRPr lang="en-US"/>
          </a:p>
        </p:txBody>
      </p:sp>
      <p:sp>
        <p:nvSpPr>
          <p:cNvPr id="7" name="Line 8"/>
          <p:cNvSpPr>
            <a:spLocks noChangeShapeType="1"/>
          </p:cNvSpPr>
          <p:nvPr/>
        </p:nvSpPr>
        <p:spPr bwMode="auto">
          <a:xfrm>
            <a:off x="0" y="952500"/>
            <a:ext cx="9144000" cy="0"/>
          </a:xfrm>
          <a:prstGeom prst="line">
            <a:avLst/>
          </a:prstGeom>
          <a:noFill/>
          <a:ln w="9525">
            <a:solidFill>
              <a:srgbClr val="FF3300"/>
            </a:solidFill>
            <a:round/>
            <a:headEnd/>
            <a:tailEnd/>
          </a:ln>
          <a:effectLst/>
        </p:spPr>
        <p:txBody>
          <a:bodyPr anchor="ctr"/>
          <a:lstStyle/>
          <a:p>
            <a:pPr>
              <a:defRPr/>
            </a:pPr>
            <a:endParaRPr lang="es-E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es.qwe.wiki/wiki/Kernel_(operating_system)"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ocw.innova.uned.es/ocwuniversia/Ing_tecnico_infor_sistemas/SO_II/contenidos_html/ims_import_1/tema2_05.htm"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5.png"/><Relationship Id="rId7" Type="http://schemas.openxmlformats.org/officeDocument/2006/relationships/hyperlink" Target="https://computacion.cs.cinvestav.mx/~ameneses/pub/tesis/ltesis/node59.htm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es.wikipedia.org/wiki/Llamada_de_interrupci%C3%B3n_del_BIOS" TargetMode="External"/><Relationship Id="rId5" Type="http://schemas.openxmlformats.org/officeDocument/2006/relationships/hyperlink" Target="https://cs.uns.edu.ar/~ldm/mypage/data/oc/info/linux_system_call_table.pdf" TargetMode="External"/><Relationship Id="rId4" Type="http://schemas.openxmlformats.org/officeDocument/2006/relationships/hyperlink" Target="https://filippo.io/linux-syscall-table/"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hyperlink" Target="https://syscalls.kernelgrok.com/"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ctrTitle"/>
          </p:nvPr>
        </p:nvSpPr>
        <p:spPr>
          <a:xfrm>
            <a:off x="685800" y="1631950"/>
            <a:ext cx="7772400" cy="1143000"/>
          </a:xfrm>
        </p:spPr>
        <p:txBody>
          <a:bodyPr/>
          <a:lstStyle/>
          <a:p>
            <a:pPr eaLnBrk="1" hangingPunct="1"/>
            <a:r>
              <a:rPr lang="es-ES_tradnl" dirty="0" smtClean="0">
                <a:solidFill>
                  <a:srgbClr val="C00000"/>
                </a:solidFill>
                <a:latin typeface="Arial" pitchFamily="34" charset="0"/>
                <a:cs typeface="Arial" pitchFamily="34" charset="0"/>
              </a:rPr>
              <a:t>Introducción</a:t>
            </a:r>
          </a:p>
        </p:txBody>
      </p:sp>
      <p:sp>
        <p:nvSpPr>
          <p:cNvPr id="5124" name="5 Marcador de número de diapositiva"/>
          <p:cNvSpPr>
            <a:spLocks noGrp="1"/>
          </p:cNvSpPr>
          <p:nvPr>
            <p:ph type="sldNum" sz="quarter" idx="12"/>
          </p:nvPr>
        </p:nvSpPr>
        <p:spPr>
          <a:noFill/>
        </p:spPr>
        <p:txBody>
          <a:bodyPr/>
          <a:lstStyle/>
          <a:p>
            <a:fld id="{815A8F9F-B451-427E-B7D8-703028BE80E3}" type="slidenum">
              <a:rPr lang="en-US"/>
              <a:pPr/>
              <a:t>1</a:t>
            </a:fld>
            <a:endParaRPr lang="en-US"/>
          </a:p>
        </p:txBody>
      </p:sp>
      <p:sp>
        <p:nvSpPr>
          <p:cNvPr id="5127" name="Text Box 4"/>
          <p:cNvSpPr txBox="1">
            <a:spLocks noChangeArrowheads="1"/>
          </p:cNvSpPr>
          <p:nvPr/>
        </p:nvSpPr>
        <p:spPr bwMode="auto">
          <a:xfrm>
            <a:off x="1905000" y="3108325"/>
            <a:ext cx="5235729" cy="2677656"/>
          </a:xfrm>
          <a:prstGeom prst="rect">
            <a:avLst/>
          </a:prstGeom>
          <a:noFill/>
          <a:ln w="9525">
            <a:noFill/>
            <a:miter lim="800000"/>
            <a:headEnd/>
            <a:tailEnd/>
          </a:ln>
        </p:spPr>
        <p:txBody>
          <a:bodyPr wrap="none">
            <a:spAutoFit/>
          </a:bodyPr>
          <a:lstStyle/>
          <a:p>
            <a:pPr algn="l"/>
            <a:r>
              <a:rPr lang="es-ES_tradnl" dirty="0" smtClean="0">
                <a:solidFill>
                  <a:schemeClr val="tx1"/>
                </a:solidFill>
                <a:latin typeface="Arial" pitchFamily="34" charset="0"/>
                <a:cs typeface="Arial" pitchFamily="34" charset="0"/>
              </a:rPr>
              <a:t>¿</a:t>
            </a:r>
            <a:r>
              <a:rPr lang="es-ES_tradnl" dirty="0">
                <a:solidFill>
                  <a:schemeClr val="tx1"/>
                </a:solidFill>
                <a:latin typeface="Arial" pitchFamily="34" charset="0"/>
                <a:cs typeface="Arial" pitchFamily="34" charset="0"/>
              </a:rPr>
              <a:t>Qué es un sistema operativo</a:t>
            </a:r>
            <a:r>
              <a:rPr lang="es-ES_tradnl" dirty="0" smtClean="0">
                <a:solidFill>
                  <a:schemeClr val="tx1"/>
                </a:solidFill>
                <a:latin typeface="Arial" pitchFamily="34" charset="0"/>
                <a:cs typeface="Arial" pitchFamily="34" charset="0"/>
              </a:rPr>
              <a:t>?</a:t>
            </a:r>
          </a:p>
          <a:p>
            <a:pPr algn="l"/>
            <a:r>
              <a:rPr lang="es-ES_tradnl" dirty="0" smtClean="0">
                <a:solidFill>
                  <a:schemeClr val="tx1"/>
                </a:solidFill>
                <a:latin typeface="Arial" pitchFamily="34" charset="0"/>
                <a:cs typeface="Arial" pitchFamily="34" charset="0"/>
              </a:rPr>
              <a:t>Funciones</a:t>
            </a:r>
            <a:endParaRPr lang="es-ES_tradnl" dirty="0">
              <a:solidFill>
                <a:schemeClr val="tx1"/>
              </a:solidFill>
              <a:latin typeface="Arial" pitchFamily="34" charset="0"/>
              <a:cs typeface="Arial" pitchFamily="34" charset="0"/>
            </a:endParaRPr>
          </a:p>
          <a:p>
            <a:pPr algn="l"/>
            <a:r>
              <a:rPr lang="es-ES_tradnl" dirty="0" smtClean="0">
                <a:solidFill>
                  <a:schemeClr val="tx1"/>
                </a:solidFill>
                <a:latin typeface="Arial" pitchFamily="34" charset="0"/>
                <a:cs typeface="Arial" pitchFamily="34" charset="0"/>
              </a:rPr>
              <a:t>Evolución </a:t>
            </a:r>
            <a:r>
              <a:rPr lang="es-ES_tradnl" dirty="0">
                <a:solidFill>
                  <a:schemeClr val="tx1"/>
                </a:solidFill>
                <a:latin typeface="Arial" pitchFamily="34" charset="0"/>
                <a:cs typeface="Arial" pitchFamily="34" charset="0"/>
              </a:rPr>
              <a:t>de los sistemas operativos</a:t>
            </a:r>
          </a:p>
          <a:p>
            <a:pPr algn="l"/>
            <a:r>
              <a:rPr lang="es-ES_tradnl" dirty="0" smtClean="0">
                <a:solidFill>
                  <a:schemeClr val="bg1">
                    <a:lumMod val="65000"/>
                  </a:schemeClr>
                </a:solidFill>
                <a:latin typeface="Arial" pitchFamily="34" charset="0"/>
                <a:cs typeface="Arial" pitchFamily="34" charset="0"/>
              </a:rPr>
              <a:t>Tipos </a:t>
            </a:r>
            <a:r>
              <a:rPr lang="es-ES_tradnl" dirty="0">
                <a:solidFill>
                  <a:schemeClr val="bg1">
                    <a:lumMod val="65000"/>
                  </a:schemeClr>
                </a:solidFill>
                <a:latin typeface="Arial" pitchFamily="34" charset="0"/>
                <a:cs typeface="Arial" pitchFamily="34" charset="0"/>
              </a:rPr>
              <a:t>de sistemas operativos</a:t>
            </a:r>
          </a:p>
          <a:p>
            <a:pPr algn="l"/>
            <a:r>
              <a:rPr lang="es-ES_tradnl" dirty="0" smtClean="0">
                <a:solidFill>
                  <a:schemeClr val="bg1">
                    <a:lumMod val="65000"/>
                  </a:schemeClr>
                </a:solidFill>
                <a:latin typeface="Arial" pitchFamily="34" charset="0"/>
                <a:cs typeface="Arial" pitchFamily="34" charset="0"/>
              </a:rPr>
              <a:t>Recordando </a:t>
            </a:r>
            <a:r>
              <a:rPr lang="es-ES_tradnl" dirty="0">
                <a:solidFill>
                  <a:schemeClr val="bg1">
                    <a:lumMod val="65000"/>
                  </a:schemeClr>
                </a:solidFill>
                <a:latin typeface="Arial" pitchFamily="34" charset="0"/>
                <a:cs typeface="Arial" pitchFamily="34" charset="0"/>
              </a:rPr>
              <a:t>aspectos hardware</a:t>
            </a:r>
          </a:p>
          <a:p>
            <a:pPr algn="l"/>
            <a:r>
              <a:rPr lang="es-ES_tradnl" dirty="0" smtClean="0">
                <a:solidFill>
                  <a:schemeClr val="tx1"/>
                </a:solidFill>
                <a:latin typeface="Arial" pitchFamily="34" charset="0"/>
                <a:cs typeface="Arial" pitchFamily="34" charset="0"/>
              </a:rPr>
              <a:t>Arquitecturas</a:t>
            </a:r>
            <a:endParaRPr lang="es-ES_tradnl" dirty="0">
              <a:solidFill>
                <a:schemeClr val="tx1"/>
              </a:solidFill>
              <a:latin typeface="Arial" pitchFamily="34" charset="0"/>
              <a:cs typeface="Arial" pitchFamily="34" charset="0"/>
            </a:endParaRPr>
          </a:p>
          <a:p>
            <a:pPr algn="l"/>
            <a:r>
              <a:rPr lang="es-ES_tradnl" dirty="0" smtClean="0">
                <a:solidFill>
                  <a:schemeClr val="tx1"/>
                </a:solidFill>
                <a:latin typeface="Arial" pitchFamily="34" charset="0"/>
                <a:cs typeface="Arial" pitchFamily="34" charset="0"/>
              </a:rPr>
              <a:t>Llamadas </a:t>
            </a:r>
            <a:r>
              <a:rPr lang="es-ES_tradnl" dirty="0">
                <a:solidFill>
                  <a:schemeClr val="tx1"/>
                </a:solidFill>
                <a:latin typeface="Arial" pitchFamily="34" charset="0"/>
                <a:cs typeface="Arial" pitchFamily="34" charset="0"/>
              </a:rPr>
              <a:t>al </a:t>
            </a:r>
            <a:r>
              <a:rPr lang="es-ES_tradnl" dirty="0" smtClean="0">
                <a:solidFill>
                  <a:schemeClr val="tx1"/>
                </a:solidFill>
                <a:latin typeface="Arial" pitchFamily="34" charset="0"/>
                <a:cs typeface="Arial" pitchFamily="34" charset="0"/>
              </a:rPr>
              <a:t>sistema</a:t>
            </a:r>
            <a:endParaRPr lang="es-ES_tradnl" dirty="0">
              <a:solidFill>
                <a:schemeClr val="tx1"/>
              </a:solidFill>
              <a:latin typeface="Arial" pitchFamily="34" charset="0"/>
              <a:cs typeface="Arial" pitchFamily="34" charset="0"/>
            </a:endParaRPr>
          </a:p>
        </p:txBody>
      </p:sp>
      <p:sp>
        <p:nvSpPr>
          <p:cNvPr id="5" name="Rectangle 2"/>
          <p:cNvSpPr txBox="1">
            <a:spLocks noChangeArrowheads="1"/>
          </p:cNvSpPr>
          <p:nvPr/>
        </p:nvSpPr>
        <p:spPr>
          <a:xfrm>
            <a:off x="812800" y="0"/>
            <a:ext cx="77724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5400" b="0" i="0" u="none" strike="noStrike" kern="1200" cap="none" spc="0" normalizeH="0" baseline="0" noProof="0" dirty="0" smtClean="0">
                <a:ln>
                  <a:noFill/>
                </a:ln>
                <a:solidFill>
                  <a:srgbClr val="C00000"/>
                </a:solidFill>
                <a:effectLst/>
                <a:uLnTx/>
                <a:uFillTx/>
                <a:latin typeface="Arial" pitchFamily="34" charset="0"/>
                <a:ea typeface="+mj-ea"/>
                <a:cs typeface="Arial" pitchFamily="34" charset="0"/>
              </a:rPr>
              <a:t>Sistemas Operativos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Rectangle 14"/>
          <p:cNvSpPr>
            <a:spLocks noGrp="1" noChangeArrowheads="1"/>
          </p:cNvSpPr>
          <p:nvPr>
            <p:ph type="title"/>
          </p:nvPr>
        </p:nvSpPr>
        <p:spPr>
          <a:xfrm>
            <a:off x="443346" y="0"/>
            <a:ext cx="8229600" cy="1143000"/>
          </a:xfrm>
        </p:spPr>
        <p:txBody>
          <a:bodyPr/>
          <a:lstStyle/>
          <a:p>
            <a:pPr eaLnBrk="1" hangingPunct="1"/>
            <a:r>
              <a:rPr lang="es-ES_tradnl" dirty="0" smtClean="0"/>
              <a:t>Introducción</a:t>
            </a:r>
            <a:endParaRPr lang="es-ES" dirty="0" smtClean="0"/>
          </a:p>
        </p:txBody>
      </p:sp>
      <p:sp>
        <p:nvSpPr>
          <p:cNvPr id="35" name="Rectangle 14"/>
          <p:cNvSpPr txBox="1">
            <a:spLocks noChangeArrowheads="1"/>
          </p:cNvSpPr>
          <p:nvPr/>
        </p:nvSpPr>
        <p:spPr>
          <a:xfrm>
            <a:off x="519546" y="1117600"/>
            <a:ext cx="8408554" cy="5524500"/>
          </a:xfrm>
          <a:prstGeom prst="rect">
            <a:avLst/>
          </a:prstGeom>
        </p:spPr>
        <p:txBody>
          <a:bodyPr vert="horz" lIns="91440" tIns="45720" rIns="91440" bIns="45720" rtlCol="0" anchor="ctr">
            <a:normAutofit/>
          </a:bodyPr>
          <a:lstStyle/>
          <a:p>
            <a:pPr marL="266700" indent="-266700" algn="just">
              <a:spcBef>
                <a:spcPts val="600"/>
              </a:spcBef>
              <a:buFont typeface="Arial" pitchFamily="34" charset="0"/>
              <a:buChar char="•"/>
            </a:pPr>
            <a:r>
              <a:rPr lang="es-AR" sz="2000" dirty="0" smtClean="0">
                <a:solidFill>
                  <a:srgbClr val="000000"/>
                </a:solidFill>
                <a:latin typeface="Arial Unicode MS"/>
                <a:ea typeface="Arial Unicode MS"/>
                <a:cs typeface="Arial Unicode MS"/>
              </a:rPr>
              <a:t>Es un programa que actúa como intermediario entre el usuario y el hardware de una computadora. </a:t>
            </a:r>
            <a:r>
              <a:rPr lang="es-AR" sz="2000" b="1" dirty="0" err="1" smtClean="0">
                <a:solidFill>
                  <a:schemeClr val="accent2">
                    <a:lumMod val="75000"/>
                  </a:schemeClr>
                </a:solidFill>
                <a:latin typeface="Arial Unicode MS"/>
                <a:ea typeface="Arial Unicode MS"/>
                <a:cs typeface="Arial Unicode MS"/>
              </a:rPr>
              <a:t>Silberschatz</a:t>
            </a:r>
            <a:r>
              <a:rPr lang="es-AR" sz="2000" dirty="0" smtClean="0">
                <a:solidFill>
                  <a:schemeClr val="accent2">
                    <a:lumMod val="75000"/>
                  </a:schemeClr>
                </a:solidFill>
                <a:latin typeface="Arial Unicode MS"/>
                <a:ea typeface="Arial Unicode MS"/>
                <a:cs typeface="Arial Unicode MS"/>
              </a:rPr>
              <a:t>.</a:t>
            </a:r>
          </a:p>
          <a:p>
            <a:pPr marL="266700" indent="-266700" algn="just">
              <a:spcBef>
                <a:spcPts val="600"/>
              </a:spcBef>
              <a:buFont typeface="Arial" pitchFamily="34" charset="0"/>
              <a:buChar char="•"/>
            </a:pPr>
            <a:r>
              <a:rPr lang="es-ES_tradnl" sz="2000" dirty="0" smtClean="0">
                <a:solidFill>
                  <a:srgbClr val="000000"/>
                </a:solidFill>
                <a:latin typeface="Arial Unicode MS"/>
                <a:ea typeface="Arial Unicode MS"/>
                <a:cs typeface="Arial Unicode MS"/>
              </a:rPr>
              <a:t>Es una capa de software capaz de administrar todos los recursos y proporcionar a los programas de usuario una interfaz más sencilla para comunicarse con el hardware</a:t>
            </a:r>
            <a:r>
              <a:rPr lang="es-ES_tradnl" sz="2000" dirty="0" smtClean="0">
                <a:solidFill>
                  <a:srgbClr val="D16349"/>
                </a:solidFill>
                <a:latin typeface="Arial Unicode MS"/>
                <a:ea typeface="Arial Unicode MS"/>
                <a:cs typeface="Arial Unicode MS"/>
              </a:rPr>
              <a:t>. </a:t>
            </a:r>
            <a:r>
              <a:rPr lang="es-ES_tradnl" sz="2000" b="1" dirty="0" err="1" smtClean="0">
                <a:solidFill>
                  <a:schemeClr val="accent2">
                    <a:lumMod val="75000"/>
                  </a:schemeClr>
                </a:solidFill>
                <a:latin typeface="Arial Unicode MS"/>
                <a:ea typeface="Arial Unicode MS"/>
                <a:cs typeface="Arial Unicode MS"/>
              </a:rPr>
              <a:t>Tanenbaum</a:t>
            </a:r>
            <a:r>
              <a:rPr lang="es-ES_tradnl" sz="2000" dirty="0" smtClean="0">
                <a:solidFill>
                  <a:schemeClr val="tx2">
                    <a:lumMod val="60000"/>
                    <a:lumOff val="40000"/>
                  </a:schemeClr>
                </a:solidFill>
                <a:latin typeface="Arial Unicode MS"/>
                <a:ea typeface="Arial Unicode MS"/>
                <a:cs typeface="Arial Unicode MS"/>
              </a:rPr>
              <a:t>.</a:t>
            </a:r>
            <a:endParaRPr lang="es-ES_tradnl" sz="2000" dirty="0" smtClean="0">
              <a:solidFill>
                <a:schemeClr val="tx2">
                  <a:lumMod val="60000"/>
                  <a:lumOff val="40000"/>
                </a:schemeClr>
              </a:solidFill>
            </a:endParaRPr>
          </a:p>
          <a:p>
            <a:pPr marL="266700" indent="-266700" algn="just">
              <a:spcBef>
                <a:spcPts val="600"/>
              </a:spcBef>
              <a:buFont typeface="Arial" pitchFamily="34" charset="0"/>
              <a:buChar char="•"/>
            </a:pPr>
            <a:r>
              <a:rPr lang="es-AR" sz="2000" dirty="0" smtClean="0">
                <a:solidFill>
                  <a:srgbClr val="000000"/>
                </a:solidFill>
                <a:latin typeface="Arial Unicode MS"/>
                <a:ea typeface="Arial Unicode MS"/>
                <a:cs typeface="Arial Unicode MS"/>
              </a:rPr>
              <a:t>Una serie de programas, dispuestos ya sea en el software o en la memoria fija, que hacen al hardware utilizable. El hardware provee “poder computacional básico”. Los sistemas operativos ponen este poder convenientemente a disposición del usuario. </a:t>
            </a:r>
            <a:r>
              <a:rPr lang="es-AR" sz="2000" b="1" dirty="0" err="1" smtClean="0">
                <a:solidFill>
                  <a:schemeClr val="accent2">
                    <a:lumMod val="75000"/>
                  </a:schemeClr>
                </a:solidFill>
                <a:latin typeface="Arial Unicode MS"/>
                <a:ea typeface="Arial Unicode MS"/>
                <a:cs typeface="Arial Unicode MS"/>
              </a:rPr>
              <a:t>Deitel</a:t>
            </a:r>
            <a:r>
              <a:rPr lang="es-AR" sz="2000" b="1" dirty="0" smtClean="0">
                <a:solidFill>
                  <a:schemeClr val="accent2">
                    <a:lumMod val="75000"/>
                  </a:schemeClr>
                </a:solidFill>
                <a:latin typeface="Arial Unicode MS"/>
                <a:ea typeface="Arial Unicode MS"/>
                <a:cs typeface="Arial Unicode MS"/>
              </a:rPr>
              <a:t> &amp; </a:t>
            </a:r>
            <a:r>
              <a:rPr lang="es-AR" sz="2000" b="1" dirty="0" err="1" smtClean="0">
                <a:solidFill>
                  <a:schemeClr val="accent2">
                    <a:lumMod val="75000"/>
                  </a:schemeClr>
                </a:solidFill>
                <a:latin typeface="Arial Unicode MS"/>
                <a:ea typeface="Arial Unicode MS"/>
                <a:cs typeface="Arial Unicode MS"/>
              </a:rPr>
              <a:t>Deitel</a:t>
            </a:r>
            <a:r>
              <a:rPr lang="es-AR" sz="2000" dirty="0" smtClean="0">
                <a:solidFill>
                  <a:srgbClr val="000000"/>
                </a:solidFill>
                <a:latin typeface="Arial Unicode MS"/>
                <a:ea typeface="Arial Unicode MS"/>
                <a:cs typeface="Arial Unicode MS"/>
              </a:rPr>
              <a:t>. </a:t>
            </a:r>
          </a:p>
          <a:p>
            <a:pPr marL="266700" indent="-266700" algn="just">
              <a:spcBef>
                <a:spcPts val="600"/>
              </a:spcBef>
              <a:buFont typeface="Arial" pitchFamily="34" charset="0"/>
              <a:buChar char="•"/>
            </a:pPr>
            <a:r>
              <a:rPr lang="es-ES_tradnl" sz="2000" dirty="0" smtClean="0">
                <a:solidFill>
                  <a:srgbClr val="000000"/>
                </a:solidFill>
                <a:latin typeface="Arial Unicode MS"/>
                <a:ea typeface="Arial Unicode MS"/>
                <a:cs typeface="Arial Unicode MS"/>
              </a:rPr>
              <a:t>Una colección organizada de extensiones software del hardware, consistente en rutinas de control que hacen funcionar un computador y proporciona un entorno para la ejecución de los programas. </a:t>
            </a:r>
            <a:r>
              <a:rPr lang="es-ES_tradnl" sz="2000" b="1" dirty="0" err="1" smtClean="0">
                <a:solidFill>
                  <a:schemeClr val="accent2">
                    <a:lumMod val="75000"/>
                  </a:schemeClr>
                </a:solidFill>
                <a:latin typeface="Arial Unicode MS"/>
                <a:ea typeface="Arial Unicode MS"/>
                <a:cs typeface="Arial Unicode MS"/>
              </a:rPr>
              <a:t>Milenkovic</a:t>
            </a:r>
            <a:r>
              <a:rPr lang="es-ES_tradnl" sz="2000" dirty="0" smtClean="0">
                <a:solidFill>
                  <a:schemeClr val="tx2">
                    <a:lumMod val="60000"/>
                    <a:lumOff val="40000"/>
                  </a:schemeClr>
                </a:solidFill>
                <a:latin typeface="Arial Unicode MS"/>
                <a:ea typeface="Arial Unicode MS"/>
                <a:cs typeface="Arial Unicode MS"/>
              </a:rPr>
              <a:t>.</a:t>
            </a:r>
          </a:p>
          <a:p>
            <a:pPr marL="266700" indent="-266700" algn="just">
              <a:spcBef>
                <a:spcPts val="600"/>
              </a:spcBef>
              <a:buFont typeface="Arial" pitchFamily="34" charset="0"/>
              <a:buChar char="•"/>
            </a:pPr>
            <a:r>
              <a:rPr lang="es-ES_tradnl" sz="2000" dirty="0" smtClean="0">
                <a:solidFill>
                  <a:srgbClr val="000000"/>
                </a:solidFill>
                <a:latin typeface="Arial Unicode MS"/>
                <a:ea typeface="Arial Unicode MS"/>
                <a:cs typeface="Arial Unicode MS"/>
              </a:rPr>
              <a:t>Conjunto de programas que, ordenadamente relacionados entre sí, contribuyen a que el ordenador lleve a efecto correctamente el trabajo encomendado. </a:t>
            </a:r>
            <a:r>
              <a:rPr lang="es-ES_tradnl" sz="2000" b="1" dirty="0" err="1" smtClean="0">
                <a:solidFill>
                  <a:schemeClr val="accent2">
                    <a:lumMod val="75000"/>
                  </a:schemeClr>
                </a:solidFill>
                <a:latin typeface="Arial Unicode MS"/>
                <a:ea typeface="Arial Unicode MS"/>
                <a:cs typeface="Arial Unicode MS"/>
              </a:rPr>
              <a:t>Pérez</a:t>
            </a:r>
            <a:r>
              <a:rPr lang="es-ES_tradnl" sz="2000" b="1" dirty="0" smtClean="0">
                <a:solidFill>
                  <a:schemeClr val="accent2">
                    <a:lumMod val="75000"/>
                  </a:schemeClr>
                </a:solidFill>
                <a:latin typeface="Arial Unicode MS"/>
                <a:ea typeface="Arial Unicode MS"/>
                <a:cs typeface="Arial Unicode MS"/>
              </a:rPr>
              <a:t> </a:t>
            </a:r>
            <a:r>
              <a:rPr lang="es-ES_tradnl" sz="2000" b="1" dirty="0" err="1" smtClean="0">
                <a:solidFill>
                  <a:schemeClr val="accent2">
                    <a:lumMod val="75000"/>
                  </a:schemeClr>
                </a:solidFill>
                <a:latin typeface="Arial Unicode MS"/>
                <a:ea typeface="Arial Unicode MS"/>
                <a:cs typeface="Arial Unicode MS"/>
              </a:rPr>
              <a:t>Campanero</a:t>
            </a:r>
            <a:r>
              <a:rPr lang="es-ES_tradnl" sz="2000" dirty="0" smtClean="0">
                <a:solidFill>
                  <a:schemeClr val="tx2">
                    <a:lumMod val="60000"/>
                    <a:lumOff val="40000"/>
                  </a:schemeClr>
                </a:solidFill>
                <a:latin typeface="Arial Unicode MS"/>
                <a:ea typeface="Arial Unicode MS"/>
                <a:cs typeface="Arial Unicode MS"/>
              </a:rPr>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Rectangle 14"/>
          <p:cNvSpPr>
            <a:spLocks noGrp="1" noChangeArrowheads="1"/>
          </p:cNvSpPr>
          <p:nvPr>
            <p:ph type="title"/>
          </p:nvPr>
        </p:nvSpPr>
        <p:spPr>
          <a:xfrm>
            <a:off x="443346" y="0"/>
            <a:ext cx="8229600" cy="1143000"/>
          </a:xfrm>
        </p:spPr>
        <p:txBody>
          <a:bodyPr>
            <a:normAutofit/>
          </a:bodyPr>
          <a:lstStyle/>
          <a:p>
            <a:pPr eaLnBrk="1" hangingPunct="1"/>
            <a:r>
              <a:rPr lang="es-ES_tradnl" sz="4000" b="1" dirty="0" smtClean="0">
                <a:solidFill>
                  <a:schemeClr val="accent2">
                    <a:lumMod val="75000"/>
                  </a:schemeClr>
                </a:solidFill>
                <a:latin typeface="Arial Unicode MS"/>
                <a:ea typeface="Arial Unicode MS"/>
                <a:cs typeface="Arial Unicode MS"/>
              </a:rPr>
              <a:t>Introducción</a:t>
            </a:r>
            <a:endParaRPr lang="es-ES" sz="3200" b="1" dirty="0" smtClean="0">
              <a:solidFill>
                <a:schemeClr val="accent2">
                  <a:lumMod val="75000"/>
                </a:schemeClr>
              </a:solidFill>
              <a:latin typeface="Arial Unicode MS"/>
              <a:ea typeface="Arial Unicode MS"/>
              <a:cs typeface="Arial Unicode MS"/>
            </a:endParaRPr>
          </a:p>
        </p:txBody>
      </p:sp>
      <p:sp>
        <p:nvSpPr>
          <p:cNvPr id="6149" name="Text Box 8"/>
          <p:cNvSpPr txBox="1">
            <a:spLocks noChangeArrowheads="1"/>
          </p:cNvSpPr>
          <p:nvPr/>
        </p:nvSpPr>
        <p:spPr bwMode="auto">
          <a:xfrm>
            <a:off x="393989" y="4284953"/>
            <a:ext cx="1290953" cy="1323439"/>
          </a:xfrm>
          <a:prstGeom prst="rect">
            <a:avLst/>
          </a:prstGeom>
          <a:noFill/>
          <a:ln w="9525">
            <a:noFill/>
            <a:miter lim="800000"/>
            <a:headEnd/>
            <a:tailEnd/>
          </a:ln>
        </p:spPr>
        <p:txBody>
          <a:bodyPr wrap="square">
            <a:spAutoFit/>
          </a:bodyPr>
          <a:lstStyle/>
          <a:p>
            <a:pPr algn="l"/>
            <a:r>
              <a:rPr lang="es-ES" sz="2000" dirty="0" smtClean="0">
                <a:solidFill>
                  <a:schemeClr val="tx1"/>
                </a:solidFill>
              </a:rPr>
              <a:t>Memoria</a:t>
            </a:r>
            <a:endParaRPr lang="es-ES" sz="2000" dirty="0">
              <a:solidFill>
                <a:schemeClr val="tx1"/>
              </a:solidFill>
            </a:endParaRPr>
          </a:p>
          <a:p>
            <a:pPr algn="l"/>
            <a:r>
              <a:rPr lang="es-ES" sz="2000" dirty="0" smtClean="0">
                <a:solidFill>
                  <a:schemeClr val="tx1"/>
                </a:solidFill>
              </a:rPr>
              <a:t>ULA</a:t>
            </a:r>
            <a:endParaRPr lang="es-ES" sz="2000" dirty="0">
              <a:solidFill>
                <a:schemeClr val="tx1"/>
              </a:solidFill>
            </a:endParaRPr>
          </a:p>
          <a:p>
            <a:pPr algn="l"/>
            <a:r>
              <a:rPr lang="es-ES" sz="2000" dirty="0">
                <a:solidFill>
                  <a:schemeClr val="tx1"/>
                </a:solidFill>
              </a:rPr>
              <a:t>Registros</a:t>
            </a:r>
          </a:p>
          <a:p>
            <a:pPr algn="l"/>
            <a:r>
              <a:rPr lang="es-ES" sz="2000" dirty="0">
                <a:solidFill>
                  <a:schemeClr val="tx1"/>
                </a:solidFill>
              </a:rPr>
              <a:t>CPU</a:t>
            </a:r>
          </a:p>
        </p:txBody>
      </p:sp>
      <p:grpSp>
        <p:nvGrpSpPr>
          <p:cNvPr id="2" name="Group 42"/>
          <p:cNvGrpSpPr>
            <a:grpSpLocks/>
          </p:cNvGrpSpPr>
          <p:nvPr/>
        </p:nvGrpSpPr>
        <p:grpSpPr bwMode="auto">
          <a:xfrm>
            <a:off x="1811089" y="1819425"/>
            <a:ext cx="6730555" cy="3922130"/>
            <a:chOff x="1412" y="1125"/>
            <a:chExt cx="3781" cy="1929"/>
          </a:xfrm>
        </p:grpSpPr>
        <p:sp>
          <p:nvSpPr>
            <p:cNvPr id="6156" name="Text Box 26"/>
            <p:cNvSpPr txBox="1">
              <a:spLocks noChangeArrowheads="1"/>
            </p:cNvSpPr>
            <p:nvPr/>
          </p:nvSpPr>
          <p:spPr bwMode="auto">
            <a:xfrm>
              <a:off x="3742" y="1244"/>
              <a:ext cx="1152" cy="250"/>
            </a:xfrm>
            <a:prstGeom prst="rect">
              <a:avLst/>
            </a:prstGeom>
            <a:noFill/>
            <a:ln w="9525" algn="ctr">
              <a:noFill/>
              <a:miter lim="800000"/>
              <a:headEnd/>
              <a:tailEnd/>
            </a:ln>
          </p:spPr>
          <p:txBody>
            <a:bodyPr>
              <a:spAutoFit/>
            </a:bodyPr>
            <a:lstStyle/>
            <a:p>
              <a:pPr>
                <a:spcBef>
                  <a:spcPct val="50000"/>
                </a:spcBef>
              </a:pPr>
              <a:r>
                <a:rPr lang="es-ES" sz="2000" dirty="0">
                  <a:solidFill>
                    <a:schemeClr val="tx1"/>
                  </a:solidFill>
                </a:rPr>
                <a:t>Aplicaciones</a:t>
              </a:r>
            </a:p>
          </p:txBody>
        </p:sp>
        <p:sp>
          <p:nvSpPr>
            <p:cNvPr id="6157" name="Text Box 27"/>
            <p:cNvSpPr txBox="1">
              <a:spLocks noChangeArrowheads="1"/>
            </p:cNvSpPr>
            <p:nvPr/>
          </p:nvSpPr>
          <p:spPr bwMode="auto">
            <a:xfrm>
              <a:off x="3666" y="1771"/>
              <a:ext cx="1527" cy="231"/>
            </a:xfrm>
            <a:prstGeom prst="rect">
              <a:avLst/>
            </a:prstGeom>
            <a:noFill/>
            <a:ln w="9525" algn="ctr">
              <a:noFill/>
              <a:miter lim="800000"/>
              <a:headEnd/>
              <a:tailEnd/>
            </a:ln>
          </p:spPr>
          <p:txBody>
            <a:bodyPr>
              <a:spAutoFit/>
            </a:bodyPr>
            <a:lstStyle/>
            <a:p>
              <a:pPr>
                <a:spcBef>
                  <a:spcPct val="50000"/>
                </a:spcBef>
              </a:pPr>
              <a:r>
                <a:rPr lang="es-ES" sz="1800" dirty="0">
                  <a:solidFill>
                    <a:schemeClr val="tx1"/>
                  </a:solidFill>
                </a:rPr>
                <a:t>Programas del Sistema</a:t>
              </a:r>
            </a:p>
          </p:txBody>
        </p:sp>
        <p:sp>
          <p:nvSpPr>
            <p:cNvPr id="6158" name="Text Box 28"/>
            <p:cNvSpPr txBox="1">
              <a:spLocks noChangeArrowheads="1"/>
            </p:cNvSpPr>
            <p:nvPr/>
          </p:nvSpPr>
          <p:spPr bwMode="auto">
            <a:xfrm>
              <a:off x="3785" y="2478"/>
              <a:ext cx="1244" cy="250"/>
            </a:xfrm>
            <a:prstGeom prst="rect">
              <a:avLst/>
            </a:prstGeom>
            <a:noFill/>
            <a:ln w="9525" algn="ctr">
              <a:noFill/>
              <a:miter lim="800000"/>
              <a:headEnd/>
              <a:tailEnd/>
            </a:ln>
          </p:spPr>
          <p:txBody>
            <a:bodyPr>
              <a:spAutoFit/>
            </a:bodyPr>
            <a:lstStyle/>
            <a:p>
              <a:pPr>
                <a:spcBef>
                  <a:spcPct val="50000"/>
                </a:spcBef>
              </a:pPr>
              <a:r>
                <a:rPr lang="es-ES" sz="2000" dirty="0">
                  <a:solidFill>
                    <a:schemeClr val="tx1"/>
                  </a:solidFill>
                </a:rPr>
                <a:t>Hardware</a:t>
              </a:r>
            </a:p>
          </p:txBody>
        </p:sp>
        <p:grpSp>
          <p:nvGrpSpPr>
            <p:cNvPr id="3" name="Group 41"/>
            <p:cNvGrpSpPr>
              <a:grpSpLocks/>
            </p:cNvGrpSpPr>
            <p:nvPr/>
          </p:nvGrpSpPr>
          <p:grpSpPr bwMode="auto">
            <a:xfrm>
              <a:off x="1412" y="1125"/>
              <a:ext cx="2347" cy="1929"/>
              <a:chOff x="1412" y="1125"/>
              <a:chExt cx="2347" cy="1929"/>
            </a:xfrm>
          </p:grpSpPr>
          <p:sp>
            <p:nvSpPr>
              <p:cNvPr id="6160" name="Rectangle 15"/>
              <p:cNvSpPr>
                <a:spLocks noChangeArrowheads="1"/>
              </p:cNvSpPr>
              <p:nvPr/>
            </p:nvSpPr>
            <p:spPr bwMode="auto">
              <a:xfrm>
                <a:off x="1463" y="1143"/>
                <a:ext cx="2130" cy="1902"/>
              </a:xfrm>
              <a:prstGeom prst="rect">
                <a:avLst/>
              </a:prstGeom>
              <a:solidFill>
                <a:schemeClr val="bg1"/>
              </a:solidFill>
              <a:ln w="9525" algn="ctr">
                <a:solidFill>
                  <a:srgbClr val="00B050"/>
                </a:solidFill>
                <a:miter lim="800000"/>
                <a:headEnd/>
                <a:tailEnd/>
              </a:ln>
            </p:spPr>
            <p:txBody>
              <a:bodyPr wrap="none" anchor="ctr">
                <a:spAutoFit/>
              </a:bodyPr>
              <a:lstStyle/>
              <a:p>
                <a:endParaRPr lang="es-ES"/>
              </a:p>
            </p:txBody>
          </p:sp>
          <p:sp>
            <p:nvSpPr>
              <p:cNvPr id="6163" name="Rectangle 18"/>
              <p:cNvSpPr>
                <a:spLocks noChangeArrowheads="1"/>
              </p:cNvSpPr>
              <p:nvPr/>
            </p:nvSpPr>
            <p:spPr bwMode="auto">
              <a:xfrm>
                <a:off x="1463" y="2167"/>
                <a:ext cx="2121" cy="311"/>
              </a:xfrm>
              <a:prstGeom prst="rect">
                <a:avLst/>
              </a:prstGeom>
              <a:solidFill>
                <a:schemeClr val="bg1"/>
              </a:solidFill>
              <a:ln w="9525" algn="ctr">
                <a:solidFill>
                  <a:schemeClr val="tx1"/>
                </a:solidFill>
                <a:miter lim="800000"/>
                <a:headEnd/>
                <a:tailEnd/>
              </a:ln>
            </p:spPr>
            <p:txBody>
              <a:bodyPr anchor="ctr">
                <a:spAutoFit/>
              </a:bodyPr>
              <a:lstStyle/>
              <a:p>
                <a:endParaRPr lang="es-ES"/>
              </a:p>
            </p:txBody>
          </p:sp>
          <p:sp>
            <p:nvSpPr>
              <p:cNvPr id="6164" name="Rectangle 19"/>
              <p:cNvSpPr>
                <a:spLocks noChangeArrowheads="1"/>
              </p:cNvSpPr>
              <p:nvPr/>
            </p:nvSpPr>
            <p:spPr bwMode="auto">
              <a:xfrm>
                <a:off x="1471" y="2476"/>
                <a:ext cx="2121" cy="274"/>
              </a:xfrm>
              <a:prstGeom prst="rect">
                <a:avLst/>
              </a:prstGeom>
              <a:solidFill>
                <a:schemeClr val="bg1"/>
              </a:solidFill>
              <a:ln w="9525" algn="ctr">
                <a:solidFill>
                  <a:srgbClr val="00B050"/>
                </a:solidFill>
                <a:miter lim="800000"/>
                <a:headEnd/>
                <a:tailEnd/>
              </a:ln>
            </p:spPr>
            <p:txBody>
              <a:bodyPr anchor="ctr">
                <a:spAutoFit/>
              </a:bodyPr>
              <a:lstStyle/>
              <a:p>
                <a:endParaRPr lang="es-ES"/>
              </a:p>
            </p:txBody>
          </p:sp>
          <p:sp>
            <p:nvSpPr>
              <p:cNvPr id="6165" name="Rectangle 20"/>
              <p:cNvSpPr>
                <a:spLocks noChangeArrowheads="1"/>
              </p:cNvSpPr>
              <p:nvPr/>
            </p:nvSpPr>
            <p:spPr bwMode="auto">
              <a:xfrm>
                <a:off x="1471" y="1864"/>
                <a:ext cx="2121" cy="311"/>
              </a:xfrm>
              <a:prstGeom prst="rect">
                <a:avLst/>
              </a:prstGeom>
              <a:solidFill>
                <a:schemeClr val="bg1"/>
              </a:solidFill>
              <a:ln w="9525" algn="ctr">
                <a:solidFill>
                  <a:schemeClr val="tx1"/>
                </a:solidFill>
                <a:miter lim="800000"/>
                <a:headEnd/>
                <a:tailEnd/>
              </a:ln>
            </p:spPr>
            <p:txBody>
              <a:bodyPr anchor="ctr">
                <a:spAutoFit/>
              </a:bodyPr>
              <a:lstStyle/>
              <a:p>
                <a:endParaRPr lang="es-ES"/>
              </a:p>
            </p:txBody>
          </p:sp>
          <p:sp>
            <p:nvSpPr>
              <p:cNvPr id="6168" name="AutoShape 23"/>
              <p:cNvSpPr>
                <a:spLocks/>
              </p:cNvSpPr>
              <p:nvPr/>
            </p:nvSpPr>
            <p:spPr bwMode="auto">
              <a:xfrm>
                <a:off x="3694" y="1125"/>
                <a:ext cx="56" cy="384"/>
              </a:xfrm>
              <a:prstGeom prst="rightBrace">
                <a:avLst>
                  <a:gd name="adj1" fmla="val 57143"/>
                  <a:gd name="adj2" fmla="val 50000"/>
                </a:avLst>
              </a:prstGeom>
              <a:noFill/>
              <a:ln w="9525">
                <a:solidFill>
                  <a:schemeClr val="tx1"/>
                </a:solidFill>
                <a:round/>
                <a:headEnd/>
                <a:tailEnd/>
              </a:ln>
            </p:spPr>
            <p:txBody>
              <a:bodyPr wrap="none" anchor="ctr">
                <a:spAutoFit/>
              </a:bodyPr>
              <a:lstStyle/>
              <a:p>
                <a:endParaRPr lang="es-ES"/>
              </a:p>
            </p:txBody>
          </p:sp>
          <p:sp>
            <p:nvSpPr>
              <p:cNvPr id="6169" name="AutoShape 24"/>
              <p:cNvSpPr>
                <a:spLocks/>
              </p:cNvSpPr>
              <p:nvPr/>
            </p:nvSpPr>
            <p:spPr bwMode="auto">
              <a:xfrm>
                <a:off x="3703" y="1527"/>
                <a:ext cx="56" cy="640"/>
              </a:xfrm>
              <a:prstGeom prst="rightBrace">
                <a:avLst>
                  <a:gd name="adj1" fmla="val 95238"/>
                  <a:gd name="adj2" fmla="val 50000"/>
                </a:avLst>
              </a:prstGeom>
              <a:noFill/>
              <a:ln w="9525">
                <a:solidFill>
                  <a:schemeClr val="tx1"/>
                </a:solidFill>
                <a:round/>
                <a:headEnd/>
                <a:tailEnd/>
              </a:ln>
            </p:spPr>
            <p:txBody>
              <a:bodyPr wrap="none" anchor="ctr">
                <a:spAutoFit/>
              </a:bodyPr>
              <a:lstStyle/>
              <a:p>
                <a:endParaRPr lang="es-ES"/>
              </a:p>
            </p:txBody>
          </p:sp>
          <p:sp>
            <p:nvSpPr>
              <p:cNvPr id="6170" name="Text Box 29"/>
              <p:cNvSpPr txBox="1">
                <a:spLocks noChangeArrowheads="1"/>
              </p:cNvSpPr>
              <p:nvPr/>
            </p:nvSpPr>
            <p:spPr bwMode="auto">
              <a:xfrm>
                <a:off x="1518" y="2761"/>
                <a:ext cx="2011" cy="288"/>
              </a:xfrm>
              <a:prstGeom prst="rect">
                <a:avLst/>
              </a:prstGeom>
              <a:noFill/>
              <a:ln w="9525" algn="ctr">
                <a:noFill/>
                <a:miter lim="800000"/>
                <a:headEnd/>
                <a:tailEnd/>
              </a:ln>
            </p:spPr>
            <p:txBody>
              <a:bodyPr>
                <a:spAutoFit/>
              </a:bodyPr>
              <a:lstStyle/>
              <a:p>
                <a:pPr>
                  <a:spcBef>
                    <a:spcPct val="50000"/>
                  </a:spcBef>
                </a:pPr>
                <a:r>
                  <a:rPr lang="es-ES" dirty="0">
                    <a:solidFill>
                      <a:schemeClr val="tx1"/>
                    </a:solidFill>
                  </a:rPr>
                  <a:t>Dispositivos Físicos</a:t>
                </a:r>
              </a:p>
            </p:txBody>
          </p:sp>
          <p:sp>
            <p:nvSpPr>
              <p:cNvPr id="6171" name="Text Box 30"/>
              <p:cNvSpPr txBox="1">
                <a:spLocks noChangeArrowheads="1"/>
              </p:cNvSpPr>
              <p:nvPr/>
            </p:nvSpPr>
            <p:spPr bwMode="auto">
              <a:xfrm>
                <a:off x="1536" y="2489"/>
                <a:ext cx="1993" cy="288"/>
              </a:xfrm>
              <a:prstGeom prst="rect">
                <a:avLst/>
              </a:prstGeom>
              <a:noFill/>
              <a:ln w="9525" algn="ctr">
                <a:noFill/>
                <a:miter lim="800000"/>
                <a:headEnd/>
                <a:tailEnd/>
              </a:ln>
            </p:spPr>
            <p:txBody>
              <a:bodyPr>
                <a:spAutoFit/>
              </a:bodyPr>
              <a:lstStyle/>
              <a:p>
                <a:pPr>
                  <a:spcBef>
                    <a:spcPct val="50000"/>
                  </a:spcBef>
                </a:pPr>
                <a:r>
                  <a:rPr lang="es-ES" dirty="0" err="1">
                    <a:solidFill>
                      <a:schemeClr val="tx1"/>
                    </a:solidFill>
                  </a:rPr>
                  <a:t>Microarquitectura</a:t>
                </a:r>
                <a:endParaRPr lang="es-ES" dirty="0">
                  <a:solidFill>
                    <a:schemeClr val="tx1"/>
                  </a:solidFill>
                </a:endParaRPr>
              </a:p>
            </p:txBody>
          </p:sp>
          <p:sp>
            <p:nvSpPr>
              <p:cNvPr id="6172" name="Text Box 31"/>
              <p:cNvSpPr txBox="1">
                <a:spLocks noChangeArrowheads="1"/>
              </p:cNvSpPr>
              <p:nvPr/>
            </p:nvSpPr>
            <p:spPr bwMode="auto">
              <a:xfrm>
                <a:off x="1573" y="2206"/>
                <a:ext cx="1938" cy="288"/>
              </a:xfrm>
              <a:prstGeom prst="rect">
                <a:avLst/>
              </a:prstGeom>
              <a:noFill/>
              <a:ln w="9525" algn="ctr">
                <a:noFill/>
                <a:miter lim="800000"/>
                <a:headEnd/>
                <a:tailEnd/>
              </a:ln>
            </p:spPr>
            <p:txBody>
              <a:bodyPr>
                <a:spAutoFit/>
              </a:bodyPr>
              <a:lstStyle/>
              <a:p>
                <a:pPr>
                  <a:spcBef>
                    <a:spcPct val="50000"/>
                  </a:spcBef>
                </a:pPr>
                <a:r>
                  <a:rPr lang="es-ES" dirty="0">
                    <a:solidFill>
                      <a:schemeClr val="tx1"/>
                    </a:solidFill>
                  </a:rPr>
                  <a:t>Lenguaje máquina</a:t>
                </a:r>
              </a:p>
            </p:txBody>
          </p:sp>
          <p:sp>
            <p:nvSpPr>
              <p:cNvPr id="6173" name="Text Box 32"/>
              <p:cNvSpPr txBox="1">
                <a:spLocks noChangeArrowheads="1"/>
              </p:cNvSpPr>
              <p:nvPr/>
            </p:nvSpPr>
            <p:spPr bwMode="auto">
              <a:xfrm>
                <a:off x="1600" y="1908"/>
                <a:ext cx="1874" cy="288"/>
              </a:xfrm>
              <a:prstGeom prst="rect">
                <a:avLst/>
              </a:prstGeom>
              <a:noFill/>
              <a:ln w="9525" algn="ctr">
                <a:noFill/>
                <a:miter lim="800000"/>
                <a:headEnd/>
                <a:tailEnd/>
              </a:ln>
            </p:spPr>
            <p:txBody>
              <a:bodyPr>
                <a:spAutoFit/>
              </a:bodyPr>
              <a:lstStyle/>
              <a:p>
                <a:pPr>
                  <a:spcBef>
                    <a:spcPct val="50000"/>
                  </a:spcBef>
                </a:pPr>
                <a:r>
                  <a:rPr lang="es-ES" dirty="0">
                    <a:solidFill>
                      <a:schemeClr val="tx1"/>
                    </a:solidFill>
                  </a:rPr>
                  <a:t>Sistema Operativo</a:t>
                </a:r>
              </a:p>
            </p:txBody>
          </p:sp>
          <p:sp>
            <p:nvSpPr>
              <p:cNvPr id="6174" name="Rectangle 33"/>
              <p:cNvSpPr>
                <a:spLocks noChangeArrowheads="1"/>
              </p:cNvSpPr>
              <p:nvPr/>
            </p:nvSpPr>
            <p:spPr bwMode="auto">
              <a:xfrm>
                <a:off x="1471" y="1480"/>
                <a:ext cx="731" cy="382"/>
              </a:xfrm>
              <a:prstGeom prst="rect">
                <a:avLst/>
              </a:prstGeom>
              <a:solidFill>
                <a:schemeClr val="bg1"/>
              </a:solidFill>
              <a:ln w="6350" algn="ctr">
                <a:noFill/>
                <a:miter lim="800000"/>
                <a:headEnd/>
                <a:tailEnd/>
              </a:ln>
            </p:spPr>
            <p:txBody>
              <a:bodyPr anchor="ctr">
                <a:spAutoFit/>
              </a:bodyPr>
              <a:lstStyle/>
              <a:p>
                <a:endParaRPr lang="es-ES"/>
              </a:p>
            </p:txBody>
          </p:sp>
          <p:sp>
            <p:nvSpPr>
              <p:cNvPr id="6176" name="Text Box 35"/>
              <p:cNvSpPr txBox="1">
                <a:spLocks noChangeArrowheads="1"/>
              </p:cNvSpPr>
              <p:nvPr/>
            </p:nvSpPr>
            <p:spPr bwMode="auto">
              <a:xfrm>
                <a:off x="1453" y="1642"/>
                <a:ext cx="768" cy="192"/>
              </a:xfrm>
              <a:prstGeom prst="rect">
                <a:avLst/>
              </a:prstGeom>
              <a:noFill/>
              <a:ln w="9525" algn="ctr">
                <a:noFill/>
                <a:miter lim="800000"/>
                <a:headEnd/>
                <a:tailEnd/>
              </a:ln>
            </p:spPr>
            <p:txBody>
              <a:bodyPr>
                <a:spAutoFit/>
              </a:bodyPr>
              <a:lstStyle/>
              <a:p>
                <a:pPr>
                  <a:spcBef>
                    <a:spcPct val="50000"/>
                  </a:spcBef>
                </a:pPr>
                <a:r>
                  <a:rPr lang="es-ES" sz="1400" dirty="0">
                    <a:solidFill>
                      <a:schemeClr val="tx1"/>
                    </a:solidFill>
                  </a:rPr>
                  <a:t>Compiladores</a:t>
                </a:r>
              </a:p>
            </p:txBody>
          </p:sp>
          <p:sp>
            <p:nvSpPr>
              <p:cNvPr id="6177" name="Text Box 36"/>
              <p:cNvSpPr txBox="1">
                <a:spLocks noChangeArrowheads="1"/>
              </p:cNvSpPr>
              <p:nvPr/>
            </p:nvSpPr>
            <p:spPr bwMode="auto">
              <a:xfrm>
                <a:off x="2197" y="1650"/>
                <a:ext cx="676" cy="151"/>
              </a:xfrm>
              <a:prstGeom prst="rect">
                <a:avLst/>
              </a:prstGeom>
              <a:noFill/>
              <a:ln w="9525" algn="ctr">
                <a:noFill/>
                <a:miter lim="800000"/>
                <a:headEnd/>
                <a:tailEnd/>
              </a:ln>
            </p:spPr>
            <p:txBody>
              <a:bodyPr wrap="square">
                <a:spAutoFit/>
              </a:bodyPr>
              <a:lstStyle/>
              <a:p>
                <a:pPr>
                  <a:spcBef>
                    <a:spcPct val="50000"/>
                  </a:spcBef>
                </a:pPr>
                <a:r>
                  <a:rPr lang="es-ES" sz="1400" dirty="0">
                    <a:solidFill>
                      <a:schemeClr val="tx1"/>
                    </a:solidFill>
                  </a:rPr>
                  <a:t>Editores</a:t>
                </a:r>
              </a:p>
            </p:txBody>
          </p:sp>
          <p:sp>
            <p:nvSpPr>
              <p:cNvPr id="6178" name="Text Box 37"/>
              <p:cNvSpPr txBox="1">
                <a:spLocks noChangeArrowheads="1"/>
              </p:cNvSpPr>
              <p:nvPr/>
            </p:nvSpPr>
            <p:spPr bwMode="auto">
              <a:xfrm>
                <a:off x="2903" y="1575"/>
                <a:ext cx="640" cy="257"/>
              </a:xfrm>
              <a:prstGeom prst="rect">
                <a:avLst/>
              </a:prstGeom>
              <a:noFill/>
              <a:ln w="9525" algn="ctr">
                <a:noFill/>
                <a:miter lim="800000"/>
                <a:headEnd/>
                <a:tailEnd/>
              </a:ln>
            </p:spPr>
            <p:txBody>
              <a:bodyPr wrap="square">
                <a:spAutoFit/>
              </a:bodyPr>
              <a:lstStyle/>
              <a:p>
                <a:pPr>
                  <a:spcBef>
                    <a:spcPct val="50000"/>
                  </a:spcBef>
                </a:pPr>
                <a:r>
                  <a:rPr lang="es-ES" sz="1400" dirty="0">
                    <a:solidFill>
                      <a:schemeClr val="tx1"/>
                    </a:solidFill>
                  </a:rPr>
                  <a:t>Intérprete de comandos</a:t>
                </a:r>
              </a:p>
            </p:txBody>
          </p:sp>
          <p:sp>
            <p:nvSpPr>
              <p:cNvPr id="6180" name="Text Box 39"/>
              <p:cNvSpPr txBox="1">
                <a:spLocks noChangeArrowheads="1"/>
              </p:cNvSpPr>
              <p:nvPr/>
            </p:nvSpPr>
            <p:spPr bwMode="auto">
              <a:xfrm>
                <a:off x="2539" y="1243"/>
                <a:ext cx="575" cy="257"/>
              </a:xfrm>
              <a:prstGeom prst="rect">
                <a:avLst/>
              </a:prstGeom>
              <a:noFill/>
              <a:ln w="9525" algn="ctr">
                <a:noFill/>
                <a:miter lim="800000"/>
                <a:headEnd/>
                <a:tailEnd/>
              </a:ln>
            </p:spPr>
            <p:txBody>
              <a:bodyPr wrap="square">
                <a:spAutoFit/>
              </a:bodyPr>
              <a:lstStyle/>
              <a:p>
                <a:pPr>
                  <a:spcBef>
                    <a:spcPct val="50000"/>
                  </a:spcBef>
                </a:pPr>
                <a:r>
                  <a:rPr lang="es-ES" sz="1400" dirty="0">
                    <a:solidFill>
                      <a:schemeClr val="tx1"/>
                    </a:solidFill>
                  </a:rPr>
                  <a:t>Navegador web</a:t>
                </a:r>
              </a:p>
            </p:txBody>
          </p:sp>
          <p:sp>
            <p:nvSpPr>
              <p:cNvPr id="6181" name="Text Box 40"/>
              <p:cNvSpPr txBox="1">
                <a:spLocks noChangeArrowheads="1"/>
              </p:cNvSpPr>
              <p:nvPr/>
            </p:nvSpPr>
            <p:spPr bwMode="auto">
              <a:xfrm>
                <a:off x="1412" y="1247"/>
                <a:ext cx="677" cy="257"/>
              </a:xfrm>
              <a:prstGeom prst="rect">
                <a:avLst/>
              </a:prstGeom>
              <a:noFill/>
              <a:ln w="9525" algn="ctr">
                <a:noFill/>
                <a:miter lim="800000"/>
                <a:headEnd/>
                <a:tailEnd/>
              </a:ln>
            </p:spPr>
            <p:txBody>
              <a:bodyPr wrap="square">
                <a:spAutoFit/>
              </a:bodyPr>
              <a:lstStyle/>
              <a:p>
                <a:pPr>
                  <a:spcBef>
                    <a:spcPct val="50000"/>
                  </a:spcBef>
                </a:pPr>
                <a:r>
                  <a:rPr lang="es-ES" sz="1400" dirty="0" smtClean="0">
                    <a:solidFill>
                      <a:schemeClr val="tx1"/>
                    </a:solidFill>
                  </a:rPr>
                  <a:t>Procesador </a:t>
                </a:r>
              </a:p>
              <a:p>
                <a:pPr>
                  <a:spcBef>
                    <a:spcPts val="0"/>
                  </a:spcBef>
                </a:pPr>
                <a:r>
                  <a:rPr lang="es-ES" sz="1400" dirty="0" smtClean="0">
                    <a:solidFill>
                      <a:schemeClr val="tx1"/>
                    </a:solidFill>
                  </a:rPr>
                  <a:t>de textos</a:t>
                </a:r>
                <a:endParaRPr lang="es-ES" sz="1400" dirty="0">
                  <a:solidFill>
                    <a:schemeClr val="tx1"/>
                  </a:solidFill>
                </a:endParaRPr>
              </a:p>
            </p:txBody>
          </p:sp>
          <p:sp>
            <p:nvSpPr>
              <p:cNvPr id="6182" name="AutoShape 25"/>
              <p:cNvSpPr>
                <a:spLocks/>
              </p:cNvSpPr>
              <p:nvPr/>
            </p:nvSpPr>
            <p:spPr bwMode="auto">
              <a:xfrm>
                <a:off x="3703" y="2176"/>
                <a:ext cx="56" cy="878"/>
              </a:xfrm>
              <a:prstGeom prst="rightBrace">
                <a:avLst>
                  <a:gd name="adj1" fmla="val 130655"/>
                  <a:gd name="adj2" fmla="val 50000"/>
                </a:avLst>
              </a:prstGeom>
              <a:noFill/>
              <a:ln w="9525">
                <a:solidFill>
                  <a:schemeClr val="tx1"/>
                </a:solidFill>
                <a:round/>
                <a:headEnd/>
                <a:tailEnd/>
              </a:ln>
            </p:spPr>
            <p:txBody>
              <a:bodyPr wrap="none" anchor="ctr">
                <a:spAutoFit/>
              </a:bodyPr>
              <a:lstStyle/>
              <a:p>
                <a:endParaRPr lang="es-ES"/>
              </a:p>
            </p:txBody>
          </p:sp>
        </p:grpSp>
      </p:grpSp>
      <p:sp>
        <p:nvSpPr>
          <p:cNvPr id="6153" name="AutoShape 9"/>
          <p:cNvSpPr>
            <a:spLocks noChangeArrowheads="1"/>
          </p:cNvSpPr>
          <p:nvPr/>
        </p:nvSpPr>
        <p:spPr bwMode="auto">
          <a:xfrm>
            <a:off x="297874" y="4260273"/>
            <a:ext cx="1230094" cy="1536700"/>
          </a:xfrm>
          <a:prstGeom prst="wedgeRoundRectCallout">
            <a:avLst>
              <a:gd name="adj1" fmla="val 96583"/>
              <a:gd name="adj2" fmla="val -20370"/>
              <a:gd name="adj3" fmla="val 16667"/>
            </a:avLst>
          </a:prstGeom>
          <a:noFill/>
          <a:ln w="9525">
            <a:solidFill>
              <a:schemeClr val="tx1"/>
            </a:solidFill>
            <a:miter lim="800000"/>
            <a:headEnd/>
            <a:tailEnd/>
          </a:ln>
        </p:spPr>
        <p:txBody>
          <a:bodyPr/>
          <a:lstStyle/>
          <a:p>
            <a:endParaRPr lang="es-ES" sz="1600">
              <a:solidFill>
                <a:schemeClr val="tx1"/>
              </a:solidFill>
              <a:latin typeface="Helvetica" pitchFamily="2" charset="0"/>
            </a:endParaRPr>
          </a:p>
        </p:txBody>
      </p:sp>
      <p:sp>
        <p:nvSpPr>
          <p:cNvPr id="6155" name="Text Box 26"/>
          <p:cNvSpPr txBox="1">
            <a:spLocks noChangeArrowheads="1"/>
          </p:cNvSpPr>
          <p:nvPr/>
        </p:nvSpPr>
        <p:spPr bwMode="auto">
          <a:xfrm>
            <a:off x="6353551" y="3983324"/>
            <a:ext cx="2506431" cy="707886"/>
          </a:xfrm>
          <a:prstGeom prst="rect">
            <a:avLst/>
          </a:prstGeom>
          <a:noFill/>
          <a:ln w="9525" algn="ctr">
            <a:noFill/>
            <a:miter lim="800000"/>
            <a:headEnd/>
            <a:tailEnd/>
          </a:ln>
        </p:spPr>
        <p:txBody>
          <a:bodyPr wrap="square">
            <a:spAutoFit/>
          </a:bodyPr>
          <a:lstStyle/>
          <a:p>
            <a:pPr>
              <a:spcBef>
                <a:spcPct val="50000"/>
              </a:spcBef>
            </a:pPr>
            <a:r>
              <a:rPr lang="es-ES" sz="2000" dirty="0" smtClean="0">
                <a:solidFill>
                  <a:schemeClr val="tx1"/>
                </a:solidFill>
              </a:rPr>
              <a:t>Drivers y Acceso </a:t>
            </a:r>
            <a:r>
              <a:rPr lang="es-ES" sz="2000" dirty="0">
                <a:solidFill>
                  <a:schemeClr val="tx1"/>
                </a:solidFill>
              </a:rPr>
              <a:t>a periféricos</a:t>
            </a:r>
          </a:p>
        </p:txBody>
      </p:sp>
      <p:sp>
        <p:nvSpPr>
          <p:cNvPr id="40" name="39 Rectángulo"/>
          <p:cNvSpPr/>
          <p:nvPr/>
        </p:nvSpPr>
        <p:spPr>
          <a:xfrm>
            <a:off x="1240014" y="3317006"/>
            <a:ext cx="5126152" cy="651165"/>
          </a:xfrm>
          <a:prstGeom prst="rect">
            <a:avLst/>
          </a:prstGeom>
          <a:solidFill>
            <a:srgbClr val="FF00FF">
              <a:alpha val="2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3" name="Text Box 40"/>
          <p:cNvSpPr txBox="1">
            <a:spLocks noChangeArrowheads="1"/>
          </p:cNvSpPr>
          <p:nvPr/>
        </p:nvSpPr>
        <p:spPr bwMode="auto">
          <a:xfrm>
            <a:off x="2774075" y="2070112"/>
            <a:ext cx="1205128" cy="523220"/>
          </a:xfrm>
          <a:prstGeom prst="rect">
            <a:avLst/>
          </a:prstGeom>
          <a:noFill/>
          <a:ln w="9525" algn="ctr">
            <a:noFill/>
            <a:miter lim="800000"/>
            <a:headEnd/>
            <a:tailEnd/>
          </a:ln>
        </p:spPr>
        <p:txBody>
          <a:bodyPr wrap="square">
            <a:spAutoFit/>
          </a:bodyPr>
          <a:lstStyle/>
          <a:p>
            <a:pPr>
              <a:spcBef>
                <a:spcPct val="50000"/>
              </a:spcBef>
            </a:pPr>
            <a:r>
              <a:rPr lang="es-ES" sz="1400" dirty="0" smtClean="0">
                <a:solidFill>
                  <a:schemeClr val="tx1"/>
                </a:solidFill>
              </a:rPr>
              <a:t>Programa</a:t>
            </a:r>
          </a:p>
          <a:p>
            <a:pPr>
              <a:spcBef>
                <a:spcPts val="0"/>
              </a:spcBef>
            </a:pPr>
            <a:r>
              <a:rPr lang="es-ES" sz="1400" dirty="0" smtClean="0">
                <a:solidFill>
                  <a:schemeClr val="tx1"/>
                </a:solidFill>
              </a:rPr>
              <a:t> de gestión</a:t>
            </a:r>
            <a:endParaRPr lang="es-ES" sz="1400" dirty="0">
              <a:solidFill>
                <a:schemeClr val="tx1"/>
              </a:solidFill>
            </a:endParaRPr>
          </a:p>
        </p:txBody>
      </p:sp>
      <p:sp>
        <p:nvSpPr>
          <p:cNvPr id="44" name="Text Box 39"/>
          <p:cNvSpPr txBox="1">
            <a:spLocks noChangeArrowheads="1"/>
          </p:cNvSpPr>
          <p:nvPr/>
        </p:nvSpPr>
        <p:spPr bwMode="auto">
          <a:xfrm>
            <a:off x="4980680" y="1889977"/>
            <a:ext cx="540357" cy="523220"/>
          </a:xfrm>
          <a:prstGeom prst="rect">
            <a:avLst/>
          </a:prstGeom>
          <a:noFill/>
          <a:ln w="9525" algn="ctr">
            <a:noFill/>
            <a:miter lim="800000"/>
            <a:headEnd/>
            <a:tailEnd/>
          </a:ln>
        </p:spPr>
        <p:txBody>
          <a:bodyPr wrap="square">
            <a:spAutoFit/>
          </a:bodyPr>
          <a:lstStyle/>
          <a:p>
            <a:pPr>
              <a:spcBef>
                <a:spcPct val="50000"/>
              </a:spcBef>
            </a:pPr>
            <a:r>
              <a:rPr lang="es-ES" sz="2800" dirty="0" smtClean="0">
                <a:solidFill>
                  <a:schemeClr val="tx1"/>
                </a:solidFill>
              </a:rPr>
              <a:t>…</a:t>
            </a:r>
            <a:endParaRPr lang="es-ES" sz="2800" dirty="0">
              <a:solidFill>
                <a:schemeClr val="tx1"/>
              </a:solidFill>
            </a:endParaRPr>
          </a:p>
        </p:txBody>
      </p:sp>
      <p:cxnSp>
        <p:nvCxnSpPr>
          <p:cNvPr id="46" name="45 Conector recto"/>
          <p:cNvCxnSpPr/>
          <p:nvPr/>
        </p:nvCxnSpPr>
        <p:spPr>
          <a:xfrm>
            <a:off x="1918855" y="2665845"/>
            <a:ext cx="378229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8" name="47 Conector recto"/>
          <p:cNvCxnSpPr/>
          <p:nvPr/>
        </p:nvCxnSpPr>
        <p:spPr>
          <a:xfrm>
            <a:off x="3193473" y="2665845"/>
            <a:ext cx="13854" cy="692728"/>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2" name="51 Conector recto"/>
          <p:cNvCxnSpPr/>
          <p:nvPr/>
        </p:nvCxnSpPr>
        <p:spPr>
          <a:xfrm>
            <a:off x="4260303" y="2651985"/>
            <a:ext cx="13854" cy="692728"/>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6150" name="Line 10"/>
          <p:cNvSpPr>
            <a:spLocks noChangeShapeType="1"/>
          </p:cNvSpPr>
          <p:nvPr/>
        </p:nvSpPr>
        <p:spPr bwMode="auto">
          <a:xfrm flipV="1">
            <a:off x="5412509" y="4175991"/>
            <a:ext cx="1106055" cy="62944"/>
          </a:xfrm>
          <a:prstGeom prst="line">
            <a:avLst/>
          </a:prstGeom>
          <a:noFill/>
          <a:ln w="38100">
            <a:solidFill>
              <a:schemeClr val="tx1"/>
            </a:solidFill>
            <a:round/>
            <a:headEnd/>
            <a:tailEnd type="triangle" w="med" len="med"/>
          </a:ln>
        </p:spPr>
        <p:txBody>
          <a:bodyPr/>
          <a:lstStyle/>
          <a:p>
            <a:endParaRPr lang="es-AR"/>
          </a:p>
        </p:txBody>
      </p:sp>
      <p:sp>
        <p:nvSpPr>
          <p:cNvPr id="35" name="Rectangle 14"/>
          <p:cNvSpPr txBox="1">
            <a:spLocks noChangeArrowheads="1"/>
          </p:cNvSpPr>
          <p:nvPr/>
        </p:nvSpPr>
        <p:spPr>
          <a:xfrm>
            <a:off x="519546" y="1117600"/>
            <a:ext cx="2414154" cy="6731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2000" b="0" i="0" u="none" strike="noStrike" kern="1200" cap="none" spc="0" normalizeH="0" baseline="0" noProof="0" dirty="0" smtClean="0">
                <a:ln>
                  <a:noFill/>
                </a:ln>
                <a:solidFill>
                  <a:schemeClr val="tx1"/>
                </a:solidFill>
                <a:effectLst/>
                <a:uLnTx/>
                <a:uFillTx/>
                <a:latin typeface="Arial" pitchFamily="34" charset="0"/>
                <a:ea typeface="+mj-ea"/>
                <a:cs typeface="Arial" pitchFamily="34" charset="0"/>
              </a:rPr>
              <a:t>Ubicación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33726"/>
          </a:xfrm>
        </p:spPr>
        <p:txBody>
          <a:bodyPr>
            <a:normAutofit/>
          </a:bodyPr>
          <a:lstStyle/>
          <a:p>
            <a:r>
              <a:rPr lang="es-ES_tradnl" sz="4000" b="1" dirty="0" smtClean="0">
                <a:solidFill>
                  <a:schemeClr val="accent2">
                    <a:lumMod val="75000"/>
                  </a:schemeClr>
                </a:solidFill>
                <a:latin typeface="Arial Unicode MS"/>
                <a:ea typeface="Arial Unicode MS"/>
                <a:cs typeface="Arial Unicode MS"/>
              </a:rPr>
              <a:t>Introducción: </a:t>
            </a:r>
            <a:r>
              <a:rPr lang="es-AR" sz="4000" b="1" dirty="0" smtClean="0">
                <a:solidFill>
                  <a:schemeClr val="accent2">
                    <a:lumMod val="75000"/>
                  </a:schemeClr>
                </a:solidFill>
                <a:latin typeface="Arial Unicode MS"/>
                <a:ea typeface="Arial Unicode MS"/>
                <a:cs typeface="Arial Unicode MS"/>
              </a:rPr>
              <a:t>Funciones del SO</a:t>
            </a:r>
            <a:endParaRPr lang="es-AR" sz="4000" b="1" dirty="0">
              <a:solidFill>
                <a:schemeClr val="accent2">
                  <a:lumMod val="75000"/>
                </a:schemeClr>
              </a:solidFill>
              <a:latin typeface="Arial Unicode MS"/>
              <a:ea typeface="Arial Unicode MS"/>
              <a:cs typeface="Arial Unicode MS"/>
            </a:endParaRPr>
          </a:p>
        </p:txBody>
      </p:sp>
      <p:sp>
        <p:nvSpPr>
          <p:cNvPr id="3" name="2 Marcador de contenido"/>
          <p:cNvSpPr>
            <a:spLocks noGrp="1"/>
          </p:cNvSpPr>
          <p:nvPr>
            <p:ph idx="1"/>
          </p:nvPr>
        </p:nvSpPr>
        <p:spPr>
          <a:xfrm>
            <a:off x="193964" y="1600200"/>
            <a:ext cx="8492836" cy="4525963"/>
          </a:xfrm>
        </p:spPr>
        <p:txBody>
          <a:bodyPr>
            <a:normAutofit lnSpcReduction="10000"/>
          </a:bodyPr>
          <a:lstStyle/>
          <a:p>
            <a:r>
              <a:rPr lang="es-AR" b="1" dirty="0" smtClean="0">
                <a:solidFill>
                  <a:schemeClr val="accent2">
                    <a:lumMod val="75000"/>
                  </a:schemeClr>
                </a:solidFill>
                <a:latin typeface="Arial Unicode MS"/>
                <a:ea typeface="Arial Unicode MS"/>
                <a:cs typeface="Arial Unicode MS"/>
              </a:rPr>
              <a:t>Extender la máquina: </a:t>
            </a:r>
          </a:p>
          <a:p>
            <a:pPr>
              <a:buNone/>
            </a:pPr>
            <a:r>
              <a:rPr lang="es-AR" sz="2800" dirty="0" smtClean="0">
                <a:solidFill>
                  <a:schemeClr val="tx2">
                    <a:lumMod val="60000"/>
                    <a:lumOff val="40000"/>
                  </a:schemeClr>
                </a:solidFill>
                <a:latin typeface="Arial" pitchFamily="34" charset="0"/>
                <a:cs typeface="Arial" pitchFamily="34" charset="0"/>
              </a:rPr>
              <a:t>	</a:t>
            </a:r>
            <a:r>
              <a:rPr lang="es-AR" sz="2000" dirty="0" smtClean="0">
                <a:latin typeface="Arial" pitchFamily="34" charset="0"/>
                <a:cs typeface="Arial" pitchFamily="34" charset="0"/>
              </a:rPr>
              <a:t>Presenta una máquina virtual, se encarga de presentar una interfaz para el usuario. Esta interfaz puede tomar diferentes formas: interfaz de línea de comandos (CLI, </a:t>
            </a:r>
            <a:r>
              <a:rPr lang="es-AR" sz="2000" dirty="0" err="1" smtClean="0">
                <a:latin typeface="Arial" pitchFamily="34" charset="0"/>
                <a:cs typeface="Arial" pitchFamily="34" charset="0"/>
              </a:rPr>
              <a:t>command</a:t>
            </a:r>
            <a:r>
              <a:rPr lang="es-AR" sz="2000" dirty="0" smtClean="0">
                <a:latin typeface="Arial" pitchFamily="34" charset="0"/>
                <a:cs typeface="Arial" pitchFamily="34" charset="0"/>
              </a:rPr>
              <a:t>-line interface), interfaz de proceso por lotes, en la que los comandos y las directivas para controlar dichos comandos se introducen en </a:t>
            </a:r>
            <a:r>
              <a:rPr lang="es-AR" sz="2000" dirty="0" err="1" smtClean="0">
                <a:latin typeface="Arial" pitchFamily="34" charset="0"/>
                <a:cs typeface="Arial" pitchFamily="34" charset="0"/>
              </a:rPr>
              <a:t>archivosy</a:t>
            </a:r>
            <a:r>
              <a:rPr lang="es-AR" sz="2000" dirty="0" smtClean="0">
                <a:latin typeface="Arial" pitchFamily="34" charset="0"/>
                <a:cs typeface="Arial" pitchFamily="34" charset="0"/>
              </a:rPr>
              <a:t>  luego dichos archivos se ejecutan o lo que es muy común en la actualizad una interfaz gráfica de usuario (GUI, </a:t>
            </a:r>
            <a:r>
              <a:rPr lang="es-AR" sz="2000" dirty="0" err="1" smtClean="0">
                <a:latin typeface="Arial" pitchFamily="34" charset="0"/>
                <a:cs typeface="Arial" pitchFamily="34" charset="0"/>
              </a:rPr>
              <a:t>graphical</a:t>
            </a:r>
            <a:r>
              <a:rPr lang="es-AR" sz="2000" dirty="0" smtClean="0">
                <a:latin typeface="Arial" pitchFamily="34" charset="0"/>
                <a:cs typeface="Arial" pitchFamily="34" charset="0"/>
              </a:rPr>
              <a:t> </a:t>
            </a:r>
            <a:r>
              <a:rPr lang="es-AR" sz="2000" dirty="0" err="1" smtClean="0">
                <a:latin typeface="Arial" pitchFamily="34" charset="0"/>
                <a:cs typeface="Arial" pitchFamily="34" charset="0"/>
              </a:rPr>
              <a:t>user</a:t>
            </a:r>
            <a:r>
              <a:rPr lang="es-AR" sz="2000" dirty="0" smtClean="0">
                <a:latin typeface="Arial" pitchFamily="34" charset="0"/>
                <a:cs typeface="Arial" pitchFamily="34" charset="0"/>
              </a:rPr>
              <a:t> interface). </a:t>
            </a:r>
          </a:p>
          <a:p>
            <a:pPr>
              <a:buNone/>
            </a:pPr>
            <a:endParaRPr lang="es-AR" sz="2000" dirty="0">
              <a:latin typeface="Arial" pitchFamily="34" charset="0"/>
              <a:cs typeface="Arial" pitchFamily="34" charset="0"/>
            </a:endParaRPr>
          </a:p>
          <a:p>
            <a:pPr>
              <a:buNone/>
            </a:pPr>
            <a:r>
              <a:rPr lang="es-AR" sz="2000" dirty="0" smtClean="0">
                <a:latin typeface="Arial" pitchFamily="34" charset="0"/>
                <a:cs typeface="Arial" pitchFamily="34" charset="0"/>
              </a:rPr>
              <a:t>	Crea  </a:t>
            </a:r>
            <a:r>
              <a:rPr lang="es-AR" sz="2000" b="1" dirty="0" smtClean="0">
                <a:solidFill>
                  <a:srgbClr val="FF0000"/>
                </a:solidFill>
                <a:latin typeface="Arial" pitchFamily="34" charset="0"/>
                <a:cs typeface="Arial" pitchFamily="34" charset="0"/>
              </a:rPr>
              <a:t>abstracciones</a:t>
            </a:r>
            <a:r>
              <a:rPr lang="es-AR" sz="2000" dirty="0" smtClean="0">
                <a:solidFill>
                  <a:srgbClr val="FF0000"/>
                </a:solidFill>
                <a:latin typeface="Arial" pitchFamily="34" charset="0"/>
                <a:cs typeface="Arial" pitchFamily="34" charset="0"/>
              </a:rPr>
              <a:t> </a:t>
            </a:r>
            <a:r>
              <a:rPr lang="es-AR" sz="2000" dirty="0" smtClean="0">
                <a:latin typeface="Arial" pitchFamily="34" charset="0"/>
                <a:cs typeface="Arial" pitchFamily="34" charset="0"/>
              </a:rPr>
              <a:t>(archivos, procesos, memoria, etc.) ocultando las características del hardware como las interrupciones, administración de memoria, temporizadores y otras funciones de bajo nivel.  </a:t>
            </a:r>
          </a:p>
          <a:p>
            <a:endParaRPr lang="es-AR" dirty="0" smtClean="0">
              <a:latin typeface="Arial" pitchFamily="34" charset="0"/>
              <a:cs typeface="Arial" pitchFamily="34" charset="0"/>
            </a:endParaRPr>
          </a:p>
          <a:p>
            <a:endParaRPr lang="es-AR" sz="2800" dirty="0">
              <a:latin typeface="Arial" pitchFamily="34" charset="0"/>
              <a:cs typeface="Arial" pitchFamily="34" charset="0"/>
            </a:endParaRPr>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191492"/>
            <a:ext cx="8229600" cy="4934672"/>
          </a:xfrm>
        </p:spPr>
        <p:txBody>
          <a:bodyPr>
            <a:normAutofit/>
          </a:bodyPr>
          <a:lstStyle/>
          <a:p>
            <a:r>
              <a:rPr lang="es-AR" b="1" dirty="0" smtClean="0">
                <a:solidFill>
                  <a:schemeClr val="accent2">
                    <a:lumMod val="75000"/>
                  </a:schemeClr>
                </a:solidFill>
                <a:latin typeface="Arial Unicode MS"/>
                <a:ea typeface="Arial Unicode MS"/>
                <a:cs typeface="Arial Unicode MS"/>
              </a:rPr>
              <a:t>Administrar hardware:  </a:t>
            </a:r>
          </a:p>
          <a:p>
            <a:pPr>
              <a:buNone/>
            </a:pPr>
            <a:r>
              <a:rPr lang="es-AR" sz="2000" dirty="0" smtClean="0">
                <a:solidFill>
                  <a:srgbClr val="C00000"/>
                </a:solidFill>
                <a:latin typeface="Arial" pitchFamily="34" charset="0"/>
                <a:cs typeface="Arial" pitchFamily="34" charset="0"/>
              </a:rPr>
              <a:t>Gestor de recursos: </a:t>
            </a:r>
            <a:r>
              <a:rPr lang="es-AR" sz="2000" dirty="0" smtClean="0">
                <a:latin typeface="Arial" pitchFamily="34" charset="0"/>
                <a:cs typeface="Arial" pitchFamily="34" charset="0"/>
              </a:rPr>
              <a:t>CPU, memoria, dispositivos de almacenamiento secundario y periféricos de entrada y de salida.</a:t>
            </a:r>
          </a:p>
          <a:p>
            <a:pPr>
              <a:buNone/>
            </a:pPr>
            <a:r>
              <a:rPr lang="es-AR" sz="2000" dirty="0" smtClean="0">
                <a:solidFill>
                  <a:srgbClr val="C00000"/>
                </a:solidFill>
                <a:latin typeface="Arial" pitchFamily="34" charset="0"/>
                <a:cs typeface="Arial" pitchFamily="34" charset="0"/>
              </a:rPr>
              <a:t>Gestor de información o de archivos: </a:t>
            </a:r>
            <a:r>
              <a:rPr lang="es-AR" sz="2000" dirty="0" smtClean="0">
                <a:latin typeface="Arial" pitchFamily="34" charset="0"/>
                <a:cs typeface="Arial" pitchFamily="34" charset="0"/>
              </a:rPr>
              <a:t>Controla la creación, borrado, copiado y acceso de archivos de datos y de programas.</a:t>
            </a:r>
          </a:p>
          <a:p>
            <a:pPr>
              <a:buNone/>
            </a:pPr>
            <a:r>
              <a:rPr lang="es-AR" sz="2000" dirty="0" smtClean="0">
                <a:solidFill>
                  <a:srgbClr val="C00000"/>
                </a:solidFill>
                <a:latin typeface="Arial" pitchFamily="34" charset="0"/>
                <a:cs typeface="Arial" pitchFamily="34" charset="0"/>
              </a:rPr>
              <a:t>Administración de tareas: </a:t>
            </a:r>
            <a:r>
              <a:rPr lang="es-AR" sz="2000" dirty="0" smtClean="0">
                <a:latin typeface="Arial" pitchFamily="34" charset="0"/>
                <a:cs typeface="Arial" pitchFamily="34" charset="0"/>
              </a:rPr>
              <a:t>Administra la información sobre los programas y procesos que se están ejecutando en la computadora. Puede cambiar la prioridad entre procesos, terminarlos y comprobar el uso de estos en la CPU, así como finalizar programas.</a:t>
            </a:r>
          </a:p>
          <a:p>
            <a:pPr>
              <a:buNone/>
            </a:pPr>
            <a:r>
              <a:rPr lang="es-AR" sz="2000" dirty="0" smtClean="0">
                <a:solidFill>
                  <a:srgbClr val="C00000"/>
                </a:solidFill>
                <a:latin typeface="Arial" pitchFamily="34" charset="0"/>
                <a:cs typeface="Arial" pitchFamily="34" charset="0"/>
              </a:rPr>
              <a:t>Servicio de soporte: </a:t>
            </a:r>
            <a:r>
              <a:rPr lang="es-AR" sz="2000" dirty="0" smtClean="0">
                <a:latin typeface="Arial" pitchFamily="34" charset="0"/>
                <a:cs typeface="Arial" pitchFamily="34" charset="0"/>
              </a:rPr>
              <a:t>Los Servicios de Soporte de cada sistema operativo dependen de las implementaciones añadidas a este, y pueden consistir en inclusión de utilidades nuevas, actualización de versiones, mejoras de seguridad, controladores de nuevos periféricos, o corrección de errores de software.</a:t>
            </a:r>
            <a:endParaRPr lang="es-AR" sz="2000" dirty="0">
              <a:latin typeface="Arial" pitchFamily="34" charset="0"/>
              <a:cs typeface="Arial" pitchFamily="34" charset="0"/>
            </a:endParaRPr>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5</a:t>
            </a:fld>
            <a:endParaRPr lang="en-US"/>
          </a:p>
        </p:txBody>
      </p:sp>
      <p:sp>
        <p:nvSpPr>
          <p:cNvPr id="7"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ES_tradnl" sz="4000" b="1" dirty="0" smtClean="0">
                <a:solidFill>
                  <a:schemeClr val="accent2">
                    <a:lumMod val="75000"/>
                  </a:schemeClr>
                </a:solidFill>
                <a:latin typeface="Arial Unicode MS"/>
                <a:ea typeface="Arial Unicode MS"/>
                <a:cs typeface="Arial Unicode MS"/>
              </a:rPr>
              <a:t>Introducción: </a:t>
            </a:r>
            <a:r>
              <a:rPr lang="es-AR" sz="4000" b="1" dirty="0" smtClean="0">
                <a:solidFill>
                  <a:schemeClr val="accent2">
                    <a:lumMod val="75000"/>
                  </a:schemeClr>
                </a:solidFill>
                <a:latin typeface="Arial Unicode MS"/>
                <a:ea typeface="Arial Unicode MS"/>
                <a:cs typeface="Arial Unicode MS"/>
              </a:rPr>
              <a:t>Funciones del SO</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35527" y="1191492"/>
            <a:ext cx="8631382" cy="4934672"/>
          </a:xfrm>
        </p:spPr>
        <p:txBody>
          <a:bodyPr>
            <a:normAutofit/>
          </a:bodyPr>
          <a:lstStyle/>
          <a:p>
            <a:pPr>
              <a:buNone/>
            </a:pPr>
            <a:r>
              <a:rPr lang="es-AR" sz="2000" dirty="0" smtClean="0">
                <a:latin typeface="Arial" pitchFamily="34" charset="0"/>
                <a:cs typeface="Arial" pitchFamily="34" charset="0"/>
              </a:rPr>
              <a:t>Para que el SO funcione adecuadamente, hay que impedir que los programas de usuario puedan realizar libremente ciertas operaciones:</a:t>
            </a:r>
          </a:p>
          <a:p>
            <a:pPr indent="280988"/>
            <a:r>
              <a:rPr lang="es-AR" sz="2000" dirty="0" smtClean="0">
                <a:latin typeface="Arial" pitchFamily="34" charset="0"/>
                <a:cs typeface="Arial" pitchFamily="34" charset="0"/>
              </a:rPr>
              <a:t>	acceso a la memoria del S.O. y de otros programas</a:t>
            </a:r>
          </a:p>
          <a:p>
            <a:pPr indent="280988"/>
            <a:r>
              <a:rPr lang="es-AR" sz="2000" dirty="0" smtClean="0">
                <a:latin typeface="Arial" pitchFamily="34" charset="0"/>
                <a:cs typeface="Arial" pitchFamily="34" charset="0"/>
              </a:rPr>
              <a:t>	acceso directo a los dispositivos de E/S</a:t>
            </a:r>
          </a:p>
          <a:p>
            <a:pPr indent="280988"/>
            <a:r>
              <a:rPr lang="es-AR" sz="2000" dirty="0" smtClean="0">
                <a:latin typeface="Arial" pitchFamily="34" charset="0"/>
                <a:cs typeface="Arial" pitchFamily="34" charset="0"/>
              </a:rPr>
              <a:t>	utilizar la CPU todo el tiempo que quieran</a:t>
            </a:r>
          </a:p>
          <a:p>
            <a:pPr>
              <a:buNone/>
            </a:pPr>
            <a:endParaRPr lang="es-AR" sz="2000" dirty="0">
              <a:latin typeface="Arial" pitchFamily="34" charset="0"/>
              <a:cs typeface="Arial" pitchFamily="34" charset="0"/>
            </a:endParaRPr>
          </a:p>
          <a:p>
            <a:pPr>
              <a:buNone/>
            </a:pPr>
            <a:r>
              <a:rPr lang="es-AR" sz="2000" dirty="0" smtClean="0">
                <a:latin typeface="Arial" pitchFamily="34" charset="0"/>
                <a:cs typeface="Arial" pitchFamily="34" charset="0"/>
              </a:rPr>
              <a:t>El hardware proporciona diferentes niveles de privilegios, esto lo logra con un</a:t>
            </a:r>
            <a:r>
              <a:rPr lang="es-AR" sz="2000" b="1" dirty="0" smtClean="0">
                <a:solidFill>
                  <a:srgbClr val="C00000"/>
                </a:solidFill>
                <a:latin typeface="Arial" pitchFamily="34" charset="0"/>
                <a:cs typeface="Arial" pitchFamily="34" charset="0"/>
              </a:rPr>
              <a:t> modo dual de operación </a:t>
            </a:r>
            <a:r>
              <a:rPr lang="es-AR" sz="2000" dirty="0" smtClean="0">
                <a:latin typeface="Arial" pitchFamily="34" charset="0"/>
                <a:cs typeface="Arial" pitchFamily="34" charset="0"/>
              </a:rPr>
              <a:t>o privilegios.</a:t>
            </a:r>
            <a:endParaRPr lang="es-AR" sz="2000" dirty="0">
              <a:latin typeface="Arial" pitchFamily="34" charset="0"/>
              <a:cs typeface="Arial" pitchFamily="34" charset="0"/>
            </a:endParaRPr>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6</a:t>
            </a:fld>
            <a:endParaRPr lang="en-US"/>
          </a:p>
        </p:txBody>
      </p:sp>
      <p:sp>
        <p:nvSpPr>
          <p:cNvPr id="7"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AR" sz="4000" b="1" dirty="0" smtClean="0">
                <a:solidFill>
                  <a:schemeClr val="accent2">
                    <a:lumMod val="75000"/>
                  </a:schemeClr>
                </a:solidFill>
                <a:latin typeface="Arial Unicode MS"/>
                <a:ea typeface="Arial Unicode MS"/>
                <a:cs typeface="Arial Unicode MS"/>
              </a:rPr>
              <a:t>Protección del hardware</a:t>
            </a:r>
          </a:p>
        </p:txBody>
      </p:sp>
      <p:sp>
        <p:nvSpPr>
          <p:cNvPr id="5" name="4 Rectángulo"/>
          <p:cNvSpPr/>
          <p:nvPr/>
        </p:nvSpPr>
        <p:spPr>
          <a:xfrm>
            <a:off x="734280" y="4502715"/>
            <a:ext cx="3574473" cy="595745"/>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solidFill>
                  <a:schemeClr val="tx1"/>
                </a:solidFill>
              </a:rPr>
              <a:t>Aplicaciones</a:t>
            </a:r>
            <a:endParaRPr lang="es-AR" dirty="0">
              <a:solidFill>
                <a:schemeClr val="tx1"/>
              </a:solidFill>
            </a:endParaRPr>
          </a:p>
        </p:txBody>
      </p:sp>
      <p:sp>
        <p:nvSpPr>
          <p:cNvPr id="8" name="7 Rectángulo"/>
          <p:cNvSpPr/>
          <p:nvPr/>
        </p:nvSpPr>
        <p:spPr>
          <a:xfrm>
            <a:off x="734280" y="5112315"/>
            <a:ext cx="3574473" cy="595745"/>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solidFill>
                  <a:schemeClr val="tx1"/>
                </a:solidFill>
              </a:rPr>
              <a:t>Sistema Operativo</a:t>
            </a:r>
            <a:endParaRPr lang="es-AR" dirty="0">
              <a:solidFill>
                <a:schemeClr val="tx1"/>
              </a:solidFill>
            </a:endParaRPr>
          </a:p>
        </p:txBody>
      </p:sp>
      <p:sp>
        <p:nvSpPr>
          <p:cNvPr id="9" name="8 Rectángulo"/>
          <p:cNvSpPr/>
          <p:nvPr/>
        </p:nvSpPr>
        <p:spPr>
          <a:xfrm>
            <a:off x="720425" y="5721918"/>
            <a:ext cx="3574473" cy="595745"/>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solidFill>
                  <a:schemeClr val="tx1"/>
                </a:solidFill>
              </a:rPr>
              <a:t>Hardware</a:t>
            </a:r>
            <a:endParaRPr lang="es-AR" dirty="0">
              <a:solidFill>
                <a:schemeClr val="tx1"/>
              </a:solidFill>
            </a:endParaRPr>
          </a:p>
        </p:txBody>
      </p:sp>
      <p:sp>
        <p:nvSpPr>
          <p:cNvPr id="10" name="9 CuadroTexto"/>
          <p:cNvSpPr txBox="1"/>
          <p:nvPr/>
        </p:nvSpPr>
        <p:spPr>
          <a:xfrm>
            <a:off x="5370221" y="4585854"/>
            <a:ext cx="3326552" cy="369332"/>
          </a:xfrm>
          <a:prstGeom prst="rect">
            <a:avLst/>
          </a:prstGeom>
          <a:noFill/>
        </p:spPr>
        <p:txBody>
          <a:bodyPr wrap="none" rtlCol="0">
            <a:spAutoFit/>
          </a:bodyPr>
          <a:lstStyle/>
          <a:p>
            <a:r>
              <a:rPr lang="es-AR" sz="1800" dirty="0" smtClean="0">
                <a:solidFill>
                  <a:schemeClr val="tx1"/>
                </a:solidFill>
                <a:latin typeface="Arial" pitchFamily="34" charset="0"/>
                <a:cs typeface="Arial" pitchFamily="34" charset="0"/>
              </a:rPr>
              <a:t>Modo usuario o no privilegiado</a:t>
            </a:r>
            <a:endParaRPr lang="es-AR" sz="1800" dirty="0">
              <a:solidFill>
                <a:schemeClr val="tx1"/>
              </a:solidFill>
              <a:latin typeface="Arial" pitchFamily="34" charset="0"/>
              <a:cs typeface="Arial" pitchFamily="34" charset="0"/>
            </a:endParaRPr>
          </a:p>
        </p:txBody>
      </p:sp>
      <p:sp>
        <p:nvSpPr>
          <p:cNvPr id="12" name="11 CuadroTexto"/>
          <p:cNvSpPr txBox="1"/>
          <p:nvPr/>
        </p:nvSpPr>
        <p:spPr>
          <a:xfrm>
            <a:off x="5220690" y="5597237"/>
            <a:ext cx="3570208" cy="923330"/>
          </a:xfrm>
          <a:prstGeom prst="rect">
            <a:avLst/>
          </a:prstGeom>
          <a:noFill/>
        </p:spPr>
        <p:txBody>
          <a:bodyPr wrap="none" rtlCol="0">
            <a:spAutoFit/>
          </a:bodyPr>
          <a:lstStyle/>
          <a:p>
            <a:r>
              <a:rPr lang="es-AR" sz="1800" dirty="0" smtClean="0">
                <a:solidFill>
                  <a:schemeClr val="tx1"/>
                </a:solidFill>
                <a:latin typeface="Arial" pitchFamily="34" charset="0"/>
                <a:cs typeface="Arial" pitchFamily="34" charset="0"/>
              </a:rPr>
              <a:t>Modo protegido ó modo </a:t>
            </a:r>
            <a:r>
              <a:rPr lang="es-AR" sz="1800" dirty="0" err="1" smtClean="0">
                <a:solidFill>
                  <a:schemeClr val="tx1"/>
                </a:solidFill>
                <a:latin typeface="Arial" pitchFamily="34" charset="0"/>
                <a:cs typeface="Arial" pitchFamily="34" charset="0"/>
              </a:rPr>
              <a:t>kernel</a:t>
            </a:r>
            <a:r>
              <a:rPr lang="es-AR" sz="1800" dirty="0" smtClean="0">
                <a:solidFill>
                  <a:schemeClr val="tx1"/>
                </a:solidFill>
                <a:latin typeface="Arial" pitchFamily="34" charset="0"/>
                <a:cs typeface="Arial" pitchFamily="34" charset="0"/>
              </a:rPr>
              <a:t> ó </a:t>
            </a:r>
          </a:p>
          <a:p>
            <a:r>
              <a:rPr lang="es-AR" sz="1800" dirty="0" smtClean="0">
                <a:solidFill>
                  <a:schemeClr val="tx1"/>
                </a:solidFill>
                <a:latin typeface="Arial" pitchFamily="34" charset="0"/>
                <a:cs typeface="Arial" pitchFamily="34" charset="0"/>
              </a:rPr>
              <a:t>Modo supervisor ó sistema</a:t>
            </a:r>
          </a:p>
          <a:p>
            <a:r>
              <a:rPr lang="es-AR" sz="1800" dirty="0" smtClean="0">
                <a:solidFill>
                  <a:schemeClr val="tx1"/>
                </a:solidFill>
                <a:latin typeface="Arial" pitchFamily="34" charset="0"/>
                <a:cs typeface="Arial" pitchFamily="34" charset="0"/>
              </a:rPr>
              <a:t> ó privilegiado</a:t>
            </a:r>
            <a:endParaRPr lang="es-AR" sz="1800" dirty="0">
              <a:solidFill>
                <a:schemeClr val="tx1"/>
              </a:solidFill>
              <a:latin typeface="Arial" pitchFamily="34" charset="0"/>
              <a:cs typeface="Arial" pitchFamily="34" charset="0"/>
            </a:endParaRPr>
          </a:p>
        </p:txBody>
      </p:sp>
      <p:cxnSp>
        <p:nvCxnSpPr>
          <p:cNvPr id="15" name="14 Conector recto de flecha"/>
          <p:cNvCxnSpPr>
            <a:stCxn id="10" idx="1"/>
            <a:endCxn id="5" idx="3"/>
          </p:cNvCxnSpPr>
          <p:nvPr/>
        </p:nvCxnSpPr>
        <p:spPr>
          <a:xfrm flipH="1">
            <a:off x="4308753" y="4770520"/>
            <a:ext cx="1061468" cy="300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a:stCxn id="12" idx="1"/>
            <a:endCxn id="8" idx="3"/>
          </p:cNvCxnSpPr>
          <p:nvPr/>
        </p:nvCxnSpPr>
        <p:spPr>
          <a:xfrm flipH="1" flipV="1">
            <a:off x="4308753" y="5410188"/>
            <a:ext cx="911937" cy="6487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35527" y="1191492"/>
            <a:ext cx="8631382" cy="4934672"/>
          </a:xfrm>
        </p:spPr>
        <p:txBody>
          <a:bodyPr>
            <a:normAutofit/>
          </a:bodyPr>
          <a:lstStyle/>
          <a:p>
            <a:pPr>
              <a:buNone/>
            </a:pPr>
            <a:r>
              <a:rPr lang="es-AR" sz="2000" b="1" dirty="0" smtClean="0">
                <a:solidFill>
                  <a:srgbClr val="C00000"/>
                </a:solidFill>
                <a:latin typeface="Arial" pitchFamily="34" charset="0"/>
                <a:cs typeface="Arial" pitchFamily="34" charset="0"/>
              </a:rPr>
              <a:t>Modo usuario:   </a:t>
            </a:r>
            <a:r>
              <a:rPr lang="es-AR" sz="2000" dirty="0" smtClean="0">
                <a:latin typeface="Arial" pitchFamily="34" charset="0"/>
                <a:cs typeface="Arial" pitchFamily="34" charset="0"/>
              </a:rPr>
              <a:t>ejecuta aplicaciones, repertorio limitado de registros y instrucciones, limitaciones en el direccionamiento de memoria- </a:t>
            </a:r>
          </a:p>
          <a:p>
            <a:pPr>
              <a:buNone/>
            </a:pPr>
            <a:r>
              <a:rPr lang="es-AR" sz="2000" b="1" dirty="0" smtClean="0">
                <a:solidFill>
                  <a:srgbClr val="C00000"/>
                </a:solidFill>
                <a:latin typeface="Arial" pitchFamily="34" charset="0"/>
                <a:cs typeface="Arial" pitchFamily="34" charset="0"/>
              </a:rPr>
              <a:t>Modo </a:t>
            </a:r>
            <a:r>
              <a:rPr lang="es-AR" sz="2000" b="1" dirty="0" err="1" smtClean="0">
                <a:solidFill>
                  <a:srgbClr val="C00000"/>
                </a:solidFill>
                <a:latin typeface="Arial" pitchFamily="34" charset="0"/>
                <a:cs typeface="Arial" pitchFamily="34" charset="0"/>
              </a:rPr>
              <a:t>kernel</a:t>
            </a:r>
            <a:r>
              <a:rPr lang="es-AR" sz="2000" b="1" dirty="0" smtClean="0">
                <a:solidFill>
                  <a:srgbClr val="C00000"/>
                </a:solidFill>
                <a:latin typeface="Arial" pitchFamily="34" charset="0"/>
                <a:cs typeface="Arial" pitchFamily="34" charset="0"/>
              </a:rPr>
              <a:t>: </a:t>
            </a:r>
            <a:r>
              <a:rPr lang="es-AR" sz="2000" dirty="0" smtClean="0">
                <a:latin typeface="Arial" pitchFamily="34" charset="0"/>
                <a:cs typeface="Arial" pitchFamily="34" charset="0"/>
              </a:rPr>
              <a:t>acceso total al hardware y  están accesibles todas las instrucciones, registros y el acceso a memoria.</a:t>
            </a:r>
          </a:p>
          <a:p>
            <a:pPr>
              <a:buNone/>
            </a:pPr>
            <a:r>
              <a:rPr lang="es-AR" sz="2000" dirty="0" smtClean="0">
                <a:latin typeface="Arial" pitchFamily="34" charset="0"/>
                <a:cs typeface="Arial" pitchFamily="34" charset="0"/>
              </a:rPr>
              <a:t>En los procesadores x86 hay 4 anillos jerárquicos de protección.</a:t>
            </a:r>
            <a:r>
              <a:rPr lang="es-AR" sz="2000" dirty="0">
                <a:latin typeface="Arial" pitchFamily="34" charset="0"/>
                <a:cs typeface="Arial" pitchFamily="34" charset="0"/>
              </a:rPr>
              <a:t> </a:t>
            </a:r>
            <a:endParaRPr lang="es-AR" sz="2000" dirty="0" smtClean="0">
              <a:latin typeface="Arial" pitchFamily="34" charset="0"/>
              <a:cs typeface="Arial" pitchFamily="34" charset="0"/>
            </a:endParaRPr>
          </a:p>
          <a:p>
            <a:pPr>
              <a:buNone/>
            </a:pPr>
            <a:r>
              <a:rPr lang="es-AR" sz="2000" dirty="0" smtClean="0">
                <a:latin typeface="Arial" pitchFamily="34" charset="0"/>
                <a:cs typeface="Arial" pitchFamily="34" charset="0"/>
              </a:rPr>
              <a:t> Anillo 0 (ring 0) es el nivel de privilegio más alto (modo </a:t>
            </a:r>
            <a:r>
              <a:rPr lang="es-AR" sz="2000" dirty="0" err="1" smtClean="0">
                <a:latin typeface="Arial" pitchFamily="34" charset="0"/>
                <a:cs typeface="Arial" pitchFamily="34" charset="0"/>
              </a:rPr>
              <a:t>kernel</a:t>
            </a:r>
            <a:r>
              <a:rPr lang="es-AR" sz="2000" dirty="0" smtClean="0">
                <a:latin typeface="Arial" pitchFamily="34" charset="0"/>
                <a:cs typeface="Arial" pitchFamily="34" charset="0"/>
              </a:rPr>
              <a:t>)</a:t>
            </a:r>
          </a:p>
          <a:p>
            <a:pPr>
              <a:buNone/>
            </a:pPr>
            <a:r>
              <a:rPr lang="es-AR" sz="2000" dirty="0" smtClean="0">
                <a:latin typeface="Arial" pitchFamily="34" charset="0"/>
                <a:cs typeface="Arial" pitchFamily="34" charset="0"/>
              </a:rPr>
              <a:t>Anillos 1 y 2 (</a:t>
            </a:r>
            <a:r>
              <a:rPr lang="es-AR" sz="2000" dirty="0" err="1" smtClean="0">
                <a:latin typeface="Arial" pitchFamily="34" charset="0"/>
                <a:cs typeface="Arial" pitchFamily="34" charset="0"/>
              </a:rPr>
              <a:t>rings</a:t>
            </a:r>
            <a:r>
              <a:rPr lang="es-AR" sz="2000" dirty="0" smtClean="0">
                <a:latin typeface="Arial" pitchFamily="34" charset="0"/>
                <a:cs typeface="Arial" pitchFamily="34" charset="0"/>
              </a:rPr>
              <a:t> 1 y 2) se utilizan para los controladores de dispositivos.</a:t>
            </a:r>
          </a:p>
          <a:p>
            <a:pPr>
              <a:buNone/>
            </a:pPr>
            <a:r>
              <a:rPr lang="es-AR" sz="2000" dirty="0" smtClean="0">
                <a:latin typeface="Arial" pitchFamily="34" charset="0"/>
                <a:cs typeface="Arial" pitchFamily="34" charset="0"/>
              </a:rPr>
              <a:t>Anillo 3 (ring 3) es el nivel de privilegio más bajo (modo usuario)</a:t>
            </a:r>
          </a:p>
          <a:p>
            <a:pPr>
              <a:buNone/>
            </a:pPr>
            <a:endParaRPr lang="es-AR" sz="2000" dirty="0" smtClean="0">
              <a:latin typeface="Arial" pitchFamily="34" charset="0"/>
              <a:cs typeface="Arial" pitchFamily="34" charset="0"/>
            </a:endParaRPr>
          </a:p>
          <a:p>
            <a:pPr>
              <a:buNone/>
            </a:pPr>
            <a:r>
              <a:rPr lang="es-AR" sz="2000" dirty="0" smtClean="0">
                <a:latin typeface="Arial" pitchFamily="34" charset="0"/>
                <a:cs typeface="Arial" pitchFamily="34" charset="0"/>
              </a:rPr>
              <a:t>En Linux, Windows XP y anteriores solamente</a:t>
            </a:r>
          </a:p>
          <a:p>
            <a:pPr>
              <a:buNone/>
            </a:pPr>
            <a:r>
              <a:rPr lang="es-AR" sz="2000" dirty="0" smtClean="0">
                <a:latin typeface="Arial" pitchFamily="34" charset="0"/>
                <a:cs typeface="Arial" pitchFamily="34" charset="0"/>
              </a:rPr>
              <a:t>se utilizan 2 anillos (el 0 para modo </a:t>
            </a:r>
            <a:r>
              <a:rPr lang="es-AR" sz="2000" dirty="0" err="1" smtClean="0">
                <a:latin typeface="Arial" pitchFamily="34" charset="0"/>
                <a:cs typeface="Arial" pitchFamily="34" charset="0"/>
              </a:rPr>
              <a:t>kernel</a:t>
            </a:r>
            <a:endParaRPr lang="es-AR" sz="2000" dirty="0">
              <a:latin typeface="Arial" pitchFamily="34" charset="0"/>
              <a:cs typeface="Arial" pitchFamily="34" charset="0"/>
            </a:endParaRPr>
          </a:p>
          <a:p>
            <a:pPr>
              <a:buNone/>
            </a:pPr>
            <a:r>
              <a:rPr lang="es-AR" sz="2000" dirty="0" smtClean="0">
                <a:latin typeface="Arial" pitchFamily="34" charset="0"/>
                <a:cs typeface="Arial" pitchFamily="34" charset="0"/>
              </a:rPr>
              <a:t>y el 3 para modo usuario, el 1 y 2 no se usan)</a:t>
            </a:r>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7</a:t>
            </a:fld>
            <a:endParaRPr lang="en-US"/>
          </a:p>
        </p:txBody>
      </p:sp>
      <p:sp>
        <p:nvSpPr>
          <p:cNvPr id="7"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AR" sz="4000" b="1" dirty="0" smtClean="0">
                <a:solidFill>
                  <a:schemeClr val="accent2">
                    <a:lumMod val="75000"/>
                  </a:schemeClr>
                </a:solidFill>
                <a:latin typeface="Arial Unicode MS"/>
                <a:ea typeface="Arial Unicode MS"/>
                <a:cs typeface="Arial Unicode MS"/>
              </a:rPr>
              <a:t>Protección – Modo dual </a:t>
            </a:r>
          </a:p>
        </p:txBody>
      </p:sp>
      <p:sp>
        <p:nvSpPr>
          <p:cNvPr id="162818" name="AutoShape 2" descr="Resultado de imagen para niveles de proteccion x86 anillos"/>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pic>
        <p:nvPicPr>
          <p:cNvPr id="162819" name="Picture 3"/>
          <p:cNvPicPr>
            <a:picLocks noChangeAspect="1" noChangeArrowheads="1"/>
          </p:cNvPicPr>
          <p:nvPr/>
        </p:nvPicPr>
        <p:blipFill>
          <a:blip r:embed="rId3" cstate="print"/>
          <a:srcRect/>
          <a:stretch>
            <a:fillRect/>
          </a:stretch>
        </p:blipFill>
        <p:spPr bwMode="auto">
          <a:xfrm>
            <a:off x="5711971" y="4228804"/>
            <a:ext cx="3168793" cy="241407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77091" y="1136070"/>
            <a:ext cx="8686800" cy="5003946"/>
          </a:xfrm>
        </p:spPr>
        <p:txBody>
          <a:bodyPr>
            <a:normAutofit/>
          </a:bodyPr>
          <a:lstStyle/>
          <a:p>
            <a:r>
              <a:rPr lang="es-AR" sz="2800" b="1" dirty="0" smtClean="0">
                <a:solidFill>
                  <a:schemeClr val="accent2">
                    <a:lumMod val="75000"/>
                  </a:schemeClr>
                </a:solidFill>
                <a:latin typeface="Arial Unicode MS"/>
                <a:ea typeface="Arial Unicode MS"/>
                <a:cs typeface="Arial Unicode MS"/>
              </a:rPr>
              <a:t>Generación 0 (hasta década de los 40)</a:t>
            </a:r>
          </a:p>
          <a:p>
            <a:pPr algn="just">
              <a:buNone/>
            </a:pPr>
            <a:r>
              <a:rPr lang="es-AR" sz="2000" dirty="0">
                <a:latin typeface="Arial" pitchFamily="34" charset="0"/>
                <a:cs typeface="Arial" pitchFamily="34" charset="0"/>
              </a:rPr>
              <a:t>Los primeros sistemas computacionales no </a:t>
            </a:r>
            <a:r>
              <a:rPr lang="es-AR" sz="2000" dirty="0" smtClean="0">
                <a:latin typeface="Arial" pitchFamily="34" charset="0"/>
                <a:cs typeface="Arial" pitchFamily="34" charset="0"/>
              </a:rPr>
              <a:t>tenían </a:t>
            </a:r>
            <a:r>
              <a:rPr lang="es-AR" sz="2000" dirty="0">
                <a:latin typeface="Arial" pitchFamily="34" charset="0"/>
                <a:cs typeface="Arial" pitchFamily="34" charset="0"/>
              </a:rPr>
              <a:t>sistemas operativos. </a:t>
            </a:r>
            <a:r>
              <a:rPr lang="es-AR" sz="2000" dirty="0" smtClean="0">
                <a:latin typeface="Arial" pitchFamily="34" charset="0"/>
                <a:cs typeface="Arial" pitchFamily="34" charset="0"/>
              </a:rPr>
              <a:t>Todas </a:t>
            </a:r>
            <a:r>
              <a:rPr lang="es-AR" sz="2000" dirty="0">
                <a:latin typeface="Arial" pitchFamily="34" charset="0"/>
                <a:cs typeface="Arial" pitchFamily="34" charset="0"/>
              </a:rPr>
              <a:t>las instrucciones eran codificadas a </a:t>
            </a:r>
            <a:r>
              <a:rPr lang="es-AR" sz="2000" dirty="0" smtClean="0">
                <a:latin typeface="Arial" pitchFamily="34" charset="0"/>
                <a:cs typeface="Arial" pitchFamily="34" charset="0"/>
              </a:rPr>
              <a:t>mano y una de las principales dificultades era que el programador debía utilizar lenguaje máquina (binario).</a:t>
            </a:r>
            <a:endParaRPr lang="es-AR" sz="2000" dirty="0">
              <a:latin typeface="Arial" pitchFamily="34" charset="0"/>
              <a:cs typeface="Arial" pitchFamily="34" charset="0"/>
            </a:endParaRPr>
          </a:p>
        </p:txBody>
      </p:sp>
      <p:sp>
        <p:nvSpPr>
          <p:cNvPr id="6" name="5 Marcador de número de diapositiva"/>
          <p:cNvSpPr>
            <a:spLocks noGrp="1"/>
          </p:cNvSpPr>
          <p:nvPr>
            <p:ph type="sldNum" sz="quarter" idx="12"/>
          </p:nvPr>
        </p:nvSpPr>
        <p:spPr>
          <a:xfrm>
            <a:off x="7606144" y="6356350"/>
            <a:ext cx="1080655" cy="365125"/>
          </a:xfrm>
        </p:spPr>
        <p:txBody>
          <a:bodyPr/>
          <a:lstStyle/>
          <a:p>
            <a:fld id="{02AE1CF4-E877-4C43-B0C9-9F5999A0129B}" type="slidenum">
              <a:rPr lang="en-US" smtClean="0"/>
              <a:pPr/>
              <a:t>8</a:t>
            </a:fld>
            <a:endParaRPr lang="en-US"/>
          </a:p>
        </p:txBody>
      </p:sp>
      <p:sp>
        <p:nvSpPr>
          <p:cNvPr id="7"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Evolución de los SO</a:t>
            </a:r>
            <a:endParaRPr lang="es-AR" sz="4000" b="1" dirty="0">
              <a:solidFill>
                <a:schemeClr val="accent2">
                  <a:lumMod val="75000"/>
                </a:schemeClr>
              </a:solidFill>
              <a:latin typeface="Arial Unicode MS"/>
              <a:ea typeface="Arial Unicode MS"/>
              <a:cs typeface="Arial Unicode MS"/>
            </a:endParaRPr>
          </a:p>
        </p:txBody>
      </p:sp>
      <p:sp>
        <p:nvSpPr>
          <p:cNvPr id="146434" name="AutoShape 2"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146436" name="AutoShape 4"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pic>
        <p:nvPicPr>
          <p:cNvPr id="146437" name="Picture 5"/>
          <p:cNvPicPr>
            <a:picLocks noChangeAspect="1" noChangeArrowheads="1"/>
          </p:cNvPicPr>
          <p:nvPr/>
        </p:nvPicPr>
        <p:blipFill>
          <a:blip r:embed="rId3" cstate="print"/>
          <a:srcRect/>
          <a:stretch>
            <a:fillRect/>
          </a:stretch>
        </p:blipFill>
        <p:spPr bwMode="auto">
          <a:xfrm>
            <a:off x="235523" y="2967022"/>
            <a:ext cx="2849801" cy="2463960"/>
          </a:xfrm>
          <a:prstGeom prst="rect">
            <a:avLst/>
          </a:prstGeom>
          <a:ln>
            <a:noFill/>
          </a:ln>
          <a:effectLst>
            <a:outerShdw blurRad="292100" dist="139700" dir="2700000" algn="tl" rotWithShape="0">
              <a:srgbClr val="333333">
                <a:alpha val="65000"/>
              </a:srgbClr>
            </a:outerShdw>
          </a:effectLst>
        </p:spPr>
      </p:pic>
      <p:pic>
        <p:nvPicPr>
          <p:cNvPr id="146438" name="Picture 6"/>
          <p:cNvPicPr>
            <a:picLocks noChangeAspect="1" noChangeArrowheads="1"/>
          </p:cNvPicPr>
          <p:nvPr/>
        </p:nvPicPr>
        <p:blipFill>
          <a:blip r:embed="rId4" cstate="print"/>
          <a:srcRect/>
          <a:stretch>
            <a:fillRect/>
          </a:stretch>
        </p:blipFill>
        <p:spPr bwMode="auto">
          <a:xfrm>
            <a:off x="2603359" y="4057931"/>
            <a:ext cx="3201695" cy="2564542"/>
          </a:xfrm>
          <a:prstGeom prst="rect">
            <a:avLst/>
          </a:prstGeom>
          <a:ln>
            <a:noFill/>
          </a:ln>
          <a:effectLst>
            <a:outerShdw blurRad="292100" dist="139700" dir="2700000" algn="tl" rotWithShape="0">
              <a:srgbClr val="333333">
                <a:alpha val="65000"/>
              </a:srgbClr>
            </a:outerShdw>
          </a:effectLst>
        </p:spPr>
      </p:pic>
      <p:pic>
        <p:nvPicPr>
          <p:cNvPr id="146439" name="Picture 7"/>
          <p:cNvPicPr>
            <a:picLocks noChangeAspect="1" noChangeArrowheads="1"/>
          </p:cNvPicPr>
          <p:nvPr/>
        </p:nvPicPr>
        <p:blipFill>
          <a:blip r:embed="rId5" cstate="print"/>
          <a:srcRect/>
          <a:stretch>
            <a:fillRect/>
          </a:stretch>
        </p:blipFill>
        <p:spPr bwMode="auto">
          <a:xfrm>
            <a:off x="5524070" y="3009465"/>
            <a:ext cx="3259712" cy="1798062"/>
          </a:xfrm>
          <a:prstGeom prst="rect">
            <a:avLst/>
          </a:prstGeom>
          <a:ln>
            <a:noFill/>
          </a:ln>
          <a:effectLst>
            <a:outerShdw blurRad="292100" dist="139700" dir="2700000" algn="tl" rotWithShape="0">
              <a:srgbClr val="333333">
                <a:alpha val="65000"/>
              </a:srgbClr>
            </a:outerShdw>
          </a:effectLst>
        </p:spPr>
      </p:pic>
      <p:sp>
        <p:nvSpPr>
          <p:cNvPr id="13" name="12 CuadroTexto"/>
          <p:cNvSpPr txBox="1"/>
          <p:nvPr/>
        </p:nvSpPr>
        <p:spPr>
          <a:xfrm>
            <a:off x="6476521" y="4849091"/>
            <a:ext cx="1335622" cy="276999"/>
          </a:xfrm>
          <a:prstGeom prst="rect">
            <a:avLst/>
          </a:prstGeom>
          <a:noFill/>
        </p:spPr>
        <p:txBody>
          <a:bodyPr wrap="none" rtlCol="0">
            <a:spAutoFit/>
          </a:bodyPr>
          <a:lstStyle/>
          <a:p>
            <a:r>
              <a:rPr lang="es-AR" sz="1200" dirty="0" smtClean="0">
                <a:solidFill>
                  <a:schemeClr val="tx1"/>
                </a:solidFill>
                <a:latin typeface="Arial" pitchFamily="34" charset="0"/>
                <a:cs typeface="Arial" pitchFamily="34" charset="0"/>
              </a:rPr>
              <a:t>Computadora Z3</a:t>
            </a:r>
            <a:endParaRPr lang="es-AR" sz="1200" dirty="0">
              <a:solidFill>
                <a:schemeClr val="tx1"/>
              </a:solidFill>
              <a:latin typeface="Arial" pitchFamily="34" charset="0"/>
              <a:cs typeface="Arial" pitchFamily="34" charset="0"/>
            </a:endParaRPr>
          </a:p>
        </p:txBody>
      </p:sp>
      <p:sp>
        <p:nvSpPr>
          <p:cNvPr id="14" name="13 CuadroTexto"/>
          <p:cNvSpPr txBox="1"/>
          <p:nvPr/>
        </p:nvSpPr>
        <p:spPr>
          <a:xfrm>
            <a:off x="7971884" y="692727"/>
            <a:ext cx="1172116" cy="261610"/>
          </a:xfrm>
          <a:prstGeom prst="rect">
            <a:avLst/>
          </a:prstGeom>
          <a:noFill/>
        </p:spPr>
        <p:txBody>
          <a:bodyPr wrap="none" rtlCol="0">
            <a:spAutoFit/>
          </a:bodyPr>
          <a:lstStyle/>
          <a:p>
            <a:r>
              <a:rPr lang="es-AR" sz="1100" dirty="0" err="1" smtClean="0">
                <a:solidFill>
                  <a:schemeClr val="tx1"/>
                </a:solidFill>
                <a:latin typeface="Arial" pitchFamily="34" charset="0"/>
                <a:cs typeface="Arial" pitchFamily="34" charset="0"/>
              </a:rPr>
              <a:t>Tanenbaum</a:t>
            </a:r>
            <a:r>
              <a:rPr lang="es-AR" sz="1100" dirty="0" smtClean="0">
                <a:solidFill>
                  <a:schemeClr val="tx1"/>
                </a:solidFill>
                <a:latin typeface="Arial" pitchFamily="34" charset="0"/>
                <a:cs typeface="Arial" pitchFamily="34" charset="0"/>
              </a:rPr>
              <a:t> 1.2</a:t>
            </a:r>
            <a:endParaRPr lang="es-AR" sz="11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77091" y="1136070"/>
            <a:ext cx="8686800" cy="5003946"/>
          </a:xfrm>
        </p:spPr>
        <p:txBody>
          <a:bodyPr>
            <a:normAutofit/>
          </a:bodyPr>
          <a:lstStyle/>
          <a:p>
            <a:r>
              <a:rPr lang="es-AR" sz="2800" b="1" dirty="0" smtClean="0">
                <a:solidFill>
                  <a:schemeClr val="accent2">
                    <a:lumMod val="75000"/>
                  </a:schemeClr>
                </a:solidFill>
                <a:latin typeface="Arial Unicode MS"/>
                <a:ea typeface="Arial Unicode MS"/>
                <a:cs typeface="Arial Unicode MS"/>
              </a:rPr>
              <a:t>Primera Generación (1945-1955) Tubos al vacío. </a:t>
            </a:r>
          </a:p>
          <a:p>
            <a:pPr algn="just">
              <a:buNone/>
            </a:pPr>
            <a:r>
              <a:rPr lang="es-AR" sz="2000" dirty="0" smtClean="0">
                <a:latin typeface="Arial" pitchFamily="34" charset="0"/>
                <a:cs typeface="Arial" pitchFamily="34" charset="0"/>
              </a:rPr>
              <a:t>Las computadoras hacían operaciones aritméticas y cálculos trigonométricos simples. El procesamiento era en serie</a:t>
            </a:r>
          </a:p>
          <a:p>
            <a:pPr algn="just">
              <a:buNone/>
            </a:pPr>
            <a:r>
              <a:rPr lang="es-AR" sz="2000" dirty="0" smtClean="0">
                <a:latin typeface="Arial" pitchFamily="34" charset="0"/>
                <a:cs typeface="Arial" pitchFamily="34" charset="0"/>
              </a:rPr>
              <a:t>Toda la programación se efectuaba en lenguaje de máquina puro (binario), a menudo se </a:t>
            </a:r>
            <a:r>
              <a:rPr lang="es-AR" sz="2000" dirty="0">
                <a:latin typeface="Arial" pitchFamily="34" charset="0"/>
                <a:cs typeface="Arial" pitchFamily="34" charset="0"/>
              </a:rPr>
              <a:t>conectaban miles de cables a tableros de conexiones (</a:t>
            </a:r>
            <a:r>
              <a:rPr lang="es-AR" sz="2000" dirty="0" err="1">
                <a:latin typeface="Arial" pitchFamily="34" charset="0"/>
                <a:cs typeface="Arial" pitchFamily="34" charset="0"/>
              </a:rPr>
              <a:t>plugboards</a:t>
            </a:r>
            <a:r>
              <a:rPr lang="es-AR" sz="2000" dirty="0">
                <a:latin typeface="Arial" pitchFamily="34" charset="0"/>
                <a:cs typeface="Arial" pitchFamily="34" charset="0"/>
              </a:rPr>
              <a:t>) para controlar las funciones básicas de la </a:t>
            </a:r>
            <a:r>
              <a:rPr lang="es-AR" sz="2000" dirty="0" smtClean="0">
                <a:latin typeface="Arial" pitchFamily="34" charset="0"/>
                <a:cs typeface="Arial" pitchFamily="34" charset="0"/>
              </a:rPr>
              <a:t>máquina. No había sistemas operativos. A principio de los 50 se comenzaron a usar tarjetas perforadas.</a:t>
            </a:r>
            <a:endParaRPr lang="es-AR" sz="2000" dirty="0">
              <a:latin typeface="Arial" pitchFamily="34" charset="0"/>
              <a:cs typeface="Arial" pitchFamily="34" charset="0"/>
            </a:endParaRPr>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9</a:t>
            </a:fld>
            <a:endParaRPr lang="en-US"/>
          </a:p>
        </p:txBody>
      </p:sp>
      <p:sp>
        <p:nvSpPr>
          <p:cNvPr id="7"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Evolución de los SO</a:t>
            </a:r>
            <a:endParaRPr lang="es-AR" sz="4000" b="1" dirty="0">
              <a:solidFill>
                <a:schemeClr val="accent2">
                  <a:lumMod val="75000"/>
                </a:schemeClr>
              </a:solidFill>
              <a:latin typeface="Arial Unicode MS"/>
              <a:ea typeface="Arial Unicode MS"/>
              <a:cs typeface="Arial Unicode MS"/>
            </a:endParaRPr>
          </a:p>
        </p:txBody>
      </p:sp>
      <p:sp>
        <p:nvSpPr>
          <p:cNvPr id="146434" name="AutoShape 2"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146436" name="AutoShape 4"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pic>
        <p:nvPicPr>
          <p:cNvPr id="166914" name="Picture 2" descr="http://2.bp.blogspot.com/-GuFArgk-cM0/TgAkxt4QJeI/AAAAAAAAAAk/QjDLw3GpSBU/s1600/d.jpg"/>
          <p:cNvPicPr>
            <a:picLocks noChangeAspect="1" noChangeArrowheads="1"/>
          </p:cNvPicPr>
          <p:nvPr/>
        </p:nvPicPr>
        <p:blipFill>
          <a:blip r:embed="rId3" cstate="print"/>
          <a:srcRect/>
          <a:stretch>
            <a:fillRect/>
          </a:stretch>
        </p:blipFill>
        <p:spPr bwMode="auto">
          <a:xfrm>
            <a:off x="443346" y="3872503"/>
            <a:ext cx="3665537" cy="2722262"/>
          </a:xfrm>
          <a:prstGeom prst="rect">
            <a:avLst/>
          </a:prstGeom>
          <a:ln>
            <a:noFill/>
          </a:ln>
          <a:effectLst>
            <a:outerShdw blurRad="292100" dist="139700" dir="2700000" algn="tl" rotWithShape="0">
              <a:srgbClr val="333333">
                <a:alpha val="65000"/>
              </a:srgbClr>
            </a:outerShdw>
          </a:effectLst>
        </p:spPr>
      </p:pic>
      <p:pic>
        <p:nvPicPr>
          <p:cNvPr id="166919" name="Picture 7" descr="Resultado de imagen para eniac"/>
          <p:cNvPicPr>
            <a:picLocks noChangeAspect="1" noChangeArrowheads="1"/>
          </p:cNvPicPr>
          <p:nvPr/>
        </p:nvPicPr>
        <p:blipFill>
          <a:blip r:embed="rId4" cstate="print"/>
          <a:srcRect/>
          <a:stretch>
            <a:fillRect/>
          </a:stretch>
        </p:blipFill>
        <p:spPr bwMode="auto">
          <a:xfrm>
            <a:off x="4308763" y="3540430"/>
            <a:ext cx="4267201" cy="3367025"/>
          </a:xfrm>
          <a:prstGeom prst="rect">
            <a:avLst/>
          </a:prstGeom>
          <a:ln>
            <a:noFill/>
          </a:ln>
          <a:effectLst>
            <a:outerShdw blurRad="292100" dist="139700" dir="2700000" algn="tl" rotWithShape="0">
              <a:srgbClr val="333333">
                <a:alpha val="65000"/>
              </a:srgbClr>
            </a:outerShdw>
          </a:effectLst>
        </p:spPr>
      </p:pic>
      <p:sp>
        <p:nvSpPr>
          <p:cNvPr id="15" name="14 CuadroTexto"/>
          <p:cNvSpPr txBox="1"/>
          <p:nvPr/>
        </p:nvSpPr>
        <p:spPr>
          <a:xfrm>
            <a:off x="9421091" y="1870364"/>
            <a:ext cx="3514773" cy="2677656"/>
          </a:xfrm>
          <a:prstGeom prst="rect">
            <a:avLst/>
          </a:prstGeom>
          <a:noFill/>
        </p:spPr>
        <p:txBody>
          <a:bodyPr wrap="square" rtlCol="0">
            <a:spAutoFit/>
          </a:bodyPr>
          <a:lstStyle/>
          <a:p>
            <a:pPr algn="l"/>
            <a:r>
              <a:rPr lang="es-AR" sz="1200" dirty="0">
                <a:solidFill>
                  <a:schemeClr val="tx1"/>
                </a:solidFill>
                <a:latin typeface="Arial" pitchFamily="34" charset="0"/>
                <a:cs typeface="Arial" pitchFamily="34" charset="0"/>
              </a:rPr>
              <a:t>Empleaban bulbos para procesar información.</a:t>
            </a:r>
            <a:r>
              <a:rPr lang="es-AR" sz="1200" dirty="0" smtClean="0">
                <a:solidFill>
                  <a:schemeClr val="tx1"/>
                </a:solidFill>
                <a:latin typeface="Arial" pitchFamily="34" charset="0"/>
                <a:cs typeface="Arial" pitchFamily="34" charset="0"/>
              </a:rPr>
              <a:t/>
            </a:r>
            <a:br>
              <a:rPr lang="es-AR" sz="1200" dirty="0" smtClean="0">
                <a:solidFill>
                  <a:schemeClr val="tx1"/>
                </a:solidFill>
                <a:latin typeface="Arial" pitchFamily="34" charset="0"/>
                <a:cs typeface="Arial" pitchFamily="34" charset="0"/>
              </a:rPr>
            </a:br>
            <a:r>
              <a:rPr lang="es-AR" sz="1200" dirty="0">
                <a:solidFill>
                  <a:schemeClr val="tx1"/>
                </a:solidFill>
                <a:latin typeface="Arial" pitchFamily="34" charset="0"/>
                <a:cs typeface="Arial" pitchFamily="34" charset="0"/>
              </a:rPr>
              <a:t>-Ingresaban los datos y programas en tarjetas perforadas.</a:t>
            </a:r>
            <a:r>
              <a:rPr lang="es-AR" sz="1200" dirty="0" smtClean="0">
                <a:solidFill>
                  <a:schemeClr val="tx1"/>
                </a:solidFill>
                <a:latin typeface="Arial" pitchFamily="34" charset="0"/>
                <a:cs typeface="Arial" pitchFamily="34" charset="0"/>
              </a:rPr>
              <a:t/>
            </a:r>
            <a:br>
              <a:rPr lang="es-AR" sz="1200" dirty="0" smtClean="0">
                <a:solidFill>
                  <a:schemeClr val="tx1"/>
                </a:solidFill>
                <a:latin typeface="Arial" pitchFamily="34" charset="0"/>
                <a:cs typeface="Arial" pitchFamily="34" charset="0"/>
              </a:rPr>
            </a:br>
            <a:r>
              <a:rPr lang="es-AR" sz="1200" dirty="0">
                <a:solidFill>
                  <a:schemeClr val="tx1"/>
                </a:solidFill>
                <a:latin typeface="Arial" pitchFamily="34" charset="0"/>
                <a:cs typeface="Arial" pitchFamily="34" charset="0"/>
              </a:rPr>
              <a:t>-Su almacenamiento era a base de un tambor que giraba rápidamente, sobre el cual un dispositivo de lectura/escritura colocaba marcas magnéticas.</a:t>
            </a:r>
            <a:r>
              <a:rPr lang="es-AR" sz="1200" dirty="0" smtClean="0">
                <a:solidFill>
                  <a:schemeClr val="tx1"/>
                </a:solidFill>
                <a:latin typeface="Arial" pitchFamily="34" charset="0"/>
                <a:cs typeface="Arial" pitchFamily="34" charset="0"/>
              </a:rPr>
              <a:t/>
            </a:r>
            <a:br>
              <a:rPr lang="es-AR" sz="1200" dirty="0" smtClean="0">
                <a:solidFill>
                  <a:schemeClr val="tx1"/>
                </a:solidFill>
                <a:latin typeface="Arial" pitchFamily="34" charset="0"/>
                <a:cs typeface="Arial" pitchFamily="34" charset="0"/>
              </a:rPr>
            </a:br>
            <a:r>
              <a:rPr lang="es-AR" sz="1200" dirty="0">
                <a:solidFill>
                  <a:schemeClr val="tx1"/>
                </a:solidFill>
                <a:latin typeface="Arial" pitchFamily="34" charset="0"/>
                <a:cs typeface="Arial" pitchFamily="34" charset="0"/>
              </a:rPr>
              <a:t>-Eran de gran tamaño y generaban más calor.</a:t>
            </a:r>
            <a:r>
              <a:rPr lang="es-AR" sz="1200" dirty="0" smtClean="0">
                <a:solidFill>
                  <a:schemeClr val="tx1"/>
                </a:solidFill>
                <a:latin typeface="Arial" pitchFamily="34" charset="0"/>
                <a:cs typeface="Arial" pitchFamily="34" charset="0"/>
              </a:rPr>
              <a:t/>
            </a:r>
            <a:br>
              <a:rPr lang="es-AR" sz="1200" dirty="0" smtClean="0">
                <a:solidFill>
                  <a:schemeClr val="tx1"/>
                </a:solidFill>
                <a:latin typeface="Arial" pitchFamily="34" charset="0"/>
                <a:cs typeface="Arial" pitchFamily="34" charset="0"/>
              </a:rPr>
            </a:br>
            <a:r>
              <a:rPr lang="es-AR" sz="1200" dirty="0">
                <a:solidFill>
                  <a:schemeClr val="tx1"/>
                </a:solidFill>
                <a:latin typeface="Arial" pitchFamily="34" charset="0"/>
                <a:cs typeface="Arial" pitchFamily="34" charset="0"/>
              </a:rPr>
              <a:t>-Algunos ejemplos de computadoras de esta generación son:</a:t>
            </a:r>
            <a:r>
              <a:rPr lang="es-AR" sz="1200" dirty="0" smtClean="0">
                <a:solidFill>
                  <a:schemeClr val="tx1"/>
                </a:solidFill>
                <a:latin typeface="Arial" pitchFamily="34" charset="0"/>
                <a:cs typeface="Arial" pitchFamily="34" charset="0"/>
              </a:rPr>
              <a:t/>
            </a:r>
            <a:br>
              <a:rPr lang="es-AR" sz="1200" dirty="0" smtClean="0">
                <a:solidFill>
                  <a:schemeClr val="tx1"/>
                </a:solidFill>
                <a:latin typeface="Arial" pitchFamily="34" charset="0"/>
                <a:cs typeface="Arial" pitchFamily="34" charset="0"/>
              </a:rPr>
            </a:br>
            <a:r>
              <a:rPr lang="es-AR" sz="1200" dirty="0">
                <a:solidFill>
                  <a:schemeClr val="tx1"/>
                </a:solidFill>
                <a:latin typeface="Arial" pitchFamily="34" charset="0"/>
                <a:cs typeface="Arial" pitchFamily="34" charset="0"/>
              </a:rPr>
              <a:t>La UNIVAC I</a:t>
            </a:r>
            <a:r>
              <a:rPr lang="es-AR" sz="1200" dirty="0" smtClean="0">
                <a:solidFill>
                  <a:schemeClr val="tx1"/>
                </a:solidFill>
                <a:latin typeface="Arial" pitchFamily="34" charset="0"/>
                <a:cs typeface="Arial" pitchFamily="34" charset="0"/>
              </a:rPr>
              <a:t/>
            </a:r>
            <a:br>
              <a:rPr lang="es-AR" sz="1200" dirty="0" smtClean="0">
                <a:solidFill>
                  <a:schemeClr val="tx1"/>
                </a:solidFill>
                <a:latin typeface="Arial" pitchFamily="34" charset="0"/>
                <a:cs typeface="Arial" pitchFamily="34" charset="0"/>
              </a:rPr>
            </a:br>
            <a:r>
              <a:rPr lang="es-AR" sz="1200" dirty="0">
                <a:solidFill>
                  <a:schemeClr val="tx1"/>
                </a:solidFill>
                <a:latin typeface="Arial" pitchFamily="34" charset="0"/>
                <a:cs typeface="Arial" pitchFamily="34" charset="0"/>
              </a:rPr>
              <a:t>La IBM 650</a:t>
            </a:r>
            <a:r>
              <a:rPr lang="es-AR" sz="1200" dirty="0" smtClean="0">
                <a:solidFill>
                  <a:schemeClr val="tx1"/>
                </a:solidFill>
                <a:latin typeface="Arial" pitchFamily="34" charset="0"/>
                <a:cs typeface="Arial" pitchFamily="34" charset="0"/>
              </a:rPr>
              <a:t/>
            </a:r>
            <a:br>
              <a:rPr lang="es-AR" sz="1200" dirty="0" smtClean="0">
                <a:solidFill>
                  <a:schemeClr val="tx1"/>
                </a:solidFill>
                <a:latin typeface="Arial" pitchFamily="34" charset="0"/>
                <a:cs typeface="Arial" pitchFamily="34" charset="0"/>
              </a:rPr>
            </a:br>
            <a:r>
              <a:rPr lang="es-AR" sz="1200" dirty="0">
                <a:solidFill>
                  <a:schemeClr val="tx1"/>
                </a:solidFill>
                <a:latin typeface="Arial" pitchFamily="34" charset="0"/>
                <a:cs typeface="Arial" pitchFamily="34" charset="0"/>
              </a:rPr>
              <a:t>La ENIAC (1946)</a:t>
            </a:r>
            <a:r>
              <a:rPr lang="es-AR" sz="1200" dirty="0" smtClean="0">
                <a:solidFill>
                  <a:schemeClr val="tx1"/>
                </a:solidFill>
                <a:latin typeface="Arial" pitchFamily="34" charset="0"/>
                <a:cs typeface="Arial" pitchFamily="34" charset="0"/>
              </a:rPr>
              <a:t/>
            </a:r>
            <a:br>
              <a:rPr lang="es-AR" sz="1200" dirty="0" smtClean="0">
                <a:solidFill>
                  <a:schemeClr val="tx1"/>
                </a:solidFill>
                <a:latin typeface="Arial" pitchFamily="34" charset="0"/>
                <a:cs typeface="Arial" pitchFamily="34" charset="0"/>
              </a:rPr>
            </a:br>
            <a:r>
              <a:rPr lang="es-AR" sz="1200" dirty="0">
                <a:solidFill>
                  <a:schemeClr val="tx1"/>
                </a:solidFill>
                <a:latin typeface="Arial" pitchFamily="34" charset="0"/>
                <a:cs typeface="Arial" pitchFamily="34" charset="0"/>
              </a:rPr>
              <a:t>La EDVAC (1951)</a:t>
            </a:r>
          </a:p>
        </p:txBody>
      </p:sp>
      <p:pic>
        <p:nvPicPr>
          <p:cNvPr id="30724" name="Picture 4"/>
          <p:cNvPicPr>
            <a:picLocks noChangeAspect="1" noChangeArrowheads="1"/>
          </p:cNvPicPr>
          <p:nvPr/>
        </p:nvPicPr>
        <p:blipFill>
          <a:blip r:embed="rId5" cstate="print"/>
          <a:srcRect/>
          <a:stretch>
            <a:fillRect/>
          </a:stretch>
        </p:blipFill>
        <p:spPr bwMode="auto">
          <a:xfrm>
            <a:off x="1301749" y="3841928"/>
            <a:ext cx="6229351" cy="276207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p:cTn id="7" dur="500" fill="hold"/>
                                        <p:tgtEl>
                                          <p:spTgt spid="30724"/>
                                        </p:tgtEl>
                                        <p:attrNameLst>
                                          <p:attrName>ppt_w</p:attrName>
                                        </p:attrNameLst>
                                      </p:cBhvr>
                                      <p:tavLst>
                                        <p:tav tm="0">
                                          <p:val>
                                            <p:strVal val="#ppt_w*2.5"/>
                                          </p:val>
                                        </p:tav>
                                        <p:tav tm="100000">
                                          <p:val>
                                            <p:strVal val="#ppt_w"/>
                                          </p:val>
                                        </p:tav>
                                      </p:tavLst>
                                    </p:anim>
                                    <p:anim calcmode="lin" valueType="num">
                                      <p:cBhvr>
                                        <p:cTn id="8" dur="500" fill="hold"/>
                                        <p:tgtEl>
                                          <p:spTgt spid="30724"/>
                                        </p:tgtEl>
                                        <p:attrNameLst>
                                          <p:attrName>ppt_h</p:attrName>
                                        </p:attrNameLst>
                                      </p:cBhvr>
                                      <p:tavLst>
                                        <p:tav tm="0">
                                          <p:val>
                                            <p:strVal val="#ppt_h*0.01"/>
                                          </p:val>
                                        </p:tav>
                                        <p:tav tm="100000">
                                          <p:val>
                                            <p:strVal val="#ppt_h"/>
                                          </p:val>
                                        </p:tav>
                                      </p:tavLst>
                                    </p:anim>
                                    <p:anim calcmode="lin" valueType="num">
                                      <p:cBhvr>
                                        <p:cTn id="9" dur="500" fill="hold"/>
                                        <p:tgtEl>
                                          <p:spTgt spid="30724"/>
                                        </p:tgtEl>
                                        <p:attrNameLst>
                                          <p:attrName>ppt_x</p:attrName>
                                        </p:attrNameLst>
                                      </p:cBhvr>
                                      <p:tavLst>
                                        <p:tav tm="0">
                                          <p:val>
                                            <p:strVal val="#ppt_x"/>
                                          </p:val>
                                        </p:tav>
                                        <p:tav tm="100000">
                                          <p:val>
                                            <p:strVal val="#ppt_x"/>
                                          </p:val>
                                        </p:tav>
                                      </p:tavLst>
                                    </p:anim>
                                    <p:anim calcmode="lin" valueType="num">
                                      <p:cBhvr>
                                        <p:cTn id="10" dur="500" fill="hold"/>
                                        <p:tgtEl>
                                          <p:spTgt spid="30724"/>
                                        </p:tgtEl>
                                        <p:attrNameLst>
                                          <p:attrName>ppt_y</p:attrName>
                                        </p:attrNameLst>
                                      </p:cBhvr>
                                      <p:tavLst>
                                        <p:tav tm="0">
                                          <p:val>
                                            <p:strVal val="#ppt_h+1"/>
                                          </p:val>
                                        </p:tav>
                                        <p:tav tm="100000">
                                          <p:val>
                                            <p:strVal val="#ppt_y"/>
                                          </p:val>
                                        </p:tav>
                                      </p:tavLst>
                                    </p:anim>
                                    <p:animEffect transition="in" filter="fade">
                                      <p:cBhvr>
                                        <p:cTn id="11" dur="500"/>
                                        <p:tgtEl>
                                          <p:spTgt spid="3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77091" y="1136070"/>
            <a:ext cx="8686800" cy="5003946"/>
          </a:xfrm>
        </p:spPr>
        <p:txBody>
          <a:bodyPr>
            <a:normAutofit/>
          </a:bodyPr>
          <a:lstStyle/>
          <a:p>
            <a:r>
              <a:rPr lang="es-AR" sz="2800" b="1" dirty="0" smtClean="0">
                <a:solidFill>
                  <a:schemeClr val="accent2">
                    <a:lumMod val="75000"/>
                  </a:schemeClr>
                </a:solidFill>
                <a:latin typeface="Arial Unicode MS"/>
                <a:ea typeface="Arial Unicode MS"/>
                <a:cs typeface="Arial Unicode MS"/>
              </a:rPr>
              <a:t>Segunda Generación (1955-1965) transistores y sistemas de procesamiento por lotes.</a:t>
            </a:r>
          </a:p>
          <a:p>
            <a:pPr algn="just">
              <a:buNone/>
            </a:pPr>
            <a:r>
              <a:rPr lang="es-AR" sz="2000" dirty="0" smtClean="0">
                <a:latin typeface="Arial" pitchFamily="34" charset="0"/>
                <a:cs typeface="Arial" pitchFamily="34" charset="0"/>
              </a:rPr>
              <a:t>Estas máquinas llamadas mainframes se alojaban en grandes habitaciones manejados por operadores profesionales. Gracias a los transistores se volvieron fiables para la venta a clientes comerciales. </a:t>
            </a:r>
          </a:p>
          <a:p>
            <a:pPr algn="just">
              <a:buNone/>
            </a:pPr>
            <a:r>
              <a:rPr lang="es-AR" sz="2000" dirty="0" smtClean="0">
                <a:latin typeface="Arial" pitchFamily="34" charset="0"/>
                <a:cs typeface="Arial" pitchFamily="34" charset="0"/>
              </a:rPr>
              <a:t>El sistema por lotes fue implementado para reducir el alto costo. </a:t>
            </a:r>
            <a:endParaRPr lang="es-AR" sz="2000" dirty="0">
              <a:latin typeface="Arial" pitchFamily="34" charset="0"/>
              <a:cs typeface="Arial" pitchFamily="34" charset="0"/>
            </a:endParaRPr>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10</a:t>
            </a:fld>
            <a:endParaRPr lang="en-US"/>
          </a:p>
        </p:txBody>
      </p:sp>
      <p:sp>
        <p:nvSpPr>
          <p:cNvPr id="7"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Evolución de los SO</a:t>
            </a:r>
            <a:endParaRPr lang="es-AR" sz="4000" b="1" dirty="0">
              <a:solidFill>
                <a:schemeClr val="accent2">
                  <a:lumMod val="75000"/>
                </a:schemeClr>
              </a:solidFill>
              <a:latin typeface="Arial Unicode MS"/>
              <a:ea typeface="Arial Unicode MS"/>
              <a:cs typeface="Arial Unicode MS"/>
            </a:endParaRPr>
          </a:p>
        </p:txBody>
      </p:sp>
      <p:sp>
        <p:nvSpPr>
          <p:cNvPr id="146434" name="AutoShape 2"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146436" name="AutoShape 4"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9" name="8 CuadroTexto"/>
          <p:cNvSpPr txBox="1"/>
          <p:nvPr/>
        </p:nvSpPr>
        <p:spPr>
          <a:xfrm>
            <a:off x="9144000" y="1767609"/>
            <a:ext cx="3514773" cy="3908762"/>
          </a:xfrm>
          <a:prstGeom prst="rect">
            <a:avLst/>
          </a:prstGeom>
          <a:noFill/>
        </p:spPr>
        <p:txBody>
          <a:bodyPr wrap="square" rtlCol="0">
            <a:spAutoFit/>
          </a:bodyPr>
          <a:lstStyle/>
          <a:p>
            <a:pPr algn="l"/>
            <a:r>
              <a:rPr lang="es-AR" sz="1200" dirty="0" smtClean="0">
                <a:solidFill>
                  <a:schemeClr val="tx1"/>
                </a:solidFill>
                <a:latin typeface="Arial" pitchFamily="34" charset="0"/>
                <a:cs typeface="Arial" pitchFamily="34" charset="0"/>
              </a:rPr>
              <a:t>Usaban transistores, lo que las hacían más rápidas.</a:t>
            </a:r>
          </a:p>
          <a:p>
            <a:pPr algn="l"/>
            <a:r>
              <a:rPr lang="es-AR" sz="1200" dirty="0" smtClean="0">
                <a:solidFill>
                  <a:schemeClr val="tx1"/>
                </a:solidFill>
                <a:latin typeface="Arial" pitchFamily="34" charset="0"/>
                <a:cs typeface="Arial" pitchFamily="34" charset="0"/>
              </a:rPr>
              <a:t>-Utilizaban redes de núcleos magnéticos para almacenar información.</a:t>
            </a:r>
          </a:p>
          <a:p>
            <a:pPr algn="l"/>
            <a:r>
              <a:rPr lang="es-AR" sz="1200" dirty="0" smtClean="0">
                <a:solidFill>
                  <a:schemeClr val="tx1"/>
                </a:solidFill>
                <a:latin typeface="Arial" pitchFamily="34" charset="0"/>
                <a:cs typeface="Arial" pitchFamily="34" charset="0"/>
              </a:rPr>
              <a:t>-Eran mas pequeñas y utilizaban menos ventilación.</a:t>
            </a:r>
          </a:p>
          <a:p>
            <a:pPr algn="l"/>
            <a:r>
              <a:rPr lang="es-AR" sz="1200" dirty="0" smtClean="0">
                <a:solidFill>
                  <a:schemeClr val="tx1"/>
                </a:solidFill>
                <a:latin typeface="Arial" pitchFamily="34" charset="0"/>
                <a:cs typeface="Arial" pitchFamily="34" charset="0"/>
              </a:rPr>
              <a:t>-Durante este periodo se desarrollo el primer juego de ordenador "</a:t>
            </a:r>
            <a:r>
              <a:rPr lang="es-AR" sz="1200" dirty="0" err="1" smtClean="0">
                <a:solidFill>
                  <a:schemeClr val="tx1"/>
                </a:solidFill>
                <a:latin typeface="Arial" pitchFamily="34" charset="0"/>
                <a:cs typeface="Arial" pitchFamily="34" charset="0"/>
              </a:rPr>
              <a:t>Spacewar</a:t>
            </a:r>
            <a:r>
              <a:rPr lang="es-AR" sz="1200" dirty="0" smtClean="0">
                <a:solidFill>
                  <a:schemeClr val="tx1"/>
                </a:solidFill>
                <a:latin typeface="Arial" pitchFamily="34" charset="0"/>
                <a:cs typeface="Arial" pitchFamily="34" charset="0"/>
              </a:rPr>
              <a:t>".</a:t>
            </a:r>
          </a:p>
          <a:p>
            <a:pPr algn="l"/>
            <a:r>
              <a:rPr lang="es-AR" sz="1200" dirty="0" smtClean="0">
                <a:solidFill>
                  <a:schemeClr val="tx1"/>
                </a:solidFill>
                <a:latin typeface="Arial" pitchFamily="34" charset="0"/>
                <a:cs typeface="Arial" pitchFamily="34" charset="0"/>
              </a:rPr>
              <a:t>-Algunos ejemplos de esta generación son:</a:t>
            </a:r>
          </a:p>
          <a:p>
            <a:pPr algn="l"/>
            <a:r>
              <a:rPr lang="es-AR" sz="1200" dirty="0" smtClean="0">
                <a:solidFill>
                  <a:schemeClr val="tx1"/>
                </a:solidFill>
                <a:latin typeface="Arial" pitchFamily="34" charset="0"/>
                <a:cs typeface="Arial" pitchFamily="34" charset="0"/>
              </a:rPr>
              <a:t>La IBM 1401</a:t>
            </a:r>
          </a:p>
          <a:p>
            <a:pPr algn="l"/>
            <a:r>
              <a:rPr lang="es-AR" sz="1200" dirty="0" smtClean="0">
                <a:solidFill>
                  <a:schemeClr val="tx1"/>
                </a:solidFill>
                <a:latin typeface="Arial" pitchFamily="34" charset="0"/>
                <a:cs typeface="Arial" pitchFamily="34" charset="0"/>
              </a:rPr>
              <a:t>La IBM 1620</a:t>
            </a:r>
          </a:p>
          <a:p>
            <a:pPr algn="l"/>
            <a:r>
              <a:rPr lang="es-AR" sz="1200" dirty="0" smtClean="0">
                <a:solidFill>
                  <a:schemeClr val="tx1"/>
                </a:solidFill>
                <a:latin typeface="Arial" pitchFamily="34" charset="0"/>
                <a:cs typeface="Arial" pitchFamily="34" charset="0"/>
              </a:rPr>
              <a:t>La PDP-1 lanzada por DEC. Esta fue la primera maquina orientada al uso personal.</a:t>
            </a:r>
          </a:p>
          <a:p>
            <a:pPr algn="l"/>
            <a:endParaRPr lang="es-AR" sz="1200" dirty="0">
              <a:solidFill>
                <a:schemeClr val="tx1"/>
              </a:solidFill>
              <a:latin typeface="Arial" pitchFamily="34" charset="0"/>
              <a:cs typeface="Arial" pitchFamily="34" charset="0"/>
            </a:endParaRPr>
          </a:p>
          <a:p>
            <a:pPr algn="l"/>
            <a:endParaRPr lang="es-AR" sz="1600" dirty="0" smtClean="0">
              <a:solidFill>
                <a:schemeClr val="tx1"/>
              </a:solidFill>
              <a:latin typeface="Arial" pitchFamily="34" charset="0"/>
              <a:cs typeface="Arial" pitchFamily="34" charset="0"/>
            </a:endParaRPr>
          </a:p>
          <a:p>
            <a:r>
              <a:rPr lang="es-AR" sz="1600" dirty="0">
                <a:solidFill>
                  <a:schemeClr val="tx1"/>
                </a:solidFill>
                <a:latin typeface="Arial" pitchFamily="34" charset="0"/>
                <a:cs typeface="Arial" pitchFamily="34" charset="0"/>
              </a:rPr>
              <a:t>Los sistemas operativos típicos eran FMS (</a:t>
            </a:r>
            <a:r>
              <a:rPr lang="es-AR" sz="1600" i="1" dirty="0">
                <a:solidFill>
                  <a:schemeClr val="tx1"/>
                </a:solidFill>
                <a:latin typeface="Arial" pitchFamily="34" charset="0"/>
                <a:cs typeface="Arial" pitchFamily="34" charset="0"/>
              </a:rPr>
              <a:t>Fortran Monitor </a:t>
            </a:r>
            <a:r>
              <a:rPr lang="es-AR" sz="1600" i="1" dirty="0" err="1">
                <a:solidFill>
                  <a:schemeClr val="tx1"/>
                </a:solidFill>
                <a:latin typeface="Arial" pitchFamily="34" charset="0"/>
                <a:cs typeface="Arial" pitchFamily="34" charset="0"/>
              </a:rPr>
              <a:t>System</a:t>
            </a:r>
            <a:r>
              <a:rPr lang="es-AR" sz="1600" i="1" dirty="0">
                <a:solidFill>
                  <a:schemeClr val="tx1"/>
                </a:solidFill>
                <a:latin typeface="Arial" pitchFamily="34" charset="0"/>
                <a:cs typeface="Arial" pitchFamily="34" charset="0"/>
              </a:rPr>
              <a:t>) e IBSYS, el sistema operativo</a:t>
            </a:r>
          </a:p>
          <a:p>
            <a:r>
              <a:rPr lang="es-AR" sz="1600" dirty="0">
                <a:solidFill>
                  <a:schemeClr val="tx1"/>
                </a:solidFill>
                <a:latin typeface="Arial" pitchFamily="34" charset="0"/>
                <a:cs typeface="Arial" pitchFamily="34" charset="0"/>
              </a:rPr>
              <a:t>de IBM para la 7094.</a:t>
            </a:r>
          </a:p>
        </p:txBody>
      </p:sp>
      <p:pic>
        <p:nvPicPr>
          <p:cNvPr id="168962" name="Picture 2" descr="Resultado de imagen para procesamiento por lotes"/>
          <p:cNvPicPr>
            <a:picLocks noChangeAspect="1" noChangeArrowheads="1"/>
          </p:cNvPicPr>
          <p:nvPr/>
        </p:nvPicPr>
        <p:blipFill>
          <a:blip r:embed="rId3" cstate="print"/>
          <a:srcRect/>
          <a:stretch>
            <a:fillRect/>
          </a:stretch>
        </p:blipFill>
        <p:spPr bwMode="auto">
          <a:xfrm>
            <a:off x="1504743" y="3710798"/>
            <a:ext cx="6453188" cy="2988176"/>
          </a:xfrm>
          <a:prstGeom prst="rect">
            <a:avLst/>
          </a:prstGeom>
          <a:ln>
            <a:noFill/>
          </a:ln>
          <a:effectLst>
            <a:outerShdw blurRad="292100" dist="139700" dir="2700000" algn="tl" rotWithShape="0">
              <a:srgbClr val="333333">
                <a:alpha val="65000"/>
              </a:srgbClr>
            </a:outerShdw>
          </a:effectLst>
        </p:spPr>
      </p:pic>
      <p:pic>
        <p:nvPicPr>
          <p:cNvPr id="168964" name="Picture 4" descr="Resultado de imagen para mainframe ibm 1401"/>
          <p:cNvPicPr>
            <a:picLocks noChangeAspect="1" noChangeArrowheads="1"/>
          </p:cNvPicPr>
          <p:nvPr/>
        </p:nvPicPr>
        <p:blipFill>
          <a:blip r:embed="rId4" cstate="print"/>
          <a:srcRect/>
          <a:stretch>
            <a:fillRect/>
          </a:stretch>
        </p:blipFill>
        <p:spPr bwMode="auto">
          <a:xfrm>
            <a:off x="0" y="3213650"/>
            <a:ext cx="6033149" cy="3405810"/>
          </a:xfrm>
          <a:prstGeom prst="rect">
            <a:avLst/>
          </a:prstGeom>
          <a:ln>
            <a:noFill/>
          </a:ln>
          <a:effectLst>
            <a:outerShdw blurRad="292100" dist="139700" dir="2700000" algn="tl" rotWithShape="0">
              <a:srgbClr val="333333">
                <a:alpha val="65000"/>
              </a:srgbClr>
            </a:outerShdw>
          </a:effectLst>
        </p:spPr>
      </p:pic>
      <p:pic>
        <p:nvPicPr>
          <p:cNvPr id="168965" name="Picture 5"/>
          <p:cNvPicPr>
            <a:picLocks noChangeAspect="1" noChangeArrowheads="1"/>
          </p:cNvPicPr>
          <p:nvPr/>
        </p:nvPicPr>
        <p:blipFill>
          <a:blip r:embed="rId5" cstate="print"/>
          <a:srcRect/>
          <a:stretch>
            <a:fillRect/>
          </a:stretch>
        </p:blipFill>
        <p:spPr bwMode="auto">
          <a:xfrm>
            <a:off x="4030870" y="1905000"/>
            <a:ext cx="4724400" cy="3419475"/>
          </a:xfrm>
          <a:prstGeom prst="rect">
            <a:avLst/>
          </a:prstGeom>
          <a:ln>
            <a:noFill/>
          </a:ln>
          <a:effectLst>
            <a:outerShdw blurRad="292100" dist="139700" dir="2700000" algn="tl" rotWithShape="0">
              <a:srgbClr val="333333">
                <a:alpha val="65000"/>
              </a:srgbClr>
            </a:outerShdw>
          </a:effectLst>
        </p:spPr>
      </p:pic>
      <p:pic>
        <p:nvPicPr>
          <p:cNvPr id="168967" name="Picture 7" descr="Resultado de imagen para mainframe ibm 7094 y 1402"/>
          <p:cNvPicPr>
            <a:picLocks noChangeAspect="1" noChangeArrowheads="1"/>
          </p:cNvPicPr>
          <p:nvPr/>
        </p:nvPicPr>
        <p:blipFill>
          <a:blip r:embed="rId6" cstate="print"/>
          <a:srcRect/>
          <a:stretch>
            <a:fillRect/>
          </a:stretch>
        </p:blipFill>
        <p:spPr bwMode="auto">
          <a:xfrm>
            <a:off x="737152" y="-154056"/>
            <a:ext cx="5444097" cy="3511826"/>
          </a:xfrm>
          <a:prstGeom prst="rect">
            <a:avLst/>
          </a:prstGeom>
          <a:ln>
            <a:noFill/>
          </a:ln>
          <a:effectLst>
            <a:outerShdw blurRad="292100" dist="139700" dir="2700000" algn="tl" rotWithShape="0">
              <a:srgbClr val="333333">
                <a:alpha val="65000"/>
              </a:srgbClr>
            </a:outerShdw>
          </a:effectLst>
        </p:spPr>
      </p:pic>
      <p:pic>
        <p:nvPicPr>
          <p:cNvPr id="28673" name="Picture 1"/>
          <p:cNvPicPr>
            <a:picLocks noChangeAspect="1" noChangeArrowheads="1"/>
          </p:cNvPicPr>
          <p:nvPr/>
        </p:nvPicPr>
        <p:blipFill>
          <a:blip r:embed="rId7" cstate="print"/>
          <a:srcRect/>
          <a:stretch>
            <a:fillRect/>
          </a:stretch>
        </p:blipFill>
        <p:spPr bwMode="auto">
          <a:xfrm>
            <a:off x="9144000" y="-622300"/>
            <a:ext cx="4644089" cy="2184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p:cTn id="7" dur="1000" fill="hold"/>
                                        <p:tgtEl>
                                          <p:spTgt spid="168964"/>
                                        </p:tgtEl>
                                        <p:attrNameLst>
                                          <p:attrName>ppt_w</p:attrName>
                                        </p:attrNameLst>
                                      </p:cBhvr>
                                      <p:tavLst>
                                        <p:tav tm="0">
                                          <p:val>
                                            <p:strVal val="#ppt_w*2.5"/>
                                          </p:val>
                                        </p:tav>
                                        <p:tav tm="100000">
                                          <p:val>
                                            <p:strVal val="#ppt_w"/>
                                          </p:val>
                                        </p:tav>
                                      </p:tavLst>
                                    </p:anim>
                                    <p:anim calcmode="lin" valueType="num">
                                      <p:cBhvr>
                                        <p:cTn id="8" dur="1000" fill="hold"/>
                                        <p:tgtEl>
                                          <p:spTgt spid="168964"/>
                                        </p:tgtEl>
                                        <p:attrNameLst>
                                          <p:attrName>ppt_h</p:attrName>
                                        </p:attrNameLst>
                                      </p:cBhvr>
                                      <p:tavLst>
                                        <p:tav tm="0">
                                          <p:val>
                                            <p:strVal val="#ppt_h*0.01"/>
                                          </p:val>
                                        </p:tav>
                                        <p:tav tm="100000">
                                          <p:val>
                                            <p:strVal val="#ppt_h"/>
                                          </p:val>
                                        </p:tav>
                                      </p:tavLst>
                                    </p:anim>
                                    <p:anim calcmode="lin" valueType="num">
                                      <p:cBhvr>
                                        <p:cTn id="9" dur="1000" fill="hold"/>
                                        <p:tgtEl>
                                          <p:spTgt spid="168964"/>
                                        </p:tgtEl>
                                        <p:attrNameLst>
                                          <p:attrName>ppt_x</p:attrName>
                                        </p:attrNameLst>
                                      </p:cBhvr>
                                      <p:tavLst>
                                        <p:tav tm="0">
                                          <p:val>
                                            <p:strVal val="#ppt_x"/>
                                          </p:val>
                                        </p:tav>
                                        <p:tav tm="100000">
                                          <p:val>
                                            <p:strVal val="#ppt_x"/>
                                          </p:val>
                                        </p:tav>
                                      </p:tavLst>
                                    </p:anim>
                                    <p:anim calcmode="lin" valueType="num">
                                      <p:cBhvr>
                                        <p:cTn id="10" dur="1000" fill="hold"/>
                                        <p:tgtEl>
                                          <p:spTgt spid="168964"/>
                                        </p:tgtEl>
                                        <p:attrNameLst>
                                          <p:attrName>ppt_y</p:attrName>
                                        </p:attrNameLst>
                                      </p:cBhvr>
                                      <p:tavLst>
                                        <p:tav tm="0">
                                          <p:val>
                                            <p:strVal val="#ppt_h+1"/>
                                          </p:val>
                                        </p:tav>
                                        <p:tav tm="100000">
                                          <p:val>
                                            <p:strVal val="#ppt_y"/>
                                          </p:val>
                                        </p:tav>
                                      </p:tavLst>
                                    </p:anim>
                                    <p:animEffect transition="in" filter="fade">
                                      <p:cBhvr>
                                        <p:cTn id="11" dur="1000"/>
                                        <p:tgtEl>
                                          <p:spTgt spid="168964"/>
                                        </p:tgtEl>
                                      </p:cBhvr>
                                    </p:animEffect>
                                  </p:childTnLst>
                                </p:cTn>
                              </p:par>
                            </p:childTnLst>
                          </p:cTn>
                        </p:par>
                      </p:childTnLst>
                    </p:cTn>
                  </p:par>
                  <p:par>
                    <p:cTn id="12" fill="hold">
                      <p:stCondLst>
                        <p:cond delay="indefinite"/>
                      </p:stCondLst>
                      <p:childTnLst>
                        <p:par>
                          <p:cTn id="13" fill="hold">
                            <p:stCondLst>
                              <p:cond delay="0"/>
                            </p:stCondLst>
                            <p:childTnLst>
                              <p:par>
                                <p:cTn id="14" presetID="58" presetClass="entr" presetSubtype="0" accel="100000" fill="hold" nodeType="clickEffect">
                                  <p:stCondLst>
                                    <p:cond delay="0"/>
                                  </p:stCondLst>
                                  <p:childTnLst>
                                    <p:set>
                                      <p:cBhvr>
                                        <p:cTn id="15" dur="1" fill="hold">
                                          <p:stCondLst>
                                            <p:cond delay="0"/>
                                          </p:stCondLst>
                                        </p:cTn>
                                        <p:tgtEl>
                                          <p:spTgt spid="168965"/>
                                        </p:tgtEl>
                                        <p:attrNameLst>
                                          <p:attrName>style.visibility</p:attrName>
                                        </p:attrNameLst>
                                      </p:cBhvr>
                                      <p:to>
                                        <p:strVal val="visible"/>
                                      </p:to>
                                    </p:set>
                                    <p:anim calcmode="lin" valueType="num">
                                      <p:cBhvr>
                                        <p:cTn id="16" dur="1000" fill="hold"/>
                                        <p:tgtEl>
                                          <p:spTgt spid="168965"/>
                                        </p:tgtEl>
                                        <p:attrNameLst>
                                          <p:attrName>ppt_w</p:attrName>
                                        </p:attrNameLst>
                                      </p:cBhvr>
                                      <p:tavLst>
                                        <p:tav tm="0">
                                          <p:val>
                                            <p:strVal val="#ppt_w*2.5"/>
                                          </p:val>
                                        </p:tav>
                                        <p:tav tm="100000">
                                          <p:val>
                                            <p:strVal val="#ppt_w"/>
                                          </p:val>
                                        </p:tav>
                                      </p:tavLst>
                                    </p:anim>
                                    <p:anim calcmode="lin" valueType="num">
                                      <p:cBhvr>
                                        <p:cTn id="17" dur="1000" fill="hold"/>
                                        <p:tgtEl>
                                          <p:spTgt spid="168965"/>
                                        </p:tgtEl>
                                        <p:attrNameLst>
                                          <p:attrName>ppt_h</p:attrName>
                                        </p:attrNameLst>
                                      </p:cBhvr>
                                      <p:tavLst>
                                        <p:tav tm="0">
                                          <p:val>
                                            <p:strVal val="#ppt_h*0.01"/>
                                          </p:val>
                                        </p:tav>
                                        <p:tav tm="100000">
                                          <p:val>
                                            <p:strVal val="#ppt_h"/>
                                          </p:val>
                                        </p:tav>
                                      </p:tavLst>
                                    </p:anim>
                                    <p:anim calcmode="lin" valueType="num">
                                      <p:cBhvr>
                                        <p:cTn id="18" dur="1000" fill="hold"/>
                                        <p:tgtEl>
                                          <p:spTgt spid="168965"/>
                                        </p:tgtEl>
                                        <p:attrNameLst>
                                          <p:attrName>ppt_x</p:attrName>
                                        </p:attrNameLst>
                                      </p:cBhvr>
                                      <p:tavLst>
                                        <p:tav tm="0">
                                          <p:val>
                                            <p:strVal val="#ppt_x"/>
                                          </p:val>
                                        </p:tav>
                                        <p:tav tm="100000">
                                          <p:val>
                                            <p:strVal val="#ppt_x"/>
                                          </p:val>
                                        </p:tav>
                                      </p:tavLst>
                                    </p:anim>
                                    <p:anim calcmode="lin" valueType="num">
                                      <p:cBhvr>
                                        <p:cTn id="19" dur="1000" fill="hold"/>
                                        <p:tgtEl>
                                          <p:spTgt spid="168965"/>
                                        </p:tgtEl>
                                        <p:attrNameLst>
                                          <p:attrName>ppt_y</p:attrName>
                                        </p:attrNameLst>
                                      </p:cBhvr>
                                      <p:tavLst>
                                        <p:tav tm="0">
                                          <p:val>
                                            <p:strVal val="#ppt_h+1"/>
                                          </p:val>
                                        </p:tav>
                                        <p:tav tm="100000">
                                          <p:val>
                                            <p:strVal val="#ppt_y"/>
                                          </p:val>
                                        </p:tav>
                                      </p:tavLst>
                                    </p:anim>
                                    <p:animEffect transition="in" filter="fade">
                                      <p:cBhvr>
                                        <p:cTn id="20" dur="1000"/>
                                        <p:tgtEl>
                                          <p:spTgt spid="168965"/>
                                        </p:tgtEl>
                                      </p:cBhvr>
                                    </p:animEffect>
                                  </p:childTnLst>
                                </p:cTn>
                              </p:par>
                            </p:childTnLst>
                          </p:cTn>
                        </p:par>
                      </p:childTnLst>
                    </p:cTn>
                  </p:par>
                  <p:par>
                    <p:cTn id="21" fill="hold">
                      <p:stCondLst>
                        <p:cond delay="indefinite"/>
                      </p:stCondLst>
                      <p:childTnLst>
                        <p:par>
                          <p:cTn id="22" fill="hold">
                            <p:stCondLst>
                              <p:cond delay="0"/>
                            </p:stCondLst>
                            <p:childTnLst>
                              <p:par>
                                <p:cTn id="23" presetID="58" presetClass="entr" presetSubtype="0" accel="100000" fill="hold" nodeType="clickEffect">
                                  <p:stCondLst>
                                    <p:cond delay="0"/>
                                  </p:stCondLst>
                                  <p:childTnLst>
                                    <p:set>
                                      <p:cBhvr>
                                        <p:cTn id="24" dur="1" fill="hold">
                                          <p:stCondLst>
                                            <p:cond delay="0"/>
                                          </p:stCondLst>
                                        </p:cTn>
                                        <p:tgtEl>
                                          <p:spTgt spid="168967"/>
                                        </p:tgtEl>
                                        <p:attrNameLst>
                                          <p:attrName>style.visibility</p:attrName>
                                        </p:attrNameLst>
                                      </p:cBhvr>
                                      <p:to>
                                        <p:strVal val="visible"/>
                                      </p:to>
                                    </p:set>
                                    <p:anim calcmode="lin" valueType="num">
                                      <p:cBhvr>
                                        <p:cTn id="25" dur="1000" fill="hold"/>
                                        <p:tgtEl>
                                          <p:spTgt spid="168967"/>
                                        </p:tgtEl>
                                        <p:attrNameLst>
                                          <p:attrName>ppt_w</p:attrName>
                                        </p:attrNameLst>
                                      </p:cBhvr>
                                      <p:tavLst>
                                        <p:tav tm="0">
                                          <p:val>
                                            <p:strVal val="#ppt_w*2.5"/>
                                          </p:val>
                                        </p:tav>
                                        <p:tav tm="100000">
                                          <p:val>
                                            <p:strVal val="#ppt_w"/>
                                          </p:val>
                                        </p:tav>
                                      </p:tavLst>
                                    </p:anim>
                                    <p:anim calcmode="lin" valueType="num">
                                      <p:cBhvr>
                                        <p:cTn id="26" dur="1000" fill="hold"/>
                                        <p:tgtEl>
                                          <p:spTgt spid="168967"/>
                                        </p:tgtEl>
                                        <p:attrNameLst>
                                          <p:attrName>ppt_h</p:attrName>
                                        </p:attrNameLst>
                                      </p:cBhvr>
                                      <p:tavLst>
                                        <p:tav tm="0">
                                          <p:val>
                                            <p:strVal val="#ppt_h*0.01"/>
                                          </p:val>
                                        </p:tav>
                                        <p:tav tm="100000">
                                          <p:val>
                                            <p:strVal val="#ppt_h"/>
                                          </p:val>
                                        </p:tav>
                                      </p:tavLst>
                                    </p:anim>
                                    <p:anim calcmode="lin" valueType="num">
                                      <p:cBhvr>
                                        <p:cTn id="27" dur="1000" fill="hold"/>
                                        <p:tgtEl>
                                          <p:spTgt spid="168967"/>
                                        </p:tgtEl>
                                        <p:attrNameLst>
                                          <p:attrName>ppt_x</p:attrName>
                                        </p:attrNameLst>
                                      </p:cBhvr>
                                      <p:tavLst>
                                        <p:tav tm="0">
                                          <p:val>
                                            <p:strVal val="#ppt_x"/>
                                          </p:val>
                                        </p:tav>
                                        <p:tav tm="100000">
                                          <p:val>
                                            <p:strVal val="#ppt_x"/>
                                          </p:val>
                                        </p:tav>
                                      </p:tavLst>
                                    </p:anim>
                                    <p:anim calcmode="lin" valueType="num">
                                      <p:cBhvr>
                                        <p:cTn id="28" dur="1000" fill="hold"/>
                                        <p:tgtEl>
                                          <p:spTgt spid="168967"/>
                                        </p:tgtEl>
                                        <p:attrNameLst>
                                          <p:attrName>ppt_y</p:attrName>
                                        </p:attrNameLst>
                                      </p:cBhvr>
                                      <p:tavLst>
                                        <p:tav tm="0">
                                          <p:val>
                                            <p:strVal val="#ppt_h+1"/>
                                          </p:val>
                                        </p:tav>
                                        <p:tav tm="100000">
                                          <p:val>
                                            <p:strVal val="#ppt_y"/>
                                          </p:val>
                                        </p:tav>
                                      </p:tavLst>
                                    </p:anim>
                                    <p:animEffect transition="in" filter="fade">
                                      <p:cBhvr>
                                        <p:cTn id="29" dur="1000"/>
                                        <p:tgtEl>
                                          <p:spTgt spid="168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38991" y="1123370"/>
            <a:ext cx="8562109" cy="5003946"/>
          </a:xfrm>
        </p:spPr>
        <p:txBody>
          <a:bodyPr>
            <a:normAutofit/>
          </a:bodyPr>
          <a:lstStyle/>
          <a:p>
            <a:r>
              <a:rPr lang="es-AR" sz="2800" b="1" dirty="0" smtClean="0">
                <a:solidFill>
                  <a:schemeClr val="accent2">
                    <a:lumMod val="75000"/>
                  </a:schemeClr>
                </a:solidFill>
                <a:latin typeface="Arial Unicode MS"/>
                <a:ea typeface="Arial Unicode MS"/>
                <a:cs typeface="Arial Unicode MS"/>
              </a:rPr>
              <a:t>Tercera Generación (1965-1980) circuitos integrados y multiprogramación</a:t>
            </a:r>
          </a:p>
          <a:p>
            <a:pPr algn="just">
              <a:buNone/>
            </a:pPr>
            <a:r>
              <a:rPr lang="es-AR" sz="1800" dirty="0" smtClean="0"/>
              <a:t>Ahora, las computadoras pueden cumplir dos funciones básicas: manejar cómputos tanto científicos como comerciales. </a:t>
            </a:r>
          </a:p>
          <a:p>
            <a:pPr algn="just">
              <a:buNone/>
            </a:pPr>
            <a:r>
              <a:rPr lang="es-AR" sz="1800" dirty="0" smtClean="0"/>
              <a:t>Surge la idea de familia de </a:t>
            </a:r>
            <a:r>
              <a:rPr lang="es-AR" sz="1800" b="1" dirty="0" smtClean="0"/>
              <a:t>computadoras compatibles</a:t>
            </a:r>
            <a:r>
              <a:rPr lang="es-AR" sz="1800" dirty="0" smtClean="0"/>
              <a:t>, y </a:t>
            </a:r>
            <a:r>
              <a:rPr lang="es-AR" sz="1800" b="1" dirty="0" smtClean="0"/>
              <a:t>multiprogramación</a:t>
            </a:r>
            <a:r>
              <a:rPr lang="es-AR" sz="1800" dirty="0" smtClean="0"/>
              <a:t> (divide la memoria en varias partes con distintos trabajos en cada una de la partes).  </a:t>
            </a:r>
          </a:p>
          <a:p>
            <a:pPr>
              <a:buNone/>
            </a:pPr>
            <a:r>
              <a:rPr lang="es-AR" sz="1800" dirty="0" smtClean="0"/>
              <a:t>El </a:t>
            </a:r>
            <a:r>
              <a:rPr lang="es-AR" sz="1800" b="1" dirty="0" err="1" smtClean="0"/>
              <a:t>spooling</a:t>
            </a:r>
            <a:r>
              <a:rPr lang="es-AR" sz="1800" dirty="0" smtClean="0"/>
              <a:t> (</a:t>
            </a:r>
            <a:r>
              <a:rPr lang="en-US" sz="1800" b="1" dirty="0" smtClean="0"/>
              <a:t>S</a:t>
            </a:r>
            <a:r>
              <a:rPr lang="en-US" sz="1800" dirty="0" smtClean="0"/>
              <a:t>imultaneous </a:t>
            </a:r>
            <a:r>
              <a:rPr lang="en-US" sz="1800" b="1" dirty="0" smtClean="0"/>
              <a:t>P</a:t>
            </a:r>
            <a:r>
              <a:rPr lang="en-US" sz="1800" dirty="0" smtClean="0"/>
              <a:t>eripheral </a:t>
            </a:r>
            <a:r>
              <a:rPr lang="en-US" sz="1800" b="1" dirty="0" smtClean="0"/>
              <a:t>O</a:t>
            </a:r>
            <a:r>
              <a:rPr lang="en-US" sz="1800" dirty="0" smtClean="0"/>
              <a:t>peration </a:t>
            </a:r>
            <a:r>
              <a:rPr lang="en-US" sz="1800" b="1" dirty="0" smtClean="0"/>
              <a:t>O</a:t>
            </a:r>
            <a:r>
              <a:rPr lang="en-US" sz="1800" dirty="0" smtClean="0"/>
              <a:t>n </a:t>
            </a:r>
            <a:r>
              <a:rPr lang="en-US" sz="1800" b="1" dirty="0" smtClean="0"/>
              <a:t>L</a:t>
            </a:r>
            <a:r>
              <a:rPr lang="en-US" sz="1800" dirty="0" smtClean="0"/>
              <a:t>ine</a:t>
            </a:r>
            <a:r>
              <a:rPr lang="es-AR" sz="1800" dirty="0" smtClean="0"/>
              <a:t>) y el sistema de</a:t>
            </a:r>
            <a:r>
              <a:rPr lang="es-AR" sz="1800" b="1" dirty="0" smtClean="0"/>
              <a:t> tiempo compartido </a:t>
            </a:r>
            <a:r>
              <a:rPr lang="es-AR" sz="1800" dirty="0" smtClean="0"/>
              <a:t>(</a:t>
            </a:r>
            <a:r>
              <a:rPr lang="es-AR" sz="1800" dirty="0" err="1" smtClean="0"/>
              <a:t>timesharing</a:t>
            </a:r>
            <a:r>
              <a:rPr lang="es-AR" sz="1800" dirty="0"/>
              <a:t>) </a:t>
            </a:r>
            <a:r>
              <a:rPr lang="es-ES_tradnl" sz="1800" dirty="0"/>
              <a:t>CTTS, MULTICS, </a:t>
            </a:r>
            <a:r>
              <a:rPr lang="es-ES_tradnl" sz="1800" dirty="0" smtClean="0"/>
              <a:t>UNIX. </a:t>
            </a:r>
            <a:r>
              <a:rPr lang="es-ES" sz="1800" dirty="0" smtClean="0"/>
              <a:t>La CPU se asigna a cada usuario por un intervalo de tiempo muy corto (llamado </a:t>
            </a:r>
            <a:r>
              <a:rPr lang="es-ES" sz="1800" i="1" dirty="0" smtClean="0"/>
              <a:t>quantum</a:t>
            </a:r>
            <a:r>
              <a:rPr lang="es-ES" sz="1800" dirty="0" smtClean="0"/>
              <a:t>). El sistema cambia tan rápido de un usuario a otro que cada uno tiene la ilusión de que la máquina le pertenece exclusivamente.</a:t>
            </a:r>
            <a:endParaRPr lang="es-AR" sz="1800" dirty="0">
              <a:latin typeface="Arial" pitchFamily="34" charset="0"/>
              <a:cs typeface="Arial" pitchFamily="34" charset="0"/>
            </a:endParaRPr>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11</a:t>
            </a:fld>
            <a:endParaRPr lang="en-US"/>
          </a:p>
        </p:txBody>
      </p:sp>
      <p:sp>
        <p:nvSpPr>
          <p:cNvPr id="7"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Evolución de los SO</a:t>
            </a:r>
            <a:endParaRPr lang="es-AR" sz="4000" b="1" dirty="0">
              <a:solidFill>
                <a:schemeClr val="accent2">
                  <a:lumMod val="75000"/>
                </a:schemeClr>
              </a:solidFill>
              <a:latin typeface="Arial Unicode MS"/>
              <a:ea typeface="Arial Unicode MS"/>
              <a:cs typeface="Arial Unicode MS"/>
            </a:endParaRPr>
          </a:p>
        </p:txBody>
      </p:sp>
      <p:sp>
        <p:nvSpPr>
          <p:cNvPr id="146434" name="AutoShape 2"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146436" name="AutoShape 4"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15" name="14 CuadroTexto"/>
          <p:cNvSpPr txBox="1"/>
          <p:nvPr/>
        </p:nvSpPr>
        <p:spPr>
          <a:xfrm>
            <a:off x="9408391" y="3343564"/>
            <a:ext cx="3514773" cy="2677656"/>
          </a:xfrm>
          <a:prstGeom prst="rect">
            <a:avLst/>
          </a:prstGeom>
          <a:noFill/>
        </p:spPr>
        <p:txBody>
          <a:bodyPr wrap="square" rtlCol="0">
            <a:spAutoFit/>
          </a:bodyPr>
          <a:lstStyle/>
          <a:p>
            <a:pPr algn="l"/>
            <a:r>
              <a:rPr lang="es-AR" sz="1200" dirty="0" smtClean="0">
                <a:solidFill>
                  <a:schemeClr val="tx1"/>
                </a:solidFill>
                <a:latin typeface="Arial" pitchFamily="34" charset="0"/>
                <a:cs typeface="Arial" pitchFamily="34" charset="0"/>
              </a:rPr>
              <a:t>-Incorporación de circuitos integrados (chips de silicio) LSI baja escala de integración (</a:t>
            </a:r>
            <a:r>
              <a:rPr lang="es-AR" sz="1200" dirty="0" err="1" smtClean="0">
                <a:solidFill>
                  <a:schemeClr val="tx1"/>
                </a:solidFill>
                <a:latin typeface="Arial" pitchFamily="34" charset="0"/>
                <a:cs typeface="Arial" pitchFamily="34" charset="0"/>
              </a:rPr>
              <a:t>Large</a:t>
            </a:r>
            <a:r>
              <a:rPr lang="es-AR" sz="1200" dirty="0" smtClean="0">
                <a:solidFill>
                  <a:schemeClr val="tx1"/>
                </a:solidFill>
                <a:latin typeface="Arial" pitchFamily="34" charset="0"/>
                <a:cs typeface="Arial" pitchFamily="34" charset="0"/>
              </a:rPr>
              <a:t> </a:t>
            </a:r>
            <a:r>
              <a:rPr lang="es-AR" sz="1200" dirty="0" err="1" smtClean="0">
                <a:solidFill>
                  <a:schemeClr val="tx1"/>
                </a:solidFill>
                <a:latin typeface="Arial" pitchFamily="34" charset="0"/>
                <a:cs typeface="Arial" pitchFamily="34" charset="0"/>
              </a:rPr>
              <a:t>Scale</a:t>
            </a:r>
            <a:r>
              <a:rPr lang="es-AR" sz="1200" dirty="0" smtClean="0">
                <a:solidFill>
                  <a:schemeClr val="tx1"/>
                </a:solidFill>
                <a:latin typeface="Arial" pitchFamily="34" charset="0"/>
                <a:cs typeface="Arial" pitchFamily="34" charset="0"/>
              </a:rPr>
              <a:t> </a:t>
            </a:r>
            <a:r>
              <a:rPr lang="es-AR" sz="1200" dirty="0" err="1" smtClean="0">
                <a:solidFill>
                  <a:schemeClr val="tx1"/>
                </a:solidFill>
                <a:latin typeface="Arial" pitchFamily="34" charset="0"/>
                <a:cs typeface="Arial" pitchFamily="34" charset="0"/>
              </a:rPr>
              <a:t>Integration</a:t>
            </a:r>
            <a:r>
              <a:rPr lang="es-AR" sz="1200" dirty="0" smtClean="0">
                <a:solidFill>
                  <a:schemeClr val="tx1"/>
                </a:solidFill>
                <a:latin typeface="Arial" pitchFamily="34" charset="0"/>
                <a:cs typeface="Arial" pitchFamily="34" charset="0"/>
              </a:rPr>
              <a:t>).</a:t>
            </a:r>
          </a:p>
          <a:p>
            <a:pPr algn="l"/>
            <a:r>
              <a:rPr lang="es-AR" sz="1200" dirty="0" smtClean="0">
                <a:solidFill>
                  <a:schemeClr val="tx1"/>
                </a:solidFill>
                <a:latin typeface="Arial" pitchFamily="34" charset="0"/>
                <a:cs typeface="Arial" pitchFamily="34" charset="0"/>
              </a:rPr>
              <a:t>-Disminuyeron de tamaño al igual que sus costos.</a:t>
            </a:r>
          </a:p>
          <a:p>
            <a:pPr algn="l"/>
            <a:r>
              <a:rPr lang="es-AR" sz="1200" dirty="0" smtClean="0">
                <a:solidFill>
                  <a:schemeClr val="tx1"/>
                </a:solidFill>
                <a:latin typeface="Arial" pitchFamily="34" charset="0"/>
                <a:cs typeface="Arial" pitchFamily="34" charset="0"/>
              </a:rPr>
              <a:t>-La familia de IBM 360 fue la transición a esta generación.</a:t>
            </a:r>
          </a:p>
          <a:p>
            <a:pPr algn="l"/>
            <a:r>
              <a:rPr lang="es-AR" sz="1200" dirty="0" smtClean="0">
                <a:solidFill>
                  <a:schemeClr val="tx1"/>
                </a:solidFill>
                <a:latin typeface="Arial" pitchFamily="34" charset="0"/>
                <a:cs typeface="Arial" pitchFamily="34" charset="0"/>
              </a:rPr>
              <a:t>-Eran mas eficientes y rápidas.</a:t>
            </a:r>
          </a:p>
          <a:p>
            <a:pPr algn="l"/>
            <a:r>
              <a:rPr lang="es-AR" sz="1200" dirty="0" smtClean="0">
                <a:solidFill>
                  <a:schemeClr val="tx1"/>
                </a:solidFill>
                <a:latin typeface="Arial" pitchFamily="34" charset="0"/>
                <a:cs typeface="Arial" pitchFamily="34" charset="0"/>
              </a:rPr>
              <a:t>-Surgieron también las micro-computadoras.</a:t>
            </a:r>
          </a:p>
          <a:p>
            <a:pPr algn="l"/>
            <a:r>
              <a:rPr lang="es-AR" sz="1200" dirty="0" smtClean="0">
                <a:solidFill>
                  <a:schemeClr val="tx1"/>
                </a:solidFill>
                <a:latin typeface="Arial" pitchFamily="34" charset="0"/>
                <a:cs typeface="Arial" pitchFamily="34" charset="0"/>
              </a:rPr>
              <a:t>-La información se introducía por medio de tarjetas perforadas.</a:t>
            </a:r>
          </a:p>
          <a:p>
            <a:pPr algn="l"/>
            <a:r>
              <a:rPr lang="es-AR" sz="1200" dirty="0" smtClean="0">
                <a:solidFill>
                  <a:schemeClr val="tx1"/>
                </a:solidFill>
                <a:latin typeface="Arial" pitchFamily="34" charset="0"/>
                <a:cs typeface="Arial" pitchFamily="34" charset="0"/>
              </a:rPr>
              <a:t>-A mediados de los años 60 INTEL logró integrar un solo procesador en un solo chip.</a:t>
            </a:r>
          </a:p>
          <a:p>
            <a:pPr algn="l"/>
            <a:r>
              <a:rPr lang="es-AR" sz="1200" dirty="0" smtClean="0">
                <a:solidFill>
                  <a:schemeClr val="tx1"/>
                </a:solidFill>
                <a:latin typeface="Arial" pitchFamily="34" charset="0"/>
                <a:cs typeface="Arial" pitchFamily="34" charset="0"/>
              </a:rPr>
              <a:t>-Ahorraban mas energía.</a:t>
            </a:r>
            <a:endParaRPr lang="es-AR" sz="1200" dirty="0">
              <a:solidFill>
                <a:schemeClr val="tx1"/>
              </a:solidFill>
              <a:latin typeface="Arial" pitchFamily="34" charset="0"/>
              <a:cs typeface="Arial" pitchFamily="34" charset="0"/>
            </a:endParaRPr>
          </a:p>
        </p:txBody>
      </p:sp>
      <p:pic>
        <p:nvPicPr>
          <p:cNvPr id="169987" name="Picture 3"/>
          <p:cNvPicPr>
            <a:picLocks noChangeAspect="1" noChangeArrowheads="1"/>
          </p:cNvPicPr>
          <p:nvPr/>
        </p:nvPicPr>
        <p:blipFill>
          <a:blip r:embed="rId3" cstate="print"/>
          <a:srcRect/>
          <a:stretch>
            <a:fillRect/>
          </a:stretch>
        </p:blipFill>
        <p:spPr bwMode="auto">
          <a:xfrm>
            <a:off x="217832" y="4773683"/>
            <a:ext cx="2305050" cy="1638300"/>
          </a:xfrm>
          <a:prstGeom prst="rect">
            <a:avLst/>
          </a:prstGeom>
          <a:ln>
            <a:noFill/>
          </a:ln>
          <a:effectLst>
            <a:outerShdw blurRad="292100" dist="139700" dir="2700000" algn="tl" rotWithShape="0">
              <a:srgbClr val="333333">
                <a:alpha val="65000"/>
              </a:srgbClr>
            </a:outerShdw>
          </a:effectLst>
        </p:spPr>
      </p:pic>
      <p:pic>
        <p:nvPicPr>
          <p:cNvPr id="169989" name="Picture 5" descr="tercera generaciÃ³n computadoras"/>
          <p:cNvPicPr>
            <a:picLocks noChangeAspect="1" noChangeArrowheads="1"/>
          </p:cNvPicPr>
          <p:nvPr/>
        </p:nvPicPr>
        <p:blipFill>
          <a:blip r:embed="rId4" cstate="print"/>
          <a:srcRect/>
          <a:stretch>
            <a:fillRect/>
          </a:stretch>
        </p:blipFill>
        <p:spPr bwMode="auto">
          <a:xfrm>
            <a:off x="5354499" y="4466275"/>
            <a:ext cx="3570011" cy="2315525"/>
          </a:xfrm>
          <a:prstGeom prst="rect">
            <a:avLst/>
          </a:prstGeom>
          <a:ln>
            <a:noFill/>
          </a:ln>
          <a:effectLst>
            <a:outerShdw blurRad="292100" dist="139700" dir="2700000" algn="tl" rotWithShape="0">
              <a:srgbClr val="333333">
                <a:alpha val="65000"/>
              </a:srgbClr>
            </a:outerShdw>
          </a:effectLst>
        </p:spPr>
      </p:pic>
      <p:sp>
        <p:nvSpPr>
          <p:cNvPr id="13" name="12 CuadroTexto"/>
          <p:cNvSpPr txBox="1"/>
          <p:nvPr/>
        </p:nvSpPr>
        <p:spPr>
          <a:xfrm>
            <a:off x="4561707" y="6419076"/>
            <a:ext cx="756938" cy="276999"/>
          </a:xfrm>
          <a:prstGeom prst="rect">
            <a:avLst/>
          </a:prstGeom>
          <a:noFill/>
        </p:spPr>
        <p:txBody>
          <a:bodyPr wrap="none" rtlCol="0">
            <a:spAutoFit/>
          </a:bodyPr>
          <a:lstStyle/>
          <a:p>
            <a:r>
              <a:rPr lang="es-AR" sz="1200" dirty="0" smtClean="0">
                <a:solidFill>
                  <a:schemeClr val="tx1"/>
                </a:solidFill>
                <a:latin typeface="Arial" pitchFamily="34" charset="0"/>
                <a:cs typeface="Arial" pitchFamily="34" charset="0"/>
              </a:rPr>
              <a:t>IBM 360</a:t>
            </a:r>
            <a:endParaRPr lang="es-AR" sz="1200" dirty="0">
              <a:solidFill>
                <a:schemeClr val="tx1"/>
              </a:solidFill>
              <a:latin typeface="Arial" pitchFamily="34" charset="0"/>
              <a:cs typeface="Arial" pitchFamily="34" charset="0"/>
            </a:endParaRPr>
          </a:p>
        </p:txBody>
      </p:sp>
      <p:pic>
        <p:nvPicPr>
          <p:cNvPr id="169991" name="Picture 7" descr="NOVA"/>
          <p:cNvPicPr>
            <a:picLocks noChangeAspect="1" noChangeArrowheads="1"/>
          </p:cNvPicPr>
          <p:nvPr/>
        </p:nvPicPr>
        <p:blipFill>
          <a:blip r:embed="rId5" cstate="print"/>
          <a:srcRect/>
          <a:stretch>
            <a:fillRect/>
          </a:stretch>
        </p:blipFill>
        <p:spPr bwMode="auto">
          <a:xfrm>
            <a:off x="2539449" y="4660209"/>
            <a:ext cx="1900508" cy="1781726"/>
          </a:xfrm>
          <a:prstGeom prst="rect">
            <a:avLst/>
          </a:prstGeom>
          <a:ln>
            <a:noFill/>
          </a:ln>
          <a:effectLst>
            <a:outerShdw blurRad="292100" dist="139700" dir="2700000" algn="tl" rotWithShape="0">
              <a:srgbClr val="333333">
                <a:alpha val="65000"/>
              </a:srgbClr>
            </a:outerShdw>
          </a:effectLst>
        </p:spPr>
      </p:pic>
      <p:sp>
        <p:nvSpPr>
          <p:cNvPr id="16" name="15 CuadroTexto"/>
          <p:cNvSpPr txBox="1"/>
          <p:nvPr/>
        </p:nvSpPr>
        <p:spPr>
          <a:xfrm>
            <a:off x="9144000" y="-330200"/>
            <a:ext cx="2476501" cy="2308324"/>
          </a:xfrm>
          <a:prstGeom prst="rect">
            <a:avLst/>
          </a:prstGeom>
          <a:noFill/>
        </p:spPr>
        <p:txBody>
          <a:bodyPr wrap="square" rtlCol="0">
            <a:spAutoFit/>
          </a:bodyPr>
          <a:lstStyle/>
          <a:p>
            <a:pPr algn="l"/>
            <a:r>
              <a:rPr lang="es-AR" sz="1200" dirty="0" err="1" smtClean="0">
                <a:solidFill>
                  <a:schemeClr val="tx1"/>
                </a:solidFill>
                <a:latin typeface="Arial" pitchFamily="34" charset="0"/>
                <a:cs typeface="Arial" pitchFamily="34" charset="0"/>
              </a:rPr>
              <a:t>Spool</a:t>
            </a:r>
            <a:r>
              <a:rPr lang="es-AR" sz="1200" dirty="0" smtClean="0">
                <a:solidFill>
                  <a:schemeClr val="tx1"/>
                </a:solidFill>
                <a:latin typeface="Arial" pitchFamily="34" charset="0"/>
                <a:cs typeface="Arial" pitchFamily="34" charset="0"/>
              </a:rPr>
              <a:t>: </a:t>
            </a:r>
            <a:r>
              <a:rPr lang="es-AR" sz="1200" dirty="0">
                <a:solidFill>
                  <a:schemeClr val="tx1"/>
                </a:solidFill>
                <a:latin typeface="Arial" pitchFamily="34" charset="0"/>
                <a:cs typeface="Arial" pitchFamily="34" charset="0"/>
              </a:rPr>
              <a:t>los sistemas operativos de tercera generación fue la </a:t>
            </a:r>
            <a:r>
              <a:rPr lang="es-AR" sz="1200" dirty="0" smtClean="0">
                <a:solidFill>
                  <a:schemeClr val="tx1"/>
                </a:solidFill>
                <a:latin typeface="Arial" pitchFamily="34" charset="0"/>
                <a:cs typeface="Arial" pitchFamily="34" charset="0"/>
              </a:rPr>
              <a:t>capacidad para </a:t>
            </a:r>
            <a:r>
              <a:rPr lang="es-AR" sz="1200" dirty="0">
                <a:solidFill>
                  <a:schemeClr val="tx1"/>
                </a:solidFill>
                <a:latin typeface="Arial" pitchFamily="34" charset="0"/>
                <a:cs typeface="Arial" pitchFamily="34" charset="0"/>
              </a:rPr>
              <a:t>leer trabajos en tarjetas y colocarlos en el disco tan pronto como se llevaban al cuarto de computadoras.</a:t>
            </a:r>
          </a:p>
          <a:p>
            <a:pPr algn="l"/>
            <a:r>
              <a:rPr lang="es-AR" sz="1200" dirty="0">
                <a:solidFill>
                  <a:schemeClr val="tx1"/>
                </a:solidFill>
                <a:latin typeface="Arial" pitchFamily="34" charset="0"/>
                <a:cs typeface="Arial" pitchFamily="34" charset="0"/>
              </a:rPr>
              <a:t>Así, cada vez que terminaba un trabajo en ejecución, el sistema operativo podía cargar un </a:t>
            </a:r>
            <a:r>
              <a:rPr lang="es-AR" sz="1200" dirty="0" smtClean="0">
                <a:solidFill>
                  <a:schemeClr val="tx1"/>
                </a:solidFill>
                <a:latin typeface="Arial" pitchFamily="34" charset="0"/>
                <a:cs typeface="Arial" pitchFamily="34" charset="0"/>
              </a:rPr>
              <a:t>nuevo trabajo </a:t>
            </a:r>
            <a:r>
              <a:rPr lang="es-AR" sz="1200" dirty="0">
                <a:solidFill>
                  <a:schemeClr val="tx1"/>
                </a:solidFill>
                <a:latin typeface="Arial" pitchFamily="34" charset="0"/>
                <a:cs typeface="Arial" pitchFamily="34" charset="0"/>
              </a:rPr>
              <a:t>del disco en la partición que entonces estaba vacía y lo ejecutaba</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51691" y="1028700"/>
            <a:ext cx="8686800" cy="5245100"/>
          </a:xfrm>
        </p:spPr>
        <p:txBody>
          <a:bodyPr>
            <a:noAutofit/>
          </a:bodyPr>
          <a:lstStyle/>
          <a:p>
            <a:pPr algn="just">
              <a:buNone/>
            </a:pPr>
            <a:r>
              <a:rPr lang="es-AR" sz="1400" b="1" dirty="0" smtClean="0">
                <a:solidFill>
                  <a:srgbClr val="C00000"/>
                </a:solidFill>
                <a:latin typeface="Arial" pitchFamily="34" charset="0"/>
                <a:cs typeface="Arial" pitchFamily="34" charset="0"/>
              </a:rPr>
              <a:t>Multiprogramación: </a:t>
            </a:r>
            <a:r>
              <a:rPr lang="es-AR" sz="1400" dirty="0" smtClean="0">
                <a:latin typeface="Arial" pitchFamily="34" charset="0"/>
                <a:cs typeface="Arial" pitchFamily="34" charset="0"/>
              </a:rPr>
              <a:t>su ventaja es el aprovechamiento de los  tiempos muertos. Es el punto central de los sistemas operativos modernos (derivados: Multiusuario, multitarea, </a:t>
            </a:r>
            <a:r>
              <a:rPr lang="es-AR" sz="1400" dirty="0" err="1" smtClean="0">
                <a:latin typeface="Arial" pitchFamily="34" charset="0"/>
                <a:cs typeface="Arial" pitchFamily="34" charset="0"/>
              </a:rPr>
              <a:t>multiacceso</a:t>
            </a:r>
            <a:r>
              <a:rPr lang="es-AR" sz="1400" dirty="0" smtClean="0">
                <a:latin typeface="Arial" pitchFamily="34" charset="0"/>
                <a:cs typeface="Arial" pitchFamily="34" charset="0"/>
              </a:rPr>
              <a:t>, multiprocesamiento, ....)</a:t>
            </a:r>
          </a:p>
          <a:p>
            <a:pPr algn="just">
              <a:buNone/>
            </a:pPr>
            <a:r>
              <a:rPr lang="es-AR" sz="1400" b="1" dirty="0" smtClean="0">
                <a:solidFill>
                  <a:srgbClr val="C00000"/>
                </a:solidFill>
                <a:latin typeface="Arial" pitchFamily="34" charset="0"/>
                <a:cs typeface="Arial" pitchFamily="34" charset="0"/>
              </a:rPr>
              <a:t>Tareas básicas de un SO </a:t>
            </a:r>
            <a:r>
              <a:rPr lang="es-AR" sz="1400" b="1" dirty="0" err="1" smtClean="0">
                <a:solidFill>
                  <a:srgbClr val="C00000"/>
                </a:solidFill>
                <a:latin typeface="Arial" pitchFamily="34" charset="0"/>
                <a:cs typeface="Arial" pitchFamily="34" charset="0"/>
              </a:rPr>
              <a:t>Multiprogramado</a:t>
            </a:r>
            <a:r>
              <a:rPr lang="es-AR" sz="1400" b="1" dirty="0" smtClean="0">
                <a:solidFill>
                  <a:srgbClr val="C00000"/>
                </a:solidFill>
                <a:latin typeface="Arial" pitchFamily="34" charset="0"/>
                <a:cs typeface="Arial" pitchFamily="34" charset="0"/>
              </a:rPr>
              <a:t>:</a:t>
            </a:r>
          </a:p>
          <a:p>
            <a:pPr algn="just"/>
            <a:r>
              <a:rPr lang="es-AR" sz="1400" dirty="0" smtClean="0">
                <a:latin typeface="Arial" pitchFamily="34" charset="0"/>
                <a:cs typeface="Arial" pitchFamily="34" charset="0"/>
              </a:rPr>
              <a:t>Ocultar a los usuarios los detalles del hardware y la ejecución de software.</a:t>
            </a:r>
          </a:p>
          <a:p>
            <a:pPr algn="just"/>
            <a:r>
              <a:rPr lang="es-AR" sz="1400" dirty="0" smtClean="0">
                <a:latin typeface="Arial" pitchFamily="34" charset="0"/>
                <a:cs typeface="Arial" pitchFamily="34" charset="0"/>
              </a:rPr>
              <a:t>Gestionar y administrar los recursos que necesiten los usuarios</a:t>
            </a:r>
          </a:p>
          <a:p>
            <a:pPr algn="just"/>
            <a:r>
              <a:rPr lang="es-AR" sz="1400" dirty="0" smtClean="0">
                <a:latin typeface="Arial" pitchFamily="34" charset="0"/>
                <a:cs typeface="Arial" pitchFamily="34" charset="0"/>
              </a:rPr>
              <a:t>Proporcionar facilidades de sincronización y comunicación entre los programas a ejecutar.</a:t>
            </a:r>
          </a:p>
          <a:p>
            <a:pPr algn="just"/>
            <a:r>
              <a:rPr lang="es-AR" sz="1400" dirty="0" smtClean="0">
                <a:latin typeface="Arial" pitchFamily="34" charset="0"/>
                <a:cs typeface="Arial" pitchFamily="34" charset="0"/>
              </a:rPr>
              <a:t>Reforzar las políticas de protección</a:t>
            </a:r>
          </a:p>
          <a:p>
            <a:pPr algn="just">
              <a:buNone/>
            </a:pPr>
            <a:r>
              <a:rPr lang="es-AR" sz="1400" b="1" dirty="0" smtClean="0">
                <a:solidFill>
                  <a:srgbClr val="C00000"/>
                </a:solidFill>
                <a:latin typeface="Arial" pitchFamily="34" charset="0"/>
                <a:cs typeface="Arial" pitchFamily="34" charset="0"/>
              </a:rPr>
              <a:t>Tiempo Compartido: </a:t>
            </a:r>
          </a:p>
          <a:p>
            <a:pPr algn="just"/>
            <a:r>
              <a:rPr lang="es-AR" sz="1400" dirty="0" smtClean="0">
                <a:latin typeface="Arial" pitchFamily="34" charset="0"/>
                <a:cs typeface="Arial" pitchFamily="34" charset="0"/>
              </a:rPr>
              <a:t>El tiempo del procesador se comparte entre diferentes usuarios.</a:t>
            </a:r>
          </a:p>
          <a:p>
            <a:pPr algn="just"/>
            <a:r>
              <a:rPr lang="es-AR" sz="1400" dirty="0" smtClean="0">
                <a:latin typeface="Arial" pitchFamily="34" charset="0"/>
                <a:cs typeface="Arial" pitchFamily="34" charset="0"/>
              </a:rPr>
              <a:t>En lugar de trabajos, estos sistemas hablan de sesiones (desde que un usuario se </a:t>
            </a:r>
            <a:r>
              <a:rPr lang="es-AR" sz="1400" dirty="0" err="1" smtClean="0">
                <a:latin typeface="Arial" pitchFamily="34" charset="0"/>
                <a:cs typeface="Arial" pitchFamily="34" charset="0"/>
              </a:rPr>
              <a:t>loguea</a:t>
            </a:r>
            <a:r>
              <a:rPr lang="es-AR" sz="1400" dirty="0" smtClean="0">
                <a:latin typeface="Arial" pitchFamily="34" charset="0"/>
                <a:cs typeface="Arial" pitchFamily="34" charset="0"/>
              </a:rPr>
              <a:t> hasta que sale)</a:t>
            </a:r>
          </a:p>
          <a:p>
            <a:pPr algn="just"/>
            <a:r>
              <a:rPr lang="es-AR" sz="1400" dirty="0" smtClean="0">
                <a:latin typeface="Arial" pitchFamily="34" charset="0"/>
                <a:cs typeface="Arial" pitchFamily="34" charset="0"/>
              </a:rPr>
              <a:t>Al dar comienzo a una sesión, el SO activa un SHELL, que es quien mantiene un diálogo entre el usuario y el SO. El </a:t>
            </a:r>
            <a:r>
              <a:rPr lang="es-AR" sz="1400" dirty="0" err="1" smtClean="0">
                <a:latin typeface="Arial" pitchFamily="34" charset="0"/>
                <a:cs typeface="Arial" pitchFamily="34" charset="0"/>
              </a:rPr>
              <a:t>shell</a:t>
            </a:r>
            <a:r>
              <a:rPr lang="es-AR" sz="1400" dirty="0" smtClean="0">
                <a:latin typeface="Arial" pitchFamily="34" charset="0"/>
                <a:cs typeface="Arial" pitchFamily="34" charset="0"/>
              </a:rPr>
              <a:t> lleva a cabo las demandas del usuario. </a:t>
            </a:r>
          </a:p>
          <a:p>
            <a:pPr algn="just"/>
            <a:r>
              <a:rPr lang="es-AR" sz="1400" dirty="0" smtClean="0">
                <a:latin typeface="Arial" pitchFamily="34" charset="0"/>
                <a:cs typeface="Arial" pitchFamily="34" charset="0"/>
              </a:rPr>
              <a:t>El una sesión cree que todos los recursos de esa computadora están asignados y disponibles para él (incluso estando activos otros usuarios y sesiones al mismo tiempo). </a:t>
            </a:r>
          </a:p>
          <a:p>
            <a:pPr algn="just">
              <a:buNone/>
            </a:pPr>
            <a:r>
              <a:rPr lang="es-AR" sz="1400" b="1" dirty="0" smtClean="0">
                <a:solidFill>
                  <a:srgbClr val="C00000"/>
                </a:solidFill>
                <a:latin typeface="Arial" pitchFamily="34" charset="0"/>
                <a:cs typeface="Arial" pitchFamily="34" charset="0"/>
              </a:rPr>
              <a:t>Objetivos</a:t>
            </a:r>
            <a:r>
              <a:rPr lang="es-AR" sz="1400" dirty="0" smtClean="0">
                <a:solidFill>
                  <a:srgbClr val="C00000"/>
                </a:solidFill>
                <a:latin typeface="Arial" pitchFamily="34" charset="0"/>
                <a:cs typeface="Arial" pitchFamily="34" charset="0"/>
              </a:rPr>
              <a:t>:</a:t>
            </a:r>
          </a:p>
          <a:p>
            <a:r>
              <a:rPr lang="es-ES" sz="1400" dirty="0" smtClean="0">
                <a:latin typeface="Arial" pitchFamily="34" charset="0"/>
                <a:cs typeface="Arial" pitchFamily="34" charset="0"/>
              </a:rPr>
              <a:t>Deberán ser interactivos</a:t>
            </a:r>
            <a:endParaRPr lang="es-ES_tradnl" sz="1400" dirty="0" smtClean="0">
              <a:latin typeface="Arial" pitchFamily="34" charset="0"/>
              <a:cs typeface="Arial" pitchFamily="34" charset="0"/>
            </a:endParaRPr>
          </a:p>
          <a:p>
            <a:r>
              <a:rPr lang="es-ES" sz="1400" dirty="0" smtClean="0">
                <a:latin typeface="Arial" pitchFamily="34" charset="0"/>
                <a:cs typeface="Arial" pitchFamily="34" charset="0"/>
              </a:rPr>
              <a:t>Deberán permitir el acceso de varios usuarios al mismo tiempo, permitiéndoles compartir el ordenador.</a:t>
            </a:r>
            <a:endParaRPr lang="es-ES_tradnl" sz="1400" dirty="0" smtClean="0">
              <a:latin typeface="Arial" pitchFamily="34" charset="0"/>
              <a:cs typeface="Arial" pitchFamily="34" charset="0"/>
            </a:endParaRPr>
          </a:p>
          <a:p>
            <a:r>
              <a:rPr lang="es-ES" sz="1400" dirty="0" smtClean="0">
                <a:latin typeface="Arial" pitchFamily="34" charset="0"/>
                <a:cs typeface="Arial" pitchFamily="34" charset="0"/>
              </a:rPr>
              <a:t>Será deseable que presente un corto tiempo de respuesta</a:t>
            </a:r>
            <a:endParaRPr lang="es-AR" sz="1400" dirty="0" smtClean="0">
              <a:latin typeface="Arial" pitchFamily="34" charset="0"/>
              <a:cs typeface="Arial" pitchFamily="34" charset="0"/>
            </a:endParaRPr>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12</a:t>
            </a:fld>
            <a:endParaRPr lang="en-US"/>
          </a:p>
        </p:txBody>
      </p:sp>
      <p:sp>
        <p:nvSpPr>
          <p:cNvPr id="7"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Evolución de los SO</a:t>
            </a:r>
            <a:endParaRPr lang="es-AR" sz="4000" b="1" dirty="0">
              <a:solidFill>
                <a:schemeClr val="accent2">
                  <a:lumMod val="75000"/>
                </a:schemeClr>
              </a:solidFill>
              <a:latin typeface="Arial Unicode MS"/>
              <a:ea typeface="Arial Unicode MS"/>
              <a:cs typeface="Arial Unicode MS"/>
            </a:endParaRPr>
          </a:p>
        </p:txBody>
      </p:sp>
      <p:sp>
        <p:nvSpPr>
          <p:cNvPr id="146434" name="AutoShape 2"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146436" name="AutoShape 4" descr="data:image/jpeg;base64,/9j/4AAQSkZJRgABAQAAAQABAAD/2wCEAAkGBxISEhUTExMVFhUXFxgZGRgYGB4dGBoYGBofGhgYHR8fHSggGRomHx0YITEiJSorLi4uFx81ODMtNygtLisBCgoKBQUFDgUFDisZExkrKysrKysrKysrKysrKysrKysrKysrKysrKysrKysrKysrKysrKysrKysrKysrKysrK//AABEIANAA8gMBIgACEQEDEQH/xAAcAAACAgMBAQAAAAAAAAAAAAAEBQMGAAIHAQj/xABNEAACAQIEAgYFBgoIBQQDAAABAhEAAwQSITEFQQYTIlFhcSMygZGxFEJSobLBByQzQ2JygpLR8BVTY3OTosLhFjREtNJkw9Pxg6Oz/8QAFAEBAAAAAAAAAAAAAAAAAAAAAP/EABQRAQAAAAAAAAAAAAAAAAAAAAD/2gAMAwEAAhEDEQA/AL9axFz6be81Mt5/pN7zUFlaJVaDwXX+k3vr3rX+k3vNbZa9y0GnWv8ASb3ms61/pN7zW+SvclBGbr/Sb3mvOsf6Te81KUrAlBFnb6Te815mb6Te81Nkr3JQDy30m95ryW+k3vNFdXWZKAaW+kffXkt3n30VkpXx/h5vWiguvaYwVZWIM8gY3BmI8aCe5djdo8zFB3uNYdPWxFpfO4v8a5Dj+FYk9u6l0xoS2pGoEEk6akb99a4nhq27dq4QSLoYgA6jK2Uzy91B1K90vwa74lT+rmb7INCXOnuDG1y43kjf6orm93B9Wlq41tSLoYr2zPZYqZ001FHcSwos37llVQ5Gyg5d+7SaC4P+EPD8rd4/uAfbNRf8fA+rYP7TkfBDSfBcLjFmw4UhWuKSqkTlU67bSJ3qLhWH6y4FdiAVY7gahWYbjvFA7fpliD6tlB5kt96mhrnSbGnZrKj9Ug/WWqLh+HVrdxjGlsMD5ugn1jvmj21pFvJdkrIUFYEwTcRZ27m50EN/j2OP58jyVAPszQV3imKbfFN/iMPsmo3srO4Pl/sK8thRzP1/xoPGv3D6112H6zN8Zonh1owTDwTyUDbQbr7de80E1xM3aBGmm+vftXQugHCEKfKQBLSq8yMpgme+R/M0E3Q7hgRDc1lzziYG0wACdT76snV0ULVbC3QCdVXvV0Vkr3JQA9XWUZ1dZQLrIohRUFiiFoN1FbRXgrag8isiva9FB5FegVtVd4t0vsYe6bLLdLiJyqI1AYalhyNA6xlwKszEson9ZgI+uh7uNHULdUyGVCGAkdqIMRtr3c6qvEendl1KLbeQy+tA9Vg3j9E0Cem2eyLS2RChBOafUI2EDu7+dBbODcZTEXAVOjK4C92XIZYfNOseZqbHY1la6mQkLautuIOVbZHPnmYeyqfwbiFy3ca6iAF8xMjTtlZbffsKPYaPbitx3ZjlAYMhJIAIMAgeOg2oLN1zHDXXywR18AncKzQdJiQPZNBXb1wLZ0Q5rkTqIHym2ANtewT7RSM9JLKA23xVkKSQVLqB2icwOvOTvXtzpZw5NXxaFQ2hGZ1nQkKVBEzrAoHnSbBdaFtFoS5Ct3/lbWxnQxI571zPiuGdrOGUW3cKLo7KEn8oYkgc/uq2X/wi8KXTrrhMAiLTgkHYjMu0a91eYz8IGHSyl8YfFvZuBirrbUr2GysTL6CQdxQVnF4HENZw4W1dJVbggg9n0hK6HbQ1Jxfh2Je/cY23OdmIOZQCD7RT/CdKnxKobPD8QQ7ZVZyipOTrJmScuX50Ry30pMOkeNuNcycPPogpOa6BOcqAFaCrHtLsdOdB5jA1vFPdiFLu2Ynk08pnnQ/DALbqxy6A7GTqpH0fHvqNMdjMRireHuYRLEuRNwlspAnlGc7bbSJqHCYbirsEt28IRLEGWjTUg9qQfZr40DC3hSV0t2+4yGMjOjR6w07PIA60Zh8GxzDLbTMsaKY9ZW1zMZ9WI8aH4hwzHrZxTnEoGs3SgAsQrKFJnta792Yb7nYE8N4mcO1xcYkjDm6wyAbXbiAIYEaKNSBvQWK90eXKTnacsiFQCY02SqwcHcO7sPIqP9JrqlxJseItk/5Qa5jfxIuQ6+pcUONNe0Aw+NADdw8kAs7DX1m2747Md3Kuq/g9tkYUAeoGYLO+8tJ56nu5VzixaVnAYxAJ567TtXTehCEWSB+SBOXxJMse/uFBYctZlrasoNctZlrasoI8te1vFZQJbFEJQ1g6CpwYoJa2mq7xDpTbtsQq543OaB7N5qbhHSfD4ghQ2VzMKecdx2PxoHleivIrdRQe1zDpeF+WX825W1l01nKoOs6bdx9ldQrmfTfDt8uBZSFdVKtybLAMHwnbfwoFnB+g+KXFomLabVxLkNbgksEJEhlJUgxplM15wLoUXxFvNirxtMbmZA2ViQpI7SMCNY5Cup4kTesf/l741T9Uj3/XSfg1rLdtDbt3NNt1PIx9SjzoKTe6K4frsEpFwq9+yrg3LhBXqyzTOupGpgGO6jsN0Fwdg4a9bRgxvLmBYlCOtUZSGMR+1udjopaYu0BewOm1+xy/s7g2yabdwiPm08x75lsvEemXwj0gETp7sw8j6pCrX+jGEbFlzYt5heWIAXRnYNIVhIOu6+2jOnGEUYa8Mggtc0y6b2iNMuu36U+NN7qemYT+eQwD3XN4zH35R5ihenFmcPd03e5y3lUP0ddv0vbtQaLgLfU3B1ax1WEAGUaDKukFDA0GmUbDTSKFwKAWMHJGmeDI/rTsTck+xj7di8VfxeIH5HD8vDmCPuH3UDhGi1hRmiS49eJi7qP+YUtv3XPLkQMwVubWB09W4Y029FcE6qcu/wChvvrlNa6Pp6bFbDsWT7jaPgatPD7focGCIi4dCIjsvyKiPYopB0ftenxInXq7R5chbO2afbHt5UE12xPEU/vD3fRXl/Ps3rbo5b9Jb1mDeGhzAbSJD3Av7yeXKjXt/jyn+07/AAT9Mx5aeXMb8NsnrrZM+tdiZPIbZpP7pjyoF/GbI6niMAa3ZO2voucDeI3k6DlArXD2fxFnDb4Vl37rzmZDjv5Ny9lF8W1s8Q8GHMH8zP0zG/cnl84x4FScKQJJOFbaZ/LP4sT729tBYBYnD6c7X+muUYjBrayIk5VRQs7wFWJ9ldiwwmwv90Ps1y3jKekUfoJ9haBdaTtDyNdT6GLGETxL+Q7REDuH8TXMANdq6l0Q/wCUt/tfaNA4rKysoMrKysoMrKysoK/ZeoOO3CMPcjeI95ArV7yosmYjeCdhPKpjdRgVbSRrOnPvoAeB9HsJdsWzetjO2sHlzHlpSXpVwyxh8j4YZMukr3bgyd9Y119ar3h7i5DosrI0A0E7Du7u6RSXFm3c6pGCiIZyefV6AeOpFA44fdL27bMIZkUkeJEmihSkccw2YJ19rOTAUOpYk7ACZNMOuGmu+3woJyK5z0mxrXLwtM2cIxhiR2SSAyQIBj6Rk8pq9Y3GC2CTsNT5Vx/gmPa+6u5JLXX3JPrNmga6ATFB1lNbtgxMZ9YmJQ88hj3r7dqE4Xby3LQjL6R9IK/MPLKk/un7604JcJbDq5zusyxAmSjbdnTumV8zMGfAW8r29MvpWEZcs9h9h1dqdu5vvoEePE3sH2dr+H+b3Ld5ZDtEzAjeV9YPry9m0f7RdfNxpOnuzDyOxRcQtTdwwj89Y5Tsb8aZDtHdp3r6wsd9NLfhcHx8tPeN9jMEBcRrdbWYvIYmY9J3Z2j90eYoXplbmxe0+e3LebQ/Q12/S7tfVDHEavcEzFxDGaY7a6x1jR55F8xQ3Sy36G4InM7cv7H9XX3N9wDzCL6Jp/qsP9SRzj7vurXCn0eHAJ9e7sxE+kG4F1Z9oaO5dqmtCLTbfkre+mw81j6qlwls5LO+j3JiT8/nE/z3UGuAAWzheXpdtvp/qfA+R3pLwjTEYoA/m7Wk66rbExn+vJ7TtT2yALFrcRdPhzbuK/f5HaluAX02J1MFE0nSctvlm/0+00BdxPxtTqYuHvPJPOBp3rP6XzfOH2ouppEvd3GUnTxt25HjD/rczLet/jSk8n07J5hZg5DH7w5anat8OgW4saTduTEAbHfLlB9oP8QE4wh6jHb7Ajf+rG3L3UHh7f4uwIJ/FXGoM/lWOoNuefNP40x4uvosZ4heX9mB9DX3t91BWbYXDsoAEYe7oAFH5Tuy2wN/or95CyYT8gn92v2R5VzLjwHXATqEtz7baxXScDcnD24/ql+wDVB6RIOvH92n2EoFCDteyumdER+KW/2vtGubAS3srpXRP/lbf7X2jQN6ysrKDKysrKDKysrKChcW6Q4XDjLeuLMaoBmaDyI5SO+KpnHungZSmHt5M35xoL67kDYE7SSap/TXFZ8bfK7Z49qDIfrBpajfUKD6lsYRUsqqAjKmmWMx0k6nQknWTzNcz/CHwH5RwxcWFLXFfrGZ4ZuqbsECAAoHYbQciTzrqVlotKTyQH3LSnomi3MBbVhmVldWB5gswI92lB80oCgERI5g7d0d1dC4D+ElrdrLfsi6w1zhypYyNW0ImFGo8PGaf0p4Q2ExV7DE6KxCnvRhKH90j66k6IcEbHXfk6XFtnIWzMpb1Y0AB5yT7DQWvjvT21fsXLVvDtbZgVBZ5gGZO2/abTxHdQPRPNkUg7O5j2L/AL0zP4MUt/lMUWPPLby7+JY/Cpb3DLWFu27KM5DIGJbUkliDsAPmjSgvnDIF+z5/+21G4RArJplm/wDRyzK3P7O1P+f76XcPuDr8Pru3/tN4ifr8uYmwZi4mkfjA+bG63O62k+9vvoAMeQbuH0/PWe7k2J/R8O73b1YLr6W/7wfHvy6e8e3Y1jGNDWD3YiyP/wBmJHh/PKrBiH7CHuuj+dvvH3EJMXe7VxZmGt6Zpjtrrl6xo/cX2b0L0qfsOP0mO3/p28NdvGveI4j0l1c0wydnNPz0+b1rR59WI8KF6UnW95H/ALZz4/ydu8Dkc9W0GPQrzjv8V+6pcMZt2TBMO/In5x7rbx/l86Fsv6NjMehXnHfzzD4/7ZbabVk5QfSP83NGvKbTx/l8zQEsSbFuP60/F+6fLcb+yluGc9diu7L491vwiibjzh0IExfOwnYv4PHnIjvWl2CtFsViYXU2tGy6bWjGbq9+cdZ45fnUDa4340NPnjcb6LtKD6ifMVJZuzdQTMXrmxmNGGsXHy+3J5cqCxTxjE1ibidwnRT4T/n9nrVMhJv25BPpniZMaNtIaPYVoPOK3R1eNGkhUnadbU689u8DyoLC3pssQdPk17YiNLnerx7iKl4i5K44E7Jb5nT0BP0tPYF9vIPhjZrEzmnDX+1JafSDn1l0ny6xvLkAf8EvzYA0MW1EjwQedVjjGGzX18ba/ZQU24FjF6rT+rSZ2nLB8Z3/ANqGvY7tBgEPYSGK6wyI3P2UCvD8LYs0Cco5VduAW8llVPKfiarlniVxSSuUE8wq/wAKlPGr/wBMfur/AAoLeWrzNVPPGb/0/qX+FaHjF/8ArD7h/CguWavc1UhuK3/6xq8Tid4kDrH1I50F2z1lcyxvSPHrccLc7IZgOzb2B05VlByDiOIFy47REsx37yTWmGWfbHwioFtknv3+FMej1rPfsp9K7bWP1nA++g+ocSMtlp5W2+paSfg/acGv67/GaccaUmxeAMTbfWJ+aZpL+D3/AJNf13+NBQvw8cPAuYbEACWV0Y9+Qhl+038gVTPwZ4kW+I4eTAZmt/vqVA/eK1cfw44gviMPZHzLTPvp6Rsv1dXNcvwt1rN5XAIa26uB+kjBo94ig+hOO2tapvSm+VvWT3pH+Y1buIY1bgVlOjAMPIiR9VUrphem8ijTKkHbUnX2QD9ZoLbgAq4nC5dJgt2jrKnSCROusa+XMTYR/TrAH/NJsB3P3Kfj/GkuD4lOMwKKdiM32ADrrpPfvtTHD3fxqN4xKHkebjkX7/0fOgF4rcgWztGIsjkPzuIHh3x9x2qy8YXIigjUXBP7s933j7qqfHHhRyjEpzja7cH0h39/8KsvHLxuWnYgaXGG30UYfd/O1BpxjEelvrmkSnZzTs6H1etaP8Mezeoukry2IHcrc/8A0r/pH7vI7nTjdyb99ZmMumadmQ+r1p+x7Oda9JXm7fAM9gnQz/0zfpGN+4e3egb4d5woYHe0dZHjzzju7/8AZcpmxa/vbm8fev8APedzvw7EHqAub/p3I1552G+czt9I7bdwz3MuHtScs37nMCZM/SWZ3+d3yfWoC77ThFkhov8Afm2ZzzL7fzl3AXD3y42+8DSyO1GvqIYnJPjGf9nnRV+4PkkFtRfO7TqWaBq53kRvOkTvSu20YjEHn1I7tYRfby/+uYNsc345b/vbfh9HeN/bPl84a4aflKysfjDwSIn1zpNpZ79Gbl+tUWNug423lbNFy0TBmFOWDoxhSY7hqNzWmHuIMUNVH404OqCZz6fNJM9+bXx1oJsXp/SIIiLdvkYMYbWDlAPnmbbcbDXCf8trJJsYiQ0z6w+kpYjzB8+dBY66A+PiJazbJIyyR8lMEwAY3jMx20jnpwxlt2FVslsdRitDCicwbY27WsST2Adz+lQQ8LaEWIE2k0jmR4ROsUu4HxB3Z09a0C3VvHzQcoSZ1UAQPActqN4Nh89pX5BEgzoRlGu5+Nb8H4A1jCYcIbTOFYPNxVGkARqZ5z8BtQELXpNeLabvtf41v/yrY2j9Oz/jJ/Gg8HvrxjqRIMGDBnUbivL2FZ0YC5h1kEa3hOo3EUr4EjC0vbtjNJBuXQsnYgaa8vfQMldCCM3aDQVjllzTPur1D2l8x8aW9MLF3CpcYvZz5NAzELB0jYdo6wO+NqJ4WTktSysYSShlSdJg8/4zQG4no/g2dmN64CWJPbXcn9WsoXFcaUOwN1pDEfkzyNZQccuNCHXYfHTn4E0b0LuMMXZZbXWlGFzJmC5sna9Y6DalmJfsAeNdE/BXwUkdcw9aVTTXLILse+SIHke+g6ZxHpLZ6hw4a2zpcVQw0LZCdDzHj4ilfQnj+Es4TLexFm2yuxYO6qQGPZkE84Md8U04rZLW2QDRlK+Oojeqjf6G2mQ27lvMCZZo7RgkiSpBMSYoEXTrGW8Xj2uWjnS3aCExoWUsxid17X1VROL4YyX7ok96mcp8diCfCedXzpPhLeEYFCfTFmZW0ylRqZMQp8dj3g9mpphTdQhSC8GPEa6e2T4TkoL70HuG9grR3yTbP7B0/wAuWq2blzEXZ0DkN4bHYePIDnpTH8EWKhMVYI5rcHnBRx9VuhOMubGMuwGUFXKwN86gsf1ZzSRtrQAW+K3Euq6QGRzDwCRB05aRR2L4zdnMt0Bs2d/VEvJJOvOSffVaxastwsHHrSAMsgzI3E93w5GgGtIxnRidZzA0FyHSe5qW1GYk7GSxJJPcSSTPjRf/ABDcnPMhnzAiM5btAHzhm0H0qqFtlIIkeqqxKgQAQJ01gE6760RhgqsuXKCjZ17S9lpHaHKdF9woLunH7rE9YRLiWBI15a+ERU446GBgpsAdjIC5R7AunlVPNt3cOSGkQTnQ6HQjw3Iou3hcsqiyNvXQTmEHn3Ej20Fvw2PzDtMh0K9oDYgyNfAtP6xolOKOmUZ0yroFLADugchy91Uy3wdQVITQNMhlkSNSNfZR+IwbHZGO27L7zETQWbBcSViyZUGZs+qgwV1DHaWmNa3t4p+0Gy67wQJERJ9lVHiXDVMRbJbxK+2hcbgXIAylgQM2YyNgBIDQdB9VBamx/VtpkBIUSpgwsZQSNwIEchAihcXxR27QfMQQQS0lSPnDmInfxpC3BLMq2QZhliSsjLt7tB7K0xHD7RYFlLMoEEsCRGwEmRHKgZcNxd25chnkHQwcxIAjLE6iJgba0zxN5mKyxcc531ADL5EaeNV3girh76XLdtQVadxroV111MMfKaeYvFjEX+ubMrlQuZSPVBJgyCG1J5fCgstixktEiNRovhHw5eyqX0asW7uGso65gqnc7sxlj3zO/jVtsYkdSFLkjQ8gCCILSNAYjYUnv8W4VgLyWeqe4gJKszh0CzLuQVmBlOwPhM0BC8OsjTqrfIeovPQDbc/XBPI0NjzYttkCITK6oqmNRIkDXntU+K6c3Dh7mMt2rBAuWspNol4JuIWJDgsQFJB7MByI0kp8D0vvXMRdvPawjq/ViLhyiVXXKWRwCc0eygNxowty/dVraoruchZMoRCBGnLWTArbC4MWVuDNbu5G9GVAaAfVEgE6nWNalxnSa+GZreDwMKVzMD1hXN6skWVgkjSa3xfTvEjD3H6m0Sqs2YpKSonUEqY5ad9BvxmzexTzirXoyiQpBgyMwPqrJ1jwKmtsOLdrIoyooIAGigazp8aB6V3cbiVXIySLVmAJtwbiJcY5lcGBMARtzNJrqXcMbHWJZxJNyAGN2SYZpOe8VkCQNOes0FuxHWZ2i0CMx16lDOu85dfOvK1yn+utjw646eFZQcVw5JIgiQw3EiT3javoXo/gBh7CKo2UD2AfyfbSPpxhbb4REtoqqjI5AAUZUIzAAaTE+7xp9jcR2WHhQTX8bAjK0nbXnUaI76lyPBCNPcCfrFVThGKVsYqkL2UZiIAgsQqn6n3mr6uo/k0FK49wO3cdGYuxGYakfOjwnlUnDOgWBIlbdxH+mt182v6zEc+YppxYQwozgd3lQVvhPQI4HEviExDOjK4KMgzdqDq4aDqAdFG1VD8I90ribcEj0MaHkzMCPLwrs3E/VrkH4UjLYbyvfG3/AL0FN4rdhzAn1SPcDT7pdgbSvjLmRSVv2SNPmkJI05GT76UWLxNy4ik2yLJcETJZbIKppHrGBz1NWPpph/Q415jXDmIOsraPdA3Op7vGgFx3DrQv8UQWkCC9h8qgABVN8AhfoiDyrOknRqxaw+JuoqjtWMoEympDak/Okbd1PMbhFGI4i0km469mNlS9YCkeZd9duz4GveMYe21jGKXXtCwSwBJXLlEMM24Yxy9sTQKuKdGLVyzFu16X5JhisAzmCrmOUbsQGkxzrVODWP6UROpUIcJJSJXO2ELliDzzSfPWnXGB1eGLLiYIwtkC6pKnTJDiDIzSQADO9bYbDr8ss3jfUs2EVShBzH8ViZJ3MlteStQLbfQWwR1yqBbXD3gyksSbnV3CjeEEA78hS3ovwHD3cIM9uT8qUZjo2U2xIka5fvFXnAgqAM5NvqbwKq5AZoZVJXY7iD40s6N4MLhAq3bbgXlIII1mYHiefkD3UFQ4l0ft28DJtlbgxTLmMybeUkKAdx/vTDivR7DNhhcS2Qfklhly6EnIhLEDRmMknvp5jkvYrCub2KtM1rEswZ7sDIm1ucvZbtTGugJk03vWnslepZc9u0gUq/Y7MLKtlOkTBynbag51iuB2kxeDCocrW8EzrEyXCZy07AmZ86a8Q6MYZcZhwtpijX2FxVnLlzDs/oCCQIirLxThFy5jrb22TsWrYuZnhmyEEkaajs7GJINb48Ylb6C24S29+bikgZ1VgwiRJjUwImR30FU4P0ZsDFOYlJxIVDqBFq4ykaTKwsEnlUQ6J4YXX1GUYe6wQgkh1s3GD5p5FQcvOrRguGumIuN2Ms32MXAT27VwKMsTOuvdrRmGwZAcXAQvU3hACZ5Np1kZgDzI1bKZ2oFnAr5GEtrMjq02HcsDTlpy8aTW+BWeqjr8Vkh+yV7BYQ0wL/ZMsDOu400Mz8KxBFm3MHsLMRGw2jSPKjuKjiNtQnUIxLNJCYUyCATA6sZTGTXMZj3ANjVBwWLzW2tzfs5gXNxg2a8AWPI+qCASNNzNJuD2rXasYmzjmDHW3aDiOypBKZSCTpyOwPdT3it5vkuPNy1knE2WyuFjIzXYJgxJXSZmec61i9I7r3zcw3ydFOVD8oViZVEBPo2juAnf4Asu8Q4bh7oOGGKtyTK3Q2TPBGb5p09u3hp5jOJXLmGvT2w1t4ZREiCCcp1H1/VTniXFsfcW4bhwhyRJt9blAaQubM2kmB76qF3GIetLwxFtwrByRmK66yQBy9vLWg6WDqB/Y4f/APhbqDG280GSIO0AyCYgyCR5iD41LIlf7nDf9vbrdbRchVBJJGgEncH4UBtzhrSfR4nc7FY9na2rKe/8Q4Uadcvub+FZQVHDIbpVGY5eQkxprG+28irBj9H8Co+Jqp8JuRdt/rAe/Q1Z+K34ceCKfrNBXcJglt4i9dzavkEHl1c7eeYe6r5w64HUEcxVCu35YsSBr9VWnopig1vRgcrEaGe4/fQS8ftwAx5GguGYtQ1N+OsnVksdP51qmHjeDQz16nyDH4Cgu+OxalOdco/CGwZ7GgMC/oxyjVU1mRtExOsAa7VaMR0ywYWOtJ8kb+FUDplxiziBb6stKlpkRvEfCgT4Thz3DdKN2lQO3LshRsZ1OlC3MU6Sj3LiyAWRs0FSAykiddCCJHdViwXEsPZtDS71rWcjZQuQlpIMzMwQPZQ/GcI7X3YIxBwNvUKSC3UoYBiJoA7IvswCvcJcBvWbUG5kltdBnAGvMDwoq4MUDkN25M5dbtwyVAMb6wIPsq3XuKXALz9Wp6m2hPZE3O1bbKNNFGbT9JBWvCeN3HNxhZsrlsdfqpJgtlCcu1mUGfEaaahVbuIxQVg918vqtmdysDkZ5VNaxN2VZbykhYBzCVWMuWSugiB5VYMV0rYth0OEwtzrrAvjOuigB2KbHNAQ66esNBTzhvELYNknAYMNetqy5VjKCoI1yTqCNOUUFMGNxiOCbqBsrAEm0DBBkSRtqffWmCx2KUZbLWYnNAOHPaEifPU1d7/STD3YDcLtPnBA7YE9Wucj8nsBqPGhL3SPhli3ef8Ao0Ktu5aRsjgMWuW2dSNAYjMDruedBUQ2LydXlthM2bLlsEBvpD6J8oqW5xLGOMrhCIgALaEAbAREAeFWK7jOEuLhbhd0dWTnm4d1tNejS7qcitHLlpQfEMbwJjZnAYsF7JdOrf8ANjOTMXt4Dd+lAnxOLxLXFuNaDMgAUhNsuo9U6mffWYvieJuXEuPhxnRswIt3BrM6wwkeFObVrgWUN8lxqjLaKyQezdOW2RN3YkEUPjn4L1lxMmLRlu5WUKcouZiFHZJG+YD20C3h1+8L5vDDtmctmJW7l9JKtoXgaMY7qJPFb+ZiLJBZChX0+SCIJCtdKg8/ODvrRGDwXCC4ytii5e6sMH0a2oLysaFQ068xQiLwhgAuIxQ7LEQjmBBDEejMxqZ5RQZbASzEhSuRcknNEHkeQA1nw76U9JOB2LbMOvNwoq+iRbkgQxa4c4BCqACdPnbjWjcbi7WUrahrZKlHIObIAY00iQQSI5Darlc45hABZu4y1hysq6Cyt0Nr2gxuWTK5p0AERzoK0mHBwGJRbHVkHCyhhS7Bbr9a2qhSZnLyCqNeafgPDrOID9ZcyktAXszsusG6k/tad0mavfF8SEwt35HcTEL+Ldg4VGXtK4jIbeZlyoGHdJ7zUHDLyWbjO+JtWM9uw5UC1bXM1lGPZywmrcgCRG8UCi90ct27hYXDnmSLgBZiBH9eytvoTQfEcMeobLh7hBtvNyAZ0OsoCoiI9lWfjHSFM0rj7LAgaTh25aySjT5D7qU9I+O4heoKGywOHLHNh7DSRcuDQtb0kKNBAnlJ1CbjWMuJdshR2TZw8/4CU8wRnLqRJGxIPvBkUJxK49wqXKk9VY1CIu9lHjsqNAWMdw0orA6FfMfGgsDdDcMxLE35Ov5d+ftrKmL+NZQcQ6O8XvnF4cNcYg3rYI2BlgOXnXWOkDw4I1IUCPfXH+HjJetHuuWz7mBrrvH1Iukfogig45xxS+Iusy/PI18NPuron4F7umJtQAB1biO85lP2Vqs8U4Urs7LiMPOdswa8iwZ21iCOYqxfgps9Vi7im5bbNZbRLit6rrroTG/10F96Ttmw8/pCfrH31xM4cgkZTueXdXbOkK+gufst/mE1ze9w+8D+SYeYigr9yx2dQ1LThwTEkDXX2afXFWu9hXA1Q+6kGMD2mnVDyM6wQQdu8SKAK6SzEKCyqF7SnKWHqg6ide7lNPsJ0kd2VbeFHqoigXCAMqBBqVgbTQt58OoR7lk3WdMx9KbayWYEmAST7YpfxDHYZHNt8KRz7F4nfzUe+gtI6YLae6FtMRoqurH5jKQRKAgdk+8Ubw7pagtPcui+QqlczZJd3dWgSRmKhVJAiFE1TzjsFcOcpfQfRV1gc4A5Ci7HEMCzD0uNTY7IRIET6x7u6gtK9NsMxAJuhY7QNpGzGWJE9ZIGoj2z4n3ukeEt9SJdZVCC1vVUEiIUtl1G3d51XeF8Pwd18iYq+XfRQcPmbXaNCPbFWziH4PzOa5jra54BNy0hYt+s3hyj7oAPDdIbF7q0N1BcIyBeruSSRCiAhliSB91Y/EsEGZWfDsDcQOr5x6qXAXbsgyMwXzG1aW+jllAcnEMErgES1sKddDLSAuhOwkd9b2+gdu5bNwYvAsqCbjrnyrpLlmW6AAPGPZQTZsI4uBbmGcEqzqLkSoS4jFidgQ6rI2rY9GLZZS2GMpaZbdwOwQW36wFBDZWOVt5JEjwobA9Ebjo4sfJzbZfWV7il43tlmIIU6HYiQCRoKm4b0L4hh8zYcdUSPUtXzDa6asI8Zig0PB7L2wFyErbtWwBcUwbbE2lnNqQSZHlRuJ6K2SXuCywuPeLtmOWbqXGyNBI0MkjvFLuknBuJYq3bW/aLBHdmykZiSIUHsquiyCQNfE60Jw+zxHCWotm/kJk2+w67aiHQgIecR8aAvFcHtI5u5GD9bimWT6xdT1pGuuoEeHsqS90Qw9lQ9kuxS1iLdvnNtrd1i2nPMxE840pLx43rz2mOGa2qLAFu2uUsXzE6AADbbaTrvSc8PuLlz27y8hkQyBz1kAb0CzG4fqibczl7IOo2HcRNAcfxKXMTnt9Y+cIYugZizASsKYInQVYOI4VOqZkt5QrGGdvSZSxCyuaJjQwKsfE/wVqE62xfuNcQwgyDtsrQktIC+zu50GmOxDPhLzBcp6rh+UI7Aj0V2O1JOmnmF17616JcSD52u4wWXK21VSiwQqKq6gTsAN/ZzLjG9HsTZw95RZZgq4NFkesLVtlZonYFoPlU/Q/hNxFa3atB/Q4R2BykZmsJ2gXMgkqx0EUAvFb1xzKYhbluILZcstpt2jtzkDcVWelbXD1Nww2XDOzE7EtduiZ7zp8dKvXGOAYx1ISy2vMG2Drv4d/Lnzrnd3oNxFr4t3LLL1pgM4DD1jqTbDZdyxMAdo86C33j6v8AdYf/ALe3U2CvCV15j40t4riOqGV1eVtYcNAEqRZVYIYgjVT7xSFeKAEEG7odsi//ACUEvEOkeLW7cAvGA7AdldgTHzayq/ibTu7N9JifeZrKDZkhlPivxrtnSDD5rQcbj4Vw7i+OyEoIMLMg7H3b13LFG4cPEAdkanflOkedBxLiGKe3ibywAr3CwJ5GNfhVi/BpxV/lttTbAR89vMu2bIzgeE5DHfFI+mNq3ZxLIweWK3JU6gMIIEmNwx/aqPhHF1t4iw9sFQt22SWgsQDlaSBElS2oAOp1oO98Ut5rLj9BveBXCrvSKyjMrYYSrFTAXcGDyFd+u28yt4g1869JcKLWMv22gkNyIGpAMgsNQZ8JmgZ4XpUGYLYtXOsJgLmhT3zDd00nxPG7992W4xyBiRbnsKx0JC7L7BQWEw7IS4dVaDl11k+UgVrgcOQT4jx+8UDjC8auJbFsXQoEwpRSIJJ3ZD41oePXhmGXC3AFzTcw1tifAFbfxjbeoLaAKQV7ewmNjrIDDTzH8aV3bMbZNdIzAsNtdD5+46bSFps8dVlXNhcCTA0Fsqf8riiEx9g78Pw/7L3F/wBZqvJh1y9i0wyouaW1LTBKiZJMjsjkCeU1A1kDUq48wfjloL90cx+HDuRb+SZUzFziLhVhIGXLAPOd47PlW1jp+l4QTjFjTs/J2gnU5Wa2Gj2ztrVS4XfsWkvtcXOTaKIDsHJENt4Urt2hbYRdm2dypAM6xs38zQdCv9ILIEjEYxD4pm+ziR8KI4P02wtpb1t8U1zrhBZrN1WWd47dyee0a1VOE8LuOoL3M2moKg+esGfOmNvorbJkpM92YHXygUBt/jGHa4TbxmGCE6dYLwYDkD6IjNECaUcb4WMRc6xOI4EdkCOvdduetsUcehloz2HHt29+tB4joVa3HXfVHs7NAw6PYXEWEKjFYS7LTK4xJ2AjtEd310x6zHzoubQ+rirR32/O1Uf+EUiQz+1Z+AFCYjo6q7sf3P8Aegv1i/xHQNYxHLZ1fnv2XOlKuIYjjILFLeMWZgdWTrpHI9x/eqmWOFIrA9ZsywMu+o030rRcNcUdjERH6TjlPIGgfuL1wZr0i6B2wwhs06yNIMmmHTDpnj0xF9LLsMN1k2pshQFEQQxQN7zSrh1xjbtkkmRqeZJ3M0uu8Y4hkIOLvMpBB9KzCNiDqfcaC09MulWLwuMdLdxmtZbRyOzsmtpZHrDQnUjvJ76B4L+FC/YGX5PhWHY3tmewi2wJzaCFB8ye+Ka9LuJ8Qt4t0wt8qpW0cgK79SkmGHcJpSvFeMjXR/1rNlv9E0DxfwzXT/0lj2Zh/qp3wjpNeuXrTXBla5eS2uW65UI1x3JAjUkMU1gZU3mBVNtdI+JIe3hbDTp2sIvPnIURVn6PcWOcWLhykXMEVVbagM7XmzZiBIAA01G7d+gKOPcX+URKEXQSLl03CTdymFlYCqFjSPbJ1pMq17jAesufrv8AaNR29x/OvKgkkVlE/Jp1DwDy108NqygC4vwwXHzTyA2roOA4piFwypmzBLaqXKiWgb6mCaqrpS69YxER8pvBRoFVyoj2R9dAi4sl3EX7lwsW7REneF0A7tBUAwLj/wCqtHDsGFWN/OjThljYUD3hfS666gfKpJ3RkRW10yghYP1GlXS7D4d7ZN10F05iuZh1kge8gnlqKUrwMTMnWvbfR61MgR5bUFVGHaJKkVq9thy0q8vwxTuKA4lw1VGlBVLYbuNE5LhEzI8/up9gcCrAzXl/DgGAulAntKfog+wH+NELfy8sukaCPuptYwakDXWiVwwEDKD/AD5UCe3ejQ6c4JJ+omiPkwb1tfMKfippzYwyjcT7qIt4fDH82nsEfCgT2uE2jug8yqz/AJVFGJgEG2YH9FmX4NTW3w/Cnky+Vxx9WaKmPB7B9W9dH7QP2gaBYAw2e7/in71atlxV0HTEYgHum0y/XaE0y/oMRpiW9qofgBQ9zgt3lfU+dv8Ag1AHi+I4lhpeY7am3aPxpdcxuJI0K+2yB8LnwFNH4ReGua2T7RQdzh96fUU+Tf7UDvopbW5bunE9WWOi6lY0BLAFpmZ18qo+Hxbmc9uOySOy57UaKezp5605Fm8o/JfWp8NPf/OlQXkuGJtv7p+E0EGBtkW0lSOyDBERNLMa4a2UFu2WK6ZUSR4EypDd8Ajxo9esWdH137DctuVHWbySCzEN3kQffFAz6QXraYy4z2yTlswwWT+Qt6DXzNT4bitgjXrR4mzd+7ShLl1LkZrise9mBO0Df3eyprWEtnYIT4RP1UEuNxtjqny4gKxU5S3YhjsZbaouE8SHywddmN28+ECMGyhhbvMA7ouhdlyyCNGzERMA5L1wCJMdxgju5g0tvYFevXELKXFywVCgSpJBIKEE6/UKAPjdoBs2fcto249Iw0gHs0AiAyAam45guw9zM2YFnOiiZcNBygDQzH61RYZQYPfrQSdYvMCfOsqZrc6/x/jXlANZx7bFCR3iP/KibmLQjUXB5ofuoe1xWyfWw+n6LAfBRU6YzCNul1fI6faPwoN7OJtj84oHjI+Ioy3dVvVZT5EUPatYNvVv3F8wf/AUXb4LauQBiEbwIX+M/VQbgaVLbQjkal/4bYCRlj9EsvwAFbf0LeHq5/ZcDfaJoIGoTG2ZFHth8Qu5uH9ZB/pArRL7azkP7BB95Y0CfDoQDQmJtMTzqySDvaB8c7D4JW3yC1yRweeVl/1N91AgwxYbg0UL4B505/o+0NzcHmCx/wAi/fWhwVn+uUfrAJ9tgaAPD4nXv8KhuXjyAp7Z4GSJRlYd6lm+yIrxuEEHXL7WC/U0GgQrc7xXrEnaasH9BN9AnyE/Cp7fBwAeRoKc+JdTGYgUZbxbx6xppiOFgmtDw+NqAP5Y43NejHt4VvewR7qGfCedA+4TiLbK2ca8qU38YAdqGs22Wda1a2eYO9AysWMwmpMPjQtE8P0QDwpfiMP8aBu2JtAw0e0CvfxVvWtWm87an7qQcSaHBidBQ/ymOVBaF4bhG/N21/VlfskUNe4XYUjLn9l258CxpC2JJ5xRnR+6SGzSddJoJeJ4O2UYZn1EQSDzHhNJ8JhFRVUSY0kx/CmGOPaYcpoW0IoNso7v591eVLWUH//Z"/>
          <p:cNvSpPr>
            <a:spLocks noChangeAspect="1" noChangeArrowheads="1"/>
          </p:cNvSpPr>
          <p:nvPr/>
        </p:nvSpPr>
        <p:spPr bwMode="auto">
          <a:xfrm>
            <a:off x="4541838" y="-1825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15" name="14 CuadroTexto"/>
          <p:cNvSpPr txBox="1"/>
          <p:nvPr/>
        </p:nvSpPr>
        <p:spPr>
          <a:xfrm>
            <a:off x="9408391" y="3343564"/>
            <a:ext cx="3514773" cy="2677656"/>
          </a:xfrm>
          <a:prstGeom prst="rect">
            <a:avLst/>
          </a:prstGeom>
          <a:noFill/>
        </p:spPr>
        <p:txBody>
          <a:bodyPr wrap="square" rtlCol="0">
            <a:spAutoFit/>
          </a:bodyPr>
          <a:lstStyle/>
          <a:p>
            <a:pPr algn="l"/>
            <a:r>
              <a:rPr lang="es-AR" sz="1200" dirty="0" smtClean="0">
                <a:solidFill>
                  <a:schemeClr val="tx1"/>
                </a:solidFill>
                <a:latin typeface="Arial" pitchFamily="34" charset="0"/>
                <a:cs typeface="Arial" pitchFamily="34" charset="0"/>
              </a:rPr>
              <a:t>-Incorporación de circuitos integrados (chips de silicio) LSI baja escala de integración (</a:t>
            </a:r>
            <a:r>
              <a:rPr lang="es-AR" sz="1200" dirty="0" err="1" smtClean="0">
                <a:solidFill>
                  <a:schemeClr val="tx1"/>
                </a:solidFill>
                <a:latin typeface="Arial" pitchFamily="34" charset="0"/>
                <a:cs typeface="Arial" pitchFamily="34" charset="0"/>
              </a:rPr>
              <a:t>Large</a:t>
            </a:r>
            <a:r>
              <a:rPr lang="es-AR" sz="1200" dirty="0" smtClean="0">
                <a:solidFill>
                  <a:schemeClr val="tx1"/>
                </a:solidFill>
                <a:latin typeface="Arial" pitchFamily="34" charset="0"/>
                <a:cs typeface="Arial" pitchFamily="34" charset="0"/>
              </a:rPr>
              <a:t> </a:t>
            </a:r>
            <a:r>
              <a:rPr lang="es-AR" sz="1200" dirty="0" err="1" smtClean="0">
                <a:solidFill>
                  <a:schemeClr val="tx1"/>
                </a:solidFill>
                <a:latin typeface="Arial" pitchFamily="34" charset="0"/>
                <a:cs typeface="Arial" pitchFamily="34" charset="0"/>
              </a:rPr>
              <a:t>Scale</a:t>
            </a:r>
            <a:r>
              <a:rPr lang="es-AR" sz="1200" dirty="0" smtClean="0">
                <a:solidFill>
                  <a:schemeClr val="tx1"/>
                </a:solidFill>
                <a:latin typeface="Arial" pitchFamily="34" charset="0"/>
                <a:cs typeface="Arial" pitchFamily="34" charset="0"/>
              </a:rPr>
              <a:t> </a:t>
            </a:r>
            <a:r>
              <a:rPr lang="es-AR" sz="1200" dirty="0" err="1" smtClean="0">
                <a:solidFill>
                  <a:schemeClr val="tx1"/>
                </a:solidFill>
                <a:latin typeface="Arial" pitchFamily="34" charset="0"/>
                <a:cs typeface="Arial" pitchFamily="34" charset="0"/>
              </a:rPr>
              <a:t>Integration</a:t>
            </a:r>
            <a:r>
              <a:rPr lang="es-AR" sz="1200" dirty="0" smtClean="0">
                <a:solidFill>
                  <a:schemeClr val="tx1"/>
                </a:solidFill>
                <a:latin typeface="Arial" pitchFamily="34" charset="0"/>
                <a:cs typeface="Arial" pitchFamily="34" charset="0"/>
              </a:rPr>
              <a:t>).</a:t>
            </a:r>
          </a:p>
          <a:p>
            <a:pPr algn="l"/>
            <a:r>
              <a:rPr lang="es-AR" sz="1200" dirty="0" smtClean="0">
                <a:solidFill>
                  <a:schemeClr val="tx1"/>
                </a:solidFill>
                <a:latin typeface="Arial" pitchFamily="34" charset="0"/>
                <a:cs typeface="Arial" pitchFamily="34" charset="0"/>
              </a:rPr>
              <a:t>-Disminuyeron de tamaño al igual que sus costos.</a:t>
            </a:r>
          </a:p>
          <a:p>
            <a:pPr algn="l"/>
            <a:r>
              <a:rPr lang="es-AR" sz="1200" dirty="0" smtClean="0">
                <a:solidFill>
                  <a:schemeClr val="tx1"/>
                </a:solidFill>
                <a:latin typeface="Arial" pitchFamily="34" charset="0"/>
                <a:cs typeface="Arial" pitchFamily="34" charset="0"/>
              </a:rPr>
              <a:t>-La familia de IBM 360 fue la transición a esta generación.</a:t>
            </a:r>
          </a:p>
          <a:p>
            <a:pPr algn="l"/>
            <a:r>
              <a:rPr lang="es-AR" sz="1200" dirty="0" smtClean="0">
                <a:solidFill>
                  <a:schemeClr val="tx1"/>
                </a:solidFill>
                <a:latin typeface="Arial" pitchFamily="34" charset="0"/>
                <a:cs typeface="Arial" pitchFamily="34" charset="0"/>
              </a:rPr>
              <a:t>-Eran mas eficientes y rápidas.</a:t>
            </a:r>
          </a:p>
          <a:p>
            <a:pPr algn="l"/>
            <a:r>
              <a:rPr lang="es-AR" sz="1200" dirty="0" smtClean="0">
                <a:solidFill>
                  <a:schemeClr val="tx1"/>
                </a:solidFill>
                <a:latin typeface="Arial" pitchFamily="34" charset="0"/>
                <a:cs typeface="Arial" pitchFamily="34" charset="0"/>
              </a:rPr>
              <a:t>-Surgieron también las micro-computadoras.</a:t>
            </a:r>
          </a:p>
          <a:p>
            <a:pPr algn="l"/>
            <a:r>
              <a:rPr lang="es-AR" sz="1200" dirty="0" smtClean="0">
                <a:solidFill>
                  <a:schemeClr val="tx1"/>
                </a:solidFill>
                <a:latin typeface="Arial" pitchFamily="34" charset="0"/>
                <a:cs typeface="Arial" pitchFamily="34" charset="0"/>
              </a:rPr>
              <a:t>-La información se introducía por medio de tarjetas perforadas.</a:t>
            </a:r>
          </a:p>
          <a:p>
            <a:pPr algn="l"/>
            <a:r>
              <a:rPr lang="es-AR" sz="1200" dirty="0" smtClean="0">
                <a:solidFill>
                  <a:schemeClr val="tx1"/>
                </a:solidFill>
                <a:latin typeface="Arial" pitchFamily="34" charset="0"/>
                <a:cs typeface="Arial" pitchFamily="34" charset="0"/>
              </a:rPr>
              <a:t>-A mediados de los años 60 INTEL logró integrar un solo procesador en un solo chip.</a:t>
            </a:r>
          </a:p>
          <a:p>
            <a:pPr algn="l"/>
            <a:r>
              <a:rPr lang="es-AR" sz="1200" dirty="0" smtClean="0">
                <a:solidFill>
                  <a:schemeClr val="tx1"/>
                </a:solidFill>
                <a:latin typeface="Arial" pitchFamily="34" charset="0"/>
                <a:cs typeface="Arial" pitchFamily="34" charset="0"/>
              </a:rPr>
              <a:t>-Ahorraban mas energía.</a:t>
            </a:r>
            <a:endParaRPr lang="es-AR" sz="1200" dirty="0">
              <a:solidFill>
                <a:schemeClr val="tx1"/>
              </a:solidFill>
              <a:latin typeface="Arial" pitchFamily="34" charset="0"/>
              <a:cs typeface="Arial" pitchFamily="34" charset="0"/>
            </a:endParaRPr>
          </a:p>
        </p:txBody>
      </p:sp>
      <p:sp>
        <p:nvSpPr>
          <p:cNvPr id="16" name="15 CuadroTexto"/>
          <p:cNvSpPr txBox="1"/>
          <p:nvPr/>
        </p:nvSpPr>
        <p:spPr>
          <a:xfrm>
            <a:off x="9550400" y="571500"/>
            <a:ext cx="2476501" cy="2308324"/>
          </a:xfrm>
          <a:prstGeom prst="rect">
            <a:avLst/>
          </a:prstGeom>
          <a:noFill/>
        </p:spPr>
        <p:txBody>
          <a:bodyPr wrap="square" rtlCol="0">
            <a:spAutoFit/>
          </a:bodyPr>
          <a:lstStyle/>
          <a:p>
            <a:pPr algn="l"/>
            <a:r>
              <a:rPr lang="es-AR" sz="1200" dirty="0" err="1" smtClean="0">
                <a:solidFill>
                  <a:schemeClr val="tx1"/>
                </a:solidFill>
                <a:latin typeface="Arial" pitchFamily="34" charset="0"/>
                <a:cs typeface="Arial" pitchFamily="34" charset="0"/>
              </a:rPr>
              <a:t>Spool</a:t>
            </a:r>
            <a:r>
              <a:rPr lang="es-AR" sz="1200" dirty="0" smtClean="0">
                <a:solidFill>
                  <a:schemeClr val="tx1"/>
                </a:solidFill>
                <a:latin typeface="Arial" pitchFamily="34" charset="0"/>
                <a:cs typeface="Arial" pitchFamily="34" charset="0"/>
              </a:rPr>
              <a:t>: </a:t>
            </a:r>
            <a:r>
              <a:rPr lang="es-AR" sz="1200" dirty="0">
                <a:solidFill>
                  <a:schemeClr val="tx1"/>
                </a:solidFill>
                <a:latin typeface="Arial" pitchFamily="34" charset="0"/>
                <a:cs typeface="Arial" pitchFamily="34" charset="0"/>
              </a:rPr>
              <a:t>los sistemas operativos de tercera generación fue la </a:t>
            </a:r>
            <a:r>
              <a:rPr lang="es-AR" sz="1200" dirty="0" smtClean="0">
                <a:solidFill>
                  <a:schemeClr val="tx1"/>
                </a:solidFill>
                <a:latin typeface="Arial" pitchFamily="34" charset="0"/>
                <a:cs typeface="Arial" pitchFamily="34" charset="0"/>
              </a:rPr>
              <a:t>capacidad para </a:t>
            </a:r>
            <a:r>
              <a:rPr lang="es-AR" sz="1200" dirty="0">
                <a:solidFill>
                  <a:schemeClr val="tx1"/>
                </a:solidFill>
                <a:latin typeface="Arial" pitchFamily="34" charset="0"/>
                <a:cs typeface="Arial" pitchFamily="34" charset="0"/>
              </a:rPr>
              <a:t>leer trabajos en tarjetas y colocarlos en el disco tan pronto como se llevaban al cuarto de computadoras.</a:t>
            </a:r>
          </a:p>
          <a:p>
            <a:pPr algn="l"/>
            <a:r>
              <a:rPr lang="es-AR" sz="1200" dirty="0">
                <a:solidFill>
                  <a:schemeClr val="tx1"/>
                </a:solidFill>
                <a:latin typeface="Arial" pitchFamily="34" charset="0"/>
                <a:cs typeface="Arial" pitchFamily="34" charset="0"/>
              </a:rPr>
              <a:t>Así, cada vez que terminaba un trabajo en ejecución, el sistema operativo podía cargar un </a:t>
            </a:r>
            <a:r>
              <a:rPr lang="es-AR" sz="1200" dirty="0" smtClean="0">
                <a:solidFill>
                  <a:schemeClr val="tx1"/>
                </a:solidFill>
                <a:latin typeface="Arial" pitchFamily="34" charset="0"/>
                <a:cs typeface="Arial" pitchFamily="34" charset="0"/>
              </a:rPr>
              <a:t>nuevo trabajo </a:t>
            </a:r>
            <a:r>
              <a:rPr lang="es-AR" sz="1200" dirty="0">
                <a:solidFill>
                  <a:schemeClr val="tx1"/>
                </a:solidFill>
                <a:latin typeface="Arial" pitchFamily="34" charset="0"/>
                <a:cs typeface="Arial" pitchFamily="34" charset="0"/>
              </a:rPr>
              <a:t>del disco en la partición que entonces estaba vacía y lo ejecutaba</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814388" y="1193800"/>
            <a:ext cx="8016875" cy="5130800"/>
          </a:xfrm>
        </p:spPr>
        <p:txBody>
          <a:bodyPr>
            <a:normAutofit fontScale="70000" lnSpcReduction="20000"/>
          </a:bodyPr>
          <a:lstStyle/>
          <a:p>
            <a:pPr>
              <a:lnSpc>
                <a:spcPct val="120000"/>
              </a:lnSpc>
              <a:spcBef>
                <a:spcPts val="0"/>
              </a:spcBef>
            </a:pPr>
            <a:r>
              <a:rPr lang="es-AR" sz="3600" b="1" dirty="0" smtClean="0">
                <a:solidFill>
                  <a:schemeClr val="accent2">
                    <a:lumMod val="75000"/>
                  </a:schemeClr>
                </a:solidFill>
                <a:latin typeface="Arial Unicode MS"/>
                <a:ea typeface="Arial Unicode MS"/>
                <a:cs typeface="Arial Unicode MS"/>
              </a:rPr>
              <a:t>Cuarta Generación (1980-actualidad) computadoras personales</a:t>
            </a:r>
          </a:p>
          <a:p>
            <a:pPr eaLnBrk="1" hangingPunct="1">
              <a:lnSpc>
                <a:spcPct val="120000"/>
              </a:lnSpc>
              <a:spcBef>
                <a:spcPts val="0"/>
              </a:spcBef>
              <a:buFontTx/>
              <a:buNone/>
            </a:pPr>
            <a:r>
              <a:rPr lang="es-ES_tradnl" sz="2800" dirty="0" smtClean="0"/>
              <a:t>	</a:t>
            </a:r>
            <a:r>
              <a:rPr lang="es-ES_tradnl" sz="1900" dirty="0" smtClean="0">
                <a:solidFill>
                  <a:schemeClr val="tx1"/>
                </a:solidFill>
                <a:latin typeface="Arial" pitchFamily="34" charset="0"/>
                <a:cs typeface="Arial" pitchFamily="34" charset="0"/>
              </a:rPr>
              <a:t>- </a:t>
            </a:r>
            <a:r>
              <a:rPr lang="es-ES_tradnl" sz="1900" dirty="0" smtClean="0">
                <a:latin typeface="Arial" pitchFamily="34" charset="0"/>
                <a:cs typeface="Arial" pitchFamily="34" charset="0"/>
              </a:rPr>
              <a:t>Integración a gran escala de circuitos integrados. Bajo costo permitió que cada individuo pueda tener una computadora. </a:t>
            </a:r>
          </a:p>
          <a:p>
            <a:pPr eaLnBrk="1" hangingPunct="1">
              <a:lnSpc>
                <a:spcPct val="120000"/>
              </a:lnSpc>
              <a:spcBef>
                <a:spcPts val="0"/>
              </a:spcBef>
              <a:buFontTx/>
              <a:buNone/>
            </a:pPr>
            <a:r>
              <a:rPr lang="es-ES_tradnl" sz="1900" dirty="0" smtClean="0">
                <a:latin typeface="Arial" pitchFamily="34" charset="0"/>
                <a:cs typeface="Arial" pitchFamily="34" charset="0"/>
              </a:rPr>
              <a:t>Se </a:t>
            </a:r>
            <a:r>
              <a:rPr lang="es-ES_tradnl" sz="1900" dirty="0" smtClean="0">
                <a:solidFill>
                  <a:schemeClr val="tx1"/>
                </a:solidFill>
                <a:latin typeface="Arial" pitchFamily="34" charset="0"/>
                <a:cs typeface="Arial" pitchFamily="34" charset="0"/>
              </a:rPr>
              <a:t>desarrollaron sistemas operativos:</a:t>
            </a:r>
          </a:p>
          <a:p>
            <a:pPr eaLnBrk="1" hangingPunct="1">
              <a:lnSpc>
                <a:spcPct val="120000"/>
              </a:lnSpc>
              <a:spcBef>
                <a:spcPts val="0"/>
              </a:spcBef>
              <a:buFontTx/>
              <a:buNone/>
            </a:pPr>
            <a:r>
              <a:rPr lang="es-ES_tradnl" sz="1900" dirty="0" smtClean="0">
                <a:solidFill>
                  <a:schemeClr val="tx1"/>
                </a:solidFill>
                <a:latin typeface="Arial" pitchFamily="34" charset="0"/>
                <a:cs typeface="Arial" pitchFamily="34" charset="0"/>
              </a:rPr>
              <a:t>	-  CP/M </a:t>
            </a:r>
            <a:r>
              <a:rPr lang="es-ES_tradnl" sz="1900" b="1" dirty="0" smtClean="0">
                <a:solidFill>
                  <a:schemeClr val="tx1"/>
                </a:solidFill>
                <a:latin typeface="Arial" pitchFamily="34" charset="0"/>
                <a:cs typeface="Arial" pitchFamily="34" charset="0"/>
              </a:rPr>
              <a:t>C</a:t>
            </a:r>
            <a:r>
              <a:rPr lang="es-ES_tradnl" sz="1900" dirty="0" smtClean="0">
                <a:solidFill>
                  <a:schemeClr val="tx1"/>
                </a:solidFill>
                <a:latin typeface="Arial" pitchFamily="34" charset="0"/>
                <a:cs typeface="Arial" pitchFamily="34" charset="0"/>
              </a:rPr>
              <a:t>ontrol</a:t>
            </a:r>
            <a:r>
              <a:rPr lang="es-ES_tradnl" sz="1900" b="1" dirty="0" smtClean="0">
                <a:solidFill>
                  <a:schemeClr val="tx1"/>
                </a:solidFill>
                <a:latin typeface="Arial" pitchFamily="34" charset="0"/>
                <a:cs typeface="Arial" pitchFamily="34" charset="0"/>
              </a:rPr>
              <a:t> </a:t>
            </a:r>
            <a:r>
              <a:rPr lang="es-ES_tradnl" sz="1900" b="1" dirty="0" err="1" smtClean="0">
                <a:solidFill>
                  <a:schemeClr val="tx1"/>
                </a:solidFill>
                <a:latin typeface="Arial" pitchFamily="34" charset="0"/>
                <a:cs typeface="Arial" pitchFamily="34" charset="0"/>
              </a:rPr>
              <a:t>P</a:t>
            </a:r>
            <a:r>
              <a:rPr lang="es-ES_tradnl" sz="1900" dirty="0" err="1" smtClean="0">
                <a:solidFill>
                  <a:schemeClr val="tx1"/>
                </a:solidFill>
                <a:latin typeface="Arial" pitchFamily="34" charset="0"/>
                <a:cs typeface="Arial" pitchFamily="34" charset="0"/>
              </a:rPr>
              <a:t>rogram</a:t>
            </a:r>
            <a:r>
              <a:rPr lang="es-ES_tradnl" sz="1900" b="1" dirty="0" smtClean="0">
                <a:solidFill>
                  <a:schemeClr val="tx1"/>
                </a:solidFill>
                <a:latin typeface="Arial" pitchFamily="34" charset="0"/>
                <a:cs typeface="Arial" pitchFamily="34" charset="0"/>
              </a:rPr>
              <a:t> </a:t>
            </a:r>
            <a:r>
              <a:rPr lang="es-ES_tradnl" sz="1900" dirty="0" err="1" smtClean="0">
                <a:solidFill>
                  <a:schemeClr val="tx1"/>
                </a:solidFill>
                <a:latin typeface="Arial" pitchFamily="34" charset="0"/>
                <a:cs typeface="Arial" pitchFamily="34" charset="0"/>
              </a:rPr>
              <a:t>for</a:t>
            </a:r>
            <a:r>
              <a:rPr lang="es-ES_tradnl" sz="1900" b="1" dirty="0" smtClean="0">
                <a:solidFill>
                  <a:schemeClr val="tx1"/>
                </a:solidFill>
                <a:latin typeface="Arial" pitchFamily="34" charset="0"/>
                <a:cs typeface="Arial" pitchFamily="34" charset="0"/>
              </a:rPr>
              <a:t> </a:t>
            </a:r>
            <a:r>
              <a:rPr lang="es-ES_tradnl" sz="1900" b="1" dirty="0" err="1" smtClean="0">
                <a:solidFill>
                  <a:schemeClr val="tx1"/>
                </a:solidFill>
                <a:latin typeface="Arial" pitchFamily="34" charset="0"/>
                <a:cs typeface="Arial" pitchFamily="34" charset="0"/>
              </a:rPr>
              <a:t>M</a:t>
            </a:r>
            <a:r>
              <a:rPr lang="es-ES_tradnl" sz="1900" dirty="0" err="1" smtClean="0">
                <a:solidFill>
                  <a:schemeClr val="tx1"/>
                </a:solidFill>
                <a:latin typeface="Arial" pitchFamily="34" charset="0"/>
                <a:cs typeface="Arial" pitchFamily="34" charset="0"/>
              </a:rPr>
              <a:t>icrocomputer</a:t>
            </a:r>
            <a:r>
              <a:rPr lang="es-ES_tradnl" sz="1900" dirty="0" smtClean="0">
                <a:solidFill>
                  <a:schemeClr val="tx1"/>
                </a:solidFill>
                <a:latin typeface="Arial" pitchFamily="34" charset="0"/>
                <a:cs typeface="Arial" pitchFamily="34" charset="0"/>
              </a:rPr>
              <a:t> para el Intel 8080 de 8 bits y luego DR lo rediseñó para todas las 8080, Z80 y otros</a:t>
            </a:r>
          </a:p>
          <a:p>
            <a:pPr eaLnBrk="1" hangingPunct="1">
              <a:lnSpc>
                <a:spcPct val="120000"/>
              </a:lnSpc>
              <a:spcBef>
                <a:spcPts val="0"/>
              </a:spcBef>
              <a:buFontTx/>
              <a:buNone/>
            </a:pPr>
            <a:r>
              <a:rPr lang="es-ES_tradnl" sz="1900" dirty="0" smtClean="0">
                <a:solidFill>
                  <a:schemeClr val="tx1"/>
                </a:solidFill>
                <a:latin typeface="Arial" pitchFamily="34" charset="0"/>
                <a:cs typeface="Arial" pitchFamily="34" charset="0"/>
              </a:rPr>
              <a:t>	- </a:t>
            </a:r>
            <a:r>
              <a:rPr lang="es-ES_tradnl" sz="1900" b="1" dirty="0" smtClean="0">
                <a:solidFill>
                  <a:schemeClr val="tx1"/>
                </a:solidFill>
                <a:latin typeface="Arial" pitchFamily="34" charset="0"/>
                <a:cs typeface="Arial" pitchFamily="34" charset="0"/>
              </a:rPr>
              <a:t>D</a:t>
            </a:r>
            <a:r>
              <a:rPr lang="es-ES_tradnl" sz="1900" dirty="0" smtClean="0">
                <a:solidFill>
                  <a:schemeClr val="tx1"/>
                </a:solidFill>
                <a:latin typeface="Arial" pitchFamily="34" charset="0"/>
                <a:cs typeface="Arial" pitchFamily="34" charset="0"/>
              </a:rPr>
              <a:t>isk </a:t>
            </a:r>
            <a:r>
              <a:rPr lang="es-ES_tradnl" sz="1900" b="1" dirty="0" err="1" smtClean="0">
                <a:solidFill>
                  <a:schemeClr val="tx1"/>
                </a:solidFill>
                <a:latin typeface="Arial" pitchFamily="34" charset="0"/>
                <a:cs typeface="Arial" pitchFamily="34" charset="0"/>
              </a:rPr>
              <a:t>O</a:t>
            </a:r>
            <a:r>
              <a:rPr lang="es-ES_tradnl" sz="1900" dirty="0" err="1" smtClean="0">
                <a:solidFill>
                  <a:schemeClr val="tx1"/>
                </a:solidFill>
                <a:latin typeface="Arial" pitchFamily="34" charset="0"/>
                <a:cs typeface="Arial" pitchFamily="34" charset="0"/>
              </a:rPr>
              <a:t>perating</a:t>
            </a:r>
            <a:r>
              <a:rPr lang="es-ES_tradnl" sz="1900" dirty="0" smtClean="0">
                <a:solidFill>
                  <a:schemeClr val="tx1"/>
                </a:solidFill>
                <a:latin typeface="Arial" pitchFamily="34" charset="0"/>
                <a:cs typeface="Arial" pitchFamily="34" charset="0"/>
              </a:rPr>
              <a:t> </a:t>
            </a:r>
            <a:r>
              <a:rPr lang="es-ES_tradnl" sz="1900" b="1" dirty="0" err="1" smtClean="0">
                <a:solidFill>
                  <a:schemeClr val="tx1"/>
                </a:solidFill>
                <a:latin typeface="Arial" pitchFamily="34" charset="0"/>
                <a:cs typeface="Arial" pitchFamily="34" charset="0"/>
              </a:rPr>
              <a:t>S</a:t>
            </a:r>
            <a:r>
              <a:rPr lang="es-ES_tradnl" sz="1900" dirty="0" err="1" smtClean="0">
                <a:solidFill>
                  <a:schemeClr val="tx1"/>
                </a:solidFill>
                <a:latin typeface="Arial" pitchFamily="34" charset="0"/>
                <a:cs typeface="Arial" pitchFamily="34" charset="0"/>
              </a:rPr>
              <a:t>ystem</a:t>
            </a:r>
            <a:r>
              <a:rPr lang="es-ES_tradnl" sz="1900" dirty="0" smtClean="0">
                <a:solidFill>
                  <a:schemeClr val="tx1"/>
                </a:solidFill>
                <a:latin typeface="Arial" pitchFamily="34" charset="0"/>
                <a:cs typeface="Arial" pitchFamily="34" charset="0"/>
              </a:rPr>
              <a:t>  </a:t>
            </a:r>
            <a:r>
              <a:rPr lang="es-ES_tradnl" sz="1900" dirty="0" smtClean="0">
                <a:latin typeface="Arial" pitchFamily="34" charset="0"/>
                <a:cs typeface="Arial" pitchFamily="34" charset="0"/>
              </a:rPr>
              <a:t>escrito por Tim Paterson</a:t>
            </a:r>
            <a:endParaRPr lang="es-ES_tradnl" sz="1900" dirty="0" smtClean="0">
              <a:solidFill>
                <a:schemeClr val="tx1"/>
              </a:solidFill>
              <a:latin typeface="Arial" pitchFamily="34" charset="0"/>
              <a:cs typeface="Arial" pitchFamily="34" charset="0"/>
            </a:endParaRPr>
          </a:p>
          <a:p>
            <a:pPr eaLnBrk="1" hangingPunct="1">
              <a:lnSpc>
                <a:spcPct val="120000"/>
              </a:lnSpc>
              <a:spcBef>
                <a:spcPts val="0"/>
              </a:spcBef>
              <a:buFontTx/>
              <a:buNone/>
            </a:pPr>
            <a:r>
              <a:rPr lang="es-ES_tradnl" sz="1900" dirty="0" smtClean="0">
                <a:solidFill>
                  <a:schemeClr val="tx1"/>
                </a:solidFill>
                <a:latin typeface="Arial" pitchFamily="34" charset="0"/>
                <a:cs typeface="Arial" pitchFamily="34" charset="0"/>
              </a:rPr>
              <a:t>	- </a:t>
            </a:r>
            <a:r>
              <a:rPr lang="es-ES_tradnl" sz="1900" b="1" dirty="0" err="1" smtClean="0">
                <a:solidFill>
                  <a:schemeClr val="tx1"/>
                </a:solidFill>
                <a:latin typeface="Arial" pitchFamily="34" charset="0"/>
                <a:cs typeface="Arial" pitchFamily="34" charset="0"/>
              </a:rPr>
              <a:t>M</a:t>
            </a:r>
            <a:r>
              <a:rPr lang="es-ES_tradnl" sz="1900" dirty="0" err="1" smtClean="0">
                <a:solidFill>
                  <a:schemeClr val="tx1"/>
                </a:solidFill>
                <a:latin typeface="Arial" pitchFamily="34" charset="0"/>
                <a:cs typeface="Arial" pitchFamily="34" charset="0"/>
              </a:rPr>
              <a:t>icro</a:t>
            </a:r>
            <a:r>
              <a:rPr lang="es-ES_tradnl" sz="1900" b="1" dirty="0" err="1" smtClean="0">
                <a:solidFill>
                  <a:schemeClr val="tx1"/>
                </a:solidFill>
                <a:latin typeface="Arial" pitchFamily="34" charset="0"/>
                <a:cs typeface="Arial" pitchFamily="34" charset="0"/>
              </a:rPr>
              <a:t>S</a:t>
            </a:r>
            <a:r>
              <a:rPr lang="es-ES_tradnl" sz="1900" dirty="0" err="1" smtClean="0">
                <a:solidFill>
                  <a:schemeClr val="tx1"/>
                </a:solidFill>
                <a:latin typeface="Arial" pitchFamily="34" charset="0"/>
                <a:cs typeface="Arial" pitchFamily="34" charset="0"/>
              </a:rPr>
              <a:t>oft</a:t>
            </a:r>
            <a:r>
              <a:rPr lang="es-ES_tradnl" sz="1900" dirty="0" smtClean="0">
                <a:solidFill>
                  <a:schemeClr val="tx1"/>
                </a:solidFill>
                <a:latin typeface="Arial" pitchFamily="34" charset="0"/>
                <a:cs typeface="Arial" pitchFamily="34" charset="0"/>
              </a:rPr>
              <a:t> </a:t>
            </a:r>
            <a:r>
              <a:rPr lang="es-ES_tradnl" sz="1900" b="1" dirty="0" smtClean="0">
                <a:solidFill>
                  <a:schemeClr val="tx1"/>
                </a:solidFill>
                <a:latin typeface="Arial" pitchFamily="34" charset="0"/>
                <a:cs typeface="Arial" pitchFamily="34" charset="0"/>
              </a:rPr>
              <a:t>D</a:t>
            </a:r>
            <a:r>
              <a:rPr lang="es-ES_tradnl" sz="1900" dirty="0" smtClean="0">
                <a:solidFill>
                  <a:schemeClr val="tx1"/>
                </a:solidFill>
                <a:latin typeface="Arial" pitchFamily="34" charset="0"/>
                <a:cs typeface="Arial" pitchFamily="34" charset="0"/>
              </a:rPr>
              <a:t>isk </a:t>
            </a:r>
            <a:r>
              <a:rPr lang="es-ES_tradnl" sz="1900" b="1" dirty="0" err="1" smtClean="0">
                <a:solidFill>
                  <a:schemeClr val="tx1"/>
                </a:solidFill>
                <a:latin typeface="Arial" pitchFamily="34" charset="0"/>
                <a:cs typeface="Arial" pitchFamily="34" charset="0"/>
              </a:rPr>
              <a:t>O</a:t>
            </a:r>
            <a:r>
              <a:rPr lang="es-ES_tradnl" sz="1900" dirty="0" err="1" smtClean="0">
                <a:solidFill>
                  <a:schemeClr val="tx1"/>
                </a:solidFill>
                <a:latin typeface="Arial" pitchFamily="34" charset="0"/>
                <a:cs typeface="Arial" pitchFamily="34" charset="0"/>
              </a:rPr>
              <a:t>perating</a:t>
            </a:r>
            <a:r>
              <a:rPr lang="es-ES_tradnl" sz="1900" dirty="0" smtClean="0">
                <a:solidFill>
                  <a:schemeClr val="tx1"/>
                </a:solidFill>
                <a:latin typeface="Arial" pitchFamily="34" charset="0"/>
                <a:cs typeface="Arial" pitchFamily="34" charset="0"/>
              </a:rPr>
              <a:t> </a:t>
            </a:r>
            <a:r>
              <a:rPr lang="es-ES_tradnl" sz="1900" b="1" dirty="0" err="1" smtClean="0">
                <a:solidFill>
                  <a:schemeClr val="tx1"/>
                </a:solidFill>
                <a:latin typeface="Arial" pitchFamily="34" charset="0"/>
                <a:cs typeface="Arial" pitchFamily="34" charset="0"/>
              </a:rPr>
              <a:t>S</a:t>
            </a:r>
            <a:r>
              <a:rPr lang="es-ES_tradnl" sz="1900" dirty="0" err="1" smtClean="0">
                <a:solidFill>
                  <a:schemeClr val="tx1"/>
                </a:solidFill>
                <a:latin typeface="Arial" pitchFamily="34" charset="0"/>
                <a:cs typeface="Arial" pitchFamily="34" charset="0"/>
              </a:rPr>
              <a:t>ystem</a:t>
            </a:r>
            <a:r>
              <a:rPr lang="es-ES_tradnl" sz="1900" dirty="0" smtClean="0">
                <a:solidFill>
                  <a:schemeClr val="tx1"/>
                </a:solidFill>
                <a:latin typeface="Arial" pitchFamily="34" charset="0"/>
                <a:cs typeface="Arial" pitchFamily="34" charset="0"/>
              </a:rPr>
              <a:t> (DOS comprado por Microsoft)</a:t>
            </a:r>
          </a:p>
          <a:p>
            <a:pPr eaLnBrk="1" hangingPunct="1">
              <a:lnSpc>
                <a:spcPct val="120000"/>
              </a:lnSpc>
              <a:spcBef>
                <a:spcPts val="0"/>
              </a:spcBef>
              <a:buFontTx/>
              <a:buNone/>
            </a:pPr>
            <a:r>
              <a:rPr lang="es-ES_tradnl" sz="1900" dirty="0" smtClean="0">
                <a:solidFill>
                  <a:schemeClr val="tx1"/>
                </a:solidFill>
                <a:latin typeface="Arial" pitchFamily="34" charset="0"/>
                <a:cs typeface="Arial" pitchFamily="34" charset="0"/>
              </a:rPr>
              <a:t>	- </a:t>
            </a:r>
            <a:r>
              <a:rPr lang="es-ES_tradnl" sz="1900" b="1" dirty="0" err="1" smtClean="0">
                <a:solidFill>
                  <a:schemeClr val="tx1"/>
                </a:solidFill>
                <a:latin typeface="Arial" pitchFamily="34" charset="0"/>
                <a:cs typeface="Arial" pitchFamily="34" charset="0"/>
              </a:rPr>
              <a:t>G</a:t>
            </a:r>
            <a:r>
              <a:rPr lang="es-ES_tradnl" sz="1900" dirty="0" err="1" smtClean="0">
                <a:solidFill>
                  <a:schemeClr val="tx1"/>
                </a:solidFill>
                <a:latin typeface="Arial" pitchFamily="34" charset="0"/>
                <a:cs typeface="Arial" pitchFamily="34" charset="0"/>
              </a:rPr>
              <a:t>raphical</a:t>
            </a:r>
            <a:r>
              <a:rPr lang="es-ES_tradnl" sz="1900" dirty="0" smtClean="0">
                <a:solidFill>
                  <a:schemeClr val="tx1"/>
                </a:solidFill>
                <a:latin typeface="Arial" pitchFamily="34" charset="0"/>
                <a:cs typeface="Arial" pitchFamily="34" charset="0"/>
              </a:rPr>
              <a:t> </a:t>
            </a:r>
            <a:r>
              <a:rPr lang="es-ES_tradnl" sz="1900" b="1" dirty="0" err="1" smtClean="0">
                <a:solidFill>
                  <a:schemeClr val="tx1"/>
                </a:solidFill>
                <a:latin typeface="Arial" pitchFamily="34" charset="0"/>
                <a:cs typeface="Arial" pitchFamily="34" charset="0"/>
              </a:rPr>
              <a:t>U</a:t>
            </a:r>
            <a:r>
              <a:rPr lang="es-ES_tradnl" sz="1900" dirty="0" err="1" smtClean="0">
                <a:solidFill>
                  <a:schemeClr val="tx1"/>
                </a:solidFill>
                <a:latin typeface="Arial" pitchFamily="34" charset="0"/>
                <a:cs typeface="Arial" pitchFamily="34" charset="0"/>
              </a:rPr>
              <a:t>ser</a:t>
            </a:r>
            <a:r>
              <a:rPr lang="es-ES_tradnl" sz="1900" dirty="0" smtClean="0">
                <a:solidFill>
                  <a:schemeClr val="tx1"/>
                </a:solidFill>
                <a:latin typeface="Arial" pitchFamily="34" charset="0"/>
                <a:cs typeface="Arial" pitchFamily="34" charset="0"/>
              </a:rPr>
              <a:t> </a:t>
            </a:r>
            <a:r>
              <a:rPr lang="es-ES_tradnl" sz="1900" b="1" dirty="0" smtClean="0">
                <a:solidFill>
                  <a:schemeClr val="tx1"/>
                </a:solidFill>
                <a:latin typeface="Arial" pitchFamily="34" charset="0"/>
                <a:cs typeface="Arial" pitchFamily="34" charset="0"/>
              </a:rPr>
              <a:t>I</a:t>
            </a:r>
            <a:r>
              <a:rPr lang="es-ES_tradnl" sz="1900" dirty="0" smtClean="0">
                <a:solidFill>
                  <a:schemeClr val="tx1"/>
                </a:solidFill>
                <a:latin typeface="Arial" pitchFamily="34" charset="0"/>
                <a:cs typeface="Arial" pitchFamily="34" charset="0"/>
              </a:rPr>
              <a:t>nterface.  </a:t>
            </a:r>
          </a:p>
          <a:p>
            <a:pPr eaLnBrk="1" hangingPunct="1">
              <a:lnSpc>
                <a:spcPct val="120000"/>
              </a:lnSpc>
              <a:spcBef>
                <a:spcPts val="0"/>
              </a:spcBef>
              <a:buFontTx/>
              <a:buNone/>
            </a:pPr>
            <a:r>
              <a:rPr lang="es-ES_tradnl" sz="1900" dirty="0" smtClean="0">
                <a:solidFill>
                  <a:schemeClr val="tx1"/>
                </a:solidFill>
                <a:latin typeface="Arial" pitchFamily="34" charset="0"/>
                <a:cs typeface="Arial" pitchFamily="34" charset="0"/>
              </a:rPr>
              <a:t>	- Windows 3.x, 95, 98, NT, 2000, Me, XP, Vista</a:t>
            </a:r>
          </a:p>
          <a:p>
            <a:pPr eaLnBrk="1" hangingPunct="1">
              <a:lnSpc>
                <a:spcPct val="120000"/>
              </a:lnSpc>
              <a:spcBef>
                <a:spcPts val="0"/>
              </a:spcBef>
              <a:buFontTx/>
              <a:buNone/>
            </a:pPr>
            <a:r>
              <a:rPr lang="es-ES_tradnl" sz="1900" dirty="0" smtClean="0">
                <a:solidFill>
                  <a:schemeClr val="tx1"/>
                </a:solidFill>
                <a:latin typeface="Arial" pitchFamily="34" charset="0"/>
                <a:cs typeface="Arial" pitchFamily="34" charset="0"/>
              </a:rPr>
              <a:t>	- Linux (Red </a:t>
            </a:r>
            <a:r>
              <a:rPr lang="es-ES_tradnl" sz="1900" dirty="0" err="1" smtClean="0">
                <a:solidFill>
                  <a:schemeClr val="tx1"/>
                </a:solidFill>
                <a:latin typeface="Arial" pitchFamily="34" charset="0"/>
                <a:cs typeface="Arial" pitchFamily="34" charset="0"/>
              </a:rPr>
              <a:t>Hat</a:t>
            </a:r>
            <a:r>
              <a:rPr lang="es-ES_tradnl" sz="1900" dirty="0" smtClean="0">
                <a:solidFill>
                  <a:schemeClr val="tx1"/>
                </a:solidFill>
                <a:latin typeface="Arial" pitchFamily="34" charset="0"/>
                <a:cs typeface="Arial" pitchFamily="34" charset="0"/>
              </a:rPr>
              <a:t>, </a:t>
            </a:r>
            <a:r>
              <a:rPr lang="es-ES_tradnl" sz="1900" dirty="0" err="1" smtClean="0">
                <a:solidFill>
                  <a:schemeClr val="tx1"/>
                </a:solidFill>
                <a:latin typeface="Arial" pitchFamily="34" charset="0"/>
                <a:cs typeface="Arial" pitchFamily="34" charset="0"/>
              </a:rPr>
              <a:t>Debian</a:t>
            </a:r>
            <a:r>
              <a:rPr lang="es-ES_tradnl" sz="1900" dirty="0" smtClean="0">
                <a:solidFill>
                  <a:schemeClr val="tx1"/>
                </a:solidFill>
                <a:latin typeface="Arial" pitchFamily="34" charset="0"/>
                <a:cs typeface="Arial" pitchFamily="34" charset="0"/>
              </a:rPr>
              <a:t>, Caldera, </a:t>
            </a:r>
            <a:r>
              <a:rPr lang="es-ES_tradnl" sz="1900" dirty="0" err="1" smtClean="0">
                <a:solidFill>
                  <a:schemeClr val="tx1"/>
                </a:solidFill>
                <a:latin typeface="Arial" pitchFamily="34" charset="0"/>
                <a:cs typeface="Arial" pitchFamily="34" charset="0"/>
              </a:rPr>
              <a:t>Fedora</a:t>
            </a:r>
            <a:r>
              <a:rPr lang="es-ES_tradnl" sz="1900" dirty="0" smtClean="0">
                <a:solidFill>
                  <a:schemeClr val="tx1"/>
                </a:solidFill>
                <a:latin typeface="Arial" pitchFamily="34" charset="0"/>
                <a:cs typeface="Arial" pitchFamily="34" charset="0"/>
              </a:rPr>
              <a:t>...)</a:t>
            </a:r>
          </a:p>
          <a:p>
            <a:pPr eaLnBrk="1" hangingPunct="1">
              <a:lnSpc>
                <a:spcPct val="120000"/>
              </a:lnSpc>
              <a:spcBef>
                <a:spcPts val="0"/>
              </a:spcBef>
              <a:buFontTx/>
              <a:buNone/>
            </a:pPr>
            <a:r>
              <a:rPr lang="es-ES_tradnl" sz="1900" dirty="0" smtClean="0">
                <a:latin typeface="Arial" pitchFamily="34" charset="0"/>
                <a:cs typeface="Arial" pitchFamily="34" charset="0"/>
              </a:rPr>
              <a:t>	- </a:t>
            </a:r>
            <a:r>
              <a:rPr lang="es-ES_tradnl" sz="1900" dirty="0" err="1" smtClean="0">
                <a:latin typeface="Arial" pitchFamily="34" charset="0"/>
                <a:cs typeface="Arial" pitchFamily="34" charset="0"/>
              </a:rPr>
              <a:t>FreeDOS</a:t>
            </a:r>
            <a:r>
              <a:rPr lang="es-ES_tradnl" sz="1900" dirty="0" smtClean="0">
                <a:latin typeface="Arial" pitchFamily="34" charset="0"/>
                <a:cs typeface="Arial" pitchFamily="34" charset="0"/>
              </a:rPr>
              <a:t>, derivado de UNIX. Una </a:t>
            </a:r>
            <a:r>
              <a:rPr lang="es-ES_tradnl" sz="1900" dirty="0" err="1" smtClean="0">
                <a:latin typeface="Arial" pitchFamily="34" charset="0"/>
                <a:cs typeface="Arial" pitchFamily="34" charset="0"/>
              </a:rPr>
              <a:t>version</a:t>
            </a:r>
            <a:r>
              <a:rPr lang="es-ES_tradnl" sz="1900" dirty="0" smtClean="0">
                <a:latin typeface="Arial" pitchFamily="34" charset="0"/>
                <a:cs typeface="Arial" pitchFamily="34" charset="0"/>
              </a:rPr>
              <a:t> modificada del mismo en Macintosh</a:t>
            </a:r>
            <a:endParaRPr lang="es-ES_tradnl" sz="1900" dirty="0" smtClean="0">
              <a:solidFill>
                <a:schemeClr val="tx1"/>
              </a:solidFill>
              <a:latin typeface="Arial" pitchFamily="34" charset="0"/>
              <a:cs typeface="Arial" pitchFamily="34" charset="0"/>
            </a:endParaRPr>
          </a:p>
          <a:p>
            <a:pPr eaLnBrk="1" hangingPunct="1">
              <a:lnSpc>
                <a:spcPct val="120000"/>
              </a:lnSpc>
              <a:spcBef>
                <a:spcPts val="0"/>
              </a:spcBef>
              <a:buFontTx/>
              <a:buNone/>
            </a:pPr>
            <a:endParaRPr lang="es-ES_tradnl" sz="1900" dirty="0" smtClean="0">
              <a:solidFill>
                <a:schemeClr val="tx1"/>
              </a:solidFill>
              <a:latin typeface="Arial" pitchFamily="34" charset="0"/>
              <a:cs typeface="Arial" pitchFamily="34" charset="0"/>
            </a:endParaRPr>
          </a:p>
          <a:p>
            <a:pPr>
              <a:lnSpc>
                <a:spcPct val="120000"/>
              </a:lnSpc>
              <a:spcBef>
                <a:spcPts val="0"/>
              </a:spcBef>
              <a:buNone/>
            </a:pPr>
            <a:r>
              <a:rPr lang="es-ES" sz="1900" dirty="0" smtClean="0">
                <a:latin typeface="Arial" pitchFamily="34" charset="0"/>
                <a:cs typeface="Arial" pitchFamily="34" charset="0"/>
              </a:rPr>
              <a:t>La mayoría de estos sistemas en los primeros años eran </a:t>
            </a:r>
            <a:r>
              <a:rPr lang="es-ES" sz="1900" dirty="0" err="1" smtClean="0">
                <a:latin typeface="Arial" pitchFamily="34" charset="0"/>
                <a:cs typeface="Arial" pitchFamily="34" charset="0"/>
              </a:rPr>
              <a:t>monousuarios</a:t>
            </a:r>
            <a:r>
              <a:rPr lang="es-ES" sz="1900" dirty="0" smtClean="0">
                <a:latin typeface="Arial" pitchFamily="34" charset="0"/>
                <a:cs typeface="Arial" pitchFamily="34" charset="0"/>
              </a:rPr>
              <a:t>, generalmente </a:t>
            </a:r>
            <a:r>
              <a:rPr lang="es-ES" sz="1900" dirty="0" err="1" smtClean="0">
                <a:latin typeface="Arial" pitchFamily="34" charset="0"/>
                <a:cs typeface="Arial" pitchFamily="34" charset="0"/>
              </a:rPr>
              <a:t>multiprogramados</a:t>
            </a:r>
            <a:r>
              <a:rPr lang="es-ES" sz="1900" dirty="0" smtClean="0">
                <a:latin typeface="Arial" pitchFamily="34" charset="0"/>
                <a:cs typeface="Arial" pitchFamily="34" charset="0"/>
              </a:rPr>
              <a:t> y </a:t>
            </a:r>
            <a:r>
              <a:rPr lang="es-ES" sz="1900" dirty="0" err="1" smtClean="0">
                <a:latin typeface="Arial" pitchFamily="34" charset="0"/>
                <a:cs typeface="Arial" pitchFamily="34" charset="0"/>
              </a:rPr>
              <a:t>podian</a:t>
            </a:r>
            <a:r>
              <a:rPr lang="es-ES" sz="1900" dirty="0" smtClean="0">
                <a:latin typeface="Arial" pitchFamily="34" charset="0"/>
                <a:cs typeface="Arial" pitchFamily="34" charset="0"/>
              </a:rPr>
              <a:t> controlar una gran variedad de dispositivos de E/S (teclado, mouse, </a:t>
            </a:r>
            <a:r>
              <a:rPr lang="es-ES" sz="1900" dirty="0" err="1" smtClean="0">
                <a:latin typeface="Arial" pitchFamily="34" charset="0"/>
                <a:cs typeface="Arial" pitchFamily="34" charset="0"/>
              </a:rPr>
              <a:t>monitor,etc</a:t>
            </a:r>
            <a:r>
              <a:rPr lang="es-ES" sz="1900" dirty="0" smtClean="0">
                <a:latin typeface="Arial" pitchFamily="34" charset="0"/>
                <a:cs typeface="Arial" pitchFamily="34" charset="0"/>
              </a:rPr>
              <a:t>.). Eran muy interactivos</a:t>
            </a:r>
          </a:p>
          <a:p>
            <a:pPr eaLnBrk="1" hangingPunct="1">
              <a:lnSpc>
                <a:spcPct val="120000"/>
              </a:lnSpc>
              <a:spcBef>
                <a:spcPts val="0"/>
              </a:spcBef>
              <a:buFontTx/>
              <a:buNone/>
            </a:pPr>
            <a:r>
              <a:rPr lang="es-ES_tradnl" sz="1900" dirty="0" smtClean="0">
                <a:solidFill>
                  <a:schemeClr val="tx1"/>
                </a:solidFill>
                <a:latin typeface="Arial" pitchFamily="34" charset="0"/>
                <a:cs typeface="Arial" pitchFamily="34" charset="0"/>
              </a:rPr>
              <a:t>	</a:t>
            </a:r>
          </a:p>
          <a:p>
            <a:pPr eaLnBrk="1" hangingPunct="1">
              <a:lnSpc>
                <a:spcPct val="120000"/>
              </a:lnSpc>
              <a:spcBef>
                <a:spcPts val="0"/>
              </a:spcBef>
              <a:buFontTx/>
              <a:buNone/>
            </a:pPr>
            <a:r>
              <a:rPr lang="es-ES_tradnl" sz="1900" dirty="0" smtClean="0">
                <a:latin typeface="Arial" pitchFamily="34" charset="0"/>
                <a:cs typeface="Arial" pitchFamily="34" charset="0"/>
              </a:rPr>
              <a:t>Comenzó el crecimiento de las redes de computadoras personales que ejecutan:</a:t>
            </a:r>
          </a:p>
          <a:p>
            <a:pPr eaLnBrk="1" hangingPunct="1">
              <a:lnSpc>
                <a:spcPct val="120000"/>
              </a:lnSpc>
              <a:spcBef>
                <a:spcPts val="0"/>
              </a:spcBef>
              <a:buFontTx/>
              <a:buNone/>
            </a:pPr>
            <a:r>
              <a:rPr lang="es-ES_tradnl" sz="1900" dirty="0" smtClean="0">
                <a:solidFill>
                  <a:schemeClr val="tx1"/>
                </a:solidFill>
                <a:latin typeface="Arial" pitchFamily="34" charset="0"/>
                <a:cs typeface="Arial" pitchFamily="34" charset="0"/>
              </a:rPr>
              <a:t>	Sistemas operativos de Red</a:t>
            </a:r>
          </a:p>
          <a:p>
            <a:pPr eaLnBrk="1" hangingPunct="1">
              <a:lnSpc>
                <a:spcPct val="120000"/>
              </a:lnSpc>
              <a:spcBef>
                <a:spcPts val="0"/>
              </a:spcBef>
              <a:buFontTx/>
              <a:buNone/>
            </a:pPr>
            <a:r>
              <a:rPr lang="es-ES_tradnl" sz="1900" dirty="0" smtClean="0">
                <a:solidFill>
                  <a:schemeClr val="tx1"/>
                </a:solidFill>
                <a:latin typeface="Arial" pitchFamily="34" charset="0"/>
                <a:cs typeface="Arial" pitchFamily="34" charset="0"/>
              </a:rPr>
              <a:t>	Sistemas operativos distribuidos</a:t>
            </a:r>
          </a:p>
          <a:p>
            <a:pPr eaLnBrk="1" hangingPunct="1">
              <a:lnSpc>
                <a:spcPct val="120000"/>
              </a:lnSpc>
              <a:spcBef>
                <a:spcPts val="0"/>
              </a:spcBef>
              <a:buFontTx/>
              <a:buNone/>
            </a:pPr>
            <a:endParaRPr lang="es-ES_tradnl" dirty="0" smtClean="0">
              <a:solidFill>
                <a:srgbClr val="969696"/>
              </a:solidFill>
            </a:endParaRPr>
          </a:p>
          <a:p>
            <a:pPr eaLnBrk="1" hangingPunct="1">
              <a:lnSpc>
                <a:spcPct val="120000"/>
              </a:lnSpc>
              <a:spcBef>
                <a:spcPts val="0"/>
              </a:spcBef>
              <a:buFontTx/>
              <a:buNone/>
            </a:pPr>
            <a:endParaRPr lang="es-ES_tradnl" sz="2800" dirty="0" smtClean="0">
              <a:solidFill>
                <a:srgbClr val="C0C0C0"/>
              </a:solidFill>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13</a:t>
            </a:fld>
            <a:endParaRPr lang="en-US"/>
          </a:p>
        </p:txBody>
      </p:sp>
      <p:sp>
        <p:nvSpPr>
          <p:cNvPr id="8"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Evolución de los SO</a:t>
            </a:r>
            <a:endParaRPr lang="es-AR" sz="4000" b="1" dirty="0">
              <a:solidFill>
                <a:schemeClr val="accent2">
                  <a:lumMod val="75000"/>
                </a:schemeClr>
              </a:solidFill>
              <a:latin typeface="Arial Unicode MS"/>
              <a:ea typeface="Arial Unicode MS"/>
              <a:cs typeface="Arial Unicode M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409576" y="904875"/>
            <a:ext cx="8421688" cy="5791199"/>
          </a:xfrm>
        </p:spPr>
        <p:txBody>
          <a:bodyPr>
            <a:normAutofit fontScale="77500" lnSpcReduction="20000"/>
          </a:bodyPr>
          <a:lstStyle/>
          <a:p>
            <a:pPr marL="0">
              <a:lnSpc>
                <a:spcPct val="120000"/>
              </a:lnSpc>
              <a:spcBef>
                <a:spcPts val="0"/>
              </a:spcBef>
              <a:buNone/>
            </a:pPr>
            <a:r>
              <a:rPr lang="es-AR" sz="2900" b="1" dirty="0" smtClean="0">
                <a:solidFill>
                  <a:schemeClr val="accent2">
                    <a:lumMod val="75000"/>
                  </a:schemeClr>
                </a:solidFill>
                <a:latin typeface="Arial Unicode MS"/>
                <a:ea typeface="Arial Unicode MS"/>
                <a:cs typeface="Arial Unicode MS"/>
              </a:rPr>
              <a:t>Sistemas Operativos en Red</a:t>
            </a:r>
          </a:p>
          <a:p>
            <a:pPr marL="0">
              <a:lnSpc>
                <a:spcPct val="120000"/>
              </a:lnSpc>
              <a:spcBef>
                <a:spcPts val="0"/>
              </a:spcBef>
              <a:buNone/>
            </a:pPr>
            <a:r>
              <a:rPr lang="es-AR" sz="2900" dirty="0" smtClean="0"/>
              <a:t>Los usuarios están conscientes de la existencia de múltiples computadoras y pueden iniciar una sesión de máquinas remotas y copiar archivos de una máquina a otra. Cada máquina ejecuta su propio SO local y tiene su(s) propio(s) usuario(s) local(es).    COMPARTEN RECURSOS. (Ejemplo: Windows Server, Linux versión server, Novell NetWare)</a:t>
            </a:r>
          </a:p>
          <a:p>
            <a:pPr marL="0">
              <a:lnSpc>
                <a:spcPct val="120000"/>
              </a:lnSpc>
              <a:spcBef>
                <a:spcPts val="0"/>
              </a:spcBef>
              <a:buNone/>
            </a:pPr>
            <a:endParaRPr lang="es-AR" sz="2900" dirty="0" smtClean="0"/>
          </a:p>
          <a:p>
            <a:pPr marL="0">
              <a:lnSpc>
                <a:spcPct val="120000"/>
              </a:lnSpc>
              <a:spcBef>
                <a:spcPts val="0"/>
              </a:spcBef>
              <a:buNone/>
            </a:pPr>
            <a:endParaRPr lang="es-AR" sz="2900" dirty="0" smtClean="0"/>
          </a:p>
          <a:p>
            <a:pPr marL="0">
              <a:lnSpc>
                <a:spcPct val="120000"/>
              </a:lnSpc>
              <a:spcBef>
                <a:spcPts val="0"/>
              </a:spcBef>
              <a:buNone/>
            </a:pPr>
            <a:r>
              <a:rPr lang="es-AR" sz="2900" b="1" dirty="0" smtClean="0">
                <a:solidFill>
                  <a:schemeClr val="accent2">
                    <a:lumMod val="75000"/>
                  </a:schemeClr>
                </a:solidFill>
                <a:latin typeface="Arial Unicode MS"/>
                <a:ea typeface="Arial Unicode MS"/>
                <a:cs typeface="Arial Unicode MS"/>
              </a:rPr>
              <a:t>Sistemas Operativos Distribuidos: </a:t>
            </a:r>
          </a:p>
          <a:p>
            <a:pPr marL="0">
              <a:lnSpc>
                <a:spcPct val="120000"/>
              </a:lnSpc>
              <a:spcBef>
                <a:spcPts val="0"/>
              </a:spcBef>
              <a:buNone/>
            </a:pPr>
            <a:r>
              <a:rPr lang="es-ES" sz="2900" dirty="0" smtClean="0"/>
              <a:t>Es un Sistema Operativo que corre en muchas máquinas a la vez, pero desde el punto de vista del usuario las ve como si fuera una sola. El SO se encarga de que no haga falta saber dónde están los datos. Él gestiona la red por debajo </a:t>
            </a:r>
            <a:r>
              <a:rPr lang="es-ES" sz="2900" dirty="0" err="1" smtClean="0"/>
              <a:t>sinque</a:t>
            </a:r>
            <a:r>
              <a:rPr lang="es-ES" sz="2900" dirty="0" smtClean="0"/>
              <a:t> sea necesarios conocer los IP o nombres de servidores. (Ejemplo:  Google o </a:t>
            </a:r>
            <a:r>
              <a:rPr lang="es-ES" sz="2900" dirty="0" err="1" smtClean="0"/>
              <a:t>Nexflix</a:t>
            </a:r>
            <a:r>
              <a:rPr lang="es-ES" sz="2900" dirty="0" smtClean="0"/>
              <a:t>)</a:t>
            </a:r>
            <a:endParaRPr lang="es-AR" sz="2900" dirty="0" smtClean="0"/>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14</a:t>
            </a:fld>
            <a:endParaRPr lang="en-US"/>
          </a:p>
        </p:txBody>
      </p:sp>
      <p:sp>
        <p:nvSpPr>
          <p:cNvPr id="4" name="3 Rectángulo"/>
          <p:cNvSpPr/>
          <p:nvPr/>
        </p:nvSpPr>
        <p:spPr>
          <a:xfrm>
            <a:off x="9144000" y="968603"/>
            <a:ext cx="4572000" cy="4616648"/>
          </a:xfrm>
          <a:prstGeom prst="rect">
            <a:avLst/>
          </a:prstGeom>
        </p:spPr>
        <p:txBody>
          <a:bodyPr>
            <a:spAutoFit/>
          </a:bodyPr>
          <a:lstStyle/>
          <a:p>
            <a:pPr algn="l"/>
            <a:r>
              <a:rPr lang="es-ES" sz="1400" b="1" dirty="0" smtClean="0">
                <a:solidFill>
                  <a:schemeClr val="tx1"/>
                </a:solidFill>
                <a:latin typeface="+mn-lt"/>
              </a:rPr>
              <a:t>1. El Sistema en Red (NOS)</a:t>
            </a:r>
          </a:p>
          <a:p>
            <a:pPr algn="l"/>
            <a:r>
              <a:rPr lang="es-ES" sz="1400" b="1" dirty="0" smtClean="0">
                <a:solidFill>
                  <a:schemeClr val="tx1"/>
                </a:solidFill>
                <a:latin typeface="+mn-lt"/>
              </a:rPr>
              <a:t>La clave:</a:t>
            </a:r>
            <a:r>
              <a:rPr lang="es-ES" sz="1400" dirty="0" smtClean="0">
                <a:solidFill>
                  <a:schemeClr val="tx1"/>
                </a:solidFill>
                <a:latin typeface="+mn-lt"/>
              </a:rPr>
              <a:t> </a:t>
            </a:r>
            <a:r>
              <a:rPr lang="es-ES" sz="1400" b="1" dirty="0" smtClean="0">
                <a:solidFill>
                  <a:schemeClr val="tx1"/>
                </a:solidFill>
                <a:latin typeface="+mn-lt"/>
              </a:rPr>
              <a:t>Independencia.</a:t>
            </a:r>
            <a:endParaRPr lang="es-ES" sz="1400" dirty="0" smtClean="0">
              <a:solidFill>
                <a:schemeClr val="tx1"/>
              </a:solidFill>
              <a:latin typeface="+mn-lt"/>
            </a:endParaRPr>
          </a:p>
          <a:p>
            <a:pPr algn="l"/>
            <a:r>
              <a:rPr lang="es-ES" sz="1400" dirty="0" smtClean="0">
                <a:solidFill>
                  <a:schemeClr val="tx1"/>
                </a:solidFill>
                <a:latin typeface="+mn-lt"/>
              </a:rPr>
              <a:t>Cada PC tiene su dueño y su SO. Se conectan para compartir "cosas" (un archivo, una impresora).</a:t>
            </a:r>
          </a:p>
          <a:p>
            <a:pPr algn="l"/>
            <a:r>
              <a:rPr lang="es-ES" sz="1400" b="1" dirty="0" smtClean="0">
                <a:solidFill>
                  <a:schemeClr val="tx1"/>
                </a:solidFill>
                <a:latin typeface="+mn-lt"/>
              </a:rPr>
              <a:t>Ejemplo:</a:t>
            </a:r>
            <a:r>
              <a:rPr lang="es-ES" sz="1400" dirty="0" smtClean="0">
                <a:solidFill>
                  <a:schemeClr val="tx1"/>
                </a:solidFill>
                <a:latin typeface="+mn-lt"/>
              </a:rPr>
              <a:t> La red de la facultad.  Se sabe que un archivo </a:t>
            </a:r>
            <a:r>
              <a:rPr lang="es-ES" sz="1400" dirty="0" err="1" smtClean="0">
                <a:solidFill>
                  <a:schemeClr val="tx1"/>
                </a:solidFill>
                <a:latin typeface="+mn-lt"/>
              </a:rPr>
              <a:t>archivo</a:t>
            </a:r>
            <a:r>
              <a:rPr lang="es-ES" sz="1400" dirty="0" smtClean="0">
                <a:solidFill>
                  <a:schemeClr val="tx1"/>
                </a:solidFill>
                <a:latin typeface="+mn-lt"/>
              </a:rPr>
              <a:t> está en "el servidor de la cátedra".</a:t>
            </a:r>
          </a:p>
          <a:p>
            <a:pPr algn="l"/>
            <a:endParaRPr lang="es-ES" sz="1400" dirty="0" smtClean="0">
              <a:solidFill>
                <a:schemeClr val="tx1"/>
              </a:solidFill>
              <a:latin typeface="+mn-lt"/>
            </a:endParaRPr>
          </a:p>
          <a:p>
            <a:pPr algn="l"/>
            <a:r>
              <a:rPr lang="es-ES" sz="1400" b="1" dirty="0" smtClean="0">
                <a:solidFill>
                  <a:schemeClr val="tx1"/>
                </a:solidFill>
                <a:latin typeface="+mn-lt"/>
              </a:rPr>
              <a:t>2. El Sistema Paralelo (Multiprocesador)</a:t>
            </a:r>
          </a:p>
          <a:p>
            <a:pPr algn="l"/>
            <a:r>
              <a:rPr lang="es-ES" sz="1400" b="1" dirty="0" smtClean="0">
                <a:solidFill>
                  <a:schemeClr val="tx1"/>
                </a:solidFill>
                <a:latin typeface="+mn-lt"/>
              </a:rPr>
              <a:t>La clave:</a:t>
            </a:r>
            <a:r>
              <a:rPr lang="es-ES" sz="1400" dirty="0" smtClean="0">
                <a:solidFill>
                  <a:schemeClr val="tx1"/>
                </a:solidFill>
                <a:latin typeface="+mn-lt"/>
              </a:rPr>
              <a:t> </a:t>
            </a:r>
            <a:r>
              <a:rPr lang="es-ES" sz="1400" b="1" dirty="0" smtClean="0">
                <a:solidFill>
                  <a:schemeClr val="tx1"/>
                </a:solidFill>
                <a:latin typeface="+mn-lt"/>
              </a:rPr>
              <a:t>Velocidad y Memoria Compartida.</a:t>
            </a:r>
            <a:endParaRPr lang="es-ES" sz="1400" dirty="0" smtClean="0">
              <a:solidFill>
                <a:schemeClr val="tx1"/>
              </a:solidFill>
              <a:latin typeface="+mn-lt"/>
            </a:endParaRPr>
          </a:p>
          <a:p>
            <a:pPr algn="l"/>
            <a:r>
              <a:rPr lang="es-ES" sz="1400" dirty="0" smtClean="0">
                <a:solidFill>
                  <a:schemeClr val="tx1"/>
                </a:solidFill>
                <a:latin typeface="+mn-lt"/>
              </a:rPr>
              <a:t>Muchos núcleos (como tu ejemplo del Pentium de 8 núcleos o el ESP32) trabajando sobre </a:t>
            </a:r>
            <a:r>
              <a:rPr lang="es-ES" sz="1400" b="1" dirty="0" smtClean="0">
                <a:solidFill>
                  <a:schemeClr val="tx1"/>
                </a:solidFill>
                <a:latin typeface="+mn-lt"/>
              </a:rPr>
              <a:t>la misma memoria RAM</a:t>
            </a:r>
            <a:r>
              <a:rPr lang="es-ES" sz="1400" dirty="0" smtClean="0">
                <a:solidFill>
                  <a:schemeClr val="tx1"/>
                </a:solidFill>
                <a:latin typeface="+mn-lt"/>
              </a:rPr>
              <a:t>.</a:t>
            </a:r>
          </a:p>
          <a:p>
            <a:pPr algn="l"/>
            <a:r>
              <a:rPr lang="es-ES" sz="1400" b="1" dirty="0" smtClean="0">
                <a:solidFill>
                  <a:schemeClr val="tx1"/>
                </a:solidFill>
                <a:latin typeface="+mn-lt"/>
              </a:rPr>
              <a:t>Ejemplo:</a:t>
            </a:r>
            <a:r>
              <a:rPr lang="es-ES" sz="1400" dirty="0" smtClean="0">
                <a:solidFill>
                  <a:schemeClr val="tx1"/>
                </a:solidFill>
                <a:latin typeface="+mn-lt"/>
              </a:rPr>
              <a:t> Tu propia computadora o el celular desde el que escribís.</a:t>
            </a:r>
          </a:p>
          <a:p>
            <a:pPr algn="l"/>
            <a:endParaRPr lang="es-ES" sz="1400" dirty="0" smtClean="0">
              <a:solidFill>
                <a:schemeClr val="tx1"/>
              </a:solidFill>
              <a:latin typeface="+mn-lt"/>
            </a:endParaRPr>
          </a:p>
          <a:p>
            <a:pPr algn="l"/>
            <a:r>
              <a:rPr lang="es-ES" sz="1400" b="1" dirty="0" smtClean="0">
                <a:solidFill>
                  <a:schemeClr val="tx1"/>
                </a:solidFill>
                <a:latin typeface="+mn-lt"/>
              </a:rPr>
              <a:t>3. El Sistema Distribuido (DOS)</a:t>
            </a:r>
          </a:p>
          <a:p>
            <a:pPr algn="l"/>
            <a:r>
              <a:rPr lang="es-ES" sz="1400" b="1" dirty="0" smtClean="0">
                <a:solidFill>
                  <a:schemeClr val="tx1"/>
                </a:solidFill>
                <a:latin typeface="+mn-lt"/>
              </a:rPr>
              <a:t>La clave:</a:t>
            </a:r>
            <a:r>
              <a:rPr lang="es-ES" sz="1400" dirty="0" smtClean="0">
                <a:solidFill>
                  <a:schemeClr val="tx1"/>
                </a:solidFill>
                <a:latin typeface="+mn-lt"/>
              </a:rPr>
              <a:t> </a:t>
            </a:r>
            <a:r>
              <a:rPr lang="es-ES" sz="1400" b="1" dirty="0" smtClean="0">
                <a:solidFill>
                  <a:schemeClr val="tx1"/>
                </a:solidFill>
                <a:latin typeface="+mn-lt"/>
              </a:rPr>
              <a:t>Transparencia.</a:t>
            </a:r>
            <a:endParaRPr lang="es-ES" sz="1400" dirty="0" smtClean="0">
              <a:solidFill>
                <a:schemeClr val="tx1"/>
              </a:solidFill>
              <a:latin typeface="+mn-lt"/>
            </a:endParaRPr>
          </a:p>
          <a:p>
            <a:pPr algn="l"/>
            <a:r>
              <a:rPr lang="es-ES" sz="1400" dirty="0" smtClean="0">
                <a:solidFill>
                  <a:schemeClr val="tx1"/>
                </a:solidFill>
                <a:latin typeface="+mn-lt"/>
              </a:rPr>
              <a:t>Muchas computadoras que trabajan juntas pero </a:t>
            </a:r>
            <a:r>
              <a:rPr lang="es-ES" sz="1400" b="1" dirty="0" smtClean="0">
                <a:solidFill>
                  <a:schemeClr val="tx1"/>
                </a:solidFill>
                <a:latin typeface="+mn-lt"/>
              </a:rPr>
              <a:t>no comparten memoria</a:t>
            </a:r>
            <a:r>
              <a:rPr lang="es-ES" sz="1400" dirty="0" smtClean="0">
                <a:solidFill>
                  <a:schemeClr val="tx1"/>
                </a:solidFill>
                <a:latin typeface="+mn-lt"/>
              </a:rPr>
              <a:t>. Se hablan por mensajes.</a:t>
            </a:r>
          </a:p>
          <a:p>
            <a:pPr algn="l"/>
            <a:r>
              <a:rPr lang="es-ES" sz="1400" b="1" dirty="0" smtClean="0">
                <a:solidFill>
                  <a:schemeClr val="tx1"/>
                </a:solidFill>
                <a:latin typeface="+mn-lt"/>
              </a:rPr>
              <a:t>El truco:</a:t>
            </a:r>
            <a:r>
              <a:rPr lang="es-ES" sz="1400" dirty="0" smtClean="0">
                <a:solidFill>
                  <a:schemeClr val="tx1"/>
                </a:solidFill>
                <a:latin typeface="+mn-lt"/>
              </a:rPr>
              <a:t> El usuario </a:t>
            </a:r>
            <a:r>
              <a:rPr lang="es-ES" sz="1400" b="1" dirty="0" smtClean="0">
                <a:solidFill>
                  <a:schemeClr val="tx1"/>
                </a:solidFill>
                <a:latin typeface="+mn-lt"/>
              </a:rPr>
              <a:t>no sabe</a:t>
            </a:r>
            <a:r>
              <a:rPr lang="es-ES" sz="1400" dirty="0" smtClean="0">
                <a:solidFill>
                  <a:schemeClr val="tx1"/>
                </a:solidFill>
                <a:latin typeface="+mn-lt"/>
              </a:rPr>
              <a:t> que hay muchas máquinas; piensa que es una sola gigante.</a:t>
            </a:r>
          </a:p>
          <a:p>
            <a:pPr algn="l"/>
            <a:r>
              <a:rPr lang="es-ES" sz="1400" b="1" dirty="0" smtClean="0">
                <a:solidFill>
                  <a:schemeClr val="tx1"/>
                </a:solidFill>
                <a:latin typeface="+mn-lt"/>
              </a:rPr>
              <a:t>Ejemplo:</a:t>
            </a:r>
            <a:r>
              <a:rPr lang="es-ES" sz="1400" dirty="0" smtClean="0">
                <a:solidFill>
                  <a:schemeClr val="tx1"/>
                </a:solidFill>
                <a:latin typeface="+mn-lt"/>
              </a:rPr>
              <a:t> Google o </a:t>
            </a:r>
            <a:r>
              <a:rPr lang="es-ES" sz="1400" dirty="0" err="1" smtClean="0">
                <a:solidFill>
                  <a:schemeClr val="tx1"/>
                </a:solidFill>
                <a:latin typeface="+mn-lt"/>
              </a:rPr>
              <a:t>Netflix</a:t>
            </a:r>
            <a:r>
              <a:rPr lang="es-ES" sz="1400" dirty="0" smtClean="0">
                <a:solidFill>
                  <a:schemeClr val="tx1"/>
                </a:solidFill>
                <a:latin typeface="+mn-lt"/>
              </a:rPr>
              <a:t>.</a:t>
            </a:r>
            <a:endParaRPr lang="es-ES" sz="1400" dirty="0">
              <a:solidFill>
                <a:schemeClr val="tx1"/>
              </a:solidFill>
              <a:latin typeface="+mn-l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5 Marcador de número de diapositiva"/>
          <p:cNvSpPr>
            <a:spLocks noGrp="1"/>
          </p:cNvSpPr>
          <p:nvPr>
            <p:ph type="sldNum" sz="quarter" idx="12"/>
          </p:nvPr>
        </p:nvSpPr>
        <p:spPr>
          <a:noFill/>
        </p:spPr>
        <p:txBody>
          <a:bodyPr/>
          <a:lstStyle/>
          <a:p>
            <a:fld id="{CDB220D6-6362-4757-9F3F-D8C63A861AA2}" type="slidenum">
              <a:rPr lang="en-US"/>
              <a:pPr/>
              <a:t>15</a:t>
            </a:fld>
            <a:endParaRPr lang="en-US"/>
          </a:p>
        </p:txBody>
      </p:sp>
      <p:sp>
        <p:nvSpPr>
          <p:cNvPr id="8" name="1 Título"/>
          <p:cNvSpPr>
            <a:spLocks noGrp="1"/>
          </p:cNvSpPr>
          <p:nvPr>
            <p:ph type="title"/>
          </p:nvPr>
        </p:nvSpPr>
        <p:spPr>
          <a:xfrm>
            <a:off x="0" y="274638"/>
            <a:ext cx="9144000" cy="833726"/>
          </a:xfrm>
        </p:spPr>
        <p:txBody>
          <a:bodyPr>
            <a:normAutofit/>
          </a:bodyPr>
          <a:lstStyle/>
          <a:p>
            <a:r>
              <a:rPr lang="es-AR" sz="3200" b="1" i="1" dirty="0" smtClean="0">
                <a:latin typeface="Arial" pitchFamily="34" charset="0"/>
                <a:cs typeface="Arial" pitchFamily="34" charset="0"/>
              </a:rPr>
              <a:t>Para leer en la casa…..</a:t>
            </a:r>
            <a:endParaRPr lang="es-AR" sz="3200" b="1" i="1" dirty="0">
              <a:latin typeface="Arial" pitchFamily="34" charset="0"/>
              <a:cs typeface="Arial" pitchFamily="34" charset="0"/>
            </a:endParaRPr>
          </a:p>
        </p:txBody>
      </p:sp>
      <p:sp>
        <p:nvSpPr>
          <p:cNvPr id="11" name="10 CuadroTexto"/>
          <p:cNvSpPr txBox="1"/>
          <p:nvPr/>
        </p:nvSpPr>
        <p:spPr>
          <a:xfrm>
            <a:off x="304800" y="1092201"/>
            <a:ext cx="7988300" cy="3046988"/>
          </a:xfrm>
          <a:prstGeom prst="rect">
            <a:avLst/>
          </a:prstGeom>
          <a:noFill/>
        </p:spPr>
        <p:txBody>
          <a:bodyPr wrap="square" rtlCol="0">
            <a:spAutoFit/>
          </a:bodyPr>
          <a:lstStyle/>
          <a:p>
            <a:pPr lvl="0" fontAlgn="auto">
              <a:spcAft>
                <a:spcPts val="0"/>
              </a:spcAft>
              <a:defRPr/>
            </a:pPr>
            <a:r>
              <a:rPr lang="es-AR" sz="2800" b="1" dirty="0" smtClean="0">
                <a:solidFill>
                  <a:schemeClr val="tx2">
                    <a:lumMod val="75000"/>
                  </a:schemeClr>
                </a:solidFill>
                <a:latin typeface="Arial" pitchFamily="34" charset="0"/>
                <a:cs typeface="Arial" pitchFamily="34" charset="0"/>
              </a:rPr>
              <a:t>Revisión del Hardware de Computadora</a:t>
            </a:r>
          </a:p>
          <a:p>
            <a:pPr lvl="0" fontAlgn="auto">
              <a:spcAft>
                <a:spcPts val="0"/>
              </a:spcAft>
              <a:defRPr/>
            </a:pPr>
            <a:r>
              <a:rPr lang="es-AR" sz="2000" b="1" dirty="0" err="1" smtClean="0">
                <a:solidFill>
                  <a:schemeClr val="tx2">
                    <a:lumMod val="75000"/>
                  </a:schemeClr>
                </a:solidFill>
                <a:latin typeface="Arial" pitchFamily="34" charset="0"/>
                <a:cs typeface="Arial" pitchFamily="34" charset="0"/>
              </a:rPr>
              <a:t>Tanembaum</a:t>
            </a:r>
            <a:r>
              <a:rPr lang="es-AR" sz="2000" b="1" dirty="0" smtClean="0">
                <a:solidFill>
                  <a:schemeClr val="tx2">
                    <a:lumMod val="75000"/>
                  </a:schemeClr>
                </a:solidFill>
                <a:latin typeface="Arial" pitchFamily="34" charset="0"/>
                <a:cs typeface="Arial" pitchFamily="34" charset="0"/>
              </a:rPr>
              <a:t> Sección 1.3</a:t>
            </a:r>
          </a:p>
          <a:p>
            <a:pPr lvl="0" algn="l" fontAlgn="auto">
              <a:spcAft>
                <a:spcPts val="0"/>
              </a:spcAft>
              <a:defRPr/>
            </a:pPr>
            <a:r>
              <a:rPr lang="es-AR" sz="2000" dirty="0" smtClean="0">
                <a:solidFill>
                  <a:srgbClr val="FF0000"/>
                </a:solidFill>
                <a:latin typeface="Arial" pitchFamily="34" charset="0"/>
                <a:cs typeface="Arial" pitchFamily="34" charset="0"/>
              </a:rPr>
              <a:t>Procesadores</a:t>
            </a:r>
          </a:p>
          <a:p>
            <a:pPr lvl="0" algn="l" fontAlgn="auto">
              <a:spcAft>
                <a:spcPts val="0"/>
              </a:spcAft>
              <a:defRPr/>
            </a:pPr>
            <a:r>
              <a:rPr lang="es-AR" sz="2000" dirty="0" smtClean="0">
                <a:solidFill>
                  <a:srgbClr val="FF0000"/>
                </a:solidFill>
                <a:latin typeface="Arial" pitchFamily="34" charset="0"/>
                <a:cs typeface="Arial" pitchFamily="34" charset="0"/>
              </a:rPr>
              <a:t>Memoria</a:t>
            </a:r>
          </a:p>
          <a:p>
            <a:pPr lvl="0" algn="l" fontAlgn="auto">
              <a:spcAft>
                <a:spcPts val="0"/>
              </a:spcAft>
              <a:defRPr/>
            </a:pPr>
            <a:r>
              <a:rPr lang="es-AR" sz="2000" dirty="0" smtClean="0">
                <a:solidFill>
                  <a:srgbClr val="FF0000"/>
                </a:solidFill>
                <a:latin typeface="Arial" pitchFamily="34" charset="0"/>
                <a:cs typeface="Arial" pitchFamily="34" charset="0"/>
              </a:rPr>
              <a:t>Discos</a:t>
            </a:r>
          </a:p>
          <a:p>
            <a:pPr lvl="0" algn="l" fontAlgn="auto">
              <a:spcAft>
                <a:spcPts val="0"/>
              </a:spcAft>
              <a:defRPr/>
            </a:pPr>
            <a:r>
              <a:rPr lang="es-AR" sz="2000" dirty="0" smtClean="0">
                <a:solidFill>
                  <a:srgbClr val="FF0000"/>
                </a:solidFill>
                <a:latin typeface="Arial" pitchFamily="34" charset="0"/>
                <a:cs typeface="Arial" pitchFamily="34" charset="0"/>
              </a:rPr>
              <a:t>Cintas</a:t>
            </a:r>
          </a:p>
          <a:p>
            <a:pPr lvl="0" algn="l" fontAlgn="auto">
              <a:spcAft>
                <a:spcPts val="0"/>
              </a:spcAft>
              <a:defRPr/>
            </a:pPr>
            <a:r>
              <a:rPr lang="es-AR" sz="2000" dirty="0" smtClean="0">
                <a:solidFill>
                  <a:srgbClr val="FF0000"/>
                </a:solidFill>
                <a:latin typeface="Arial" pitchFamily="34" charset="0"/>
                <a:cs typeface="Arial" pitchFamily="34" charset="0"/>
              </a:rPr>
              <a:t>Dispositivos de E/S</a:t>
            </a:r>
          </a:p>
          <a:p>
            <a:pPr lvl="0" algn="l" fontAlgn="auto">
              <a:spcAft>
                <a:spcPts val="0"/>
              </a:spcAft>
              <a:defRPr/>
            </a:pPr>
            <a:r>
              <a:rPr lang="es-AR" sz="2000" dirty="0" smtClean="0">
                <a:solidFill>
                  <a:srgbClr val="FF0000"/>
                </a:solidFill>
                <a:latin typeface="Arial" pitchFamily="34" charset="0"/>
                <a:cs typeface="Arial" pitchFamily="34" charset="0"/>
              </a:rPr>
              <a:t>Buses</a:t>
            </a:r>
          </a:p>
          <a:p>
            <a:endParaRPr lang="es-AR" dirty="0"/>
          </a:p>
        </p:txBody>
      </p:sp>
      <p:sp>
        <p:nvSpPr>
          <p:cNvPr id="12" name="11 CuadroTexto"/>
          <p:cNvSpPr txBox="1"/>
          <p:nvPr/>
        </p:nvSpPr>
        <p:spPr>
          <a:xfrm>
            <a:off x="266700" y="4673600"/>
            <a:ext cx="8432800" cy="1938992"/>
          </a:xfrm>
          <a:prstGeom prst="rect">
            <a:avLst/>
          </a:prstGeom>
          <a:noFill/>
        </p:spPr>
        <p:txBody>
          <a:bodyPr wrap="square" numCol="2" spcCol="432000" rtlCol="0">
            <a:spAutoFit/>
          </a:bodyPr>
          <a:lstStyle/>
          <a:p>
            <a:pPr lvl="0" algn="l" fontAlgn="auto">
              <a:spcAft>
                <a:spcPts val="0"/>
              </a:spcAft>
              <a:defRPr/>
            </a:pPr>
            <a:r>
              <a:rPr lang="es-AR" sz="2000" dirty="0" smtClean="0">
                <a:solidFill>
                  <a:srgbClr val="FF0000"/>
                </a:solidFill>
                <a:latin typeface="Arial" pitchFamily="34" charset="0"/>
                <a:cs typeface="Arial" pitchFamily="34" charset="0"/>
              </a:rPr>
              <a:t>SO de mainframe</a:t>
            </a:r>
          </a:p>
          <a:p>
            <a:pPr lvl="0" algn="l" fontAlgn="auto">
              <a:spcAft>
                <a:spcPts val="0"/>
              </a:spcAft>
              <a:defRPr/>
            </a:pPr>
            <a:r>
              <a:rPr lang="es-AR" sz="2000" dirty="0" smtClean="0">
                <a:solidFill>
                  <a:srgbClr val="FF0000"/>
                </a:solidFill>
                <a:latin typeface="Arial" pitchFamily="34" charset="0"/>
                <a:cs typeface="Arial" pitchFamily="34" charset="0"/>
              </a:rPr>
              <a:t>SO de servidores</a:t>
            </a:r>
          </a:p>
          <a:p>
            <a:pPr lvl="0" algn="l" fontAlgn="auto">
              <a:spcAft>
                <a:spcPts val="0"/>
              </a:spcAft>
              <a:defRPr/>
            </a:pPr>
            <a:r>
              <a:rPr lang="es-AR" sz="2000" dirty="0" smtClean="0">
                <a:solidFill>
                  <a:srgbClr val="FF0000"/>
                </a:solidFill>
                <a:latin typeface="Arial" pitchFamily="34" charset="0"/>
                <a:cs typeface="Arial" pitchFamily="34" charset="0"/>
              </a:rPr>
              <a:t>SO de multiprocesadores</a:t>
            </a:r>
          </a:p>
          <a:p>
            <a:pPr lvl="0" algn="l" fontAlgn="auto">
              <a:spcAft>
                <a:spcPts val="0"/>
              </a:spcAft>
              <a:defRPr/>
            </a:pPr>
            <a:r>
              <a:rPr lang="es-AR" sz="2000" dirty="0" smtClean="0">
                <a:solidFill>
                  <a:srgbClr val="FF0000"/>
                </a:solidFill>
                <a:latin typeface="Arial" pitchFamily="34" charset="0"/>
                <a:cs typeface="Arial" pitchFamily="34" charset="0"/>
              </a:rPr>
              <a:t>SO de computadoras personales</a:t>
            </a:r>
          </a:p>
          <a:p>
            <a:pPr lvl="0" algn="l" fontAlgn="auto">
              <a:spcAft>
                <a:spcPts val="0"/>
              </a:spcAft>
              <a:defRPr/>
            </a:pPr>
            <a:r>
              <a:rPr lang="es-AR" sz="2000" dirty="0" smtClean="0">
                <a:solidFill>
                  <a:srgbClr val="FF0000"/>
                </a:solidFill>
                <a:latin typeface="Arial" pitchFamily="34" charset="0"/>
                <a:cs typeface="Arial" pitchFamily="34" charset="0"/>
              </a:rPr>
              <a:t>SO de computadoras de bolsillo</a:t>
            </a:r>
          </a:p>
          <a:p>
            <a:pPr lvl="0" algn="l" fontAlgn="auto">
              <a:spcAft>
                <a:spcPts val="0"/>
              </a:spcAft>
              <a:defRPr/>
            </a:pPr>
            <a:r>
              <a:rPr lang="es-AR" sz="2000" dirty="0" smtClean="0">
                <a:solidFill>
                  <a:srgbClr val="FF0000"/>
                </a:solidFill>
                <a:latin typeface="Arial" pitchFamily="34" charset="0"/>
                <a:cs typeface="Arial" pitchFamily="34" charset="0"/>
              </a:rPr>
              <a:t>SO operativos integrados</a:t>
            </a:r>
          </a:p>
          <a:p>
            <a:pPr lvl="0" algn="l" fontAlgn="auto">
              <a:spcAft>
                <a:spcPts val="0"/>
              </a:spcAft>
              <a:defRPr/>
            </a:pPr>
            <a:r>
              <a:rPr lang="es-AR" sz="2000" dirty="0" smtClean="0">
                <a:solidFill>
                  <a:srgbClr val="FF0000"/>
                </a:solidFill>
                <a:latin typeface="Arial" pitchFamily="34" charset="0"/>
                <a:cs typeface="Arial" pitchFamily="34" charset="0"/>
              </a:rPr>
              <a:t>SO de nodos sensores</a:t>
            </a:r>
          </a:p>
          <a:p>
            <a:pPr lvl="0" algn="l" fontAlgn="auto">
              <a:spcAft>
                <a:spcPts val="0"/>
              </a:spcAft>
              <a:defRPr/>
            </a:pPr>
            <a:r>
              <a:rPr lang="es-AR" sz="2000" dirty="0" smtClean="0">
                <a:solidFill>
                  <a:srgbClr val="FF0000"/>
                </a:solidFill>
                <a:latin typeface="Arial" pitchFamily="34" charset="0"/>
                <a:cs typeface="Arial" pitchFamily="34" charset="0"/>
              </a:rPr>
              <a:t>SO en tiempo real</a:t>
            </a:r>
          </a:p>
          <a:p>
            <a:pPr lvl="0" algn="l" fontAlgn="auto">
              <a:spcAft>
                <a:spcPts val="0"/>
              </a:spcAft>
              <a:defRPr/>
            </a:pPr>
            <a:r>
              <a:rPr lang="es-AR" sz="2000" dirty="0" smtClean="0">
                <a:solidFill>
                  <a:srgbClr val="FF0000"/>
                </a:solidFill>
                <a:latin typeface="Arial" pitchFamily="34" charset="0"/>
                <a:cs typeface="Arial" pitchFamily="34" charset="0"/>
              </a:rPr>
              <a:t>SO de tarjetas inteligentes</a:t>
            </a:r>
          </a:p>
          <a:p>
            <a:endParaRPr lang="es-AR" dirty="0"/>
          </a:p>
        </p:txBody>
      </p:sp>
      <p:sp>
        <p:nvSpPr>
          <p:cNvPr id="13" name="12 CuadroTexto"/>
          <p:cNvSpPr txBox="1"/>
          <p:nvPr/>
        </p:nvSpPr>
        <p:spPr>
          <a:xfrm>
            <a:off x="508000" y="3899912"/>
            <a:ext cx="7988300" cy="830997"/>
          </a:xfrm>
          <a:prstGeom prst="rect">
            <a:avLst/>
          </a:prstGeom>
          <a:noFill/>
        </p:spPr>
        <p:txBody>
          <a:bodyPr wrap="square" rtlCol="0">
            <a:spAutoFit/>
          </a:bodyPr>
          <a:lstStyle/>
          <a:p>
            <a:pPr lvl="0" fontAlgn="auto">
              <a:spcAft>
                <a:spcPts val="0"/>
              </a:spcAft>
              <a:defRPr/>
            </a:pPr>
            <a:r>
              <a:rPr lang="es-AR" sz="2800" b="1" dirty="0" smtClean="0">
                <a:solidFill>
                  <a:schemeClr val="tx2">
                    <a:lumMod val="75000"/>
                  </a:schemeClr>
                </a:solidFill>
                <a:latin typeface="Arial" pitchFamily="34" charset="0"/>
                <a:cs typeface="Arial" pitchFamily="34" charset="0"/>
              </a:rPr>
              <a:t>Tipos de Sistemas Operativos</a:t>
            </a:r>
          </a:p>
          <a:p>
            <a:pPr lvl="0" fontAlgn="auto">
              <a:spcAft>
                <a:spcPts val="0"/>
              </a:spcAft>
              <a:defRPr/>
            </a:pPr>
            <a:r>
              <a:rPr lang="es-AR" sz="2000" b="1" dirty="0" err="1" smtClean="0">
                <a:solidFill>
                  <a:schemeClr val="tx2">
                    <a:lumMod val="75000"/>
                  </a:schemeClr>
                </a:solidFill>
                <a:latin typeface="Arial" pitchFamily="34" charset="0"/>
                <a:cs typeface="Arial" pitchFamily="34" charset="0"/>
              </a:rPr>
              <a:t>Tanembaum</a:t>
            </a:r>
            <a:r>
              <a:rPr lang="es-AR" sz="2000" b="1" dirty="0" smtClean="0">
                <a:solidFill>
                  <a:schemeClr val="tx2">
                    <a:lumMod val="75000"/>
                  </a:schemeClr>
                </a:solidFill>
                <a:latin typeface="Arial" pitchFamily="34" charset="0"/>
                <a:cs typeface="Arial" pitchFamily="34" charset="0"/>
              </a:rPr>
              <a:t> Sección 1.4</a:t>
            </a:r>
            <a:endParaRPr lang="es-A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grpId="0" nodeType="withEffect">
                                  <p:stCondLst>
                                    <p:cond delay="0"/>
                                  </p:stCondLst>
                                  <p:childTnLst>
                                    <p:animEffect transition="out" filter="fade">
                                      <p:cBhvr>
                                        <p:cTn id="6" dur="1000" tmFilter="0, 0; .2, .5; .8, .5; 1, 0"/>
                                        <p:tgtEl>
                                          <p:spTgt spid="8"/>
                                        </p:tgtEl>
                                      </p:cBhvr>
                                    </p:animEffect>
                                    <p:animScale>
                                      <p:cBhvr>
                                        <p:cTn id="7" dur="50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495300" y="1166191"/>
            <a:ext cx="8335963" cy="5028234"/>
          </a:xfrm>
        </p:spPr>
        <p:txBody>
          <a:bodyPr/>
          <a:lstStyle/>
          <a:p>
            <a:pPr eaLnBrk="1" hangingPunct="1">
              <a:lnSpc>
                <a:spcPct val="80000"/>
              </a:lnSpc>
            </a:pPr>
            <a:r>
              <a:rPr lang="es-ES_tradnl" sz="2800" b="1" dirty="0" smtClean="0">
                <a:solidFill>
                  <a:schemeClr val="accent2">
                    <a:lumMod val="75000"/>
                  </a:schemeClr>
                </a:solidFill>
                <a:latin typeface="Arial Unicode MS"/>
                <a:ea typeface="Arial Unicode MS"/>
                <a:cs typeface="Arial Unicode MS"/>
              </a:rPr>
              <a:t>Arquitectura monolítica</a:t>
            </a:r>
          </a:p>
          <a:p>
            <a:pPr>
              <a:spcBef>
                <a:spcPts val="0"/>
              </a:spcBef>
              <a:buNone/>
            </a:pPr>
            <a:r>
              <a:rPr lang="es-AR" sz="2000" dirty="0">
                <a:latin typeface="Arial" pitchFamily="34" charset="0"/>
                <a:cs typeface="Arial" pitchFamily="34" charset="0"/>
              </a:rPr>
              <a:t>T</a:t>
            </a:r>
            <a:r>
              <a:rPr lang="es-AR" sz="2000" dirty="0" smtClean="0">
                <a:latin typeface="Arial" pitchFamily="34" charset="0"/>
                <a:cs typeface="Arial" pitchFamily="34" charset="0"/>
              </a:rPr>
              <a:t>odo el sistema operativo se ejecuta como un solo programa en modo </a:t>
            </a:r>
            <a:r>
              <a:rPr lang="es-AR" sz="2000" dirty="0" err="1" smtClean="0">
                <a:latin typeface="Arial" pitchFamily="34" charset="0"/>
                <a:cs typeface="Arial" pitchFamily="34" charset="0"/>
              </a:rPr>
              <a:t>kernel</a:t>
            </a:r>
            <a:r>
              <a:rPr lang="es-AR" sz="2000" dirty="0" smtClean="0">
                <a:latin typeface="Arial" pitchFamily="34" charset="0"/>
                <a:cs typeface="Arial" pitchFamily="34" charset="0"/>
              </a:rPr>
              <a:t> y se </a:t>
            </a:r>
            <a:r>
              <a:rPr lang="es-AR" sz="2000" dirty="0">
                <a:latin typeface="Arial" pitchFamily="34" charset="0"/>
                <a:cs typeface="Arial" pitchFamily="34" charset="0"/>
              </a:rPr>
              <a:t>escribe como una colección de procedimientos, enlazados entre sí en un solo programa binario ejecutable </a:t>
            </a:r>
            <a:r>
              <a:rPr lang="es-AR" sz="2000" dirty="0" smtClean="0">
                <a:latin typeface="Arial" pitchFamily="34" charset="0"/>
                <a:cs typeface="Arial" pitchFamily="34" charset="0"/>
              </a:rPr>
              <a:t>extenso donde los procedimientos pueden comunicarse sin restricción.</a:t>
            </a:r>
          </a:p>
          <a:p>
            <a:pPr>
              <a:spcBef>
                <a:spcPts val="0"/>
              </a:spcBef>
              <a:buNone/>
            </a:pPr>
            <a:endParaRPr lang="es-AR" sz="2000" dirty="0" smtClean="0">
              <a:latin typeface="Arial" pitchFamily="34" charset="0"/>
              <a:cs typeface="Arial" pitchFamily="34" charset="0"/>
            </a:endParaRPr>
          </a:p>
          <a:p>
            <a:pPr>
              <a:spcBef>
                <a:spcPts val="0"/>
              </a:spcBef>
              <a:buNone/>
            </a:pPr>
            <a:r>
              <a:rPr lang="es-AR" sz="2000" dirty="0" smtClean="0">
                <a:latin typeface="Arial" pitchFamily="34" charset="0"/>
                <a:cs typeface="Arial" pitchFamily="34" charset="0"/>
              </a:rPr>
              <a:t>Algunos SO:  MS-DOS, UNIX, </a:t>
            </a:r>
            <a:r>
              <a:rPr lang="es-AR" sz="2000" dirty="0" err="1" smtClean="0">
                <a:latin typeface="Arial" pitchFamily="34" charset="0"/>
                <a:cs typeface="Arial" pitchFamily="34" charset="0"/>
              </a:rPr>
              <a:t>MacOS</a:t>
            </a:r>
            <a:r>
              <a:rPr lang="es-AR" sz="2000" dirty="0" smtClean="0">
                <a:latin typeface="Arial" pitchFamily="34" charset="0"/>
                <a:cs typeface="Arial" pitchFamily="34" charset="0"/>
              </a:rPr>
              <a:t>, Windows 9x, Linux etc.</a:t>
            </a:r>
            <a:endParaRPr lang="es-ES_tradnl" sz="2000" dirty="0" smtClean="0">
              <a:latin typeface="Arial" pitchFamily="34" charset="0"/>
              <a:cs typeface="Arial" pitchFamily="34" charset="0"/>
            </a:endParaRPr>
          </a:p>
          <a:p>
            <a:pPr eaLnBrk="1" hangingPunct="1">
              <a:lnSpc>
                <a:spcPct val="80000"/>
              </a:lnSpc>
              <a:buFontTx/>
              <a:buNone/>
            </a:pPr>
            <a:endParaRPr lang="es-ES_tradnl" sz="2000" dirty="0" smtClean="0">
              <a:solidFill>
                <a:srgbClr val="C0C0C0"/>
              </a:solidFill>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16</a:t>
            </a:fld>
            <a:endParaRPr lang="en-US"/>
          </a:p>
        </p:txBody>
      </p:sp>
      <p:sp>
        <p:nvSpPr>
          <p:cNvPr id="8"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Arquitectura de los SO</a:t>
            </a:r>
          </a:p>
        </p:txBody>
      </p:sp>
      <p:sp>
        <p:nvSpPr>
          <p:cNvPr id="5" name="4 CuadroTexto"/>
          <p:cNvSpPr txBox="1"/>
          <p:nvPr/>
        </p:nvSpPr>
        <p:spPr>
          <a:xfrm>
            <a:off x="7971883" y="692727"/>
            <a:ext cx="1172117" cy="261610"/>
          </a:xfrm>
          <a:prstGeom prst="rect">
            <a:avLst/>
          </a:prstGeom>
          <a:noFill/>
        </p:spPr>
        <p:txBody>
          <a:bodyPr wrap="none" rtlCol="0">
            <a:spAutoFit/>
          </a:bodyPr>
          <a:lstStyle/>
          <a:p>
            <a:r>
              <a:rPr lang="es-AR" sz="1100" dirty="0" err="1" smtClean="0">
                <a:solidFill>
                  <a:schemeClr val="tx1"/>
                </a:solidFill>
                <a:latin typeface="Arial" pitchFamily="34" charset="0"/>
                <a:cs typeface="Arial" pitchFamily="34" charset="0"/>
              </a:rPr>
              <a:t>Tanenbaum</a:t>
            </a:r>
            <a:r>
              <a:rPr lang="es-AR" sz="1100" dirty="0" smtClean="0">
                <a:solidFill>
                  <a:schemeClr val="tx1"/>
                </a:solidFill>
                <a:latin typeface="Arial" pitchFamily="34" charset="0"/>
                <a:cs typeface="Arial" pitchFamily="34" charset="0"/>
              </a:rPr>
              <a:t> 1.7</a:t>
            </a:r>
            <a:endParaRPr lang="es-AR" sz="1100" dirty="0">
              <a:solidFill>
                <a:schemeClr val="tx1"/>
              </a:solidFill>
              <a:latin typeface="Arial" pitchFamily="34" charset="0"/>
              <a:cs typeface="Arial" pitchFamily="34" charset="0"/>
            </a:endParaRPr>
          </a:p>
        </p:txBody>
      </p:sp>
      <p:sp>
        <p:nvSpPr>
          <p:cNvPr id="9" name="8 CuadroTexto"/>
          <p:cNvSpPr txBox="1"/>
          <p:nvPr/>
        </p:nvSpPr>
        <p:spPr>
          <a:xfrm>
            <a:off x="4943061" y="3750362"/>
            <a:ext cx="3962400" cy="2554545"/>
          </a:xfrm>
          <a:prstGeom prst="rect">
            <a:avLst/>
          </a:prstGeom>
          <a:noFill/>
        </p:spPr>
        <p:txBody>
          <a:bodyPr wrap="square" rtlCol="0">
            <a:spAutoFit/>
          </a:bodyPr>
          <a:lstStyle/>
          <a:p>
            <a:pPr algn="just"/>
            <a:r>
              <a:rPr lang="es-AR" sz="2000" dirty="0">
                <a:solidFill>
                  <a:schemeClr val="tx1"/>
                </a:solidFill>
                <a:latin typeface="Arial" pitchFamily="34" charset="0"/>
                <a:cs typeface="Arial" pitchFamily="34" charset="0"/>
              </a:rPr>
              <a:t>P</a:t>
            </a:r>
            <a:r>
              <a:rPr lang="es-AR" sz="2000" dirty="0" smtClean="0">
                <a:solidFill>
                  <a:schemeClr val="tx1"/>
                </a:solidFill>
                <a:latin typeface="Arial" pitchFamily="34" charset="0"/>
                <a:cs typeface="Arial" pitchFamily="34" charset="0"/>
              </a:rPr>
              <a:t>ara cada llamada al sistema hay un procedimiento de servicio que se encarga de la llamada y la ejecuta. Los procedimientos utilitarios hacen cosas que necesitan varios procedimientos de servicio, como obtener datos de los programas de usuario.</a:t>
            </a:r>
            <a:endParaRPr lang="es-AR" sz="2000" dirty="0">
              <a:solidFill>
                <a:schemeClr val="tx1"/>
              </a:solidFill>
              <a:latin typeface="Arial" pitchFamily="34" charset="0"/>
              <a:cs typeface="Arial" pitchFamily="34" charset="0"/>
            </a:endParaRPr>
          </a:p>
        </p:txBody>
      </p:sp>
      <p:pic>
        <p:nvPicPr>
          <p:cNvPr id="172037" name="Picture 5"/>
          <p:cNvPicPr>
            <a:picLocks noChangeAspect="1" noChangeArrowheads="1"/>
          </p:cNvPicPr>
          <p:nvPr/>
        </p:nvPicPr>
        <p:blipFill>
          <a:blip r:embed="rId3" cstate="print"/>
          <a:srcRect/>
          <a:stretch>
            <a:fillRect/>
          </a:stretch>
        </p:blipFill>
        <p:spPr bwMode="auto">
          <a:xfrm>
            <a:off x="257911" y="5123494"/>
            <a:ext cx="4417477" cy="1642647"/>
          </a:xfrm>
          <a:prstGeom prst="rect">
            <a:avLst/>
          </a:prstGeom>
          <a:ln>
            <a:noFill/>
          </a:ln>
          <a:effectLst>
            <a:outerShdw blurRad="292100" dist="139700" dir="2700000" algn="tl" rotWithShape="0">
              <a:srgbClr val="333333">
                <a:alpha val="65000"/>
              </a:srgbClr>
            </a:outerShdw>
          </a:effectLst>
        </p:spPr>
      </p:pic>
      <p:pic>
        <p:nvPicPr>
          <p:cNvPr id="172038" name="Picture 6"/>
          <p:cNvPicPr>
            <a:picLocks noChangeAspect="1" noChangeArrowheads="1"/>
          </p:cNvPicPr>
          <p:nvPr/>
        </p:nvPicPr>
        <p:blipFill>
          <a:blip r:embed="rId4" cstate="print"/>
          <a:srcRect/>
          <a:stretch>
            <a:fillRect/>
          </a:stretch>
        </p:blipFill>
        <p:spPr bwMode="auto">
          <a:xfrm>
            <a:off x="426127" y="3619884"/>
            <a:ext cx="2356832" cy="1330830"/>
          </a:xfrm>
          <a:prstGeom prst="rect">
            <a:avLst/>
          </a:prstGeom>
          <a:ln>
            <a:noFill/>
          </a:ln>
          <a:effectLst>
            <a:outerShdw blurRad="292100" dist="139700" dir="2700000" algn="tl" rotWithShape="0">
              <a:srgbClr val="333333">
                <a:alpha val="65000"/>
              </a:srgbClr>
            </a:outerShdw>
          </a:effectLst>
        </p:spPr>
      </p:pic>
      <p:cxnSp>
        <p:nvCxnSpPr>
          <p:cNvPr id="13" name="12 Conector recto"/>
          <p:cNvCxnSpPr/>
          <p:nvPr/>
        </p:nvCxnSpPr>
        <p:spPr>
          <a:xfrm flipV="1">
            <a:off x="503584" y="4364811"/>
            <a:ext cx="2186611" cy="8405"/>
          </a:xfrm>
          <a:prstGeom prst="line">
            <a:avLst/>
          </a:prstGeom>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3221832" y="3816626"/>
            <a:ext cx="1268296" cy="307777"/>
          </a:xfrm>
          <a:prstGeom prst="rect">
            <a:avLst/>
          </a:prstGeom>
          <a:noFill/>
        </p:spPr>
        <p:txBody>
          <a:bodyPr wrap="none" rtlCol="0">
            <a:spAutoFit/>
          </a:bodyPr>
          <a:lstStyle/>
          <a:p>
            <a:r>
              <a:rPr lang="es-AR" sz="1400" dirty="0" smtClean="0">
                <a:solidFill>
                  <a:schemeClr val="tx1"/>
                </a:solidFill>
                <a:latin typeface="Arial" pitchFamily="34" charset="0"/>
                <a:cs typeface="Arial" pitchFamily="34" charset="0"/>
              </a:rPr>
              <a:t>Modo usuario</a:t>
            </a:r>
            <a:endParaRPr lang="es-AR" sz="1400" dirty="0">
              <a:solidFill>
                <a:schemeClr val="tx1"/>
              </a:solidFill>
              <a:latin typeface="Arial" pitchFamily="34" charset="0"/>
              <a:cs typeface="Arial" pitchFamily="34" charset="0"/>
            </a:endParaRPr>
          </a:p>
        </p:txBody>
      </p:sp>
      <p:sp>
        <p:nvSpPr>
          <p:cNvPr id="15" name="14 CuadroTexto"/>
          <p:cNvSpPr txBox="1"/>
          <p:nvPr/>
        </p:nvSpPr>
        <p:spPr>
          <a:xfrm>
            <a:off x="3082851" y="4485861"/>
            <a:ext cx="1426994" cy="307777"/>
          </a:xfrm>
          <a:prstGeom prst="rect">
            <a:avLst/>
          </a:prstGeom>
          <a:noFill/>
        </p:spPr>
        <p:txBody>
          <a:bodyPr wrap="none" rtlCol="0">
            <a:spAutoFit/>
          </a:bodyPr>
          <a:lstStyle/>
          <a:p>
            <a:r>
              <a:rPr lang="es-AR" sz="1400" dirty="0" smtClean="0">
                <a:solidFill>
                  <a:schemeClr val="tx1"/>
                </a:solidFill>
                <a:latin typeface="Arial" pitchFamily="34" charset="0"/>
                <a:cs typeface="Arial" pitchFamily="34" charset="0"/>
              </a:rPr>
              <a:t>Modo protegido</a:t>
            </a:r>
            <a:endParaRPr lang="es-AR" sz="1400" dirty="0">
              <a:solidFill>
                <a:schemeClr val="tx1"/>
              </a:solidFill>
              <a:latin typeface="Arial" pitchFamily="34" charset="0"/>
              <a:cs typeface="Arial" pitchFamily="34" charset="0"/>
            </a:endParaRPr>
          </a:p>
        </p:txBody>
      </p:sp>
      <p:cxnSp>
        <p:nvCxnSpPr>
          <p:cNvPr id="17" name="16 Conector recto de flecha"/>
          <p:cNvCxnSpPr>
            <a:stCxn id="14" idx="1"/>
          </p:cNvCxnSpPr>
          <p:nvPr/>
        </p:nvCxnSpPr>
        <p:spPr>
          <a:xfrm flipH="1">
            <a:off x="2875722" y="3970515"/>
            <a:ext cx="346110" cy="51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a:stCxn id="15" idx="1"/>
          </p:cNvCxnSpPr>
          <p:nvPr/>
        </p:nvCxnSpPr>
        <p:spPr>
          <a:xfrm flipH="1">
            <a:off x="2650444" y="4639750"/>
            <a:ext cx="432407" cy="117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20 Conector recto de flecha"/>
          <p:cNvCxnSpPr>
            <a:stCxn id="9" idx="1"/>
          </p:cNvCxnSpPr>
          <p:nvPr/>
        </p:nvCxnSpPr>
        <p:spPr>
          <a:xfrm flipH="1">
            <a:off x="4545496" y="5027635"/>
            <a:ext cx="397565" cy="3527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495300" y="1166191"/>
            <a:ext cx="8648700" cy="5028234"/>
          </a:xfrm>
        </p:spPr>
        <p:txBody>
          <a:bodyPr>
            <a:normAutofit fontScale="92500" lnSpcReduction="10000"/>
          </a:bodyPr>
          <a:lstStyle/>
          <a:p>
            <a:pPr eaLnBrk="1" hangingPunct="1">
              <a:lnSpc>
                <a:spcPct val="80000"/>
              </a:lnSpc>
            </a:pPr>
            <a:r>
              <a:rPr lang="es-ES_tradnl" sz="2800" b="1" dirty="0" smtClean="0">
                <a:solidFill>
                  <a:schemeClr val="accent2">
                    <a:lumMod val="75000"/>
                  </a:schemeClr>
                </a:solidFill>
                <a:latin typeface="Arial Unicode MS"/>
                <a:ea typeface="Arial Unicode MS"/>
                <a:cs typeface="Arial Unicode MS"/>
              </a:rPr>
              <a:t>Arquitectura monolítica</a:t>
            </a:r>
          </a:p>
          <a:p>
            <a:pPr>
              <a:lnSpc>
                <a:spcPct val="80000"/>
              </a:lnSpc>
              <a:buNone/>
            </a:pPr>
            <a:r>
              <a:rPr lang="es-ES" sz="2800" dirty="0" smtClean="0"/>
              <a:t>Linux es un </a:t>
            </a:r>
            <a:r>
              <a:rPr lang="es-ES" sz="2800" b="1" dirty="0" err="1" smtClean="0"/>
              <a:t>Kernel</a:t>
            </a:r>
            <a:r>
              <a:rPr lang="es-ES" sz="2800" b="1" dirty="0" smtClean="0"/>
              <a:t> Monolítico Modular</a:t>
            </a:r>
            <a:r>
              <a:rPr lang="es-ES" sz="2800" dirty="0" smtClean="0"/>
              <a:t>. Es monolítico porque todos sus servicios corren en el espacio del núcleo para maximizar el rendimiento, pero es modular porque permite cargar y descargar controladores dinámicamente sin reiniciar el sistema.</a:t>
            </a:r>
            <a:endParaRPr lang="es-ES_tradnl" sz="2800" b="1" dirty="0" smtClean="0">
              <a:solidFill>
                <a:schemeClr val="accent2">
                  <a:lumMod val="75000"/>
                </a:schemeClr>
              </a:solidFill>
              <a:latin typeface="Arial Unicode MS"/>
              <a:ea typeface="Arial Unicode MS"/>
              <a:cs typeface="Arial Unicode MS"/>
            </a:endParaRPr>
          </a:p>
          <a:p>
            <a:pPr eaLnBrk="1" hangingPunct="1">
              <a:lnSpc>
                <a:spcPct val="80000"/>
              </a:lnSpc>
              <a:buNone/>
            </a:pPr>
            <a:endParaRPr lang="es-ES_tradnl" sz="2400" b="1" dirty="0" smtClean="0">
              <a:latin typeface="Arial" pitchFamily="34" charset="0"/>
              <a:cs typeface="Arial" pitchFamily="34" charset="0"/>
            </a:endParaRPr>
          </a:p>
          <a:p>
            <a:pPr eaLnBrk="1" hangingPunct="1">
              <a:lnSpc>
                <a:spcPct val="80000"/>
              </a:lnSpc>
              <a:buNone/>
            </a:pPr>
            <a:r>
              <a:rPr lang="es-ES_tradnl" sz="2000" b="1" dirty="0" smtClean="0">
                <a:solidFill>
                  <a:schemeClr val="tx1"/>
                </a:solidFill>
                <a:latin typeface="Arial" pitchFamily="34" charset="0"/>
                <a:cs typeface="Arial" pitchFamily="34" charset="0"/>
              </a:rPr>
              <a:t>Ventaja de la arquitectura monolítica:</a:t>
            </a:r>
          </a:p>
          <a:p>
            <a:pPr eaLnBrk="1" hangingPunct="1">
              <a:lnSpc>
                <a:spcPct val="80000"/>
              </a:lnSpc>
              <a:buFontTx/>
              <a:buChar char="-"/>
            </a:pPr>
            <a:r>
              <a:rPr lang="es-ES_tradnl" sz="2000" dirty="0" smtClean="0">
                <a:latin typeface="Arial" pitchFamily="34" charset="0"/>
                <a:cs typeface="Arial" pitchFamily="34" charset="0"/>
              </a:rPr>
              <a:t>Comunicación rápida entre módulos mediante llamadas a procedimientos</a:t>
            </a:r>
          </a:p>
          <a:p>
            <a:pPr eaLnBrk="1" hangingPunct="1">
              <a:lnSpc>
                <a:spcPct val="80000"/>
              </a:lnSpc>
              <a:buFontTx/>
              <a:buChar char="-"/>
            </a:pPr>
            <a:r>
              <a:rPr lang="es-ES_tradnl" sz="1600" dirty="0" smtClean="0">
                <a:solidFill>
                  <a:schemeClr val="tx1"/>
                </a:solidFill>
                <a:latin typeface="Arial" pitchFamily="34" charset="0"/>
                <a:cs typeface="Arial" pitchFamily="34" charset="0"/>
              </a:rPr>
              <a:t>Barato en </a:t>
            </a:r>
            <a:r>
              <a:rPr lang="es-ES_tradnl" sz="2100" dirty="0" smtClean="0">
                <a:latin typeface="Arial" pitchFamily="34" charset="0"/>
                <a:cs typeface="Arial" pitchFamily="34" charset="0"/>
              </a:rPr>
              <a:t>tiempo</a:t>
            </a:r>
            <a:r>
              <a:rPr lang="es-ES_tradnl" sz="1600" dirty="0" smtClean="0">
                <a:solidFill>
                  <a:schemeClr val="tx1"/>
                </a:solidFill>
                <a:latin typeface="Arial" pitchFamily="34" charset="0"/>
                <a:cs typeface="Arial" pitchFamily="34" charset="0"/>
              </a:rPr>
              <a:t>, interfaz limpia y homogénea.</a:t>
            </a:r>
          </a:p>
          <a:p>
            <a:pPr lvl="1">
              <a:lnSpc>
                <a:spcPct val="80000"/>
              </a:lnSpc>
              <a:buNone/>
            </a:pPr>
            <a:endParaRPr lang="es-ES_tradnl" sz="1600" b="1" dirty="0">
              <a:solidFill>
                <a:schemeClr val="tx1"/>
              </a:solidFill>
              <a:latin typeface="Arial" pitchFamily="34" charset="0"/>
              <a:cs typeface="Arial" pitchFamily="34" charset="0"/>
            </a:endParaRPr>
          </a:p>
          <a:p>
            <a:pPr>
              <a:lnSpc>
                <a:spcPct val="80000"/>
              </a:lnSpc>
              <a:buNone/>
            </a:pPr>
            <a:r>
              <a:rPr lang="es-ES_tradnl" sz="2000" b="1" dirty="0" smtClean="0">
                <a:latin typeface="Arial" pitchFamily="34" charset="0"/>
                <a:cs typeface="Arial" pitchFamily="34" charset="0"/>
              </a:rPr>
              <a:t>Desv</a:t>
            </a:r>
            <a:r>
              <a:rPr lang="es-ES_tradnl" sz="2000" b="1" dirty="0" smtClean="0">
                <a:solidFill>
                  <a:schemeClr val="tx1"/>
                </a:solidFill>
                <a:latin typeface="Arial" pitchFamily="34" charset="0"/>
                <a:cs typeface="Arial" pitchFamily="34" charset="0"/>
              </a:rPr>
              <a:t>entajas:</a:t>
            </a:r>
          </a:p>
          <a:p>
            <a:pPr>
              <a:lnSpc>
                <a:spcPct val="80000"/>
              </a:lnSpc>
              <a:buNone/>
            </a:pPr>
            <a:r>
              <a:rPr lang="es-ES_tradnl" sz="2000" dirty="0" smtClean="0">
                <a:latin typeface="Arial" pitchFamily="34" charset="0"/>
                <a:cs typeface="Arial" pitchFamily="34" charset="0"/>
              </a:rPr>
              <a:t>Si el sistema crece:</a:t>
            </a:r>
          </a:p>
          <a:p>
            <a:pPr lvl="1">
              <a:lnSpc>
                <a:spcPct val="80000"/>
              </a:lnSpc>
            </a:pPr>
            <a:r>
              <a:rPr lang="es-ES_tradnl" sz="2000" dirty="0" smtClean="0">
                <a:solidFill>
                  <a:schemeClr val="tx1"/>
                </a:solidFill>
                <a:latin typeface="Arial" pitchFamily="34" charset="0"/>
                <a:cs typeface="Arial" pitchFamily="34" charset="0"/>
              </a:rPr>
              <a:t>Difícil de entender..</a:t>
            </a:r>
          </a:p>
          <a:p>
            <a:pPr lvl="1">
              <a:lnSpc>
                <a:spcPct val="80000"/>
              </a:lnSpc>
            </a:pPr>
            <a:r>
              <a:rPr lang="es-ES_tradnl" sz="2000" dirty="0" smtClean="0">
                <a:latin typeface="Arial" pitchFamily="34" charset="0"/>
                <a:cs typeface="Arial" pitchFamily="34" charset="0"/>
              </a:rPr>
              <a:t>Difícil de modificar.</a:t>
            </a:r>
          </a:p>
          <a:p>
            <a:pPr lvl="1">
              <a:lnSpc>
                <a:spcPct val="80000"/>
              </a:lnSpc>
            </a:pPr>
            <a:r>
              <a:rPr lang="es-ES_tradnl" sz="2000" dirty="0" smtClean="0">
                <a:solidFill>
                  <a:schemeClr val="tx1"/>
                </a:solidFill>
                <a:latin typeface="Arial" pitchFamily="34" charset="0"/>
                <a:cs typeface="Arial" pitchFamily="34" charset="0"/>
              </a:rPr>
              <a:t>Difícil de mantener.</a:t>
            </a:r>
            <a:endParaRPr lang="es-ES_tradnl" sz="2000" dirty="0">
              <a:latin typeface="Arial" pitchFamily="34" charset="0"/>
              <a:cs typeface="Arial" pitchFamily="34" charset="0"/>
            </a:endParaRPr>
          </a:p>
          <a:p>
            <a:pPr>
              <a:lnSpc>
                <a:spcPct val="80000"/>
              </a:lnSpc>
              <a:buNone/>
            </a:pPr>
            <a:r>
              <a:rPr lang="es-ES_tradnl" sz="2000" dirty="0" smtClean="0">
                <a:latin typeface="Arial" pitchFamily="34" charset="0"/>
                <a:cs typeface="Arial" pitchFamily="34" charset="0"/>
              </a:rPr>
              <a:t>Baja confiabilidad:</a:t>
            </a:r>
          </a:p>
          <a:p>
            <a:pPr lvl="1">
              <a:lnSpc>
                <a:spcPct val="80000"/>
              </a:lnSpc>
            </a:pPr>
            <a:r>
              <a:rPr lang="es-ES_tradnl" sz="2000" dirty="0" smtClean="0">
                <a:latin typeface="Arial" pitchFamily="34" charset="0"/>
                <a:cs typeface="Arial" pitchFamily="34" charset="0"/>
              </a:rPr>
              <a:t>No existe aislación entre los componentes</a:t>
            </a:r>
          </a:p>
          <a:p>
            <a:pPr eaLnBrk="1" hangingPunct="1">
              <a:lnSpc>
                <a:spcPct val="80000"/>
              </a:lnSpc>
              <a:buNone/>
            </a:pPr>
            <a:endParaRPr lang="es-ES_tradnl" sz="2000" dirty="0" smtClean="0">
              <a:solidFill>
                <a:schemeClr val="tx1"/>
              </a:solidFill>
              <a:latin typeface="Arial" pitchFamily="34" charset="0"/>
              <a:cs typeface="Arial" pitchFamily="34" charset="0"/>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17</a:t>
            </a:fld>
            <a:endParaRPr lang="en-US"/>
          </a:p>
        </p:txBody>
      </p:sp>
      <p:sp>
        <p:nvSpPr>
          <p:cNvPr id="5" name="4 CuadroTexto"/>
          <p:cNvSpPr txBox="1"/>
          <p:nvPr/>
        </p:nvSpPr>
        <p:spPr>
          <a:xfrm>
            <a:off x="7971883" y="692727"/>
            <a:ext cx="1172117" cy="261610"/>
          </a:xfrm>
          <a:prstGeom prst="rect">
            <a:avLst/>
          </a:prstGeom>
          <a:noFill/>
        </p:spPr>
        <p:txBody>
          <a:bodyPr wrap="none" rtlCol="0">
            <a:spAutoFit/>
          </a:bodyPr>
          <a:lstStyle/>
          <a:p>
            <a:r>
              <a:rPr lang="es-AR" sz="1100" dirty="0" err="1" smtClean="0">
                <a:solidFill>
                  <a:schemeClr val="tx1"/>
                </a:solidFill>
                <a:latin typeface="Arial" pitchFamily="34" charset="0"/>
                <a:cs typeface="Arial" pitchFamily="34" charset="0"/>
              </a:rPr>
              <a:t>Tanenbaum</a:t>
            </a:r>
            <a:r>
              <a:rPr lang="es-AR" sz="1100" dirty="0" smtClean="0">
                <a:solidFill>
                  <a:schemeClr val="tx1"/>
                </a:solidFill>
                <a:latin typeface="Arial" pitchFamily="34" charset="0"/>
                <a:cs typeface="Arial" pitchFamily="34" charset="0"/>
              </a:rPr>
              <a:t> 1.7</a:t>
            </a:r>
            <a:endParaRPr lang="es-AR" sz="1100" dirty="0">
              <a:solidFill>
                <a:schemeClr val="tx1"/>
              </a:solidFill>
              <a:latin typeface="Arial" pitchFamily="34" charset="0"/>
              <a:cs typeface="Arial" pitchFamily="34" charset="0"/>
            </a:endParaRPr>
          </a:p>
        </p:txBody>
      </p:sp>
      <p:sp>
        <p:nvSpPr>
          <p:cNvPr id="7" name="1 Título"/>
          <p:cNvSpPr txBox="1">
            <a:spLocks/>
          </p:cNvSpPr>
          <p:nvPr/>
        </p:nvSpPr>
        <p:spPr>
          <a:xfrm>
            <a:off x="457200" y="312738"/>
            <a:ext cx="8229600" cy="833726"/>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000" b="1" i="0" u="none" strike="noStrike" kern="1200" cap="none" spc="0" normalizeH="0" baseline="0" noProof="0" smtClean="0">
                <a:ln>
                  <a:noFill/>
                </a:ln>
                <a:solidFill>
                  <a:schemeClr val="accent2">
                    <a:lumMod val="75000"/>
                  </a:schemeClr>
                </a:solidFill>
                <a:effectLst/>
                <a:uLnTx/>
                <a:uFillTx/>
                <a:latin typeface="Arial Unicode MS"/>
                <a:ea typeface="Arial Unicode MS"/>
                <a:cs typeface="Arial Unicode MS"/>
              </a:rPr>
              <a:t>Arquitectura de los SO</a:t>
            </a:r>
            <a:endParaRPr kumimoji="0" lang="es-AR" sz="4000" b="1" i="0" u="none" strike="noStrike" kern="1200" cap="none" spc="0" normalizeH="0" baseline="0" noProof="0" dirty="0" smtClean="0">
              <a:ln>
                <a:noFill/>
              </a:ln>
              <a:solidFill>
                <a:schemeClr val="accent2">
                  <a:lumMod val="75000"/>
                </a:schemeClr>
              </a:solidFill>
              <a:effectLst/>
              <a:uLnTx/>
              <a:uFillTx/>
              <a:latin typeface="Arial Unicode MS"/>
              <a:ea typeface="Arial Unicode MS"/>
              <a:cs typeface="Arial Unicode M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496888" y="1092200"/>
            <a:ext cx="8016875" cy="5038725"/>
          </a:xfrm>
        </p:spPr>
        <p:txBody>
          <a:bodyPr>
            <a:normAutofit/>
          </a:bodyPr>
          <a:lstStyle/>
          <a:p>
            <a:pPr>
              <a:spcBef>
                <a:spcPts val="0"/>
              </a:spcBef>
            </a:pPr>
            <a:r>
              <a:rPr lang="es-ES_tradnl" sz="2800" b="1" dirty="0" smtClean="0">
                <a:solidFill>
                  <a:schemeClr val="accent2">
                    <a:lumMod val="75000"/>
                  </a:schemeClr>
                </a:solidFill>
                <a:latin typeface="Arial Unicode MS"/>
                <a:ea typeface="Arial Unicode MS"/>
                <a:cs typeface="Arial Unicode MS"/>
              </a:rPr>
              <a:t>Arquitectura  </a:t>
            </a:r>
            <a:r>
              <a:rPr lang="es-ES_tradnl" sz="2800" b="1" dirty="0" err="1" smtClean="0">
                <a:solidFill>
                  <a:schemeClr val="accent2">
                    <a:lumMod val="75000"/>
                  </a:schemeClr>
                </a:solidFill>
                <a:latin typeface="Arial Unicode MS"/>
                <a:ea typeface="Arial Unicode MS"/>
                <a:cs typeface="Arial Unicode MS"/>
              </a:rPr>
              <a:t>microkernel</a:t>
            </a:r>
            <a:r>
              <a:rPr lang="es-ES_tradnl" sz="2800" b="1" dirty="0" smtClean="0">
                <a:solidFill>
                  <a:schemeClr val="accent2">
                    <a:lumMod val="75000"/>
                  </a:schemeClr>
                </a:solidFill>
                <a:latin typeface="Arial Unicode MS"/>
                <a:ea typeface="Arial Unicode MS"/>
                <a:cs typeface="Arial Unicode MS"/>
              </a:rPr>
              <a:t> </a:t>
            </a:r>
            <a:r>
              <a:rPr lang="es-ES_tradnl" sz="1800" b="1" dirty="0" smtClean="0">
                <a:latin typeface="Arial Unicode MS"/>
                <a:ea typeface="Arial Unicode MS"/>
                <a:cs typeface="Arial Unicode MS"/>
              </a:rPr>
              <a:t>(AIX, </a:t>
            </a:r>
            <a:r>
              <a:rPr lang="es-ES_tradnl" sz="1800" b="1" dirty="0" err="1" smtClean="0">
                <a:latin typeface="Arial Unicode MS"/>
                <a:ea typeface="Arial Unicode MS"/>
                <a:cs typeface="Arial Unicode MS"/>
              </a:rPr>
              <a:t>BeOS</a:t>
            </a:r>
            <a:r>
              <a:rPr lang="es-ES_tradnl" sz="1800" b="1" dirty="0" smtClean="0">
                <a:latin typeface="Arial Unicode MS"/>
                <a:ea typeface="Arial Unicode MS"/>
                <a:cs typeface="Arial Unicode MS"/>
              </a:rPr>
              <a:t>, Mach, </a:t>
            </a:r>
            <a:r>
              <a:rPr lang="es-ES_tradnl" sz="1800" b="1" dirty="0" err="1" smtClean="0">
                <a:latin typeface="Arial Unicode MS"/>
                <a:ea typeface="Arial Unicode MS"/>
                <a:cs typeface="Arial Unicode MS"/>
              </a:rPr>
              <a:t>Minix</a:t>
            </a:r>
            <a:r>
              <a:rPr lang="es-ES_tradnl" sz="1800" b="1" dirty="0" smtClean="0">
                <a:latin typeface="Arial Unicode MS"/>
                <a:ea typeface="Arial Unicode MS"/>
                <a:cs typeface="Arial Unicode MS"/>
              </a:rPr>
              <a:t>, </a:t>
            </a:r>
            <a:r>
              <a:rPr lang="es-ES_tradnl" sz="1800" b="1" dirty="0" err="1" smtClean="0">
                <a:latin typeface="Arial Unicode MS"/>
                <a:ea typeface="Arial Unicode MS"/>
                <a:cs typeface="Arial Unicode MS"/>
              </a:rPr>
              <a:t>Symbian</a:t>
            </a:r>
            <a:r>
              <a:rPr lang="es-ES_tradnl" sz="1800" b="1" dirty="0" smtClean="0">
                <a:latin typeface="Arial Unicode MS"/>
                <a:ea typeface="Arial Unicode MS"/>
                <a:cs typeface="Arial Unicode MS"/>
              </a:rPr>
              <a:t>, L4, K42 etc.)</a:t>
            </a:r>
            <a:endParaRPr lang="es-ES_tradnl" sz="2800" b="1" dirty="0" smtClean="0">
              <a:latin typeface="Arial Unicode MS"/>
              <a:ea typeface="Arial Unicode MS"/>
              <a:cs typeface="Arial Unicode MS"/>
            </a:endParaRPr>
          </a:p>
          <a:p>
            <a:pPr>
              <a:spcBef>
                <a:spcPts val="0"/>
              </a:spcBef>
              <a:buNone/>
            </a:pPr>
            <a:r>
              <a:rPr lang="es-AR" sz="2000" dirty="0" smtClean="0">
                <a:latin typeface="Arial" pitchFamily="34" charset="0"/>
                <a:cs typeface="Arial" pitchFamily="34" charset="0"/>
              </a:rPr>
              <a:t>La intención es lograr una </a:t>
            </a:r>
            <a:r>
              <a:rPr lang="es-AR" sz="2000" dirty="0">
                <a:latin typeface="Arial" pitchFamily="34" charset="0"/>
                <a:cs typeface="Arial" pitchFamily="34" charset="0"/>
              </a:rPr>
              <a:t>alta confiabilidad al dividir el </a:t>
            </a:r>
            <a:r>
              <a:rPr lang="es-AR" sz="2000" dirty="0" smtClean="0">
                <a:latin typeface="Arial" pitchFamily="34" charset="0"/>
                <a:cs typeface="Arial" pitchFamily="34" charset="0"/>
              </a:rPr>
              <a:t>sistema operativo </a:t>
            </a:r>
            <a:r>
              <a:rPr lang="es-AR" sz="2000" dirty="0">
                <a:latin typeface="Arial" pitchFamily="34" charset="0"/>
                <a:cs typeface="Arial" pitchFamily="34" charset="0"/>
              </a:rPr>
              <a:t>en módulos pequeños y bien definidos, sólo uno de los cuales (el </a:t>
            </a:r>
            <a:r>
              <a:rPr lang="es-AR" sz="2000" dirty="0" err="1">
                <a:latin typeface="Arial" pitchFamily="34" charset="0"/>
                <a:cs typeface="Arial" pitchFamily="34" charset="0"/>
              </a:rPr>
              <a:t>microkernel</a:t>
            </a:r>
            <a:r>
              <a:rPr lang="es-AR" sz="2000" dirty="0">
                <a:latin typeface="Arial" pitchFamily="34" charset="0"/>
                <a:cs typeface="Arial" pitchFamily="34" charset="0"/>
              </a:rPr>
              <a:t>) </a:t>
            </a:r>
            <a:r>
              <a:rPr lang="es-AR" sz="2000" dirty="0" smtClean="0">
                <a:latin typeface="Arial" pitchFamily="34" charset="0"/>
                <a:cs typeface="Arial" pitchFamily="34" charset="0"/>
              </a:rPr>
              <a:t>se ejecuta </a:t>
            </a:r>
            <a:r>
              <a:rPr lang="es-AR" sz="2000" dirty="0">
                <a:latin typeface="Arial" pitchFamily="34" charset="0"/>
                <a:cs typeface="Arial" pitchFamily="34" charset="0"/>
              </a:rPr>
              <a:t>en modo </a:t>
            </a:r>
            <a:r>
              <a:rPr lang="es-AR" sz="2000" dirty="0" err="1">
                <a:latin typeface="Arial" pitchFamily="34" charset="0"/>
                <a:cs typeface="Arial" pitchFamily="34" charset="0"/>
              </a:rPr>
              <a:t>kernel</a:t>
            </a:r>
            <a:r>
              <a:rPr lang="es-AR" sz="2000" dirty="0">
                <a:latin typeface="Arial" pitchFamily="34" charset="0"/>
                <a:cs typeface="Arial" pitchFamily="34" charset="0"/>
              </a:rPr>
              <a:t> y el resto se ejecuta como procesos de usuario </a:t>
            </a:r>
            <a:r>
              <a:rPr lang="es-AR" sz="2000" dirty="0" smtClean="0">
                <a:latin typeface="Arial" pitchFamily="34" charset="0"/>
                <a:cs typeface="Arial" pitchFamily="34" charset="0"/>
              </a:rPr>
              <a:t>ordinarios. </a:t>
            </a:r>
            <a:r>
              <a:rPr lang="es-ES_tradnl" sz="2000" dirty="0" smtClean="0">
                <a:solidFill>
                  <a:schemeClr val="tx1"/>
                </a:solidFill>
                <a:latin typeface="Arial" pitchFamily="34" charset="0"/>
                <a:cs typeface="Arial" pitchFamily="34" charset="0"/>
              </a:rPr>
              <a:t>Las funciones centrales son manejadas por el </a:t>
            </a:r>
            <a:r>
              <a:rPr lang="es-ES_tradnl" sz="2000" dirty="0" err="1" smtClean="0">
                <a:solidFill>
                  <a:schemeClr val="tx1"/>
                </a:solidFill>
                <a:latin typeface="Arial" pitchFamily="34" charset="0"/>
                <a:cs typeface="Arial" pitchFamily="34" charset="0"/>
              </a:rPr>
              <a:t>kernel</a:t>
            </a:r>
            <a:r>
              <a:rPr lang="es-ES_tradnl" sz="2000" dirty="0" smtClean="0">
                <a:solidFill>
                  <a:schemeClr val="tx1"/>
                </a:solidFill>
                <a:latin typeface="Arial" pitchFamily="34" charset="0"/>
                <a:cs typeface="Arial" pitchFamily="34" charset="0"/>
              </a:rPr>
              <a:t> y la interfaz del usuario es manejada por el entorno (</a:t>
            </a:r>
            <a:r>
              <a:rPr lang="es-ES_tradnl" sz="2000" dirty="0" err="1" smtClean="0">
                <a:solidFill>
                  <a:schemeClr val="tx1"/>
                </a:solidFill>
                <a:latin typeface="Arial" pitchFamily="34" charset="0"/>
                <a:cs typeface="Arial" pitchFamily="34" charset="0"/>
              </a:rPr>
              <a:t>shell</a:t>
            </a:r>
            <a:r>
              <a:rPr lang="es-ES_tradnl" sz="2000" dirty="0" smtClean="0">
                <a:latin typeface="Arial" pitchFamily="34" charset="0"/>
                <a:cs typeface="Arial" pitchFamily="34" charset="0"/>
              </a:rPr>
              <a:t>). El </a:t>
            </a:r>
            <a:r>
              <a:rPr lang="es-ES_tradnl" sz="2000" dirty="0" err="1" smtClean="0">
                <a:latin typeface="Arial" pitchFamily="34" charset="0"/>
                <a:cs typeface="Arial" pitchFamily="34" charset="0"/>
              </a:rPr>
              <a:t>microkernel</a:t>
            </a:r>
            <a:r>
              <a:rPr lang="es-ES_tradnl" sz="2000" dirty="0" smtClean="0">
                <a:latin typeface="Arial" pitchFamily="34" charset="0"/>
                <a:cs typeface="Arial" pitchFamily="34" charset="0"/>
              </a:rPr>
              <a:t> se encargado de todo el código de un sistema y de planificar los hilos con la finalidad de tener multitareas.</a:t>
            </a:r>
            <a:endParaRPr lang="es-ES_tradnl" sz="2000" dirty="0" smtClean="0">
              <a:solidFill>
                <a:schemeClr val="tx1"/>
              </a:solidFill>
              <a:latin typeface="Arial" pitchFamily="34" charset="0"/>
              <a:cs typeface="Arial" pitchFamily="34" charset="0"/>
            </a:endParaRPr>
          </a:p>
          <a:p>
            <a:pPr eaLnBrk="1" hangingPunct="1">
              <a:lnSpc>
                <a:spcPct val="80000"/>
              </a:lnSpc>
              <a:buFontTx/>
              <a:buNone/>
            </a:pPr>
            <a:endParaRPr lang="es-ES_tradnl" dirty="0" smtClean="0">
              <a:solidFill>
                <a:srgbClr val="969696"/>
              </a:solidFill>
            </a:endParaRPr>
          </a:p>
          <a:p>
            <a:pPr eaLnBrk="1" hangingPunct="1">
              <a:lnSpc>
                <a:spcPct val="80000"/>
              </a:lnSpc>
              <a:buFontTx/>
              <a:buNone/>
            </a:pPr>
            <a:endParaRPr lang="es-ES_tradnl" sz="2800" dirty="0" smtClean="0">
              <a:solidFill>
                <a:srgbClr val="C0C0C0"/>
              </a:solidFill>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18</a:t>
            </a:fld>
            <a:endParaRPr lang="en-US"/>
          </a:p>
        </p:txBody>
      </p:sp>
      <p:pic>
        <p:nvPicPr>
          <p:cNvPr id="180225" name="Picture 1"/>
          <p:cNvPicPr>
            <a:picLocks noChangeAspect="1" noChangeArrowheads="1"/>
          </p:cNvPicPr>
          <p:nvPr/>
        </p:nvPicPr>
        <p:blipFill>
          <a:blip r:embed="rId3" cstate="print"/>
          <a:srcRect/>
          <a:stretch>
            <a:fillRect/>
          </a:stretch>
        </p:blipFill>
        <p:spPr bwMode="auto">
          <a:xfrm>
            <a:off x="439738" y="4437611"/>
            <a:ext cx="4246562" cy="2187028"/>
          </a:xfrm>
          <a:prstGeom prst="rect">
            <a:avLst/>
          </a:prstGeom>
          <a:ln>
            <a:noFill/>
          </a:ln>
          <a:effectLst>
            <a:outerShdw blurRad="292100" dist="139700" dir="2700000" algn="tl" rotWithShape="0">
              <a:srgbClr val="333333">
                <a:alpha val="65000"/>
              </a:srgbClr>
            </a:outerShdw>
          </a:effectLst>
        </p:spPr>
      </p:pic>
      <p:pic>
        <p:nvPicPr>
          <p:cNvPr id="180226" name="Picture 2"/>
          <p:cNvPicPr>
            <a:picLocks noChangeAspect="1" noChangeArrowheads="1"/>
          </p:cNvPicPr>
          <p:nvPr/>
        </p:nvPicPr>
        <p:blipFill>
          <a:blip r:embed="rId4" cstate="print"/>
          <a:srcRect/>
          <a:stretch>
            <a:fillRect/>
          </a:stretch>
        </p:blipFill>
        <p:spPr bwMode="auto">
          <a:xfrm>
            <a:off x="5017667" y="4274937"/>
            <a:ext cx="3237333" cy="2329063"/>
          </a:xfrm>
          <a:prstGeom prst="rect">
            <a:avLst/>
          </a:prstGeom>
          <a:ln>
            <a:noFill/>
          </a:ln>
          <a:effectLst>
            <a:outerShdw blurRad="292100" dist="139700" dir="2700000" algn="tl" rotWithShape="0">
              <a:srgbClr val="333333">
                <a:alpha val="65000"/>
              </a:srgbClr>
            </a:outerShdw>
          </a:effectLst>
        </p:spPr>
      </p:pic>
      <p:sp>
        <p:nvSpPr>
          <p:cNvPr id="7" name="6 Rectángulo"/>
          <p:cNvSpPr/>
          <p:nvPr/>
        </p:nvSpPr>
        <p:spPr>
          <a:xfrm>
            <a:off x="9613900" y="1921977"/>
            <a:ext cx="3860800" cy="2462213"/>
          </a:xfrm>
          <a:prstGeom prst="rect">
            <a:avLst/>
          </a:prstGeom>
        </p:spPr>
        <p:txBody>
          <a:bodyPr wrap="square">
            <a:spAutoFit/>
          </a:bodyPr>
          <a:lstStyle/>
          <a:p>
            <a:pPr algn="l"/>
            <a:r>
              <a:rPr lang="es-AR" sz="1400" dirty="0" smtClean="0">
                <a:solidFill>
                  <a:schemeClr val="tx1"/>
                </a:solidFill>
                <a:latin typeface="Arial" pitchFamily="34" charset="0"/>
                <a:cs typeface="Arial" pitchFamily="34" charset="0"/>
              </a:rPr>
              <a:t>es un tipo de núcleo de un sistema operativo que provee un conjunto de primitivas o llamadas mínimas al sistema para implementar </a:t>
            </a:r>
            <a:r>
              <a:rPr lang="es-AR" sz="1400" b="1" dirty="0" smtClean="0">
                <a:solidFill>
                  <a:schemeClr val="tx1"/>
                </a:solidFill>
                <a:latin typeface="Arial" pitchFamily="34" charset="0"/>
                <a:cs typeface="Arial" pitchFamily="34" charset="0"/>
              </a:rPr>
              <a:t>servicios básicos como espacios de direcciones, comunicación entre procesos y planificación básica</a:t>
            </a:r>
            <a:r>
              <a:rPr lang="es-AR" sz="1400" dirty="0" smtClean="0">
                <a:solidFill>
                  <a:schemeClr val="tx1"/>
                </a:solidFill>
                <a:latin typeface="Arial" pitchFamily="34" charset="0"/>
                <a:cs typeface="Arial" pitchFamily="34" charset="0"/>
              </a:rPr>
              <a:t>. </a:t>
            </a:r>
          </a:p>
          <a:p>
            <a:pPr algn="l"/>
            <a:r>
              <a:rPr lang="es-AR" sz="1400" dirty="0" smtClean="0">
                <a:solidFill>
                  <a:schemeClr val="tx1"/>
                </a:solidFill>
                <a:latin typeface="Arial" pitchFamily="34" charset="0"/>
                <a:cs typeface="Arial" pitchFamily="34" charset="0"/>
              </a:rPr>
              <a:t>Todos los otros servicios (</a:t>
            </a:r>
            <a:r>
              <a:rPr lang="es-AR" sz="1400" b="1" dirty="0" smtClean="0">
                <a:solidFill>
                  <a:schemeClr val="tx1"/>
                </a:solidFill>
                <a:latin typeface="Arial" pitchFamily="34" charset="0"/>
                <a:cs typeface="Arial" pitchFamily="34" charset="0"/>
              </a:rPr>
              <a:t>gestión de memoria, sistema de archivos, operaciones de E/S, etc</a:t>
            </a:r>
            <a:r>
              <a:rPr lang="es-AR" sz="1400" dirty="0" smtClean="0">
                <a:solidFill>
                  <a:schemeClr val="tx1"/>
                </a:solidFill>
                <a:latin typeface="Arial" pitchFamily="34" charset="0"/>
                <a:cs typeface="Arial" pitchFamily="34" charset="0"/>
              </a:rPr>
              <a:t>.), que en general son provistos por el núcleo</a:t>
            </a:r>
            <a:r>
              <a:rPr lang="es-AR" sz="1400" b="1" dirty="0" smtClean="0">
                <a:solidFill>
                  <a:schemeClr val="tx1"/>
                </a:solidFill>
                <a:latin typeface="Arial" pitchFamily="34" charset="0"/>
                <a:cs typeface="Arial" pitchFamily="34" charset="0"/>
              </a:rPr>
              <a:t>, se ejecutan como procesos servidores en espacio de usuario.</a:t>
            </a:r>
            <a:endParaRPr lang="es-AR" sz="1400" b="1" dirty="0">
              <a:solidFill>
                <a:schemeClr val="tx1"/>
              </a:solidFill>
              <a:latin typeface="Arial" pitchFamily="34" charset="0"/>
              <a:cs typeface="Arial" pitchFamily="34" charset="0"/>
            </a:endParaRPr>
          </a:p>
        </p:txBody>
      </p:sp>
      <p:sp>
        <p:nvSpPr>
          <p:cNvPr id="10"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Arquitectura de los SO</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279400" y="1092200"/>
            <a:ext cx="8648700" cy="5029200"/>
          </a:xfrm>
        </p:spPr>
        <p:txBody>
          <a:bodyPr>
            <a:normAutofit fontScale="70000" lnSpcReduction="20000"/>
          </a:bodyPr>
          <a:lstStyle/>
          <a:p>
            <a:pPr>
              <a:lnSpc>
                <a:spcPct val="120000"/>
              </a:lnSpc>
              <a:spcBef>
                <a:spcPts val="600"/>
              </a:spcBef>
              <a:buNone/>
            </a:pPr>
            <a:r>
              <a:rPr lang="es-AR" sz="2400" b="1" dirty="0" err="1" smtClean="0"/>
              <a:t>Microkernel</a:t>
            </a:r>
            <a:endParaRPr lang="es-AR" sz="2400" b="1" dirty="0" smtClean="0"/>
          </a:p>
          <a:p>
            <a:pPr>
              <a:lnSpc>
                <a:spcPct val="120000"/>
              </a:lnSpc>
              <a:spcBef>
                <a:spcPts val="600"/>
              </a:spcBef>
              <a:buNone/>
            </a:pPr>
            <a:r>
              <a:rPr lang="es-AR" sz="2400" b="1" dirty="0" smtClean="0"/>
              <a:t>Ventajas </a:t>
            </a:r>
            <a:r>
              <a:rPr lang="es-AR" sz="2400" dirty="0" smtClean="0"/>
              <a:t>:</a:t>
            </a:r>
          </a:p>
          <a:p>
            <a:pPr>
              <a:lnSpc>
                <a:spcPct val="120000"/>
              </a:lnSpc>
              <a:spcBef>
                <a:spcPts val="600"/>
              </a:spcBef>
            </a:pPr>
            <a:r>
              <a:rPr lang="es-AR" sz="2100" dirty="0" smtClean="0">
                <a:latin typeface="Arial" pitchFamily="34" charset="0"/>
                <a:cs typeface="Arial" pitchFamily="34" charset="0"/>
              </a:rPr>
              <a:t>Portabilidad, si se aplica una adecuada implementación.</a:t>
            </a:r>
          </a:p>
          <a:p>
            <a:pPr>
              <a:lnSpc>
                <a:spcPct val="120000"/>
              </a:lnSpc>
              <a:spcBef>
                <a:spcPts val="600"/>
              </a:spcBef>
            </a:pPr>
            <a:r>
              <a:rPr lang="es-AR" sz="2100" dirty="0" smtClean="0">
                <a:latin typeface="Arial" pitchFamily="34" charset="0"/>
                <a:cs typeface="Arial" pitchFamily="34" charset="0"/>
              </a:rPr>
              <a:t>Concurrencia y colaboración entre procesos, dada por el diseño.</a:t>
            </a:r>
          </a:p>
          <a:p>
            <a:pPr>
              <a:lnSpc>
                <a:spcPct val="120000"/>
              </a:lnSpc>
              <a:spcBef>
                <a:spcPts val="600"/>
              </a:spcBef>
            </a:pPr>
            <a:r>
              <a:rPr lang="es-AR" sz="2100" dirty="0" smtClean="0">
                <a:latin typeface="Arial" pitchFamily="34" charset="0"/>
                <a:cs typeface="Arial" pitchFamily="34" charset="0"/>
              </a:rPr>
              <a:t>Flexibilidad en el patrón de diseño.</a:t>
            </a:r>
          </a:p>
          <a:p>
            <a:pPr>
              <a:lnSpc>
                <a:spcPct val="120000"/>
              </a:lnSpc>
              <a:spcBef>
                <a:spcPts val="600"/>
              </a:spcBef>
            </a:pPr>
            <a:r>
              <a:rPr lang="es-AR" sz="2100" dirty="0" smtClean="0">
                <a:latin typeface="Arial" pitchFamily="34" charset="0"/>
                <a:cs typeface="Arial" pitchFamily="34" charset="0"/>
              </a:rPr>
              <a:t>Minimiza lo que contiene el </a:t>
            </a:r>
            <a:r>
              <a:rPr lang="es-AR" sz="2100" dirty="0" err="1" smtClean="0">
                <a:latin typeface="Arial" pitchFamily="34" charset="0"/>
                <a:cs typeface="Arial" pitchFamily="34" charset="0"/>
              </a:rPr>
              <a:t>kernel</a:t>
            </a:r>
            <a:endParaRPr lang="es-AR" sz="2100" dirty="0" smtClean="0">
              <a:latin typeface="Arial" pitchFamily="34" charset="0"/>
              <a:cs typeface="Arial" pitchFamily="34" charset="0"/>
            </a:endParaRPr>
          </a:p>
          <a:p>
            <a:pPr>
              <a:lnSpc>
                <a:spcPct val="120000"/>
              </a:lnSpc>
              <a:spcBef>
                <a:spcPts val="600"/>
              </a:spcBef>
            </a:pPr>
            <a:r>
              <a:rPr lang="es-AR" sz="2100" dirty="0" smtClean="0">
                <a:latin typeface="Arial" pitchFamily="34" charset="0"/>
                <a:cs typeface="Arial" pitchFamily="34" charset="0"/>
              </a:rPr>
              <a:t>Confiabilidad, ya que organiza procesos indiferentes al S.O. como procesos de nivel usuario.</a:t>
            </a:r>
          </a:p>
          <a:p>
            <a:pPr>
              <a:lnSpc>
                <a:spcPct val="120000"/>
              </a:lnSpc>
              <a:spcBef>
                <a:spcPts val="600"/>
              </a:spcBef>
            </a:pPr>
            <a:r>
              <a:rPr lang="es-AR" sz="2100" dirty="0" smtClean="0">
                <a:latin typeface="Arial" pitchFamily="34" charset="0"/>
                <a:cs typeface="Arial" pitchFamily="34" charset="0"/>
              </a:rPr>
              <a:t>Seguridad,  aísla los servicios del sistema ante el usuario.</a:t>
            </a:r>
          </a:p>
          <a:p>
            <a:pPr>
              <a:lnSpc>
                <a:spcPct val="120000"/>
              </a:lnSpc>
              <a:spcBef>
                <a:spcPts val="600"/>
              </a:spcBef>
            </a:pPr>
            <a:r>
              <a:rPr lang="es-AR" sz="2100" dirty="0" smtClean="0">
                <a:latin typeface="Arial" pitchFamily="34" charset="0"/>
                <a:cs typeface="Arial" pitchFamily="34" charset="0"/>
              </a:rPr>
              <a:t>Extensibilidad: se pueden agregar funciones en modo usuario.</a:t>
            </a:r>
          </a:p>
          <a:p>
            <a:pPr>
              <a:lnSpc>
                <a:spcPct val="120000"/>
              </a:lnSpc>
              <a:spcBef>
                <a:spcPts val="600"/>
              </a:spcBef>
            </a:pPr>
            <a:r>
              <a:rPr lang="es-AR" sz="2100" dirty="0" smtClean="0">
                <a:latin typeface="Arial" pitchFamily="34" charset="0"/>
                <a:cs typeface="Arial" pitchFamily="34" charset="0"/>
              </a:rPr>
              <a:t>Reduce la complejidad (Simplicidad)  Descentralización de los fallos. </a:t>
            </a:r>
          </a:p>
          <a:p>
            <a:pPr>
              <a:lnSpc>
                <a:spcPct val="120000"/>
              </a:lnSpc>
              <a:spcBef>
                <a:spcPts val="600"/>
              </a:spcBef>
            </a:pPr>
            <a:endParaRPr lang="es-AR" sz="2100" dirty="0" smtClean="0">
              <a:latin typeface="Arial" pitchFamily="34" charset="0"/>
              <a:cs typeface="Arial" pitchFamily="34" charset="0"/>
            </a:endParaRPr>
          </a:p>
          <a:p>
            <a:pPr>
              <a:lnSpc>
                <a:spcPct val="120000"/>
              </a:lnSpc>
              <a:spcBef>
                <a:spcPts val="600"/>
              </a:spcBef>
              <a:buNone/>
            </a:pPr>
            <a:r>
              <a:rPr lang="es-AR" sz="2100" b="1" dirty="0" smtClean="0">
                <a:latin typeface="Arial" pitchFamily="34" charset="0"/>
                <a:cs typeface="Arial" pitchFamily="34" charset="0"/>
              </a:rPr>
              <a:t>Desventajas</a:t>
            </a:r>
            <a:r>
              <a:rPr lang="es-AR" sz="2100" dirty="0" smtClean="0">
                <a:latin typeface="Arial" pitchFamily="34" charset="0"/>
                <a:cs typeface="Arial" pitchFamily="34" charset="0"/>
              </a:rPr>
              <a:t>:</a:t>
            </a:r>
          </a:p>
          <a:p>
            <a:pPr>
              <a:lnSpc>
                <a:spcPct val="120000"/>
              </a:lnSpc>
              <a:spcBef>
                <a:spcPts val="600"/>
              </a:spcBef>
            </a:pPr>
            <a:r>
              <a:rPr lang="es-AR" sz="2100" dirty="0" smtClean="0">
                <a:latin typeface="Arial" pitchFamily="34" charset="0"/>
                <a:cs typeface="Arial" pitchFamily="34" charset="0"/>
              </a:rPr>
              <a:t>Performance: bajo rendimiento, debido que la comunicación es a través de mensajes que no es eficiente como son las llamadas al sistema. </a:t>
            </a:r>
          </a:p>
          <a:p>
            <a:pPr>
              <a:lnSpc>
                <a:spcPct val="120000"/>
              </a:lnSpc>
              <a:spcBef>
                <a:spcPts val="600"/>
              </a:spcBef>
            </a:pPr>
            <a:r>
              <a:rPr lang="es-AR" sz="2100" dirty="0" smtClean="0">
                <a:latin typeface="Arial" pitchFamily="34" charset="0"/>
                <a:cs typeface="Arial" pitchFamily="34" charset="0"/>
              </a:rPr>
              <a:t>Bajo desempeño debido a las llamadas primitivas al sistema</a:t>
            </a:r>
          </a:p>
          <a:p>
            <a:pPr>
              <a:lnSpc>
                <a:spcPct val="120000"/>
              </a:lnSpc>
              <a:spcBef>
                <a:spcPts val="600"/>
              </a:spcBef>
            </a:pPr>
            <a:r>
              <a:rPr lang="es-AR" sz="2100" dirty="0" smtClean="0">
                <a:latin typeface="Arial" pitchFamily="34" charset="0"/>
                <a:cs typeface="Arial" pitchFamily="34" charset="0"/>
              </a:rPr>
              <a:t>Complejidad en la sincronización modular.</a:t>
            </a:r>
          </a:p>
          <a:p>
            <a:pPr eaLnBrk="1" hangingPunct="1">
              <a:lnSpc>
                <a:spcPct val="80000"/>
              </a:lnSpc>
              <a:buFontTx/>
              <a:buNone/>
            </a:pPr>
            <a:endParaRPr lang="es-ES_tradnl" dirty="0" smtClean="0">
              <a:solidFill>
                <a:srgbClr val="969696"/>
              </a:solidFill>
            </a:endParaRPr>
          </a:p>
          <a:p>
            <a:pPr eaLnBrk="1" hangingPunct="1">
              <a:lnSpc>
                <a:spcPct val="80000"/>
              </a:lnSpc>
              <a:buFontTx/>
              <a:buNone/>
            </a:pPr>
            <a:endParaRPr lang="es-ES_tradnl" sz="2800" dirty="0" smtClean="0">
              <a:solidFill>
                <a:srgbClr val="C0C0C0"/>
              </a:solidFill>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19</a:t>
            </a:fld>
            <a:endParaRPr lang="en-US"/>
          </a:p>
        </p:txBody>
      </p:sp>
      <p:sp>
        <p:nvSpPr>
          <p:cNvPr id="9" name="Rectangle 3"/>
          <p:cNvSpPr txBox="1">
            <a:spLocks noChangeArrowheads="1"/>
          </p:cNvSpPr>
          <p:nvPr/>
        </p:nvSpPr>
        <p:spPr>
          <a:xfrm>
            <a:off x="9144001" y="444500"/>
            <a:ext cx="3365500" cy="6248400"/>
          </a:xfrm>
          <a:prstGeom prst="rect">
            <a:avLst/>
          </a:prstGeom>
        </p:spPr>
        <p:txBody>
          <a:bodyPr vert="horz" lIns="91440" tIns="45720" rIns="91440" bIns="45720" rtlCol="0">
            <a:normAutofit fontScale="55000" lnSpcReduction="20000"/>
          </a:bodyPr>
          <a:lstStyle/>
          <a:p>
            <a:pPr marL="342900" lvl="0" indent="-342900" algn="l" fontAlgn="auto">
              <a:lnSpc>
                <a:spcPct val="120000"/>
              </a:lnSpc>
              <a:spcBef>
                <a:spcPts val="600"/>
              </a:spcBef>
              <a:spcAft>
                <a:spcPts val="0"/>
              </a:spcAft>
            </a:pPr>
            <a:r>
              <a:rPr lang="es-AR" dirty="0" smtClean="0">
                <a:solidFill>
                  <a:schemeClr val="tx1"/>
                </a:solidFill>
                <a:latin typeface="+mn-lt"/>
              </a:rPr>
              <a:t>Esta estructura tiene en particular que las funciones centrales son controladas por un núcleo que es llamado </a:t>
            </a:r>
            <a:r>
              <a:rPr lang="es-AR" dirty="0" err="1" smtClean="0">
                <a:solidFill>
                  <a:schemeClr val="tx1"/>
                </a:solidFill>
                <a:latin typeface="+mn-lt"/>
              </a:rPr>
              <a:t>kernel</a:t>
            </a:r>
            <a:r>
              <a:rPr lang="es-AR" dirty="0" smtClean="0">
                <a:solidFill>
                  <a:schemeClr val="tx1"/>
                </a:solidFill>
                <a:latin typeface="+mn-lt"/>
              </a:rPr>
              <a:t> quien interactúa directamente con el hardware y la interfaz del usuario es controlada por el llamado entorno </a:t>
            </a:r>
            <a:r>
              <a:rPr lang="es-AR" dirty="0" err="1" smtClean="0">
                <a:solidFill>
                  <a:schemeClr val="tx1"/>
                </a:solidFill>
                <a:latin typeface="+mn-lt"/>
              </a:rPr>
              <a:t>shell</a:t>
            </a:r>
            <a:r>
              <a:rPr lang="es-AR" dirty="0" smtClean="0">
                <a:solidFill>
                  <a:schemeClr val="tx1"/>
                </a:solidFill>
                <a:latin typeface="+mn-lt"/>
              </a:rPr>
              <a:t>.</a:t>
            </a:r>
          </a:p>
          <a:p>
            <a:pPr marL="342900" lvl="0" indent="-342900" algn="l" fontAlgn="auto">
              <a:lnSpc>
                <a:spcPct val="120000"/>
              </a:lnSpc>
              <a:spcBef>
                <a:spcPts val="600"/>
              </a:spcBef>
              <a:spcAft>
                <a:spcPts val="0"/>
              </a:spcAft>
            </a:pPr>
            <a:endParaRPr lang="es-AR" dirty="0" smtClean="0">
              <a:solidFill>
                <a:schemeClr val="tx1"/>
              </a:solidFill>
              <a:latin typeface="+mn-lt"/>
            </a:endParaRPr>
          </a:p>
          <a:p>
            <a:pPr marL="342900" lvl="0" indent="-342900" algn="l" fontAlgn="auto">
              <a:lnSpc>
                <a:spcPct val="120000"/>
              </a:lnSpc>
              <a:spcBef>
                <a:spcPts val="600"/>
              </a:spcBef>
              <a:spcAft>
                <a:spcPts val="0"/>
              </a:spcAft>
            </a:pPr>
            <a:r>
              <a:rPr lang="es-AR" dirty="0" smtClean="0">
                <a:solidFill>
                  <a:schemeClr val="tx1"/>
                </a:solidFill>
                <a:latin typeface="+mn-lt"/>
              </a:rPr>
              <a:t>El </a:t>
            </a:r>
            <a:r>
              <a:rPr lang="es-AR" dirty="0" err="1" smtClean="0">
                <a:solidFill>
                  <a:schemeClr val="tx1"/>
                </a:solidFill>
                <a:latin typeface="+mn-lt"/>
              </a:rPr>
              <a:t>microkernel</a:t>
            </a:r>
            <a:r>
              <a:rPr lang="es-AR" dirty="0" smtClean="0">
                <a:solidFill>
                  <a:schemeClr val="tx1"/>
                </a:solidFill>
                <a:latin typeface="+mn-lt"/>
              </a:rPr>
              <a:t> implementa servicios </a:t>
            </a:r>
            <a:r>
              <a:rPr lang="es-AR" dirty="0" err="1" smtClean="0">
                <a:solidFill>
                  <a:schemeClr val="tx1"/>
                </a:solidFill>
                <a:latin typeface="+mn-lt"/>
              </a:rPr>
              <a:t>átomicos</a:t>
            </a:r>
            <a:r>
              <a:rPr lang="es-AR" dirty="0" smtClean="0">
                <a:solidFill>
                  <a:schemeClr val="tx1"/>
                </a:solidFill>
                <a:latin typeface="+mn-lt"/>
              </a:rPr>
              <a:t>, a los que nos referimos como mecanismos. Estos mecanismos sirven como base fundamental para funcionalidades más complejas, llamadas políticas. La comunicación en el sistema es por medio de mensajes a diferencia del resto de sistemas operativos que trabajan por medio de llamadas a sistema.</a:t>
            </a:r>
          </a:p>
          <a:p>
            <a:pPr marL="342900" lvl="0" indent="-342900" algn="l" fontAlgn="auto">
              <a:lnSpc>
                <a:spcPct val="120000"/>
              </a:lnSpc>
              <a:spcBef>
                <a:spcPts val="600"/>
              </a:spcBef>
              <a:spcAft>
                <a:spcPts val="0"/>
              </a:spcAft>
            </a:pPr>
            <a:endParaRPr lang="es-AR" dirty="0" smtClean="0">
              <a:solidFill>
                <a:schemeClr val="tx1"/>
              </a:solidFill>
              <a:latin typeface="+mn-lt"/>
            </a:endParaRPr>
          </a:p>
          <a:p>
            <a:pPr marL="342900" lvl="0" indent="-342900" algn="l" fontAlgn="auto">
              <a:lnSpc>
                <a:spcPct val="120000"/>
              </a:lnSpc>
              <a:spcBef>
                <a:spcPts val="600"/>
              </a:spcBef>
              <a:spcAft>
                <a:spcPts val="0"/>
              </a:spcAft>
            </a:pPr>
            <a:r>
              <a:rPr lang="es-AR" dirty="0" smtClean="0">
                <a:solidFill>
                  <a:schemeClr val="tx1"/>
                </a:solidFill>
                <a:latin typeface="+mn-lt"/>
              </a:rPr>
              <a:t>La arquitectura de </a:t>
            </a:r>
            <a:r>
              <a:rPr lang="es-AR" dirty="0" err="1" smtClean="0">
                <a:solidFill>
                  <a:schemeClr val="tx1"/>
                </a:solidFill>
                <a:latin typeface="+mn-lt"/>
              </a:rPr>
              <a:t>microkernel</a:t>
            </a:r>
            <a:r>
              <a:rPr lang="es-AR" dirty="0" smtClean="0">
                <a:solidFill>
                  <a:schemeClr val="tx1"/>
                </a:solidFill>
                <a:latin typeface="+mn-lt"/>
              </a:rPr>
              <a:t> es complejo, sofisticado pero mas centrado en su que hacer para el SO</a:t>
            </a:r>
            <a:r>
              <a:rPr lang="es-AR" b="1" dirty="0" smtClean="0">
                <a:solidFill>
                  <a:schemeClr val="tx1"/>
                </a:solidFill>
                <a:latin typeface="+mn-lt"/>
              </a:rPr>
              <a:t>, toda acción pasa por el </a:t>
            </a:r>
            <a:r>
              <a:rPr lang="es-AR" b="1" dirty="0" err="1" smtClean="0">
                <a:solidFill>
                  <a:schemeClr val="tx1"/>
                </a:solidFill>
                <a:latin typeface="+mn-lt"/>
              </a:rPr>
              <a:t>microkernel</a:t>
            </a:r>
            <a:r>
              <a:rPr lang="es-AR" b="1" dirty="0" smtClean="0">
                <a:solidFill>
                  <a:schemeClr val="tx1"/>
                </a:solidFill>
                <a:latin typeface="+mn-lt"/>
              </a:rPr>
              <a:t>, lo cual hace a un SO mas seguro que uno SO con arquitectura </a:t>
            </a:r>
            <a:r>
              <a:rPr lang="es-AR" b="1" dirty="0" err="1" smtClean="0">
                <a:solidFill>
                  <a:schemeClr val="tx1"/>
                </a:solidFill>
                <a:latin typeface="+mn-lt"/>
              </a:rPr>
              <a:t>kernel</a:t>
            </a:r>
            <a:r>
              <a:rPr lang="es-AR" b="1" dirty="0" smtClean="0">
                <a:solidFill>
                  <a:schemeClr val="tx1"/>
                </a:solidFill>
                <a:latin typeface="+mn-lt"/>
              </a:rPr>
              <a:t> monolítico, ya que si el que solicita hacer la acción no posee los permisos necesarios el </a:t>
            </a:r>
            <a:r>
              <a:rPr lang="es-AR" b="1" dirty="0" err="1" smtClean="0">
                <a:solidFill>
                  <a:schemeClr val="tx1"/>
                </a:solidFill>
                <a:latin typeface="+mn-lt"/>
              </a:rPr>
              <a:t>microkernel</a:t>
            </a:r>
            <a:r>
              <a:rPr lang="es-AR" b="1" dirty="0" smtClean="0">
                <a:solidFill>
                  <a:schemeClr val="tx1"/>
                </a:solidFill>
                <a:latin typeface="+mn-lt"/>
              </a:rPr>
              <a:t> no lo deja hacer nada.</a:t>
            </a:r>
            <a:endParaRPr kumimoji="0" lang="es-ES_tradnl" sz="3200" b="1" i="0" u="none" strike="noStrike" kern="1200" cap="none" spc="0" normalizeH="0" baseline="0" noProof="0" dirty="0" smtClean="0">
              <a:ln>
                <a:noFill/>
              </a:ln>
              <a:solidFill>
                <a:srgbClr val="969696"/>
              </a:solidFill>
              <a:effectLst/>
              <a:uLnTx/>
              <a:uFillTx/>
              <a:latin typeface="+mn-lt"/>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s-ES_tradnl" sz="2800" b="0" i="0" u="none" strike="noStrike" kern="1200" cap="none" spc="0" normalizeH="0" baseline="0" noProof="0" dirty="0" smtClean="0">
              <a:ln>
                <a:noFill/>
              </a:ln>
              <a:solidFill>
                <a:srgbClr val="C0C0C0"/>
              </a:solidFill>
              <a:effectLst/>
              <a:uLnTx/>
              <a:uFillTx/>
              <a:latin typeface="+mn-lt"/>
              <a:ea typeface="+mn-ea"/>
              <a:cs typeface="+mn-cs"/>
            </a:endParaRPr>
          </a:p>
        </p:txBody>
      </p:sp>
      <p:sp>
        <p:nvSpPr>
          <p:cNvPr id="7"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Arquitectura de los SO</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661988" y="1249363"/>
            <a:ext cx="8016875" cy="4729162"/>
          </a:xfrm>
        </p:spPr>
        <p:txBody>
          <a:bodyPr/>
          <a:lstStyle/>
          <a:p>
            <a:pPr>
              <a:lnSpc>
                <a:spcPct val="80000"/>
              </a:lnSpc>
            </a:pPr>
            <a:r>
              <a:rPr lang="es-ES_tradnl" sz="2800" b="1" dirty="0" smtClean="0">
                <a:solidFill>
                  <a:schemeClr val="accent2">
                    <a:lumMod val="75000"/>
                  </a:schemeClr>
                </a:solidFill>
                <a:latin typeface="Arial Unicode MS"/>
                <a:ea typeface="Arial Unicode MS"/>
                <a:cs typeface="Arial Unicode MS"/>
              </a:rPr>
              <a:t>Arquitectura de capas o Jerárquica</a:t>
            </a:r>
          </a:p>
          <a:p>
            <a:pPr>
              <a:spcBef>
                <a:spcPts val="0"/>
              </a:spcBef>
              <a:buNone/>
            </a:pPr>
            <a:r>
              <a:rPr lang="es-ES" sz="2000" dirty="0" smtClean="0">
                <a:latin typeface="Arial" pitchFamily="34" charset="0"/>
                <a:cs typeface="Arial" pitchFamily="34" charset="0"/>
              </a:rPr>
              <a:t>Es una organización lógica de qué módulo va en cada una, basada en el principio de jerarquía.</a:t>
            </a:r>
          </a:p>
          <a:p>
            <a:pPr>
              <a:spcBef>
                <a:spcPts val="0"/>
              </a:spcBef>
              <a:buNone/>
            </a:pPr>
            <a:r>
              <a:rPr lang="es-AR" sz="2000" dirty="0" smtClean="0">
                <a:solidFill>
                  <a:schemeClr val="tx1"/>
                </a:solidFill>
                <a:latin typeface="Arial" pitchFamily="34" charset="0"/>
                <a:cs typeface="Arial" pitchFamily="34" charset="0"/>
              </a:rPr>
              <a:t>Una generalización del diseño de la gráfica es organizar el sistema operativo como una jerarquía de capas, cada una construida encima de la que tiene abajo. El primer sistema construido de esta forma fue el sistema </a:t>
            </a:r>
            <a:r>
              <a:rPr lang="es-AR" sz="2000" b="1" dirty="0" smtClean="0">
                <a:solidFill>
                  <a:schemeClr val="tx1"/>
                </a:solidFill>
                <a:latin typeface="Arial" pitchFamily="34" charset="0"/>
                <a:cs typeface="Arial" pitchFamily="34" charset="0"/>
              </a:rPr>
              <a:t>THE</a:t>
            </a:r>
            <a:r>
              <a:rPr lang="es-AR" sz="2000" dirty="0" smtClean="0">
                <a:solidFill>
                  <a:schemeClr val="tx1"/>
                </a:solidFill>
                <a:latin typeface="Arial" pitchFamily="34" charset="0"/>
                <a:cs typeface="Arial" pitchFamily="34" charset="0"/>
              </a:rPr>
              <a:t>, construido en </a:t>
            </a:r>
            <a:r>
              <a:rPr lang="es-AR" sz="2000" dirty="0" err="1" smtClean="0">
                <a:solidFill>
                  <a:schemeClr val="tx1"/>
                </a:solidFill>
                <a:latin typeface="Arial" pitchFamily="34" charset="0"/>
                <a:cs typeface="Arial" pitchFamily="34" charset="0"/>
              </a:rPr>
              <a:t>Technische</a:t>
            </a:r>
            <a:r>
              <a:rPr lang="es-AR" sz="2000" dirty="0" smtClean="0">
                <a:solidFill>
                  <a:schemeClr val="tx1"/>
                </a:solidFill>
                <a:latin typeface="Arial" pitchFamily="34" charset="0"/>
                <a:cs typeface="Arial" pitchFamily="34" charset="0"/>
              </a:rPr>
              <a:t> </a:t>
            </a:r>
            <a:r>
              <a:rPr lang="es-AR" sz="2000" dirty="0" err="1" smtClean="0">
                <a:solidFill>
                  <a:schemeClr val="tx1"/>
                </a:solidFill>
                <a:latin typeface="Arial" pitchFamily="34" charset="0"/>
                <a:cs typeface="Arial" pitchFamily="34" charset="0"/>
              </a:rPr>
              <a:t>Hogeschool</a:t>
            </a:r>
            <a:r>
              <a:rPr lang="es-AR" sz="2000" dirty="0" smtClean="0">
                <a:solidFill>
                  <a:schemeClr val="tx1"/>
                </a:solidFill>
                <a:latin typeface="Arial" pitchFamily="34" charset="0"/>
                <a:cs typeface="Arial" pitchFamily="34" charset="0"/>
              </a:rPr>
              <a:t> </a:t>
            </a:r>
            <a:r>
              <a:rPr lang="es-AR" sz="2000" dirty="0" err="1" smtClean="0">
                <a:solidFill>
                  <a:schemeClr val="tx1"/>
                </a:solidFill>
                <a:latin typeface="Arial" pitchFamily="34" charset="0"/>
                <a:cs typeface="Arial" pitchFamily="34" charset="0"/>
              </a:rPr>
              <a:t>Eindhoven</a:t>
            </a:r>
            <a:r>
              <a:rPr lang="es-AR" sz="2000" dirty="0" smtClean="0">
                <a:solidFill>
                  <a:schemeClr val="tx1"/>
                </a:solidFill>
                <a:latin typeface="Arial" pitchFamily="34" charset="0"/>
                <a:cs typeface="Arial" pitchFamily="34" charset="0"/>
              </a:rPr>
              <a:t>. Tenía 6 capas</a:t>
            </a:r>
          </a:p>
          <a:p>
            <a:pPr>
              <a:lnSpc>
                <a:spcPct val="80000"/>
              </a:lnSpc>
              <a:buNone/>
            </a:pPr>
            <a:endParaRPr lang="es-ES_tradnl" sz="2000" dirty="0" smtClean="0">
              <a:solidFill>
                <a:schemeClr val="tx1"/>
              </a:solidFill>
              <a:latin typeface="Arial" pitchFamily="34" charset="0"/>
              <a:cs typeface="Arial" pitchFamily="34" charset="0"/>
            </a:endParaRPr>
          </a:p>
          <a:p>
            <a:pPr eaLnBrk="1" hangingPunct="1">
              <a:lnSpc>
                <a:spcPct val="80000"/>
              </a:lnSpc>
              <a:buFontTx/>
              <a:buNone/>
            </a:pPr>
            <a:endParaRPr lang="es-ES_tradnl" dirty="0" smtClean="0">
              <a:solidFill>
                <a:srgbClr val="969696"/>
              </a:solidFill>
            </a:endParaRPr>
          </a:p>
          <a:p>
            <a:pPr eaLnBrk="1" hangingPunct="1">
              <a:lnSpc>
                <a:spcPct val="80000"/>
              </a:lnSpc>
              <a:buFontTx/>
              <a:buNone/>
            </a:pPr>
            <a:endParaRPr lang="es-ES_tradnl" sz="2800" dirty="0" smtClean="0">
              <a:solidFill>
                <a:srgbClr val="C0C0C0"/>
              </a:solidFill>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20</a:t>
            </a:fld>
            <a:endParaRPr lang="en-US"/>
          </a:p>
        </p:txBody>
      </p:sp>
      <p:pic>
        <p:nvPicPr>
          <p:cNvPr id="173059" name="Picture 3"/>
          <p:cNvPicPr>
            <a:picLocks noChangeAspect="1" noChangeArrowheads="1"/>
          </p:cNvPicPr>
          <p:nvPr/>
        </p:nvPicPr>
        <p:blipFill>
          <a:blip r:embed="rId3" cstate="print"/>
          <a:srcRect/>
          <a:stretch>
            <a:fillRect/>
          </a:stretch>
        </p:blipFill>
        <p:spPr bwMode="auto">
          <a:xfrm>
            <a:off x="1993899" y="3829050"/>
            <a:ext cx="5400188" cy="2717800"/>
          </a:xfrm>
          <a:prstGeom prst="rect">
            <a:avLst/>
          </a:prstGeom>
          <a:noFill/>
          <a:ln w="9525" cap="flat" cmpd="sng" algn="ctr">
            <a:noFill/>
            <a:prstDash val="solid"/>
            <a:miter lim="800000"/>
            <a:headEnd type="none" w="med" len="med"/>
            <a:tailEnd type="none" w="med" len="lg"/>
          </a:ln>
        </p:spPr>
      </p:pic>
      <p:sp>
        <p:nvSpPr>
          <p:cNvPr id="7"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Arquitectura de los SO</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3619500" y="1104900"/>
            <a:ext cx="5524500" cy="5791199"/>
          </a:xfrm>
        </p:spPr>
        <p:txBody>
          <a:bodyPr>
            <a:normAutofit fontScale="62500" lnSpcReduction="20000"/>
          </a:bodyPr>
          <a:lstStyle/>
          <a:p>
            <a:r>
              <a:rPr lang="es-AR" b="1" dirty="0"/>
              <a:t>Nivel 1 Gestión del procesador: </a:t>
            </a:r>
            <a:r>
              <a:rPr lang="es-AR" dirty="0"/>
              <a:t>es este nivel se encuentra </a:t>
            </a:r>
            <a:r>
              <a:rPr lang="es-AR" dirty="0" smtClean="0"/>
              <a:t>el </a:t>
            </a:r>
            <a:r>
              <a:rPr lang="es-AR" dirty="0" err="1" smtClean="0"/>
              <a:t>kernel</a:t>
            </a:r>
            <a:r>
              <a:rPr lang="es-AR" dirty="0" smtClean="0"/>
              <a:t> o núcleo</a:t>
            </a:r>
            <a:r>
              <a:rPr lang="es-AR" dirty="0"/>
              <a:t>. </a:t>
            </a:r>
            <a:r>
              <a:rPr lang="es-AR" dirty="0" smtClean="0"/>
              <a:t>Es </a:t>
            </a:r>
            <a:r>
              <a:rPr lang="es-AR" dirty="0"/>
              <a:t>la parte del sistema operativo encargada de la gestión de la </a:t>
            </a:r>
            <a:r>
              <a:rPr lang="es-AR" dirty="0" smtClean="0"/>
              <a:t>CPU, comunicación y conmutación entre procesos, cambia de contexto entre procesos, controla las interrupciones y maneja condiciones de error.</a:t>
            </a:r>
            <a:endParaRPr lang="es-AR" dirty="0"/>
          </a:p>
          <a:p>
            <a:r>
              <a:rPr lang="es-AR" b="1" dirty="0"/>
              <a:t>Nivel 2 </a:t>
            </a:r>
            <a:r>
              <a:rPr lang="es-AR" b="1" dirty="0" smtClean="0"/>
              <a:t>Gestión </a:t>
            </a:r>
            <a:r>
              <a:rPr lang="es-AR" b="1" dirty="0"/>
              <a:t>de memoria:</a:t>
            </a:r>
            <a:r>
              <a:rPr lang="es-AR" dirty="0"/>
              <a:t> este nivel es el encargado de </a:t>
            </a:r>
            <a:r>
              <a:rPr lang="es-AR" dirty="0" smtClean="0"/>
              <a:t>repartir </a:t>
            </a:r>
            <a:r>
              <a:rPr lang="es-AR" dirty="0"/>
              <a:t>la memoria disponible entre los procesos.</a:t>
            </a:r>
          </a:p>
          <a:p>
            <a:r>
              <a:rPr lang="es-AR" b="1" dirty="0"/>
              <a:t>Nivel 3 Gestión de procesos: </a:t>
            </a:r>
            <a:r>
              <a:rPr lang="es-AR" dirty="0"/>
              <a:t>Este nivel es el de la creación y destrucción de los procesos, intercambio de </a:t>
            </a:r>
            <a:r>
              <a:rPr lang="es-AR" dirty="0" smtClean="0"/>
              <a:t>mensajes </a:t>
            </a:r>
            <a:r>
              <a:rPr lang="es-AR" dirty="0"/>
              <a:t>y detección y arranque de los mismos.</a:t>
            </a:r>
          </a:p>
          <a:p>
            <a:r>
              <a:rPr lang="es-AR" b="1" dirty="0"/>
              <a:t>Nivel 4 </a:t>
            </a:r>
            <a:r>
              <a:rPr lang="es-AR" b="1" dirty="0" smtClean="0"/>
              <a:t>Gestión </a:t>
            </a:r>
            <a:r>
              <a:rPr lang="es-AR" b="1" dirty="0"/>
              <a:t>de dispositivos:</a:t>
            </a:r>
            <a:r>
              <a:rPr lang="es-AR" dirty="0"/>
              <a:t> en este nivel se realiza la gestión de las entradas/salidas (E/S) en función de los dispositivos existentes.</a:t>
            </a:r>
          </a:p>
          <a:p>
            <a:r>
              <a:rPr lang="es-AR" b="1" dirty="0"/>
              <a:t>Nivel 5 Gestión de la Información:</a:t>
            </a:r>
            <a:r>
              <a:rPr lang="es-AR" dirty="0"/>
              <a:t> el objetivo de este nivel es el de gestionar el espacio de nombre </a:t>
            </a:r>
            <a:r>
              <a:rPr lang="es-AR" dirty="0" smtClean="0"/>
              <a:t>lógico, </a:t>
            </a:r>
            <a:r>
              <a:rPr lang="es-AR" dirty="0"/>
              <a:t>utilizados para simplificar el acceso a los recursos.</a:t>
            </a:r>
          </a:p>
          <a:p>
            <a:pPr eaLnBrk="1" hangingPunct="1">
              <a:lnSpc>
                <a:spcPct val="80000"/>
              </a:lnSpc>
              <a:buFontTx/>
              <a:buNone/>
            </a:pPr>
            <a:endParaRPr lang="es-ES_tradnl" dirty="0" smtClean="0">
              <a:solidFill>
                <a:srgbClr val="969696"/>
              </a:solidFill>
            </a:endParaRPr>
          </a:p>
          <a:p>
            <a:pPr eaLnBrk="1" hangingPunct="1">
              <a:lnSpc>
                <a:spcPct val="80000"/>
              </a:lnSpc>
              <a:buFontTx/>
              <a:buNone/>
            </a:pPr>
            <a:endParaRPr lang="es-ES_tradnl" sz="2800" dirty="0" smtClean="0">
              <a:solidFill>
                <a:srgbClr val="C0C0C0"/>
              </a:solidFill>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21</a:t>
            </a:fld>
            <a:endParaRPr lang="en-US"/>
          </a:p>
        </p:txBody>
      </p:sp>
      <p:sp>
        <p:nvSpPr>
          <p:cNvPr id="8" name="1 Título"/>
          <p:cNvSpPr>
            <a:spLocks noGrp="1"/>
          </p:cNvSpPr>
          <p:nvPr>
            <p:ph type="title"/>
          </p:nvPr>
        </p:nvSpPr>
        <p:spPr>
          <a:xfrm>
            <a:off x="165100" y="173038"/>
            <a:ext cx="8229600" cy="833726"/>
          </a:xfrm>
        </p:spPr>
        <p:txBody>
          <a:bodyPr>
            <a:noAutofit/>
          </a:bodyPr>
          <a:lstStyle/>
          <a:p>
            <a:r>
              <a:rPr lang="es-AR" sz="2800" dirty="0" smtClean="0">
                <a:solidFill>
                  <a:srgbClr val="C00000"/>
                </a:solidFill>
              </a:rPr>
              <a:t>Descripción de capas (anillos</a:t>
            </a:r>
            <a:r>
              <a:rPr lang="es-AR" sz="3200" dirty="0" smtClean="0">
                <a:solidFill>
                  <a:srgbClr val="C00000"/>
                </a:solidFill>
              </a:rPr>
              <a:t>)</a:t>
            </a:r>
            <a:endParaRPr lang="es-AR" sz="6000" dirty="0">
              <a:solidFill>
                <a:srgbClr val="C00000"/>
              </a:solidFill>
              <a:latin typeface="+mn-lt"/>
              <a:cs typeface="Arial" pitchFamily="34" charset="0"/>
            </a:endParaRPr>
          </a:p>
        </p:txBody>
      </p:sp>
      <p:pic>
        <p:nvPicPr>
          <p:cNvPr id="5" name="Picture 5" descr="Resultado de imagen para estructura de capas"/>
          <p:cNvPicPr>
            <a:picLocks noChangeAspect="1" noChangeArrowheads="1"/>
          </p:cNvPicPr>
          <p:nvPr/>
        </p:nvPicPr>
        <p:blipFill>
          <a:blip r:embed="rId3" cstate="print"/>
          <a:srcRect/>
          <a:stretch>
            <a:fillRect/>
          </a:stretch>
        </p:blipFill>
        <p:spPr bwMode="auto">
          <a:xfrm>
            <a:off x="0" y="3479800"/>
            <a:ext cx="3531218" cy="3378200"/>
          </a:xfrm>
          <a:prstGeom prst="rect">
            <a:avLst/>
          </a:prstGeom>
          <a:ln>
            <a:noFill/>
          </a:ln>
          <a:effectLst>
            <a:outerShdw blurRad="292100" dist="139700" dir="2700000" algn="tl" rotWithShape="0">
              <a:srgbClr val="333333">
                <a:alpha val="65000"/>
              </a:srgbClr>
            </a:outerShdw>
          </a:effectLst>
        </p:spPr>
      </p:pic>
      <p:sp>
        <p:nvSpPr>
          <p:cNvPr id="6" name="5 CuadroTexto"/>
          <p:cNvSpPr txBox="1"/>
          <p:nvPr/>
        </p:nvSpPr>
        <p:spPr>
          <a:xfrm>
            <a:off x="228600" y="1130300"/>
            <a:ext cx="3289300" cy="2308324"/>
          </a:xfrm>
          <a:prstGeom prst="rect">
            <a:avLst/>
          </a:prstGeom>
          <a:noFill/>
        </p:spPr>
        <p:txBody>
          <a:bodyPr wrap="square" rtlCol="0">
            <a:spAutoFit/>
          </a:bodyPr>
          <a:lstStyle/>
          <a:p>
            <a:pPr algn="l"/>
            <a:r>
              <a:rPr lang="es-AR" sz="1800" dirty="0" smtClean="0">
                <a:solidFill>
                  <a:schemeClr val="tx1"/>
                </a:solidFill>
                <a:latin typeface="Arial" pitchFamily="34" charset="0"/>
                <a:cs typeface="Arial" pitchFamily="34" charset="0"/>
              </a:rPr>
              <a:t>La capa n puede utilizar los servicios de la n-1. Cada capa ofrece una interfaz clara y bien definida a la capa superior y solamente utiliza los servicios que le ofrece la capa inferior.</a:t>
            </a:r>
          </a:p>
          <a:p>
            <a:pPr algn="l"/>
            <a:endParaRPr lang="es-AR" sz="1800" dirty="0">
              <a:solidFill>
                <a:schemeClr val="tx1"/>
              </a:solidFill>
              <a:latin typeface="Arial" pitchFamily="34" charset="0"/>
              <a:cs typeface="Arial" pitchFamily="34" charset="0"/>
            </a:endParaRPr>
          </a:p>
        </p:txBody>
      </p:sp>
      <p:sp>
        <p:nvSpPr>
          <p:cNvPr id="7" name="6 Rectángulo"/>
          <p:cNvSpPr/>
          <p:nvPr/>
        </p:nvSpPr>
        <p:spPr>
          <a:xfrm>
            <a:off x="9182100" y="58341"/>
            <a:ext cx="4572000" cy="6771084"/>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l"/>
            <a:r>
              <a:rPr lang="es-ES" sz="1400" b="1" dirty="0" smtClean="0">
                <a:solidFill>
                  <a:schemeClr val="tx1"/>
                </a:solidFill>
                <a:latin typeface="+mn-lt"/>
              </a:rPr>
              <a:t>¿Qué significa cada nivel?</a:t>
            </a:r>
          </a:p>
          <a:p>
            <a:pPr algn="l">
              <a:buFont typeface="Arial" pitchFamily="34" charset="0"/>
              <a:buChar char="•"/>
            </a:pPr>
            <a:r>
              <a:rPr lang="es-ES" sz="1400" b="1" dirty="0" smtClean="0">
                <a:solidFill>
                  <a:schemeClr val="tx1"/>
                </a:solidFill>
                <a:latin typeface="+mn-lt"/>
              </a:rPr>
              <a:t>En esta arquitectura, las reglas son estrictas: el Nivel 2 no puede hablar directamente con el hardware sin pasar por el Nivel 1.</a:t>
            </a:r>
          </a:p>
          <a:p>
            <a:pPr algn="l"/>
            <a:endParaRPr lang="es-ES" sz="1400" b="1" dirty="0" smtClean="0">
              <a:solidFill>
                <a:schemeClr val="tx1"/>
              </a:solidFill>
              <a:latin typeface="+mn-lt"/>
            </a:endParaRPr>
          </a:p>
          <a:p>
            <a:pPr algn="l">
              <a:buFont typeface="Arial" pitchFamily="34" charset="0"/>
              <a:buChar char="•"/>
            </a:pPr>
            <a:r>
              <a:rPr lang="es-ES" sz="1400" b="1" dirty="0" smtClean="0">
                <a:solidFill>
                  <a:schemeClr val="tx1"/>
                </a:solidFill>
                <a:latin typeface="+mn-lt"/>
              </a:rPr>
              <a:t>Nivel 1 (Gestión del procesador): Es la base de todo. Si este nivel falla, nada más funciona. Maneja el "latido" del CPU.</a:t>
            </a:r>
          </a:p>
          <a:p>
            <a:pPr algn="l">
              <a:buFont typeface="Arial" pitchFamily="34" charset="0"/>
              <a:buChar char="•"/>
            </a:pPr>
            <a:endParaRPr lang="es-ES" sz="1400" b="1" dirty="0" smtClean="0">
              <a:solidFill>
                <a:schemeClr val="tx1"/>
              </a:solidFill>
              <a:latin typeface="+mn-lt"/>
            </a:endParaRPr>
          </a:p>
          <a:p>
            <a:pPr algn="l">
              <a:buFont typeface="Arial" pitchFamily="34" charset="0"/>
              <a:buChar char="•"/>
            </a:pPr>
            <a:r>
              <a:rPr lang="es-ES" sz="1400" b="1" dirty="0" smtClean="0">
                <a:solidFill>
                  <a:schemeClr val="tx1"/>
                </a:solidFill>
                <a:latin typeface="+mn-lt"/>
              </a:rPr>
              <a:t>Nivel 2 (Gestión de memoria): Se apoya en el nivel 1 para decidir qué proceso tiene permiso de usar qué pedazo de RAM.</a:t>
            </a:r>
          </a:p>
          <a:p>
            <a:pPr algn="l"/>
            <a:endParaRPr lang="es-ES" sz="1400" b="1" dirty="0" smtClean="0">
              <a:solidFill>
                <a:schemeClr val="tx1"/>
              </a:solidFill>
              <a:latin typeface="+mn-lt"/>
            </a:endParaRPr>
          </a:p>
          <a:p>
            <a:pPr algn="l">
              <a:buFont typeface="Arial" pitchFamily="34" charset="0"/>
              <a:buChar char="•"/>
            </a:pPr>
            <a:r>
              <a:rPr lang="es-ES" sz="1400" b="1" dirty="0" smtClean="0">
                <a:solidFill>
                  <a:schemeClr val="tx1"/>
                </a:solidFill>
                <a:latin typeface="+mn-lt"/>
              </a:rPr>
              <a:t>Nivel 3 (Gestión de procesos): Aquí es donde se crean y destruyen tareas. Nota que está "más arriba" que la memoria, porque para crear un proceso, primero </a:t>
            </a:r>
            <a:r>
              <a:rPr lang="es-ES" sz="1400" b="1" dirty="0" err="1" smtClean="0">
                <a:solidFill>
                  <a:schemeClr val="tx1"/>
                </a:solidFill>
                <a:latin typeface="+mn-lt"/>
              </a:rPr>
              <a:t>necesitás</a:t>
            </a:r>
            <a:r>
              <a:rPr lang="es-ES" sz="1400" b="1" dirty="0" smtClean="0">
                <a:solidFill>
                  <a:schemeClr val="tx1"/>
                </a:solidFill>
                <a:latin typeface="+mn-lt"/>
              </a:rPr>
              <a:t> que el nivel 2 te dé memoria.</a:t>
            </a:r>
          </a:p>
          <a:p>
            <a:pPr algn="l"/>
            <a:endParaRPr lang="es-ES" sz="1400" b="1" dirty="0" smtClean="0">
              <a:solidFill>
                <a:schemeClr val="tx1"/>
              </a:solidFill>
              <a:latin typeface="+mn-lt"/>
            </a:endParaRPr>
          </a:p>
          <a:p>
            <a:pPr algn="l">
              <a:buFont typeface="Arial" pitchFamily="34" charset="0"/>
              <a:buChar char="•"/>
            </a:pPr>
            <a:r>
              <a:rPr lang="es-ES" sz="1400" b="1" dirty="0" smtClean="0">
                <a:solidFill>
                  <a:schemeClr val="tx1"/>
                </a:solidFill>
                <a:latin typeface="+mn-lt"/>
              </a:rPr>
              <a:t>Nivel 4 (Dispositivos): Maneja teclados, discos, pantallas.</a:t>
            </a:r>
          </a:p>
          <a:p>
            <a:pPr algn="l"/>
            <a:endParaRPr lang="es-ES" sz="1400" b="1" dirty="0" smtClean="0">
              <a:solidFill>
                <a:schemeClr val="tx1"/>
              </a:solidFill>
              <a:latin typeface="+mn-lt"/>
            </a:endParaRPr>
          </a:p>
          <a:p>
            <a:pPr algn="l">
              <a:buFont typeface="Arial" pitchFamily="34" charset="0"/>
              <a:buChar char="•"/>
            </a:pPr>
            <a:r>
              <a:rPr lang="es-ES" sz="1400" b="1" dirty="0" smtClean="0">
                <a:solidFill>
                  <a:schemeClr val="tx1"/>
                </a:solidFill>
                <a:latin typeface="+mn-lt"/>
              </a:rPr>
              <a:t>Nivel 5 (Gestión de la Información): Es lo más cercano al usuario. Aquí es donde vos ves "archivos y carpetas" (el nombre lógico), ocultando toda la complejidad de los niveles inferiores.</a:t>
            </a:r>
            <a:endParaRPr lang="es-ES" sz="1400" b="1" dirty="0" smtClean="0">
              <a:solidFill>
                <a:schemeClr val="tx1"/>
              </a:solidFill>
            </a:endParaRPr>
          </a:p>
          <a:p>
            <a:pPr algn="l">
              <a:buFont typeface="Arial" pitchFamily="34" charset="0"/>
              <a:buChar char="•"/>
            </a:pPr>
            <a:endParaRPr lang="es-AR" sz="1400" b="1" dirty="0" smtClean="0">
              <a:solidFill>
                <a:schemeClr val="tx1"/>
              </a:solidFill>
              <a:latin typeface="+mn-lt"/>
            </a:endParaRPr>
          </a:p>
          <a:p>
            <a:pPr algn="l"/>
            <a:r>
              <a:rPr lang="es-AR" sz="1400" b="1" dirty="0" smtClean="0">
                <a:solidFill>
                  <a:schemeClr val="tx1"/>
                </a:solidFill>
              </a:rPr>
              <a:t>En este modelo de diseño, la dependencia entre módulos sería:</a:t>
            </a:r>
          </a:p>
          <a:p>
            <a:pPr algn="l"/>
            <a:r>
              <a:rPr lang="es-ES" sz="1400" dirty="0" smtClean="0"/>
              <a:t>La información (N5) depende de los dispositivos (N4), los cuales dependen de que existan procesos (N3), que a su vez necesitan memoria (N2) y un procesador que los ejecute (N1)</a:t>
            </a:r>
            <a:endParaRPr lang="es-ES" sz="1400" b="1" dirty="0">
              <a:solidFill>
                <a:schemeClr val="tx1"/>
              </a:solidFill>
              <a:latin typeface="+mn-lt"/>
            </a:endParaRPr>
          </a:p>
        </p:txBody>
      </p:sp>
      <p:sp>
        <p:nvSpPr>
          <p:cNvPr id="9" name="8 Rectángulo"/>
          <p:cNvSpPr/>
          <p:nvPr/>
        </p:nvSpPr>
        <p:spPr>
          <a:xfrm>
            <a:off x="-4600575" y="29766"/>
            <a:ext cx="4572000" cy="397031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l"/>
            <a:r>
              <a:rPr lang="es-ES" sz="1400" b="1" dirty="0" smtClean="0">
                <a:solidFill>
                  <a:schemeClr val="tx1"/>
                </a:solidFill>
              </a:rPr>
              <a:t>¿La organización por capas es </a:t>
            </a:r>
            <a:r>
              <a:rPr lang="es-ES" sz="1400" b="1" dirty="0" err="1" smtClean="0">
                <a:solidFill>
                  <a:schemeClr val="tx1"/>
                </a:solidFill>
              </a:rPr>
              <a:t>Microkernel</a:t>
            </a:r>
            <a:r>
              <a:rPr lang="es-ES" sz="1400" b="1" dirty="0" smtClean="0">
                <a:solidFill>
                  <a:schemeClr val="tx1"/>
                </a:solidFill>
              </a:rPr>
              <a:t> o Monolítico?</a:t>
            </a:r>
          </a:p>
          <a:p>
            <a:pPr algn="l"/>
            <a:endParaRPr lang="es-ES" sz="1400" b="1" dirty="0" smtClean="0">
              <a:solidFill>
                <a:schemeClr val="tx1"/>
              </a:solidFill>
            </a:endParaRPr>
          </a:p>
          <a:p>
            <a:pPr algn="l"/>
            <a:r>
              <a:rPr lang="es-ES" sz="1400" b="1" dirty="0" smtClean="0">
                <a:solidFill>
                  <a:schemeClr val="tx1"/>
                </a:solidFill>
              </a:rPr>
              <a:t>Por la imagen sola, no es posible saberlo con total seguridad</a:t>
            </a:r>
            <a:r>
              <a:rPr lang="es-ES" sz="1400" dirty="0" smtClean="0">
                <a:solidFill>
                  <a:schemeClr val="tx1"/>
                </a:solidFill>
              </a:rPr>
              <a:t>, porque las capas son un "plano lógico".</a:t>
            </a:r>
          </a:p>
          <a:p>
            <a:pPr algn="l"/>
            <a:r>
              <a:rPr lang="es-ES" sz="1400" b="1" dirty="0" smtClean="0">
                <a:solidFill>
                  <a:schemeClr val="tx1"/>
                </a:solidFill>
              </a:rPr>
              <a:t>Lo más probable</a:t>
            </a:r>
            <a:r>
              <a:rPr lang="es-ES" sz="1400" dirty="0" smtClean="0">
                <a:solidFill>
                  <a:schemeClr val="tx1"/>
                </a:solidFill>
              </a:rPr>
              <a:t> es que se use para explicar un sistema </a:t>
            </a:r>
            <a:r>
              <a:rPr lang="es-ES" sz="1400" b="1" dirty="0" smtClean="0">
                <a:solidFill>
                  <a:schemeClr val="tx1"/>
                </a:solidFill>
              </a:rPr>
              <a:t>Monolítico organizado por capas.</a:t>
            </a:r>
            <a:r>
              <a:rPr lang="es-ES" sz="1400" dirty="0" smtClean="0">
                <a:solidFill>
                  <a:schemeClr val="tx1"/>
                </a:solidFill>
              </a:rPr>
              <a:t> Históricamente, este esquema se enseñaba para mostrar cómo se estructura un núcleo robusto donde todo vive en el mismo espacio de memoria, pero bien ordenado.</a:t>
            </a:r>
          </a:p>
          <a:p>
            <a:pPr algn="l"/>
            <a:r>
              <a:rPr lang="es-ES" sz="1400" b="1" dirty="0" smtClean="0">
                <a:solidFill>
                  <a:schemeClr val="tx1"/>
                </a:solidFill>
              </a:rPr>
              <a:t>Si fuera </a:t>
            </a:r>
            <a:r>
              <a:rPr lang="es-ES" sz="1400" b="1" dirty="0" err="1" smtClean="0">
                <a:solidFill>
                  <a:schemeClr val="tx1"/>
                </a:solidFill>
              </a:rPr>
              <a:t>Microkernel</a:t>
            </a:r>
            <a:r>
              <a:rPr lang="es-ES" sz="1400" b="1" dirty="0" smtClean="0">
                <a:solidFill>
                  <a:schemeClr val="tx1"/>
                </a:solidFill>
              </a:rPr>
              <a:t>:</a:t>
            </a:r>
            <a:r>
              <a:rPr lang="es-ES" sz="1400" dirty="0" smtClean="0">
                <a:solidFill>
                  <a:schemeClr val="tx1"/>
                </a:solidFill>
              </a:rPr>
              <a:t> Los niveles 2, 3, 4 y 5 serían procesos independientes (servidores) que corren fuera del núcleo,</a:t>
            </a:r>
            <a:endParaRPr lang="es-AR" sz="1400" dirty="0" smtClean="0">
              <a:solidFill>
                <a:schemeClr val="tx1"/>
              </a:solidFill>
              <a:latin typeface="+mn-lt"/>
            </a:endParaRPr>
          </a:p>
          <a:p>
            <a:pPr algn="l"/>
            <a:endParaRPr lang="es-AR" sz="1400" b="1" dirty="0" smtClean="0">
              <a:solidFill>
                <a:schemeClr val="tx1"/>
              </a:solidFill>
            </a:endParaRPr>
          </a:p>
          <a:p>
            <a:pPr algn="l"/>
            <a:r>
              <a:rPr lang="es-AR" sz="1400" b="1" dirty="0" smtClean="0">
                <a:solidFill>
                  <a:schemeClr val="tx1"/>
                </a:solidFill>
              </a:rPr>
              <a:t>En este modelo de diseño por capas (niveles), la dependencia entre módulos sería:</a:t>
            </a:r>
          </a:p>
          <a:p>
            <a:pPr algn="l"/>
            <a:r>
              <a:rPr lang="es-ES" sz="1400" dirty="0" smtClean="0"/>
              <a:t>La información (N5) depende de los dispositivos (N4), los cuales dependen de que existan procesos (N3), que a su vez necesitan memoria (N2) y un procesador que los ejecute (N1)</a:t>
            </a:r>
            <a:endParaRPr lang="es-ES" sz="1400" b="1" dirty="0">
              <a:solidFill>
                <a:schemeClr val="tx1"/>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strVal val="#ppt_w*2.5"/>
                                          </p:val>
                                        </p:tav>
                                        <p:tav tm="100000">
                                          <p:val>
                                            <p:strVal val="#ppt_w"/>
                                          </p:val>
                                        </p:tav>
                                      </p:tavLst>
                                    </p:anim>
                                    <p:anim calcmode="lin" valueType="num">
                                      <p:cBhvr>
                                        <p:cTn id="8" dur="500" fill="hold"/>
                                        <p:tgtEl>
                                          <p:spTgt spid="5"/>
                                        </p:tgtEl>
                                        <p:attrNameLst>
                                          <p:attrName>ppt_h</p:attrName>
                                        </p:attrNameLst>
                                      </p:cBhvr>
                                      <p:tavLst>
                                        <p:tav tm="0">
                                          <p:val>
                                            <p:strVal val="#ppt_h*0.01"/>
                                          </p:val>
                                        </p:tav>
                                        <p:tav tm="100000">
                                          <p:val>
                                            <p:strVal val="#ppt_h"/>
                                          </p:val>
                                        </p:tav>
                                      </p:tavLst>
                                    </p:anim>
                                    <p:anim calcmode="lin" valueType="num">
                                      <p:cBhvr>
                                        <p:cTn id="9" dur="500" fill="hold"/>
                                        <p:tgtEl>
                                          <p:spTgt spid="5"/>
                                        </p:tgtEl>
                                        <p:attrNameLst>
                                          <p:attrName>ppt_x</p:attrName>
                                        </p:attrNameLst>
                                      </p:cBhvr>
                                      <p:tavLst>
                                        <p:tav tm="0">
                                          <p:val>
                                            <p:strVal val="#ppt_x"/>
                                          </p:val>
                                        </p:tav>
                                        <p:tav tm="100000">
                                          <p:val>
                                            <p:strVal val="#ppt_x"/>
                                          </p:val>
                                        </p:tav>
                                      </p:tavLst>
                                    </p:anim>
                                    <p:anim calcmode="lin" valueType="num">
                                      <p:cBhvr>
                                        <p:cTn id="10" dur="500" fill="hold"/>
                                        <p:tgtEl>
                                          <p:spTgt spid="5"/>
                                        </p:tgtEl>
                                        <p:attrNameLst>
                                          <p:attrName>ppt_y</p:attrName>
                                        </p:attrNameLst>
                                      </p:cBhvr>
                                      <p:tavLst>
                                        <p:tav tm="0">
                                          <p:val>
                                            <p:strVal val="#ppt_h+1"/>
                                          </p:val>
                                        </p:tav>
                                        <p:tav tm="100000">
                                          <p:val>
                                            <p:strVal val="#ppt_y"/>
                                          </p:val>
                                        </p:tav>
                                      </p:tavLst>
                                    </p:anim>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814388" y="1206500"/>
            <a:ext cx="8016875" cy="5346700"/>
          </a:xfrm>
        </p:spPr>
        <p:txBody>
          <a:bodyPr>
            <a:normAutofit fontScale="70000" lnSpcReduction="20000"/>
          </a:bodyPr>
          <a:lstStyle/>
          <a:p>
            <a:pPr indent="0">
              <a:lnSpc>
                <a:spcPct val="120000"/>
              </a:lnSpc>
              <a:spcBef>
                <a:spcPts val="0"/>
              </a:spcBef>
            </a:pPr>
            <a:r>
              <a:rPr lang="es-ES_tradnl" b="1" dirty="0" smtClean="0">
                <a:latin typeface="Arial" pitchFamily="34" charset="0"/>
                <a:cs typeface="Arial" pitchFamily="34" charset="0"/>
              </a:rPr>
              <a:t>Arquitectura de capas (anillos concéntricos)</a:t>
            </a:r>
          </a:p>
          <a:p>
            <a:pPr indent="0">
              <a:lnSpc>
                <a:spcPct val="120000"/>
              </a:lnSpc>
              <a:spcBef>
                <a:spcPts val="0"/>
              </a:spcBef>
              <a:buNone/>
            </a:pPr>
            <a:endParaRPr lang="es-ES_tradnl" sz="2900" dirty="0" smtClean="0">
              <a:solidFill>
                <a:schemeClr val="tx1"/>
              </a:solidFill>
              <a:latin typeface="Arial" pitchFamily="34" charset="0"/>
              <a:cs typeface="Arial" pitchFamily="34" charset="0"/>
            </a:endParaRPr>
          </a:p>
          <a:p>
            <a:pPr indent="0">
              <a:lnSpc>
                <a:spcPct val="120000"/>
              </a:lnSpc>
              <a:spcBef>
                <a:spcPts val="0"/>
              </a:spcBef>
              <a:buNone/>
            </a:pPr>
            <a:r>
              <a:rPr lang="es-AR" sz="2900" b="1" dirty="0" smtClean="0">
                <a:latin typeface="Arial" pitchFamily="34" charset="0"/>
                <a:cs typeface="Arial" pitchFamily="34" charset="0"/>
              </a:rPr>
              <a:t>Ventajas</a:t>
            </a:r>
            <a:r>
              <a:rPr lang="es-AR" sz="2900" dirty="0" smtClean="0">
                <a:latin typeface="Arial" pitchFamily="34" charset="0"/>
                <a:cs typeface="Arial" pitchFamily="34" charset="0"/>
              </a:rPr>
              <a:t>: La principal ventaja que ofrece este tipo de estructuras es la modularidad y la ocultación de la información. Una capa no necesita conocer cómo se ha implementado la capa sobre la que se construye, únicamente necesita conocer la interfaz que ofrece. Esto facilita enormemente la depuración y verificación del sistema, puesto que las capas se pueden ir construyendo y depurando por separado.</a:t>
            </a:r>
          </a:p>
          <a:p>
            <a:pPr indent="0">
              <a:lnSpc>
                <a:spcPct val="120000"/>
              </a:lnSpc>
              <a:spcBef>
                <a:spcPts val="0"/>
              </a:spcBef>
              <a:buNone/>
            </a:pPr>
            <a:endParaRPr lang="es-AR" sz="2900" dirty="0" smtClean="0">
              <a:latin typeface="Arial" pitchFamily="34" charset="0"/>
              <a:cs typeface="Arial" pitchFamily="34" charset="0"/>
            </a:endParaRPr>
          </a:p>
          <a:p>
            <a:pPr indent="0">
              <a:lnSpc>
                <a:spcPct val="120000"/>
              </a:lnSpc>
              <a:spcBef>
                <a:spcPts val="0"/>
              </a:spcBef>
              <a:buNone/>
            </a:pPr>
            <a:r>
              <a:rPr lang="es-AR" sz="2900" b="1" dirty="0" smtClean="0">
                <a:latin typeface="Arial" pitchFamily="34" charset="0"/>
                <a:cs typeface="Arial" pitchFamily="34" charset="0"/>
              </a:rPr>
              <a:t>Desventajas</a:t>
            </a:r>
            <a:r>
              <a:rPr lang="es-AR" sz="2900" dirty="0" smtClean="0">
                <a:latin typeface="Arial" pitchFamily="34" charset="0"/>
                <a:cs typeface="Arial" pitchFamily="34" charset="0"/>
              </a:rPr>
              <a:t>: Estructura jerárquica es demasiado inflexible Sistemas reales tienen ciclos de uso. Sistema de archivos requiere de servicios de memoria virtual. Memoria virtual puede usar archivos para respaldos en discos. Bajo desempeño. Cada cruce entre niveles involucra una sobrecarga (</a:t>
            </a:r>
            <a:r>
              <a:rPr lang="es-AR" sz="2900" dirty="0" err="1" smtClean="0">
                <a:latin typeface="Arial" pitchFamily="34" charset="0"/>
                <a:cs typeface="Arial" pitchFamily="34" charset="0"/>
              </a:rPr>
              <a:t>overhead</a:t>
            </a:r>
            <a:r>
              <a:rPr lang="es-AR" sz="2900" dirty="0" smtClean="0">
                <a:latin typeface="Arial" pitchFamily="34" charset="0"/>
                <a:cs typeface="Arial" pitchFamily="34" charset="0"/>
              </a:rPr>
              <a:t>) </a:t>
            </a:r>
            <a:endParaRPr lang="es-ES_tradnl" sz="2900" dirty="0" smtClean="0">
              <a:latin typeface="Arial" pitchFamily="34" charset="0"/>
              <a:cs typeface="Arial" pitchFamily="34" charset="0"/>
            </a:endParaRPr>
          </a:p>
          <a:p>
            <a:pPr indent="0" eaLnBrk="1" hangingPunct="1">
              <a:spcBef>
                <a:spcPts val="0"/>
              </a:spcBef>
              <a:buFontTx/>
              <a:buNone/>
            </a:pPr>
            <a:endParaRPr lang="es-ES_tradnl" sz="2800" dirty="0" smtClean="0">
              <a:solidFill>
                <a:srgbClr val="C0C0C0"/>
              </a:solidFill>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22</a:t>
            </a:fld>
            <a:endParaRPr lang="en-US"/>
          </a:p>
        </p:txBody>
      </p:sp>
      <p:sp>
        <p:nvSpPr>
          <p:cNvPr id="6" name="1 Título"/>
          <p:cNvSpPr>
            <a:spLocks noGrp="1"/>
          </p:cNvSpPr>
          <p:nvPr>
            <p:ph type="title"/>
          </p:nvPr>
        </p:nvSpPr>
        <p:spPr>
          <a:xfrm>
            <a:off x="457200" y="274638"/>
            <a:ext cx="8229600" cy="833726"/>
          </a:xfrm>
        </p:spPr>
        <p:txBody>
          <a:bodyPr>
            <a:normAutofit/>
          </a:bodyPr>
          <a:lstStyle/>
          <a:p>
            <a:r>
              <a:rPr lang="es-AR" sz="4000" b="1" dirty="0" smtClean="0">
                <a:solidFill>
                  <a:schemeClr val="accent2">
                    <a:lumMod val="75000"/>
                  </a:schemeClr>
                </a:solidFill>
                <a:latin typeface="Arial Unicode MS"/>
                <a:ea typeface="Arial Unicode MS"/>
                <a:cs typeface="Arial Unicode MS"/>
              </a:rPr>
              <a:t>Arquitectura de los SO</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342901" y="1141186"/>
            <a:ext cx="8610600" cy="5346700"/>
          </a:xfrm>
        </p:spPr>
        <p:txBody>
          <a:bodyPr>
            <a:normAutofit lnSpcReduction="10000"/>
          </a:bodyPr>
          <a:lstStyle/>
          <a:p>
            <a:pPr indent="0">
              <a:lnSpc>
                <a:spcPct val="120000"/>
              </a:lnSpc>
              <a:spcBef>
                <a:spcPts val="0"/>
              </a:spcBef>
            </a:pPr>
            <a:r>
              <a:rPr lang="es-ES_tradnl" sz="2400" b="1" dirty="0" smtClean="0">
                <a:solidFill>
                  <a:srgbClr val="C00000"/>
                </a:solidFill>
                <a:latin typeface="Arial" pitchFamily="34" charset="0"/>
                <a:cs typeface="Arial" pitchFamily="34" charset="0"/>
              </a:rPr>
              <a:t>Estructura por módulos o híbridos (o con núcleo hibrido)</a:t>
            </a:r>
          </a:p>
          <a:p>
            <a:pPr indent="0">
              <a:lnSpc>
                <a:spcPct val="120000"/>
              </a:lnSpc>
              <a:spcBef>
                <a:spcPts val="0"/>
              </a:spcBef>
              <a:buNone/>
            </a:pPr>
            <a:r>
              <a:rPr lang="es-ES" sz="2000" dirty="0" smtClean="0">
                <a:latin typeface="Arial" pitchFamily="34" charset="0"/>
                <a:cs typeface="Arial" pitchFamily="34" charset="0"/>
              </a:rPr>
              <a:t>Es una mezcla entre el diseño del </a:t>
            </a:r>
            <a:r>
              <a:rPr lang="es-ES" sz="2000" dirty="0" err="1" smtClean="0">
                <a:latin typeface="Arial" pitchFamily="34" charset="0"/>
                <a:cs typeface="Arial" pitchFamily="34" charset="0"/>
              </a:rPr>
              <a:t>Microkernel</a:t>
            </a:r>
            <a:r>
              <a:rPr lang="es-ES" sz="2000" dirty="0" smtClean="0">
                <a:latin typeface="Arial" pitchFamily="34" charset="0"/>
                <a:cs typeface="Arial" pitchFamily="34" charset="0"/>
              </a:rPr>
              <a:t> y el diseño Monolítico.</a:t>
            </a:r>
          </a:p>
          <a:p>
            <a:pPr indent="0">
              <a:lnSpc>
                <a:spcPct val="120000"/>
              </a:lnSpc>
              <a:spcBef>
                <a:spcPts val="0"/>
              </a:spcBef>
              <a:buNone/>
            </a:pPr>
            <a:r>
              <a:rPr lang="es-ES" sz="2000" dirty="0" smtClean="0">
                <a:latin typeface="Arial" pitchFamily="34" charset="0"/>
                <a:cs typeface="Arial" pitchFamily="34" charset="0"/>
              </a:rPr>
              <a:t>• </a:t>
            </a:r>
            <a:r>
              <a:rPr lang="es-ES" sz="2000" b="1" dirty="0" smtClean="0">
                <a:latin typeface="Arial" pitchFamily="34" charset="0"/>
                <a:cs typeface="Arial" pitchFamily="34" charset="0"/>
              </a:rPr>
              <a:t>Toma del </a:t>
            </a:r>
            <a:r>
              <a:rPr lang="es-ES" sz="2000" b="1" dirty="0" err="1" smtClean="0">
                <a:latin typeface="Arial" pitchFamily="34" charset="0"/>
                <a:cs typeface="Arial" pitchFamily="34" charset="0"/>
              </a:rPr>
              <a:t>Microkernel</a:t>
            </a:r>
            <a:r>
              <a:rPr lang="es-ES" sz="2000" b="1" dirty="0" smtClean="0">
                <a:latin typeface="Arial" pitchFamily="34" charset="0"/>
                <a:cs typeface="Arial" pitchFamily="34" charset="0"/>
              </a:rPr>
              <a:t>: </a:t>
            </a:r>
            <a:r>
              <a:rPr lang="es-ES" sz="2000" dirty="0" smtClean="0">
                <a:latin typeface="Arial" pitchFamily="34" charset="0"/>
                <a:cs typeface="Arial" pitchFamily="34" charset="0"/>
              </a:rPr>
              <a:t>La estructura modular. El sistema está dividido en piezas bien definidas (un módulo para memoria, otro para procesos, otro para archivos).</a:t>
            </a:r>
          </a:p>
          <a:p>
            <a:pPr indent="0">
              <a:lnSpc>
                <a:spcPct val="120000"/>
              </a:lnSpc>
              <a:spcBef>
                <a:spcPts val="0"/>
              </a:spcBef>
              <a:buNone/>
            </a:pPr>
            <a:r>
              <a:rPr lang="es-ES" sz="2000" dirty="0" smtClean="0">
                <a:latin typeface="Arial" pitchFamily="34" charset="0"/>
                <a:cs typeface="Arial" pitchFamily="34" charset="0"/>
              </a:rPr>
              <a:t>• </a:t>
            </a:r>
            <a:r>
              <a:rPr lang="es-ES" sz="2000" b="1" dirty="0" smtClean="0">
                <a:latin typeface="Arial" pitchFamily="34" charset="0"/>
                <a:cs typeface="Arial" pitchFamily="34" charset="0"/>
              </a:rPr>
              <a:t>Toma del Monolítico:</a:t>
            </a:r>
            <a:r>
              <a:rPr lang="es-ES" sz="2000" dirty="0" smtClean="0">
                <a:latin typeface="Arial" pitchFamily="34" charset="0"/>
                <a:cs typeface="Arial" pitchFamily="34" charset="0"/>
              </a:rPr>
              <a:t> El espacio de ejecución. En lugar de que esos módulos estén separados y se manden mensajes lentos, el Híbrido los mete a todos adentro del mismo "anillo de protección" (Ring 0).</a:t>
            </a:r>
          </a:p>
          <a:p>
            <a:pPr indent="0">
              <a:lnSpc>
                <a:spcPct val="120000"/>
              </a:lnSpc>
              <a:spcBef>
                <a:spcPts val="0"/>
              </a:spcBef>
              <a:buNone/>
            </a:pPr>
            <a:endParaRPr lang="es-AR" sz="2000" dirty="0" smtClean="0">
              <a:latin typeface="Arial" pitchFamily="34" charset="0"/>
              <a:cs typeface="Arial" pitchFamily="34" charset="0"/>
            </a:endParaRPr>
          </a:p>
          <a:p>
            <a:pPr indent="0">
              <a:lnSpc>
                <a:spcPct val="120000"/>
              </a:lnSpc>
              <a:spcBef>
                <a:spcPts val="0"/>
              </a:spcBef>
              <a:buNone/>
            </a:pPr>
            <a:r>
              <a:rPr lang="es-ES" sz="2000" dirty="0" smtClean="0">
                <a:latin typeface="Arial" pitchFamily="34" charset="0"/>
                <a:cs typeface="Arial" pitchFamily="34" charset="0"/>
              </a:rPr>
              <a:t>Hoy en día (2026), casi todos los sistemas operativos de uso masivo que usamos a diario son híbridos en algún grado (Windows, </a:t>
            </a:r>
            <a:r>
              <a:rPr lang="es-ES" sz="2000" dirty="0" err="1" smtClean="0">
                <a:latin typeface="Arial" pitchFamily="34" charset="0"/>
                <a:cs typeface="Arial" pitchFamily="34" charset="0"/>
              </a:rPr>
              <a:t>macOS</a:t>
            </a:r>
            <a:r>
              <a:rPr lang="es-ES" sz="2000" dirty="0" smtClean="0">
                <a:latin typeface="Arial" pitchFamily="34" charset="0"/>
                <a:cs typeface="Arial" pitchFamily="34" charset="0"/>
              </a:rPr>
              <a:t>, </a:t>
            </a:r>
            <a:r>
              <a:rPr lang="es-ES" sz="2000" dirty="0" err="1" smtClean="0">
                <a:latin typeface="Arial" pitchFamily="34" charset="0"/>
                <a:cs typeface="Arial" pitchFamily="34" charset="0"/>
              </a:rPr>
              <a:t>iOS</a:t>
            </a:r>
            <a:r>
              <a:rPr lang="es-ES" sz="2000" dirty="0" smtClean="0">
                <a:latin typeface="Arial" pitchFamily="34" charset="0"/>
                <a:cs typeface="Arial" pitchFamily="34" charset="0"/>
              </a:rPr>
              <a:t>, </a:t>
            </a:r>
            <a:r>
              <a:rPr lang="es-ES" sz="2000" dirty="0" err="1" smtClean="0">
                <a:latin typeface="Arial" pitchFamily="34" charset="0"/>
                <a:cs typeface="Arial" pitchFamily="34" charset="0"/>
              </a:rPr>
              <a:t>Android</a:t>
            </a:r>
            <a:r>
              <a:rPr lang="es-ES" sz="2000" dirty="0" smtClean="0">
                <a:latin typeface="Arial" pitchFamily="34" charset="0"/>
                <a:cs typeface="Arial" pitchFamily="34" charset="0"/>
              </a:rPr>
              <a:t>). Los núcleos monolíticos puros (como Linux clásico tradicional)  son la excepción. Los </a:t>
            </a:r>
            <a:r>
              <a:rPr lang="es-ES" sz="2000" dirty="0" err="1" smtClean="0">
                <a:latin typeface="Arial" pitchFamily="34" charset="0"/>
                <a:cs typeface="Arial" pitchFamily="34" charset="0"/>
              </a:rPr>
              <a:t>micronúcleos</a:t>
            </a:r>
            <a:r>
              <a:rPr lang="es-ES" sz="2000" dirty="0" smtClean="0">
                <a:latin typeface="Arial" pitchFamily="34" charset="0"/>
                <a:cs typeface="Arial" pitchFamily="34" charset="0"/>
              </a:rPr>
              <a:t> puros (</a:t>
            </a:r>
            <a:r>
              <a:rPr lang="es-ES" sz="2000" dirty="0" err="1" smtClean="0">
                <a:latin typeface="Arial" pitchFamily="34" charset="0"/>
                <a:cs typeface="Arial" pitchFamily="34" charset="0"/>
              </a:rPr>
              <a:t>Minix</a:t>
            </a:r>
            <a:r>
              <a:rPr lang="es-ES" sz="2000" dirty="0" smtClean="0">
                <a:latin typeface="Arial" pitchFamily="34" charset="0"/>
                <a:cs typeface="Arial" pitchFamily="34" charset="0"/>
              </a:rPr>
              <a:t> 3, QNX, seL4) son rarísimos en producción masiva.</a:t>
            </a:r>
          </a:p>
          <a:p>
            <a:pPr indent="0">
              <a:lnSpc>
                <a:spcPct val="120000"/>
              </a:lnSpc>
              <a:spcBef>
                <a:spcPts val="0"/>
              </a:spcBef>
              <a:buNone/>
            </a:pPr>
            <a:endParaRPr lang="es-ES" sz="2000" dirty="0" smtClean="0">
              <a:latin typeface="Arial" pitchFamily="34" charset="0"/>
              <a:cs typeface="Arial" pitchFamily="34" charset="0"/>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23</a:t>
            </a:fld>
            <a:endParaRPr lang="en-US"/>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000" b="1" i="0" u="none" strike="noStrike" kern="1200" cap="none" spc="0" normalizeH="0" baseline="0" noProof="0" dirty="0" smtClean="0">
                <a:ln>
                  <a:noFill/>
                </a:ln>
                <a:solidFill>
                  <a:srgbClr val="C00000"/>
                </a:solidFill>
                <a:effectLst/>
                <a:uLnTx/>
                <a:uFillTx/>
                <a:latin typeface="Arial Unicode MS"/>
                <a:ea typeface="Arial Unicode MS"/>
                <a:cs typeface="Arial Unicode MS"/>
              </a:rPr>
              <a:t>Arquitectura</a:t>
            </a:r>
            <a:r>
              <a:rPr kumimoji="0" lang="es-AR" sz="4000" b="1" i="0" u="none" strike="noStrike" kern="1200" cap="none" spc="0" normalizeH="0" baseline="0" noProof="0" dirty="0" smtClean="0">
                <a:ln>
                  <a:noFill/>
                </a:ln>
                <a:solidFill>
                  <a:schemeClr val="accent2">
                    <a:lumMod val="75000"/>
                  </a:schemeClr>
                </a:solidFill>
                <a:effectLst/>
                <a:uLnTx/>
                <a:uFillTx/>
                <a:latin typeface="Arial Unicode MS"/>
                <a:ea typeface="Arial Unicode MS"/>
                <a:cs typeface="Arial Unicode MS"/>
              </a:rPr>
              <a:t> de los SO</a:t>
            </a:r>
          </a:p>
        </p:txBody>
      </p:sp>
      <p:pic>
        <p:nvPicPr>
          <p:cNvPr id="15361" name="Picture 1"/>
          <p:cNvPicPr>
            <a:picLocks noChangeAspect="1" noChangeArrowheads="1"/>
          </p:cNvPicPr>
          <p:nvPr/>
        </p:nvPicPr>
        <p:blipFill>
          <a:blip r:embed="rId3" cstate="print"/>
          <a:srcRect/>
          <a:stretch>
            <a:fillRect/>
          </a:stretch>
        </p:blipFill>
        <p:spPr bwMode="auto">
          <a:xfrm>
            <a:off x="9144000" y="547688"/>
            <a:ext cx="10887075" cy="61245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596673" y="1141186"/>
            <a:ext cx="8356827" cy="5346700"/>
          </a:xfrm>
        </p:spPr>
        <p:txBody>
          <a:bodyPr>
            <a:normAutofit/>
          </a:bodyPr>
          <a:lstStyle/>
          <a:p>
            <a:pPr indent="0">
              <a:lnSpc>
                <a:spcPct val="120000"/>
              </a:lnSpc>
              <a:spcBef>
                <a:spcPts val="0"/>
              </a:spcBef>
            </a:pPr>
            <a:r>
              <a:rPr lang="es-ES_tradnl" sz="2400" b="1" dirty="0" smtClean="0">
                <a:solidFill>
                  <a:srgbClr val="C00000"/>
                </a:solidFill>
                <a:latin typeface="Arial" pitchFamily="34" charset="0"/>
                <a:cs typeface="Arial" pitchFamily="34" charset="0"/>
              </a:rPr>
              <a:t>Estructura por módulos o híbridos</a:t>
            </a:r>
          </a:p>
          <a:p>
            <a:pPr indent="0">
              <a:lnSpc>
                <a:spcPct val="120000"/>
              </a:lnSpc>
              <a:spcBef>
                <a:spcPts val="0"/>
              </a:spcBef>
              <a:buNone/>
            </a:pPr>
            <a:r>
              <a:rPr lang="es-ES_tradnl" sz="2000" dirty="0" smtClean="0">
                <a:latin typeface="Arial" pitchFamily="34" charset="0"/>
                <a:cs typeface="Arial" pitchFamily="34" charset="0"/>
              </a:rPr>
              <a:t>Muchos de los SO modernos implementan este enfoque (UNIX, </a:t>
            </a:r>
            <a:r>
              <a:rPr lang="es-ES_tradnl" sz="2000" dirty="0" err="1" smtClean="0">
                <a:latin typeface="Arial" pitchFamily="34" charset="0"/>
                <a:cs typeface="Arial" pitchFamily="34" charset="0"/>
              </a:rPr>
              <a:t>Solaris</a:t>
            </a:r>
            <a:r>
              <a:rPr lang="es-ES_tradnl" sz="2000" dirty="0" smtClean="0">
                <a:latin typeface="Arial" pitchFamily="34" charset="0"/>
                <a:cs typeface="Arial" pitchFamily="34" charset="0"/>
              </a:rPr>
              <a:t>, Windows </a:t>
            </a:r>
            <a:r>
              <a:rPr lang="es-AR" sz="2000" dirty="0" smtClean="0">
                <a:latin typeface="Arial" pitchFamily="34" charset="0"/>
                <a:cs typeface="Arial" pitchFamily="34" charset="0"/>
              </a:rPr>
              <a:t>7, 8,10 y 11</a:t>
            </a:r>
            <a:r>
              <a:rPr lang="es-ES_tradnl" sz="2000" dirty="0" smtClean="0">
                <a:latin typeface="Arial" pitchFamily="34" charset="0"/>
                <a:cs typeface="Arial" pitchFamily="34" charset="0"/>
              </a:rPr>
              <a:t>) . </a:t>
            </a:r>
          </a:p>
          <a:p>
            <a:pPr indent="0">
              <a:lnSpc>
                <a:spcPct val="120000"/>
              </a:lnSpc>
              <a:spcBef>
                <a:spcPts val="0"/>
              </a:spcBef>
              <a:buNone/>
            </a:pPr>
            <a:r>
              <a:rPr lang="es-ES_tradnl" sz="2000" dirty="0" smtClean="0">
                <a:latin typeface="Arial" pitchFamily="34" charset="0"/>
                <a:cs typeface="Arial" pitchFamily="34" charset="0"/>
              </a:rPr>
              <a:t>Lo que lo caracteriza, es que el </a:t>
            </a:r>
            <a:r>
              <a:rPr lang="es-ES_tradnl" sz="2000" b="1" dirty="0" err="1" smtClean="0">
                <a:latin typeface="Arial" pitchFamily="34" charset="0"/>
                <a:cs typeface="Arial" pitchFamily="34" charset="0"/>
              </a:rPr>
              <a:t>kernel</a:t>
            </a:r>
            <a:r>
              <a:rPr lang="es-ES_tradnl" sz="2000" dirty="0" smtClean="0">
                <a:latin typeface="Arial" pitchFamily="34" charset="0"/>
                <a:cs typeface="Arial" pitchFamily="34" charset="0"/>
              </a:rPr>
              <a:t> se </a:t>
            </a:r>
            <a:r>
              <a:rPr lang="es-ES_tradnl" sz="2000" b="1" dirty="0" smtClean="0">
                <a:latin typeface="Arial" pitchFamily="34" charset="0"/>
                <a:cs typeface="Arial" pitchFamily="34" charset="0"/>
              </a:rPr>
              <a:t>compone por módulos </a:t>
            </a:r>
            <a:r>
              <a:rPr lang="es-ES_tradnl" sz="2000" dirty="0" smtClean="0">
                <a:latin typeface="Arial" pitchFamily="34" charset="0"/>
                <a:cs typeface="Arial" pitchFamily="34" charset="0"/>
              </a:rPr>
              <a:t>y cada uno de estos está  </a:t>
            </a:r>
            <a:r>
              <a:rPr lang="es-ES_tradnl" sz="2000" b="1" dirty="0" smtClean="0">
                <a:latin typeface="Arial" pitchFamily="34" charset="0"/>
                <a:cs typeface="Arial" pitchFamily="34" charset="0"/>
              </a:rPr>
              <a:t>separado de forma independiente</a:t>
            </a:r>
            <a:r>
              <a:rPr lang="es-ES_tradnl" sz="2000" dirty="0" smtClean="0">
                <a:latin typeface="Arial" pitchFamily="34" charset="0"/>
                <a:cs typeface="Arial" pitchFamily="34" charset="0"/>
              </a:rPr>
              <a:t>, tal que </a:t>
            </a:r>
            <a:r>
              <a:rPr lang="es-ES_tradnl" sz="2000" b="1" dirty="0" smtClean="0">
                <a:latin typeface="Arial" pitchFamily="34" charset="0"/>
                <a:cs typeface="Arial" pitchFamily="34" charset="0"/>
              </a:rPr>
              <a:t>si uno falla, no afecta a los otros ni al núcleo</a:t>
            </a:r>
            <a:r>
              <a:rPr lang="es-ES_tradnl" sz="2000" dirty="0" smtClean="0">
                <a:latin typeface="Arial" pitchFamily="34" charset="0"/>
                <a:cs typeface="Arial" pitchFamily="34" charset="0"/>
              </a:rPr>
              <a:t>. El resto de las operaciones siguen sus funciones habituales.</a:t>
            </a:r>
          </a:p>
          <a:p>
            <a:pPr indent="0">
              <a:lnSpc>
                <a:spcPct val="120000"/>
              </a:lnSpc>
              <a:spcBef>
                <a:spcPts val="0"/>
              </a:spcBef>
              <a:buNone/>
            </a:pPr>
            <a:r>
              <a:rPr lang="es-ES_tradnl" sz="2000" dirty="0" smtClean="0">
                <a:latin typeface="Arial" pitchFamily="34" charset="0"/>
                <a:cs typeface="Arial" pitchFamily="34" charset="0"/>
              </a:rPr>
              <a:t>Se parece bastante a la de capas, pero es mucho más flexible, ya que cualquier módulo puede llamar a otro. </a:t>
            </a:r>
            <a:r>
              <a:rPr lang="es-AR" sz="2000" dirty="0" smtClean="0">
                <a:latin typeface="Arial" pitchFamily="34" charset="0"/>
                <a:cs typeface="Arial" pitchFamily="34" charset="0"/>
              </a:rPr>
              <a:t>Son similares a micro </a:t>
            </a:r>
            <a:r>
              <a:rPr lang="es-AR" sz="2000" dirty="0" err="1" smtClean="0">
                <a:latin typeface="Arial" pitchFamily="34" charset="0"/>
                <a:cs typeface="Arial" pitchFamily="34" charset="0"/>
              </a:rPr>
              <a:t>kernel</a:t>
            </a:r>
            <a:r>
              <a:rPr lang="es-AR" sz="2000" dirty="0" smtClean="0">
                <a:latin typeface="Arial" pitchFamily="34" charset="0"/>
                <a:cs typeface="Arial" pitchFamily="34" charset="0"/>
              </a:rPr>
              <a:t>, excepto que incluyen algún código adicional en el espacio del </a:t>
            </a:r>
            <a:r>
              <a:rPr lang="es-AR" sz="2000" dirty="0" err="1" smtClean="0">
                <a:latin typeface="Arial" pitchFamily="34" charset="0"/>
                <a:cs typeface="Arial" pitchFamily="34" charset="0"/>
              </a:rPr>
              <a:t>kernel</a:t>
            </a:r>
            <a:r>
              <a:rPr lang="es-AR" sz="2000" dirty="0" smtClean="0">
                <a:latin typeface="Arial" pitchFamily="34" charset="0"/>
                <a:cs typeface="Arial" pitchFamily="34" charset="0"/>
              </a:rPr>
              <a:t> para aumentar el rendimiento.</a:t>
            </a:r>
            <a:endParaRPr lang="es-ES_tradnl" sz="2000" dirty="0" smtClean="0">
              <a:latin typeface="Arial" pitchFamily="34" charset="0"/>
              <a:cs typeface="Arial" pitchFamily="34" charset="0"/>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24</a:t>
            </a:fld>
            <a:endParaRPr lang="en-US"/>
          </a:p>
        </p:txBody>
      </p:sp>
      <p:sp>
        <p:nvSpPr>
          <p:cNvPr id="6" name="5 Rectángulo"/>
          <p:cNvSpPr/>
          <p:nvPr/>
        </p:nvSpPr>
        <p:spPr>
          <a:xfrm>
            <a:off x="9398000" y="1832402"/>
            <a:ext cx="4572000" cy="830997"/>
          </a:xfrm>
          <a:prstGeom prst="rect">
            <a:avLst/>
          </a:prstGeom>
        </p:spPr>
        <p:txBody>
          <a:bodyPr>
            <a:spAutoFit/>
          </a:bodyPr>
          <a:lstStyle/>
          <a:p>
            <a:r>
              <a:rPr lang="es-AR" dirty="0" smtClean="0">
                <a:hlinkClick r:id="rId3"/>
              </a:rPr>
              <a:t>https://es.qwe.wiki/wiki/Kernel_(operating_system)</a:t>
            </a:r>
            <a:endParaRPr lang="es-AR" dirty="0"/>
          </a:p>
        </p:txBody>
      </p:sp>
      <p:sp>
        <p:nvSpPr>
          <p:cNvPr id="7" name="6 Rectángulo"/>
          <p:cNvSpPr/>
          <p:nvPr/>
        </p:nvSpPr>
        <p:spPr>
          <a:xfrm>
            <a:off x="9347200" y="3787170"/>
            <a:ext cx="4572000" cy="1569660"/>
          </a:xfrm>
          <a:prstGeom prst="rect">
            <a:avLst/>
          </a:prstGeom>
        </p:spPr>
        <p:txBody>
          <a:bodyPr>
            <a:spAutoFit/>
          </a:bodyPr>
          <a:lstStyle/>
          <a:p>
            <a:r>
              <a:rPr lang="es-AR" dirty="0" smtClean="0">
                <a:hlinkClick r:id="rId4"/>
              </a:rPr>
              <a:t>http://ocw.innova.uned.es/ocwuniversia/Ing_tecnico_infor_sistemas/SO_II/contenidos_html/ims_import_1/tema2_05.htm</a:t>
            </a:r>
            <a:endParaRPr lang="es-AR" dirty="0"/>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000" b="1" i="0" u="none" strike="noStrike" kern="1200" cap="none" spc="0" normalizeH="0" baseline="0" noProof="0" dirty="0" smtClean="0">
                <a:ln>
                  <a:noFill/>
                </a:ln>
                <a:solidFill>
                  <a:srgbClr val="C00000"/>
                </a:solidFill>
                <a:effectLst/>
                <a:uLnTx/>
                <a:uFillTx/>
                <a:latin typeface="Arial Unicode MS"/>
                <a:ea typeface="Arial Unicode MS"/>
                <a:cs typeface="Arial Unicode MS"/>
              </a:rPr>
              <a:t>Arquitectura</a:t>
            </a:r>
            <a:r>
              <a:rPr kumimoji="0" lang="es-AR" sz="4000" b="1" i="0" u="none" strike="noStrike" kern="1200" cap="none" spc="0" normalizeH="0" baseline="0" noProof="0" dirty="0" smtClean="0">
                <a:ln>
                  <a:noFill/>
                </a:ln>
                <a:solidFill>
                  <a:schemeClr val="accent2">
                    <a:lumMod val="75000"/>
                  </a:schemeClr>
                </a:solidFill>
                <a:effectLst/>
                <a:uLnTx/>
                <a:uFillTx/>
                <a:latin typeface="Arial Unicode MS"/>
                <a:ea typeface="Arial Unicode MS"/>
                <a:cs typeface="Arial Unicode MS"/>
              </a:rPr>
              <a:t> de los SO</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168049" y="1122136"/>
            <a:ext cx="5699352" cy="5346700"/>
          </a:xfrm>
        </p:spPr>
        <p:txBody>
          <a:bodyPr>
            <a:normAutofit/>
          </a:bodyPr>
          <a:lstStyle/>
          <a:p>
            <a:pPr indent="0">
              <a:lnSpc>
                <a:spcPct val="120000"/>
              </a:lnSpc>
              <a:spcBef>
                <a:spcPts val="0"/>
              </a:spcBef>
            </a:pPr>
            <a:r>
              <a:rPr lang="es-ES_tradnl" sz="2400" b="1" dirty="0" smtClean="0">
                <a:solidFill>
                  <a:srgbClr val="C00000"/>
                </a:solidFill>
                <a:latin typeface="Arial" pitchFamily="34" charset="0"/>
                <a:cs typeface="Arial" pitchFamily="34" charset="0"/>
              </a:rPr>
              <a:t>Estructura por módulos o híbridos</a:t>
            </a:r>
          </a:p>
          <a:p>
            <a:pPr indent="0">
              <a:lnSpc>
                <a:spcPct val="120000"/>
              </a:lnSpc>
              <a:spcBef>
                <a:spcPts val="0"/>
              </a:spcBef>
              <a:buNone/>
              <a:tabLst>
                <a:tab pos="6905625" algn="l"/>
                <a:tab pos="7534275" algn="l"/>
              </a:tabLst>
            </a:pPr>
            <a:r>
              <a:rPr lang="es-ES" sz="2400" dirty="0" smtClean="0">
                <a:latin typeface="Arial" pitchFamily="34" charset="0"/>
                <a:cs typeface="Arial" pitchFamily="34" charset="0"/>
              </a:rPr>
              <a:t>Por ejemplo Windows es hibrido porque utiliza una estructura de </a:t>
            </a:r>
            <a:r>
              <a:rPr lang="es-ES" sz="2400" dirty="0" err="1" smtClean="0">
                <a:latin typeface="Arial" pitchFamily="34" charset="0"/>
                <a:cs typeface="Arial" pitchFamily="34" charset="0"/>
              </a:rPr>
              <a:t>microkernel</a:t>
            </a:r>
            <a:r>
              <a:rPr lang="es-ES" sz="2400" dirty="0" smtClean="0">
                <a:latin typeface="Arial" pitchFamily="34" charset="0"/>
                <a:cs typeface="Arial" pitchFamily="34" charset="0"/>
              </a:rPr>
              <a:t> para organizar sus servicios de forma modular, pero los ejecuta en el espacio del </a:t>
            </a:r>
            <a:r>
              <a:rPr lang="es-ES" sz="2400" dirty="0" err="1" smtClean="0">
                <a:latin typeface="Arial" pitchFamily="34" charset="0"/>
                <a:cs typeface="Arial" pitchFamily="34" charset="0"/>
              </a:rPr>
              <a:t>kernel</a:t>
            </a:r>
            <a:r>
              <a:rPr lang="es-ES" sz="2400" dirty="0" smtClean="0">
                <a:latin typeface="Arial" pitchFamily="34" charset="0"/>
                <a:cs typeface="Arial" pitchFamily="34" charset="0"/>
              </a:rPr>
              <a:t> (monolítico) para evitar la pérdida de rendimiento que genera el paso de mensajes entre capas.</a:t>
            </a:r>
          </a:p>
          <a:p>
            <a:pPr indent="0">
              <a:lnSpc>
                <a:spcPct val="120000"/>
              </a:lnSpc>
              <a:spcBef>
                <a:spcPts val="0"/>
              </a:spcBef>
              <a:buNone/>
            </a:pPr>
            <a:endParaRPr lang="es-ES_tradnl" sz="2400" b="1" dirty="0" smtClean="0">
              <a:solidFill>
                <a:srgbClr val="C00000"/>
              </a:solidFill>
              <a:latin typeface="Arial" pitchFamily="34" charset="0"/>
              <a:cs typeface="Arial" pitchFamily="34" charset="0"/>
            </a:endParaRPr>
          </a:p>
          <a:p>
            <a:pPr indent="0">
              <a:lnSpc>
                <a:spcPct val="120000"/>
              </a:lnSpc>
              <a:spcBef>
                <a:spcPts val="0"/>
              </a:spcBef>
              <a:buNone/>
            </a:pPr>
            <a:endParaRPr lang="es-ES_tradnl" sz="2000" dirty="0" smtClean="0">
              <a:latin typeface="Arial" pitchFamily="34" charset="0"/>
              <a:cs typeface="Arial" pitchFamily="34" charset="0"/>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25</a:t>
            </a:fld>
            <a:endParaRPr lang="en-US"/>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000" b="1" i="0" u="none" strike="noStrike" kern="1200" cap="none" spc="0" normalizeH="0" baseline="0" noProof="0" dirty="0" smtClean="0">
                <a:ln>
                  <a:noFill/>
                </a:ln>
                <a:solidFill>
                  <a:srgbClr val="C00000"/>
                </a:solidFill>
                <a:effectLst/>
                <a:uLnTx/>
                <a:uFillTx/>
                <a:latin typeface="Arial Unicode MS"/>
                <a:ea typeface="Arial Unicode MS"/>
                <a:cs typeface="Arial Unicode MS"/>
              </a:rPr>
              <a:t>Arquitectura</a:t>
            </a:r>
            <a:r>
              <a:rPr kumimoji="0" lang="es-AR" sz="4000" b="1" i="0" u="none" strike="noStrike" kern="1200" cap="none" spc="0" normalizeH="0" baseline="0" noProof="0" dirty="0" smtClean="0">
                <a:ln>
                  <a:noFill/>
                </a:ln>
                <a:solidFill>
                  <a:schemeClr val="accent2">
                    <a:lumMod val="75000"/>
                  </a:schemeClr>
                </a:solidFill>
                <a:effectLst/>
                <a:uLnTx/>
                <a:uFillTx/>
                <a:latin typeface="Arial Unicode MS"/>
                <a:ea typeface="Arial Unicode MS"/>
                <a:cs typeface="Arial Unicode MS"/>
              </a:rPr>
              <a:t> de los SO</a:t>
            </a:r>
          </a:p>
        </p:txBody>
      </p:sp>
      <p:pic>
        <p:nvPicPr>
          <p:cNvPr id="4100" name="Picture 4"/>
          <p:cNvPicPr>
            <a:picLocks noChangeAspect="1" noChangeArrowheads="1"/>
          </p:cNvPicPr>
          <p:nvPr/>
        </p:nvPicPr>
        <p:blipFill>
          <a:blip r:embed="rId3" cstate="print"/>
          <a:srcRect/>
          <a:stretch>
            <a:fillRect/>
          </a:stretch>
        </p:blipFill>
        <p:spPr bwMode="auto">
          <a:xfrm>
            <a:off x="5690686" y="1590675"/>
            <a:ext cx="3215189" cy="4838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a:xfrm>
            <a:off x="168048" y="1122136"/>
            <a:ext cx="8842601" cy="5346700"/>
          </a:xfrm>
        </p:spPr>
        <p:txBody>
          <a:bodyPr>
            <a:normAutofit fontScale="92500"/>
          </a:bodyPr>
          <a:lstStyle/>
          <a:p>
            <a:pPr indent="0">
              <a:lnSpc>
                <a:spcPct val="120000"/>
              </a:lnSpc>
              <a:spcBef>
                <a:spcPts val="0"/>
              </a:spcBef>
            </a:pPr>
            <a:r>
              <a:rPr lang="es-ES_tradnl" sz="2400" b="1" dirty="0" smtClean="0">
                <a:solidFill>
                  <a:srgbClr val="C00000"/>
                </a:solidFill>
                <a:latin typeface="Arial" pitchFamily="34" charset="0"/>
                <a:cs typeface="Arial" pitchFamily="34" charset="0"/>
              </a:rPr>
              <a:t>Estructura por módulos o híbridos</a:t>
            </a:r>
          </a:p>
          <a:p>
            <a:pPr indent="0">
              <a:lnSpc>
                <a:spcPct val="120000"/>
              </a:lnSpc>
              <a:spcBef>
                <a:spcPts val="0"/>
              </a:spcBef>
              <a:buNone/>
              <a:tabLst>
                <a:tab pos="6905625" algn="l"/>
                <a:tab pos="7534275" algn="l"/>
              </a:tabLst>
            </a:pPr>
            <a:r>
              <a:rPr lang="es-ES" sz="2400" b="1" dirty="0" smtClean="0">
                <a:latin typeface="Arial" pitchFamily="34" charset="0"/>
                <a:cs typeface="Arial" pitchFamily="34" charset="0"/>
              </a:rPr>
              <a:t>Ventajas principales: </a:t>
            </a:r>
          </a:p>
          <a:p>
            <a:pPr indent="0">
              <a:lnSpc>
                <a:spcPct val="120000"/>
              </a:lnSpc>
              <a:spcBef>
                <a:spcPts val="0"/>
              </a:spcBef>
              <a:tabLst>
                <a:tab pos="6905625" algn="l"/>
                <a:tab pos="7534275" algn="l"/>
              </a:tabLst>
            </a:pPr>
            <a:r>
              <a:rPr lang="es-ES" sz="2400" dirty="0" smtClean="0">
                <a:latin typeface="Arial" pitchFamily="34" charset="0"/>
                <a:cs typeface="Arial" pitchFamily="34" charset="0"/>
              </a:rPr>
              <a:t>Mejor rendimiento que un </a:t>
            </a:r>
            <a:r>
              <a:rPr lang="es-ES" sz="2400" dirty="0" err="1" smtClean="0">
                <a:latin typeface="Arial" pitchFamily="34" charset="0"/>
                <a:cs typeface="Arial" pitchFamily="34" charset="0"/>
              </a:rPr>
              <a:t>microkernel</a:t>
            </a:r>
            <a:r>
              <a:rPr lang="es-ES" sz="2400" dirty="0" smtClean="0">
                <a:latin typeface="Arial" pitchFamily="34" charset="0"/>
                <a:cs typeface="Arial" pitchFamily="34" charset="0"/>
              </a:rPr>
              <a:t> puro (menos cambios de contexto y paso de mensajes).</a:t>
            </a:r>
          </a:p>
          <a:p>
            <a:pPr indent="0">
              <a:lnSpc>
                <a:spcPct val="120000"/>
              </a:lnSpc>
              <a:spcBef>
                <a:spcPts val="0"/>
              </a:spcBef>
              <a:tabLst>
                <a:tab pos="6905625" algn="l"/>
                <a:tab pos="7534275" algn="l"/>
              </a:tabLst>
            </a:pPr>
            <a:r>
              <a:rPr lang="es-ES" sz="2400" dirty="0" smtClean="0">
                <a:latin typeface="Arial" pitchFamily="34" charset="0"/>
                <a:cs typeface="Arial" pitchFamily="34" charset="0"/>
              </a:rPr>
              <a:t>Mayor estabilidad y seguridad que un monolítico puro (algunos componentes pueden aislarse mejor).</a:t>
            </a:r>
          </a:p>
          <a:p>
            <a:pPr indent="0">
              <a:lnSpc>
                <a:spcPct val="120000"/>
              </a:lnSpc>
              <a:spcBef>
                <a:spcPts val="0"/>
              </a:spcBef>
              <a:tabLst>
                <a:tab pos="6905625" algn="l"/>
                <a:tab pos="7534275" algn="l"/>
              </a:tabLst>
            </a:pPr>
            <a:r>
              <a:rPr lang="es-ES" sz="2400" dirty="0" smtClean="0">
                <a:latin typeface="Arial" pitchFamily="34" charset="0"/>
                <a:cs typeface="Arial" pitchFamily="34" charset="0"/>
              </a:rPr>
              <a:t>Flexibilidad para diferentes tipos de hardware y cargas de trabajo.</a:t>
            </a:r>
          </a:p>
          <a:p>
            <a:pPr indent="0">
              <a:lnSpc>
                <a:spcPct val="120000"/>
              </a:lnSpc>
              <a:spcBef>
                <a:spcPts val="0"/>
              </a:spcBef>
              <a:buNone/>
              <a:tabLst>
                <a:tab pos="6905625" algn="l"/>
                <a:tab pos="7534275" algn="l"/>
              </a:tabLst>
            </a:pPr>
            <a:endParaRPr lang="es-ES" sz="2400" dirty="0" smtClean="0">
              <a:latin typeface="Arial" pitchFamily="34" charset="0"/>
              <a:cs typeface="Arial" pitchFamily="34" charset="0"/>
            </a:endParaRPr>
          </a:p>
          <a:p>
            <a:pPr indent="0">
              <a:lnSpc>
                <a:spcPct val="120000"/>
              </a:lnSpc>
              <a:spcBef>
                <a:spcPts val="0"/>
              </a:spcBef>
              <a:buNone/>
              <a:tabLst>
                <a:tab pos="6905625" algn="l"/>
                <a:tab pos="7534275" algn="l"/>
              </a:tabLst>
            </a:pPr>
            <a:r>
              <a:rPr lang="es-ES" sz="2400" b="1" dirty="0" smtClean="0">
                <a:latin typeface="Arial" pitchFamily="34" charset="0"/>
                <a:cs typeface="Arial" pitchFamily="34" charset="0"/>
              </a:rPr>
              <a:t>Desventajas:</a:t>
            </a:r>
          </a:p>
          <a:p>
            <a:pPr indent="0">
              <a:lnSpc>
                <a:spcPct val="120000"/>
              </a:lnSpc>
              <a:spcBef>
                <a:spcPts val="0"/>
              </a:spcBef>
              <a:tabLst>
                <a:tab pos="6905625" algn="l"/>
                <a:tab pos="7534275" algn="l"/>
              </a:tabLst>
            </a:pPr>
            <a:r>
              <a:rPr lang="es-ES" sz="2400" dirty="0" smtClean="0">
                <a:latin typeface="Arial" pitchFamily="34" charset="0"/>
                <a:cs typeface="Arial" pitchFamily="34" charset="0"/>
              </a:rPr>
              <a:t>No logran la máxima estabilidad teórica de un </a:t>
            </a:r>
            <a:r>
              <a:rPr lang="es-ES" sz="2400" dirty="0" err="1" smtClean="0">
                <a:latin typeface="Arial" pitchFamily="34" charset="0"/>
                <a:cs typeface="Arial" pitchFamily="34" charset="0"/>
              </a:rPr>
              <a:t>microKernel</a:t>
            </a:r>
            <a:r>
              <a:rPr lang="es-ES" sz="2400" dirty="0" smtClean="0">
                <a:latin typeface="Arial" pitchFamily="34" charset="0"/>
                <a:cs typeface="Arial" pitchFamily="34" charset="0"/>
              </a:rPr>
              <a:t> real (como </a:t>
            </a:r>
            <a:r>
              <a:rPr lang="es-ES" sz="2400" dirty="0" err="1" smtClean="0">
                <a:latin typeface="Arial" pitchFamily="34" charset="0"/>
                <a:cs typeface="Arial" pitchFamily="34" charset="0"/>
              </a:rPr>
              <a:t>Minix</a:t>
            </a:r>
            <a:r>
              <a:rPr lang="es-ES" sz="2400" dirty="0" smtClean="0">
                <a:latin typeface="Arial" pitchFamily="34" charset="0"/>
                <a:cs typeface="Arial" pitchFamily="34" charset="0"/>
              </a:rPr>
              <a:t> 3 o QNX).</a:t>
            </a:r>
          </a:p>
          <a:p>
            <a:pPr indent="0">
              <a:lnSpc>
                <a:spcPct val="120000"/>
              </a:lnSpc>
              <a:spcBef>
                <a:spcPts val="0"/>
              </a:spcBef>
              <a:tabLst>
                <a:tab pos="6905625" algn="l"/>
                <a:tab pos="7534275" algn="l"/>
              </a:tabLst>
            </a:pPr>
            <a:r>
              <a:rPr lang="es-ES" sz="2400" dirty="0" smtClean="0">
                <a:latin typeface="Arial" pitchFamily="34" charset="0"/>
                <a:cs typeface="Arial" pitchFamily="34" charset="0"/>
              </a:rPr>
              <a:t>La complejidad del diseño puede hacer más difícil encontrar y corregir errores. </a:t>
            </a:r>
          </a:p>
          <a:p>
            <a:pPr indent="0">
              <a:lnSpc>
                <a:spcPct val="120000"/>
              </a:lnSpc>
              <a:spcBef>
                <a:spcPts val="0"/>
              </a:spcBef>
              <a:buNone/>
              <a:tabLst>
                <a:tab pos="6905625" algn="l"/>
                <a:tab pos="7534275" algn="l"/>
              </a:tabLst>
            </a:pPr>
            <a:endParaRPr lang="es-ES" sz="2400" dirty="0" smtClean="0">
              <a:latin typeface="Arial" pitchFamily="34" charset="0"/>
              <a:cs typeface="Arial" pitchFamily="34" charset="0"/>
            </a:endParaRPr>
          </a:p>
          <a:p>
            <a:pPr indent="0">
              <a:lnSpc>
                <a:spcPct val="120000"/>
              </a:lnSpc>
              <a:spcBef>
                <a:spcPts val="0"/>
              </a:spcBef>
              <a:buNone/>
            </a:pPr>
            <a:endParaRPr lang="es-ES_tradnl" sz="2000" dirty="0" smtClean="0">
              <a:latin typeface="Arial" pitchFamily="34" charset="0"/>
              <a:cs typeface="Arial" pitchFamily="34" charset="0"/>
            </a:endParaRPr>
          </a:p>
        </p:txBody>
      </p:sp>
      <p:sp>
        <p:nvSpPr>
          <p:cNvPr id="11268" name="5 Marcador de número de diapositiva"/>
          <p:cNvSpPr>
            <a:spLocks noGrp="1"/>
          </p:cNvSpPr>
          <p:nvPr>
            <p:ph type="sldNum" sz="quarter" idx="12"/>
          </p:nvPr>
        </p:nvSpPr>
        <p:spPr>
          <a:noFill/>
        </p:spPr>
        <p:txBody>
          <a:bodyPr/>
          <a:lstStyle/>
          <a:p>
            <a:fld id="{CDB220D6-6362-4757-9F3F-D8C63A861AA2}" type="slidenum">
              <a:rPr lang="en-US"/>
              <a:pPr/>
              <a:t>26</a:t>
            </a:fld>
            <a:endParaRPr lang="en-US"/>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000" b="1" i="0" u="none" strike="noStrike" kern="1200" cap="none" spc="0" normalizeH="0" baseline="0" noProof="0" dirty="0" smtClean="0">
                <a:ln>
                  <a:noFill/>
                </a:ln>
                <a:solidFill>
                  <a:srgbClr val="C00000"/>
                </a:solidFill>
                <a:effectLst/>
                <a:uLnTx/>
                <a:uFillTx/>
                <a:latin typeface="Arial Unicode MS"/>
                <a:ea typeface="Arial Unicode MS"/>
                <a:cs typeface="Arial Unicode MS"/>
              </a:rPr>
              <a:t>Arquitectura</a:t>
            </a:r>
            <a:r>
              <a:rPr kumimoji="0" lang="es-AR" sz="4000" b="1" i="0" u="none" strike="noStrike" kern="1200" cap="none" spc="0" normalizeH="0" baseline="0" noProof="0" dirty="0" smtClean="0">
                <a:ln>
                  <a:noFill/>
                </a:ln>
                <a:solidFill>
                  <a:schemeClr val="accent2">
                    <a:lumMod val="75000"/>
                  </a:schemeClr>
                </a:solidFill>
                <a:effectLst/>
                <a:uLnTx/>
                <a:uFillTx/>
                <a:latin typeface="Arial Unicode MS"/>
                <a:ea typeface="Arial Unicode MS"/>
                <a:cs typeface="Arial Unicode MS"/>
              </a:rPr>
              <a:t> de los SO</a:t>
            </a:r>
          </a:p>
        </p:txBody>
      </p:sp>
      <p:sp>
        <p:nvSpPr>
          <p:cNvPr id="6" name="5 Rectángulo"/>
          <p:cNvSpPr/>
          <p:nvPr/>
        </p:nvSpPr>
        <p:spPr>
          <a:xfrm>
            <a:off x="-2590801" y="2451318"/>
            <a:ext cx="2590801" cy="35394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r>
              <a:rPr lang="es-ES" sz="1400" dirty="0" smtClean="0">
                <a:solidFill>
                  <a:schemeClr val="tx1"/>
                </a:solidFill>
                <a:latin typeface="+mn-lt"/>
              </a:rPr>
              <a:t>Es flexible porque el núcleo híbrido no te obliga a elegir "todo rápido pero riesgoso" (monolítico) ni "todo seguro pero lento" (</a:t>
            </a:r>
            <a:r>
              <a:rPr lang="es-ES" sz="1400" dirty="0" err="1" smtClean="0">
                <a:solidFill>
                  <a:schemeClr val="tx1"/>
                </a:solidFill>
                <a:latin typeface="+mn-lt"/>
              </a:rPr>
              <a:t>micronúcleo</a:t>
            </a:r>
            <a:r>
              <a:rPr lang="es-ES" sz="1400" dirty="0" smtClean="0">
                <a:solidFill>
                  <a:schemeClr val="tx1"/>
                </a:solidFill>
                <a:latin typeface="+mn-lt"/>
              </a:rPr>
              <a:t>). Te da un punto intermedio configurable, lo que lo hace ideal para empresas como Microsoft o Apple que necesitan un solo </a:t>
            </a:r>
            <a:r>
              <a:rPr lang="es-ES" sz="1400" dirty="0" err="1" smtClean="0">
                <a:solidFill>
                  <a:schemeClr val="tx1"/>
                </a:solidFill>
                <a:latin typeface="+mn-lt"/>
              </a:rPr>
              <a:t>kernel</a:t>
            </a:r>
            <a:r>
              <a:rPr lang="es-ES" sz="1400" dirty="0" smtClean="0">
                <a:solidFill>
                  <a:schemeClr val="tx1"/>
                </a:solidFill>
                <a:latin typeface="+mn-lt"/>
              </a:rPr>
              <a:t> que funcione en millones de dispositivos diferentes (desde un teléfono hasta un servidor </a:t>
            </a:r>
            <a:r>
              <a:rPr lang="es-ES" sz="1400" dirty="0" err="1" smtClean="0">
                <a:solidFill>
                  <a:schemeClr val="tx1"/>
                </a:solidFill>
                <a:latin typeface="+mn-lt"/>
              </a:rPr>
              <a:t>cloud</a:t>
            </a:r>
            <a:r>
              <a:rPr lang="es-ES" sz="1400" dirty="0" smtClean="0">
                <a:solidFill>
                  <a:schemeClr val="tx1"/>
                </a:solidFill>
                <a:latin typeface="+mn-lt"/>
              </a:rPr>
              <a:t> o una consola), y para usuarios que alternan entre </a:t>
            </a:r>
            <a:r>
              <a:rPr lang="es-ES" sz="1400" dirty="0" err="1" smtClean="0">
                <a:solidFill>
                  <a:schemeClr val="tx1"/>
                </a:solidFill>
                <a:latin typeface="+mn-lt"/>
              </a:rPr>
              <a:t>gaming</a:t>
            </a:r>
            <a:r>
              <a:rPr lang="es-ES" sz="1400" dirty="0" smtClean="0">
                <a:solidFill>
                  <a:schemeClr val="tx1"/>
                </a:solidFill>
                <a:latin typeface="+mn-lt"/>
              </a:rPr>
              <a:t> pesado, oficina, </a:t>
            </a:r>
            <a:r>
              <a:rPr lang="es-ES" sz="1400" dirty="0" err="1" smtClean="0">
                <a:solidFill>
                  <a:schemeClr val="tx1"/>
                </a:solidFill>
                <a:latin typeface="+mn-lt"/>
              </a:rPr>
              <a:t>virtualización</a:t>
            </a:r>
            <a:r>
              <a:rPr lang="es-ES" sz="1400" dirty="0" smtClean="0">
                <a:solidFill>
                  <a:schemeClr val="tx1"/>
                </a:solidFill>
                <a:latin typeface="+mn-lt"/>
              </a:rPr>
              <a:t>, etc.</a:t>
            </a:r>
            <a:endParaRPr lang="es-ES" sz="1400" dirty="0">
              <a:solidFill>
                <a:schemeClr val="tx1"/>
              </a:solidFill>
              <a:latin typeface="+mn-lt"/>
            </a:endParaRPr>
          </a:p>
        </p:txBody>
      </p:sp>
      <p:sp>
        <p:nvSpPr>
          <p:cNvPr id="7" name="6 Rectángulo"/>
          <p:cNvSpPr/>
          <p:nvPr/>
        </p:nvSpPr>
        <p:spPr>
          <a:xfrm>
            <a:off x="9143999" y="-116889"/>
            <a:ext cx="7915275" cy="63401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r>
              <a:rPr lang="es-ES" sz="1400" dirty="0" smtClean="0">
                <a:solidFill>
                  <a:schemeClr val="tx1"/>
                </a:solidFill>
              </a:rPr>
              <a:t>¿Por qué son más flexibles?</a:t>
            </a:r>
          </a:p>
          <a:p>
            <a:pPr algn="l"/>
            <a:r>
              <a:rPr lang="es-ES" sz="1400" b="1" dirty="0" smtClean="0">
                <a:solidFill>
                  <a:schemeClr val="tx1"/>
                </a:solidFill>
              </a:rPr>
              <a:t>Combinan lo mejor de dos mundos en el diseño</a:t>
            </a:r>
            <a:r>
              <a:rPr lang="es-ES" sz="1400" dirty="0" smtClean="0">
                <a:solidFill>
                  <a:schemeClr val="tx1"/>
                </a:solidFill>
              </a:rPr>
              <a:t>: </a:t>
            </a:r>
          </a:p>
          <a:p>
            <a:pPr algn="l">
              <a:buFont typeface="Arial" pitchFamily="34" charset="0"/>
              <a:buChar char="•"/>
            </a:pPr>
            <a:r>
              <a:rPr lang="es-ES" sz="1400" dirty="0" smtClean="0">
                <a:solidFill>
                  <a:schemeClr val="tx1"/>
                </a:solidFill>
              </a:rPr>
              <a:t> Mantienen partes críticas (drivers de alto rendimiento, subsistemas de red, I/O rápido, etc.) dentro del </a:t>
            </a:r>
            <a:r>
              <a:rPr lang="es-ES" sz="1400" dirty="0" err="1" smtClean="0">
                <a:solidFill>
                  <a:schemeClr val="tx1"/>
                </a:solidFill>
              </a:rPr>
              <a:t>kernel</a:t>
            </a:r>
            <a:r>
              <a:rPr lang="es-ES" sz="1400" dirty="0" smtClean="0">
                <a:solidFill>
                  <a:schemeClr val="tx1"/>
                </a:solidFill>
              </a:rPr>
              <a:t> → para lograr velocidad similar a un monolítico.</a:t>
            </a:r>
          </a:p>
          <a:p>
            <a:pPr algn="l">
              <a:buFont typeface="Arial" pitchFamily="34" charset="0"/>
              <a:buChar char="•"/>
            </a:pPr>
            <a:r>
              <a:rPr lang="es-ES" sz="1400" dirty="0" smtClean="0">
                <a:solidFill>
                  <a:schemeClr val="tx1"/>
                </a:solidFill>
              </a:rPr>
              <a:t> Pero permiten que otras partes (algunos servicios, ciertos drivers menos críticos, extensiones) se ejecuten fuera del </a:t>
            </a:r>
            <a:r>
              <a:rPr lang="es-ES" sz="1400" dirty="0" err="1" smtClean="0">
                <a:solidFill>
                  <a:schemeClr val="tx1"/>
                </a:solidFill>
              </a:rPr>
              <a:t>kernel</a:t>
            </a:r>
            <a:r>
              <a:rPr lang="es-ES" sz="1400" dirty="0" smtClean="0">
                <a:solidFill>
                  <a:schemeClr val="tx1"/>
                </a:solidFill>
              </a:rPr>
              <a:t> (en </a:t>
            </a:r>
            <a:r>
              <a:rPr lang="es-ES" sz="1400" dirty="0" err="1" smtClean="0">
                <a:solidFill>
                  <a:schemeClr val="tx1"/>
                </a:solidFill>
              </a:rPr>
              <a:t>user-space</a:t>
            </a:r>
            <a:r>
              <a:rPr lang="es-ES" sz="1400" dirty="0" smtClean="0">
                <a:solidFill>
                  <a:schemeClr val="tx1"/>
                </a:solidFill>
              </a:rPr>
              <a:t>) o se carguen de forma modular → inspirado en </a:t>
            </a:r>
            <a:r>
              <a:rPr lang="es-ES" sz="1400" dirty="0" err="1" smtClean="0">
                <a:solidFill>
                  <a:schemeClr val="tx1"/>
                </a:solidFill>
              </a:rPr>
              <a:t>micronúcleos</a:t>
            </a:r>
            <a:r>
              <a:rPr lang="es-ES" sz="1400" dirty="0" smtClean="0">
                <a:solidFill>
                  <a:schemeClr val="tx1"/>
                </a:solidFill>
              </a:rPr>
              <a:t>, lo que da modularidad y facilidad para activar/desactivar o reemplazar componentes sin recompilar todo el </a:t>
            </a:r>
            <a:r>
              <a:rPr lang="es-ES" sz="1400" dirty="0" err="1" smtClean="0">
                <a:solidFill>
                  <a:schemeClr val="tx1"/>
                </a:solidFill>
              </a:rPr>
              <a:t>kernel</a:t>
            </a:r>
            <a:r>
              <a:rPr lang="es-ES" sz="1400" dirty="0" smtClean="0">
                <a:solidFill>
                  <a:schemeClr val="tx1"/>
                </a:solidFill>
              </a:rPr>
              <a:t>.</a:t>
            </a:r>
          </a:p>
          <a:p>
            <a:pPr algn="l"/>
            <a:r>
              <a:rPr lang="es-ES" sz="1400" dirty="0" smtClean="0">
                <a:solidFill>
                  <a:schemeClr val="tx1"/>
                </a:solidFill>
              </a:rPr>
              <a:t>Esto hace que el SO pueda "ajustarse" según el caso: priorizar velocidad en unos escenarios y priorizar aislamiento/seguridad en otros.</a:t>
            </a:r>
          </a:p>
          <a:p>
            <a:pPr algn="l"/>
            <a:r>
              <a:rPr lang="es-ES" sz="1400" b="1" dirty="0" smtClean="0">
                <a:solidFill>
                  <a:schemeClr val="tx1"/>
                </a:solidFill>
              </a:rPr>
              <a:t>Adaptación a hardware muy diverso </a:t>
            </a:r>
          </a:p>
          <a:p>
            <a:pPr algn="l">
              <a:buFont typeface="Arial" pitchFamily="34" charset="0"/>
              <a:buChar char="•"/>
            </a:pPr>
            <a:r>
              <a:rPr lang="es-ES" sz="1400" dirty="0" smtClean="0">
                <a:solidFill>
                  <a:schemeClr val="tx1"/>
                </a:solidFill>
              </a:rPr>
              <a:t> En PCs de escritorio/laptops (Windows, </a:t>
            </a:r>
            <a:r>
              <a:rPr lang="es-ES" sz="1400" dirty="0" err="1" smtClean="0">
                <a:solidFill>
                  <a:schemeClr val="tx1"/>
                </a:solidFill>
              </a:rPr>
              <a:t>macOS</a:t>
            </a:r>
            <a:r>
              <a:rPr lang="es-ES" sz="1400" dirty="0" smtClean="0">
                <a:solidFill>
                  <a:schemeClr val="tx1"/>
                </a:solidFill>
              </a:rPr>
              <a:t>): drivers complejos de GPU, </a:t>
            </a:r>
            <a:r>
              <a:rPr lang="es-ES" sz="1400" dirty="0" err="1" smtClean="0">
                <a:solidFill>
                  <a:schemeClr val="tx1"/>
                </a:solidFill>
              </a:rPr>
              <a:t>Wi</a:t>
            </a:r>
            <a:r>
              <a:rPr lang="es-ES" sz="1400" dirty="0" smtClean="0">
                <a:solidFill>
                  <a:schemeClr val="tx1"/>
                </a:solidFill>
              </a:rPr>
              <a:t>-Fi, audio, USB, etc., se mantienen en </a:t>
            </a:r>
            <a:r>
              <a:rPr lang="es-ES" sz="1400" dirty="0" err="1" smtClean="0">
                <a:solidFill>
                  <a:schemeClr val="tx1"/>
                </a:solidFill>
              </a:rPr>
              <a:t>kernel</a:t>
            </a:r>
            <a:r>
              <a:rPr lang="es-ES" sz="1400" dirty="0" smtClean="0">
                <a:solidFill>
                  <a:schemeClr val="tx1"/>
                </a:solidFill>
              </a:rPr>
              <a:t> para bajo latencia y alto </a:t>
            </a:r>
            <a:r>
              <a:rPr lang="es-ES" sz="1400" dirty="0" err="1" smtClean="0">
                <a:solidFill>
                  <a:schemeClr val="tx1"/>
                </a:solidFill>
              </a:rPr>
              <a:t>throughput</a:t>
            </a:r>
            <a:r>
              <a:rPr lang="es-ES" sz="1400" dirty="0" smtClean="0">
                <a:solidFill>
                  <a:schemeClr val="tx1"/>
                </a:solidFill>
              </a:rPr>
              <a:t>.</a:t>
            </a:r>
          </a:p>
          <a:p>
            <a:pPr algn="l">
              <a:buFont typeface="Arial" pitchFamily="34" charset="0"/>
              <a:buChar char="•"/>
            </a:pPr>
            <a:r>
              <a:rPr lang="es-ES" sz="1400" dirty="0" smtClean="0">
                <a:solidFill>
                  <a:schemeClr val="tx1"/>
                </a:solidFill>
              </a:rPr>
              <a:t> En servidores o entornos embebidos: se pueden mover más cosas a </a:t>
            </a:r>
            <a:r>
              <a:rPr lang="es-ES" sz="1400" dirty="0" err="1" smtClean="0">
                <a:solidFill>
                  <a:schemeClr val="tx1"/>
                </a:solidFill>
              </a:rPr>
              <a:t>user-space</a:t>
            </a:r>
            <a:r>
              <a:rPr lang="es-ES" sz="1400" dirty="0" smtClean="0">
                <a:solidFill>
                  <a:schemeClr val="tx1"/>
                </a:solidFill>
              </a:rPr>
              <a:t> para mayor estabilidad (evitar que un driver malo tumbe todo).</a:t>
            </a:r>
          </a:p>
          <a:p>
            <a:pPr algn="l">
              <a:buFont typeface="Arial" pitchFamily="34" charset="0"/>
              <a:buChar char="•"/>
            </a:pPr>
            <a:r>
              <a:rPr lang="es-ES" sz="1400" dirty="0" smtClean="0">
                <a:solidFill>
                  <a:schemeClr val="tx1"/>
                </a:solidFill>
              </a:rPr>
              <a:t> En dispositivos móviles (</a:t>
            </a:r>
            <a:r>
              <a:rPr lang="es-ES" sz="1400" dirty="0" err="1" smtClean="0">
                <a:solidFill>
                  <a:schemeClr val="tx1"/>
                </a:solidFill>
              </a:rPr>
              <a:t>iOS</a:t>
            </a:r>
            <a:r>
              <a:rPr lang="es-ES" sz="1400" dirty="0" smtClean="0">
                <a:solidFill>
                  <a:schemeClr val="tx1"/>
                </a:solidFill>
              </a:rPr>
              <a:t>/</a:t>
            </a:r>
            <a:r>
              <a:rPr lang="es-ES" sz="1400" dirty="0" err="1" smtClean="0">
                <a:solidFill>
                  <a:schemeClr val="tx1"/>
                </a:solidFill>
              </a:rPr>
              <a:t>macOS</a:t>
            </a:r>
            <a:r>
              <a:rPr lang="es-ES" sz="1400" dirty="0" smtClean="0">
                <a:solidFill>
                  <a:schemeClr val="tx1"/>
                </a:solidFill>
              </a:rPr>
              <a:t> con XNU): el mismo </a:t>
            </a:r>
            <a:r>
              <a:rPr lang="es-ES" sz="1400" dirty="0" err="1" smtClean="0">
                <a:solidFill>
                  <a:schemeClr val="tx1"/>
                </a:solidFill>
              </a:rPr>
              <a:t>kernel</a:t>
            </a:r>
            <a:r>
              <a:rPr lang="es-ES" sz="1400" dirty="0" smtClean="0">
                <a:solidFill>
                  <a:schemeClr val="tx1"/>
                </a:solidFill>
              </a:rPr>
              <a:t> base se usa en chips Apple </a:t>
            </a:r>
            <a:r>
              <a:rPr lang="es-ES" sz="1400" dirty="0" err="1" smtClean="0">
                <a:solidFill>
                  <a:schemeClr val="tx1"/>
                </a:solidFill>
              </a:rPr>
              <a:t>Silicon</a:t>
            </a:r>
            <a:r>
              <a:rPr lang="es-ES" sz="1400" dirty="0" smtClean="0">
                <a:solidFill>
                  <a:schemeClr val="tx1"/>
                </a:solidFill>
              </a:rPr>
              <a:t> (ARM), pero con optimizaciones híbridas que permiten manejar tanto cargas ligeras (batería) como pesadas (edición de video, </a:t>
            </a:r>
            <a:r>
              <a:rPr lang="es-ES" sz="1400" dirty="0" err="1" smtClean="0">
                <a:solidFill>
                  <a:schemeClr val="tx1"/>
                </a:solidFill>
              </a:rPr>
              <a:t>gaming</a:t>
            </a:r>
            <a:r>
              <a:rPr lang="es-ES" sz="1400" dirty="0" smtClean="0">
                <a:solidFill>
                  <a:schemeClr val="tx1"/>
                </a:solidFill>
              </a:rPr>
              <a:t>)</a:t>
            </a:r>
          </a:p>
          <a:p>
            <a:pPr algn="l"/>
            <a:r>
              <a:rPr lang="es-ES" sz="1400" dirty="0" smtClean="0">
                <a:solidFill>
                  <a:schemeClr val="tx1"/>
                </a:solidFill>
              </a:rPr>
              <a:t>Ejemplo práctico: Windows NT (híbrido) corre bien en PCs x86/x64, ARM (</a:t>
            </a:r>
            <a:r>
              <a:rPr lang="es-ES" sz="1400" dirty="0" err="1" smtClean="0">
                <a:solidFill>
                  <a:schemeClr val="tx1"/>
                </a:solidFill>
              </a:rPr>
              <a:t>Surface</a:t>
            </a:r>
            <a:r>
              <a:rPr lang="es-ES" sz="1400" dirty="0" smtClean="0">
                <a:solidFill>
                  <a:schemeClr val="tx1"/>
                </a:solidFill>
              </a:rPr>
              <a:t>), servidores, Xbox (consola), </a:t>
            </a:r>
            <a:r>
              <a:rPr lang="es-ES" sz="1400" dirty="0" err="1" smtClean="0">
                <a:solidFill>
                  <a:schemeClr val="tx1"/>
                </a:solidFill>
              </a:rPr>
              <a:t>Azure</a:t>
            </a:r>
            <a:r>
              <a:rPr lang="es-ES" sz="1400" dirty="0" smtClean="0">
                <a:solidFill>
                  <a:schemeClr val="tx1"/>
                </a:solidFill>
              </a:rPr>
              <a:t> (</a:t>
            </a:r>
            <a:r>
              <a:rPr lang="es-ES" sz="1400" dirty="0" err="1" smtClean="0">
                <a:solidFill>
                  <a:schemeClr val="tx1"/>
                </a:solidFill>
              </a:rPr>
              <a:t>cloud</a:t>
            </a:r>
            <a:r>
              <a:rPr lang="es-ES" sz="1400" dirty="0" smtClean="0">
                <a:solidFill>
                  <a:schemeClr val="tx1"/>
                </a:solidFill>
              </a:rPr>
              <a:t>), etc., sin necesidad de </a:t>
            </a:r>
            <a:r>
              <a:rPr lang="es-ES" sz="1400" dirty="0" err="1" smtClean="0">
                <a:solidFill>
                  <a:schemeClr val="tx1"/>
                </a:solidFill>
              </a:rPr>
              <a:t>kernels</a:t>
            </a:r>
            <a:r>
              <a:rPr lang="es-ES" sz="1400" dirty="0" smtClean="0">
                <a:solidFill>
                  <a:schemeClr val="tx1"/>
                </a:solidFill>
              </a:rPr>
              <a:t> completamente distintos.</a:t>
            </a:r>
          </a:p>
          <a:p>
            <a:pPr algn="l"/>
            <a:r>
              <a:rPr lang="es-ES" sz="1400" b="1" dirty="0" smtClean="0">
                <a:solidFill>
                  <a:schemeClr val="tx1"/>
                </a:solidFill>
              </a:rPr>
              <a:t>Manejo eficiente de cargas de trabajo variadas</a:t>
            </a:r>
          </a:p>
          <a:p>
            <a:pPr algn="l">
              <a:buFont typeface="Arial" pitchFamily="34" charset="0"/>
              <a:buChar char="•"/>
            </a:pPr>
            <a:r>
              <a:rPr lang="es-ES" sz="1400" dirty="0" smtClean="0">
                <a:solidFill>
                  <a:schemeClr val="tx1"/>
                </a:solidFill>
              </a:rPr>
              <a:t> Cargas de alto rendimiento (</a:t>
            </a:r>
            <a:r>
              <a:rPr lang="es-ES" sz="1400" dirty="0" err="1" smtClean="0">
                <a:solidFill>
                  <a:schemeClr val="tx1"/>
                </a:solidFill>
              </a:rPr>
              <a:t>gaming</a:t>
            </a:r>
            <a:r>
              <a:rPr lang="es-ES" sz="1400" dirty="0" smtClean="0">
                <a:solidFill>
                  <a:schemeClr val="tx1"/>
                </a:solidFill>
              </a:rPr>
              <a:t>, </a:t>
            </a:r>
            <a:r>
              <a:rPr lang="es-ES" sz="1400" dirty="0" err="1" smtClean="0">
                <a:solidFill>
                  <a:schemeClr val="tx1"/>
                </a:solidFill>
              </a:rPr>
              <a:t>renderizado</a:t>
            </a:r>
            <a:r>
              <a:rPr lang="es-ES" sz="1400" dirty="0" smtClean="0">
                <a:solidFill>
                  <a:schemeClr val="tx1"/>
                </a:solidFill>
              </a:rPr>
              <a:t>, servidores web): partes críticas en </a:t>
            </a:r>
            <a:r>
              <a:rPr lang="es-ES" sz="1400" dirty="0" err="1" smtClean="0">
                <a:solidFill>
                  <a:schemeClr val="tx1"/>
                </a:solidFill>
              </a:rPr>
              <a:t>kernel</a:t>
            </a:r>
            <a:r>
              <a:rPr lang="es-ES" sz="1400" dirty="0" smtClean="0">
                <a:solidFill>
                  <a:schemeClr val="tx1"/>
                </a:solidFill>
              </a:rPr>
              <a:t> → mínima </a:t>
            </a:r>
            <a:r>
              <a:rPr lang="es-ES" sz="1400" dirty="0" err="1" smtClean="0">
                <a:solidFill>
                  <a:schemeClr val="tx1"/>
                </a:solidFill>
              </a:rPr>
              <a:t>overhead</a:t>
            </a:r>
            <a:r>
              <a:rPr lang="es-ES" sz="1400" dirty="0" smtClean="0">
                <a:solidFill>
                  <a:schemeClr val="tx1"/>
                </a:solidFill>
              </a:rPr>
              <a:t>, acceso directo al hardware.</a:t>
            </a:r>
          </a:p>
          <a:p>
            <a:pPr algn="l">
              <a:buFont typeface="Arial" pitchFamily="34" charset="0"/>
              <a:buChar char="•"/>
            </a:pPr>
            <a:r>
              <a:rPr lang="es-ES" sz="1400" dirty="0" smtClean="0">
                <a:solidFill>
                  <a:schemeClr val="tx1"/>
                </a:solidFill>
              </a:rPr>
              <a:t> Cargas mixtas o de baja prioridad (aplicaciones de fondo, </a:t>
            </a:r>
            <a:r>
              <a:rPr lang="es-ES" sz="1400" dirty="0" err="1" smtClean="0">
                <a:solidFill>
                  <a:schemeClr val="tx1"/>
                </a:solidFill>
              </a:rPr>
              <a:t>IoT</a:t>
            </a:r>
            <a:r>
              <a:rPr lang="es-ES" sz="1400" dirty="0" smtClean="0">
                <a:solidFill>
                  <a:schemeClr val="tx1"/>
                </a:solidFill>
              </a:rPr>
              <a:t>, entornos con muchos drivers experimentales): se pueden aislar en </a:t>
            </a:r>
            <a:r>
              <a:rPr lang="es-ES" sz="1400" dirty="0" err="1" smtClean="0">
                <a:solidFill>
                  <a:schemeClr val="tx1"/>
                </a:solidFill>
              </a:rPr>
              <a:t>user-space</a:t>
            </a:r>
            <a:r>
              <a:rPr lang="es-ES" sz="1400" dirty="0" smtClean="0">
                <a:solidFill>
                  <a:schemeClr val="tx1"/>
                </a:solidFill>
              </a:rPr>
              <a:t> → el sistema no se cae si algo falla.</a:t>
            </a:r>
          </a:p>
          <a:p>
            <a:pPr algn="l">
              <a:buFont typeface="Arial" pitchFamily="34" charset="0"/>
              <a:buChar char="•"/>
            </a:pPr>
            <a:r>
              <a:rPr lang="es-ES" sz="1400" dirty="0" smtClean="0">
                <a:solidFill>
                  <a:schemeClr val="tx1"/>
                </a:solidFill>
              </a:rPr>
              <a:t> Escenarios dinámicos: </a:t>
            </a:r>
            <a:r>
              <a:rPr lang="es-ES" sz="1400" dirty="0" err="1" smtClean="0">
                <a:solidFill>
                  <a:schemeClr val="tx1"/>
                </a:solidFill>
              </a:rPr>
              <a:t>hot-plugging</a:t>
            </a:r>
            <a:r>
              <a:rPr lang="es-ES" sz="1400" dirty="0" smtClean="0">
                <a:solidFill>
                  <a:schemeClr val="tx1"/>
                </a:solidFill>
              </a:rPr>
              <a:t> de dispositivos (conectar un disco externo, una GPU externa), </a:t>
            </a:r>
            <a:r>
              <a:rPr lang="es-ES" sz="1400" dirty="0" err="1" smtClean="0">
                <a:solidFill>
                  <a:schemeClr val="tx1"/>
                </a:solidFill>
              </a:rPr>
              <a:t>virtualización</a:t>
            </a:r>
            <a:r>
              <a:rPr lang="es-ES" sz="1400" dirty="0" smtClean="0">
                <a:solidFill>
                  <a:schemeClr val="tx1"/>
                </a:solidFill>
              </a:rPr>
              <a:t> (</a:t>
            </a:r>
            <a:r>
              <a:rPr lang="es-ES" sz="1400" dirty="0" err="1" smtClean="0">
                <a:solidFill>
                  <a:schemeClr val="tx1"/>
                </a:solidFill>
              </a:rPr>
              <a:t>Hyper</a:t>
            </a:r>
            <a:r>
              <a:rPr lang="es-ES" sz="1400" dirty="0" smtClean="0">
                <a:solidFill>
                  <a:schemeClr val="tx1"/>
                </a:solidFill>
              </a:rPr>
              <a:t>-V en Windows, que usa el </a:t>
            </a:r>
            <a:r>
              <a:rPr lang="es-ES" sz="1400" dirty="0" err="1" smtClean="0">
                <a:solidFill>
                  <a:schemeClr val="tx1"/>
                </a:solidFill>
              </a:rPr>
              <a:t>kernel</a:t>
            </a:r>
            <a:r>
              <a:rPr lang="es-ES" sz="1400" dirty="0" smtClean="0">
                <a:solidFill>
                  <a:schemeClr val="tx1"/>
                </a:solidFill>
              </a:rPr>
              <a:t> híbrido para </a:t>
            </a:r>
            <a:r>
              <a:rPr lang="es-ES" sz="1400" dirty="0" err="1" smtClean="0">
                <a:solidFill>
                  <a:schemeClr val="tx1"/>
                </a:solidFill>
              </a:rPr>
              <a:t>guests</a:t>
            </a:r>
            <a:r>
              <a:rPr lang="es-ES" sz="1400" dirty="0" smtClean="0">
                <a:solidFill>
                  <a:schemeClr val="tx1"/>
                </a:solidFill>
              </a:rPr>
              <a:t>), contenedores → el diseño híbrido permite cargar/descargar módulos o servicios sin reinicio, y decidir qué va en </a:t>
            </a:r>
            <a:r>
              <a:rPr lang="es-ES" sz="1400" dirty="0" err="1" smtClean="0">
                <a:solidFill>
                  <a:schemeClr val="tx1"/>
                </a:solidFill>
              </a:rPr>
              <a:t>kernel</a:t>
            </a:r>
            <a:r>
              <a:rPr lang="es-ES" sz="1400" dirty="0" smtClean="0">
                <a:solidFill>
                  <a:schemeClr val="tx1"/>
                </a:solidFill>
              </a:rPr>
              <a:t> según la carga actual.</a:t>
            </a:r>
            <a:endParaRPr lang="es-ES" sz="1400" dirty="0">
              <a:solidFill>
                <a:schemeClr val="tx1"/>
              </a:solidFill>
              <a:latin typeface="+mn-l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27</a:t>
            </a:fld>
            <a:endParaRPr lang="en-US"/>
          </a:p>
        </p:txBody>
      </p:sp>
      <p:sp>
        <p:nvSpPr>
          <p:cNvPr id="2054" name="Rectangle 4"/>
          <p:cNvSpPr>
            <a:spLocks noChangeArrowheads="1"/>
          </p:cNvSpPr>
          <p:nvPr/>
        </p:nvSpPr>
        <p:spPr bwMode="auto">
          <a:xfrm>
            <a:off x="698500" y="1066801"/>
            <a:ext cx="7924800" cy="5435600"/>
          </a:xfrm>
          <a:prstGeom prst="rect">
            <a:avLst/>
          </a:prstGeom>
          <a:noFill/>
          <a:ln w="9525">
            <a:noFill/>
            <a:miter lim="800000"/>
            <a:headEnd/>
            <a:tailEnd/>
          </a:ln>
        </p:spPr>
        <p:txBody>
          <a:bodyPr/>
          <a:lstStyle/>
          <a:p>
            <a:pPr marL="342900" indent="-342900" algn="l">
              <a:spcBef>
                <a:spcPct val="20000"/>
              </a:spcBef>
              <a:buClr>
                <a:schemeClr val="accent2"/>
              </a:buClr>
            </a:pPr>
            <a:r>
              <a:rPr lang="es-ES_tradnl" dirty="0" smtClean="0">
                <a:solidFill>
                  <a:srgbClr val="C00000"/>
                </a:solidFill>
                <a:latin typeface="Arial" pitchFamily="34" charset="0"/>
                <a:cs typeface="Arial" pitchFamily="34" charset="0"/>
              </a:rPr>
              <a:t>Mecanismo utilizado por una aplicación para llamar a un servicio del sistema operativo.</a:t>
            </a:r>
          </a:p>
          <a:p>
            <a:pPr marL="342900" indent="-342900" algn="l">
              <a:spcBef>
                <a:spcPct val="20000"/>
              </a:spcBef>
              <a:buClr>
                <a:schemeClr val="accent2"/>
              </a:buClr>
            </a:pPr>
            <a:endParaRPr lang="es-ES_tradnl" sz="1800" dirty="0" smtClean="0">
              <a:latin typeface="Arial" pitchFamily="34" charset="0"/>
              <a:cs typeface="Arial" pitchFamily="34" charset="0"/>
            </a:endParaRPr>
          </a:p>
          <a:p>
            <a:pPr marL="342900" indent="-342900" algn="l">
              <a:spcBef>
                <a:spcPct val="20000"/>
              </a:spcBef>
              <a:buClr>
                <a:schemeClr val="accent2"/>
              </a:buClr>
            </a:pPr>
            <a:r>
              <a:rPr lang="es-AR" sz="1800" dirty="0" smtClean="0">
                <a:solidFill>
                  <a:schemeClr val="tx1"/>
                </a:solidFill>
                <a:latin typeface="Arial" pitchFamily="34" charset="0"/>
                <a:cs typeface="Arial" pitchFamily="34" charset="0"/>
              </a:rPr>
              <a:t>Los programas invocan generalmente los servicios del sistema operativo por medio de </a:t>
            </a:r>
            <a:r>
              <a:rPr lang="es-AR" sz="1800" b="1" dirty="0" smtClean="0">
                <a:solidFill>
                  <a:srgbClr val="C00000"/>
                </a:solidFill>
                <a:latin typeface="Arial" pitchFamily="34" charset="0"/>
                <a:cs typeface="Arial" pitchFamily="34" charset="0"/>
              </a:rPr>
              <a:t>llamadas al sistema </a:t>
            </a:r>
            <a:r>
              <a:rPr lang="es-AR" sz="1800" dirty="0" smtClean="0">
                <a:solidFill>
                  <a:schemeClr val="tx1"/>
                </a:solidFill>
                <a:latin typeface="Arial" pitchFamily="34" charset="0"/>
                <a:cs typeface="Arial" pitchFamily="34" charset="0"/>
              </a:rPr>
              <a:t>operativo.</a:t>
            </a:r>
          </a:p>
          <a:p>
            <a:pPr marL="342900" indent="-342900" algn="l">
              <a:spcBef>
                <a:spcPct val="20000"/>
              </a:spcBef>
              <a:buClr>
                <a:schemeClr val="accent2"/>
              </a:buClr>
              <a:buFont typeface="Arial" pitchFamily="34" charset="0"/>
              <a:buChar char="•"/>
            </a:pPr>
            <a:r>
              <a:rPr lang="es-AR" sz="1800" dirty="0" smtClean="0">
                <a:solidFill>
                  <a:schemeClr val="tx1"/>
                </a:solidFill>
                <a:latin typeface="Arial" pitchFamily="34" charset="0"/>
                <a:cs typeface="Arial" pitchFamily="34" charset="0"/>
              </a:rPr>
              <a:t>Estándar POSIX (</a:t>
            </a:r>
            <a:r>
              <a:rPr lang="es-AR" sz="1800" b="1" dirty="0" smtClean="0">
                <a:solidFill>
                  <a:schemeClr val="tx1"/>
                </a:solidFill>
                <a:latin typeface="Arial" pitchFamily="34" charset="0"/>
                <a:cs typeface="Arial" pitchFamily="34" charset="0"/>
              </a:rPr>
              <a:t>P</a:t>
            </a:r>
            <a:r>
              <a:rPr lang="es-AR" sz="1800" dirty="0" smtClean="0">
                <a:solidFill>
                  <a:schemeClr val="tx1"/>
                </a:solidFill>
                <a:latin typeface="Arial" pitchFamily="34" charset="0"/>
                <a:cs typeface="Arial" pitchFamily="34" charset="0"/>
              </a:rPr>
              <a:t>ortable </a:t>
            </a:r>
            <a:r>
              <a:rPr lang="es-AR" sz="1800" b="1" dirty="0" err="1" smtClean="0">
                <a:solidFill>
                  <a:schemeClr val="tx1"/>
                </a:solidFill>
                <a:latin typeface="Arial" pitchFamily="34" charset="0"/>
                <a:cs typeface="Arial" pitchFamily="34" charset="0"/>
              </a:rPr>
              <a:t>O</a:t>
            </a:r>
            <a:r>
              <a:rPr lang="es-AR" sz="1800" dirty="0" err="1" smtClean="0">
                <a:solidFill>
                  <a:schemeClr val="tx1"/>
                </a:solidFill>
                <a:latin typeface="Arial" pitchFamily="34" charset="0"/>
                <a:cs typeface="Arial" pitchFamily="34" charset="0"/>
              </a:rPr>
              <a:t>perating</a:t>
            </a:r>
            <a:r>
              <a:rPr lang="es-AR" sz="1800" dirty="0" smtClean="0">
                <a:solidFill>
                  <a:schemeClr val="tx1"/>
                </a:solidFill>
                <a:latin typeface="Arial" pitchFamily="34" charset="0"/>
                <a:cs typeface="Arial" pitchFamily="34" charset="0"/>
              </a:rPr>
              <a:t> </a:t>
            </a:r>
            <a:r>
              <a:rPr lang="es-AR" sz="1800" b="1" dirty="0" err="1" smtClean="0">
                <a:solidFill>
                  <a:schemeClr val="tx1"/>
                </a:solidFill>
                <a:latin typeface="Arial" pitchFamily="34" charset="0"/>
                <a:cs typeface="Arial" pitchFamily="34" charset="0"/>
              </a:rPr>
              <a:t>S</a:t>
            </a:r>
            <a:r>
              <a:rPr lang="es-AR" sz="1800" dirty="0" err="1" smtClean="0">
                <a:solidFill>
                  <a:schemeClr val="tx1"/>
                </a:solidFill>
                <a:latin typeface="Arial" pitchFamily="34" charset="0"/>
                <a:cs typeface="Arial" pitchFamily="34" charset="0"/>
              </a:rPr>
              <a:t>ystem</a:t>
            </a:r>
            <a:r>
              <a:rPr lang="es-AR" sz="1800" dirty="0" smtClean="0">
                <a:solidFill>
                  <a:schemeClr val="tx1"/>
                </a:solidFill>
                <a:latin typeface="Arial" pitchFamily="34" charset="0"/>
                <a:cs typeface="Arial" pitchFamily="34" charset="0"/>
              </a:rPr>
              <a:t> </a:t>
            </a:r>
            <a:r>
              <a:rPr lang="es-AR" sz="1800" b="1" dirty="0" smtClean="0">
                <a:solidFill>
                  <a:schemeClr val="tx1"/>
                </a:solidFill>
                <a:latin typeface="Arial" pitchFamily="34" charset="0"/>
                <a:cs typeface="Arial" pitchFamily="34" charset="0"/>
              </a:rPr>
              <a:t>I</a:t>
            </a:r>
            <a:r>
              <a:rPr lang="es-AR" sz="1800" dirty="0" smtClean="0">
                <a:solidFill>
                  <a:schemeClr val="tx1"/>
                </a:solidFill>
                <a:latin typeface="Arial" pitchFamily="34" charset="0"/>
                <a:cs typeface="Arial" pitchFamily="34" charset="0"/>
              </a:rPr>
              <a:t>nterface, y </a:t>
            </a:r>
            <a:r>
              <a:rPr lang="es-AR" sz="1800" b="1" dirty="0" smtClean="0">
                <a:solidFill>
                  <a:schemeClr val="tx1"/>
                </a:solidFill>
                <a:latin typeface="Arial" pitchFamily="34" charset="0"/>
                <a:cs typeface="Arial" pitchFamily="34" charset="0"/>
              </a:rPr>
              <a:t>X</a:t>
            </a:r>
            <a:r>
              <a:rPr lang="es-AR" sz="1800" dirty="0" smtClean="0">
                <a:solidFill>
                  <a:schemeClr val="tx1"/>
                </a:solidFill>
                <a:latin typeface="Arial" pitchFamily="34" charset="0"/>
                <a:cs typeface="Arial" pitchFamily="34" charset="0"/>
              </a:rPr>
              <a:t> de </a:t>
            </a:r>
            <a:r>
              <a:rPr lang="es-AR" sz="1800" u="sng" dirty="0" smtClean="0">
                <a:solidFill>
                  <a:schemeClr val="tx1"/>
                </a:solidFill>
                <a:latin typeface="Arial" pitchFamily="34" charset="0"/>
                <a:cs typeface="Arial" pitchFamily="34" charset="0"/>
              </a:rPr>
              <a:t>UNIX)</a:t>
            </a:r>
            <a:r>
              <a:rPr lang="es-AR" sz="1800" dirty="0" smtClean="0">
                <a:solidFill>
                  <a:schemeClr val="tx1"/>
                </a:solidFill>
                <a:latin typeface="Arial" pitchFamily="34" charset="0"/>
                <a:cs typeface="Arial" pitchFamily="34" charset="0"/>
              </a:rPr>
              <a:t> en UNIX y Linux</a:t>
            </a:r>
          </a:p>
          <a:p>
            <a:pPr marL="342900" indent="-342900" algn="l">
              <a:spcBef>
                <a:spcPct val="20000"/>
              </a:spcBef>
              <a:buClr>
                <a:schemeClr val="accent2"/>
              </a:buClr>
              <a:buFont typeface="Arial" pitchFamily="34" charset="0"/>
              <a:buChar char="•"/>
            </a:pPr>
            <a:r>
              <a:rPr lang="es-AR" sz="1800" dirty="0" smtClean="0">
                <a:solidFill>
                  <a:schemeClr val="tx1"/>
                </a:solidFill>
                <a:latin typeface="Arial" pitchFamily="34" charset="0"/>
                <a:cs typeface="Arial" pitchFamily="34" charset="0"/>
              </a:rPr>
              <a:t>Win32 en Windows</a:t>
            </a:r>
          </a:p>
          <a:p>
            <a:pPr marL="342900" indent="-342900" algn="l">
              <a:spcBef>
                <a:spcPct val="20000"/>
              </a:spcBef>
              <a:buClr>
                <a:schemeClr val="accent2"/>
              </a:buClr>
              <a:buFont typeface="Arial" pitchFamily="34" charset="0"/>
              <a:buChar char="•"/>
            </a:pPr>
            <a:r>
              <a:rPr lang="es-AR" sz="1800" dirty="0" smtClean="0">
                <a:solidFill>
                  <a:schemeClr val="tx1"/>
                </a:solidFill>
                <a:latin typeface="Arial" pitchFamily="34" charset="0"/>
                <a:cs typeface="Arial" pitchFamily="34" charset="0"/>
              </a:rPr>
              <a:t>Interfaz entre aplicaciones y SO</a:t>
            </a:r>
          </a:p>
          <a:p>
            <a:pPr marL="342900" indent="-342900" algn="l">
              <a:spcBef>
                <a:spcPct val="20000"/>
              </a:spcBef>
              <a:buClr>
                <a:schemeClr val="accent2"/>
              </a:buClr>
              <a:buFont typeface="Arial" pitchFamily="34" charset="0"/>
              <a:buChar char="•"/>
            </a:pPr>
            <a:r>
              <a:rPr lang="es-AR" sz="1800" dirty="0" smtClean="0">
                <a:solidFill>
                  <a:schemeClr val="tx1"/>
                </a:solidFill>
                <a:latin typeface="Arial" pitchFamily="34" charset="0"/>
                <a:cs typeface="Arial" pitchFamily="34" charset="0"/>
              </a:rPr>
              <a:t>Con un </a:t>
            </a:r>
            <a:r>
              <a:rPr lang="es-AR" sz="1800" dirty="0" err="1" smtClean="0">
                <a:solidFill>
                  <a:schemeClr val="tx1"/>
                </a:solidFill>
                <a:latin typeface="Arial" pitchFamily="34" charset="0"/>
                <a:cs typeface="Arial" pitchFamily="34" charset="0"/>
              </a:rPr>
              <a:t>trap</a:t>
            </a:r>
            <a:r>
              <a:rPr lang="es-AR" sz="1800" dirty="0" smtClean="0">
                <a:solidFill>
                  <a:schemeClr val="tx1"/>
                </a:solidFill>
                <a:latin typeface="Arial" pitchFamily="34" charset="0"/>
                <a:cs typeface="Arial" pitchFamily="34" charset="0"/>
              </a:rPr>
              <a:t> o interrupción software</a:t>
            </a:r>
          </a:p>
          <a:p>
            <a:pPr marL="342900" indent="-342900" algn="l">
              <a:spcBef>
                <a:spcPct val="20000"/>
              </a:spcBef>
              <a:buClr>
                <a:schemeClr val="accent2"/>
              </a:buClr>
              <a:buFont typeface="Arial" pitchFamily="34" charset="0"/>
              <a:buChar char="•"/>
            </a:pPr>
            <a:r>
              <a:rPr lang="es-AR" sz="1800" dirty="0" smtClean="0">
                <a:solidFill>
                  <a:schemeClr val="tx1"/>
                </a:solidFill>
                <a:latin typeface="Arial" pitchFamily="34" charset="0"/>
                <a:cs typeface="Arial" pitchFamily="34" charset="0"/>
              </a:rPr>
              <a:t>Acceso como función en los lenguajes (C, …)</a:t>
            </a:r>
          </a:p>
          <a:p>
            <a:pPr marL="800100" lvl="1" indent="-342900" algn="l">
              <a:spcBef>
                <a:spcPct val="20000"/>
              </a:spcBef>
              <a:buClr>
                <a:schemeClr val="accent2"/>
              </a:buClr>
              <a:buFont typeface="Arial" pitchFamily="34" charset="0"/>
              <a:buChar char="•"/>
            </a:pPr>
            <a:endParaRPr lang="es-AR" sz="1800" dirty="0" smtClean="0">
              <a:solidFill>
                <a:schemeClr val="tx1"/>
              </a:solidFill>
              <a:latin typeface="Arial" pitchFamily="34" charset="0"/>
              <a:cs typeface="Arial" pitchFamily="34" charset="0"/>
            </a:endParaRPr>
          </a:p>
          <a:p>
            <a:pPr marL="355600" lvl="1" indent="-355600" algn="l">
              <a:spcBef>
                <a:spcPct val="20000"/>
              </a:spcBef>
              <a:buClr>
                <a:schemeClr val="accent2"/>
              </a:buClr>
            </a:pPr>
            <a:r>
              <a:rPr lang="es-AR" sz="1800" dirty="0" smtClean="0">
                <a:solidFill>
                  <a:schemeClr val="tx1"/>
                </a:solidFill>
                <a:latin typeface="Arial" pitchFamily="34" charset="0"/>
                <a:cs typeface="Arial" pitchFamily="34" charset="0"/>
              </a:rPr>
              <a:t>El número y tipo de llamadas al sistema varía de un sistema operativo a otro. Existen, por lo general, llamadas al sistema para ejecutar ficheros que contienen programas, pedir más memoria dinámica para un programa, realizar labores de E/S, crear procesos, crear un directorio, etc.</a:t>
            </a:r>
          </a:p>
          <a:p>
            <a:pPr marL="742950" lvl="1" indent="-285750" algn="l">
              <a:spcBef>
                <a:spcPct val="20000"/>
              </a:spcBef>
              <a:buClr>
                <a:schemeClr val="accent2"/>
              </a:buClr>
            </a:pPr>
            <a:endParaRPr lang="en-US" sz="1800" dirty="0">
              <a:solidFill>
                <a:schemeClr val="tx1"/>
              </a:solidFill>
              <a:latin typeface="Arial" pitchFamily="34" charset="0"/>
              <a:cs typeface="Arial" pitchFamily="34" charset="0"/>
            </a:endParaRPr>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000" b="1" dirty="0" smtClean="0">
                <a:solidFill>
                  <a:schemeClr val="accent2">
                    <a:lumMod val="75000"/>
                  </a:schemeClr>
                </a:solidFill>
                <a:latin typeface="Arial Unicode MS"/>
                <a:ea typeface="Arial Unicode MS"/>
                <a:cs typeface="Arial Unicode MS"/>
              </a:rPr>
              <a:t>Llamadas al Sistema (</a:t>
            </a:r>
            <a:r>
              <a:rPr lang="es-AR" sz="4000" b="1" dirty="0" err="1" smtClean="0">
                <a:solidFill>
                  <a:schemeClr val="accent2">
                    <a:lumMod val="75000"/>
                  </a:schemeClr>
                </a:solidFill>
                <a:latin typeface="Arial Unicode MS"/>
                <a:ea typeface="Arial Unicode MS"/>
                <a:cs typeface="Arial Unicode MS"/>
              </a:rPr>
              <a:t>System</a:t>
            </a:r>
            <a:r>
              <a:rPr lang="es-AR" sz="4000" b="1" dirty="0" smtClean="0">
                <a:solidFill>
                  <a:schemeClr val="accent2">
                    <a:lumMod val="75000"/>
                  </a:schemeClr>
                </a:solidFill>
                <a:latin typeface="Arial Unicode MS"/>
                <a:ea typeface="Arial Unicode MS"/>
                <a:cs typeface="Arial Unicode MS"/>
              </a:rPr>
              <a:t> </a:t>
            </a:r>
            <a:r>
              <a:rPr lang="es-AR" sz="4000" b="1" dirty="0" err="1" smtClean="0">
                <a:solidFill>
                  <a:schemeClr val="accent2">
                    <a:lumMod val="75000"/>
                  </a:schemeClr>
                </a:solidFill>
                <a:latin typeface="Arial Unicode MS"/>
                <a:ea typeface="Arial Unicode MS"/>
                <a:cs typeface="Arial Unicode MS"/>
              </a:rPr>
              <a:t>call</a:t>
            </a:r>
            <a:r>
              <a:rPr lang="es-AR" sz="4000" b="1" dirty="0" smtClean="0">
                <a:solidFill>
                  <a:schemeClr val="accent2">
                    <a:lumMod val="75000"/>
                  </a:schemeClr>
                </a:solidFill>
                <a:latin typeface="Arial Unicode MS"/>
                <a:ea typeface="Arial Unicode MS"/>
                <a:cs typeface="Arial Unicode MS"/>
              </a:rPr>
              <a:t>)</a:t>
            </a:r>
            <a:endParaRPr lang="es-AR" sz="4000" b="1" dirty="0">
              <a:solidFill>
                <a:schemeClr val="accent2">
                  <a:lumMod val="75000"/>
                </a:schemeClr>
              </a:solidFill>
              <a:latin typeface="Arial Unicode MS"/>
              <a:ea typeface="Arial Unicode MS"/>
              <a:cs typeface="Arial Unicode M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28</a:t>
            </a:fld>
            <a:endParaRPr lang="en-US"/>
          </a:p>
        </p:txBody>
      </p:sp>
      <p:sp>
        <p:nvSpPr>
          <p:cNvPr id="2054" name="Rectangle 4"/>
          <p:cNvSpPr>
            <a:spLocks noChangeArrowheads="1"/>
          </p:cNvSpPr>
          <p:nvPr/>
        </p:nvSpPr>
        <p:spPr bwMode="auto">
          <a:xfrm>
            <a:off x="339725" y="1228725"/>
            <a:ext cx="7772400" cy="625475"/>
          </a:xfrm>
          <a:prstGeom prst="rect">
            <a:avLst/>
          </a:prstGeom>
          <a:noFill/>
          <a:ln w="9525">
            <a:noFill/>
            <a:miter lim="800000"/>
            <a:headEnd/>
            <a:tailEnd/>
          </a:ln>
        </p:spPr>
        <p:txBody>
          <a:bodyPr/>
          <a:lstStyle/>
          <a:p>
            <a:pPr marL="342900" indent="-342900" algn="l">
              <a:spcBef>
                <a:spcPct val="20000"/>
              </a:spcBef>
              <a:buClr>
                <a:schemeClr val="accent2"/>
              </a:buClr>
            </a:pPr>
            <a:r>
              <a:rPr lang="es-AR" sz="1600" dirty="0" smtClean="0">
                <a:solidFill>
                  <a:schemeClr val="tx1"/>
                </a:solidFill>
                <a:latin typeface="Arial" pitchFamily="34" charset="0"/>
                <a:cs typeface="Arial" pitchFamily="34" charset="0"/>
              </a:rPr>
              <a:t>Esquema</a:t>
            </a:r>
            <a:endParaRPr lang="en-US" sz="1600" dirty="0">
              <a:solidFill>
                <a:schemeClr val="tx1"/>
              </a:solidFill>
              <a:latin typeface="Arial" pitchFamily="34" charset="0"/>
              <a:cs typeface="Arial" pitchFamily="34" charset="0"/>
            </a:endParaRPr>
          </a:p>
          <a:p>
            <a:pPr marL="742950" lvl="1" indent="-285750" algn="l">
              <a:spcBef>
                <a:spcPct val="20000"/>
              </a:spcBef>
              <a:buClr>
                <a:schemeClr val="accent2"/>
              </a:buClr>
            </a:pPr>
            <a:endParaRPr lang="en-US" sz="1600" dirty="0">
              <a:solidFill>
                <a:schemeClr val="tx1"/>
              </a:solidFill>
              <a:latin typeface="Arial" pitchFamily="34" charset="0"/>
              <a:cs typeface="Arial" pitchFamily="34" charset="0"/>
            </a:endParaRPr>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pic>
        <p:nvPicPr>
          <p:cNvPr id="8" name="Picture 5"/>
          <p:cNvPicPr>
            <a:picLocks noChangeAspect="1" noChangeArrowheads="1"/>
          </p:cNvPicPr>
          <p:nvPr/>
        </p:nvPicPr>
        <p:blipFill>
          <a:blip r:embed="rId3" cstate="print"/>
          <a:srcRect/>
          <a:stretch>
            <a:fillRect/>
          </a:stretch>
        </p:blipFill>
        <p:spPr bwMode="auto">
          <a:xfrm>
            <a:off x="114301" y="1602463"/>
            <a:ext cx="8839200" cy="2727988"/>
          </a:xfrm>
          <a:prstGeom prst="rect">
            <a:avLst/>
          </a:prstGeom>
          <a:ln>
            <a:noFill/>
          </a:ln>
          <a:effectLst>
            <a:outerShdw blurRad="292100" dist="139700" dir="2700000" algn="tl" rotWithShape="0">
              <a:srgbClr val="333333">
                <a:alpha val="65000"/>
              </a:srgbClr>
            </a:outerShdw>
          </a:effectLst>
        </p:spPr>
      </p:pic>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200" b="1" dirty="0" smtClean="0">
                <a:solidFill>
                  <a:schemeClr val="accent2">
                    <a:lumMod val="75000"/>
                  </a:schemeClr>
                </a:solidFill>
                <a:latin typeface="Arial Unicode MS"/>
                <a:ea typeface="Arial Unicode MS"/>
                <a:cs typeface="Arial Unicode MS"/>
              </a:rPr>
              <a:t>Llamadas al Sistema (</a:t>
            </a:r>
            <a:r>
              <a:rPr lang="es-AR" sz="3200" b="1" dirty="0" err="1" smtClean="0">
                <a:solidFill>
                  <a:schemeClr val="accent2">
                    <a:lumMod val="75000"/>
                  </a:schemeClr>
                </a:solidFill>
                <a:latin typeface="Arial Unicode MS"/>
                <a:ea typeface="Arial Unicode MS"/>
                <a:cs typeface="Arial Unicode MS"/>
              </a:rPr>
              <a:t>System</a:t>
            </a:r>
            <a:r>
              <a:rPr lang="es-AR" sz="3200" b="1" dirty="0" smtClean="0">
                <a:solidFill>
                  <a:schemeClr val="accent2">
                    <a:lumMod val="75000"/>
                  </a:schemeClr>
                </a:solidFill>
                <a:latin typeface="Arial Unicode MS"/>
                <a:ea typeface="Arial Unicode MS"/>
                <a:cs typeface="Arial Unicode MS"/>
              </a:rPr>
              <a:t> </a:t>
            </a:r>
            <a:r>
              <a:rPr lang="es-AR" sz="3200" b="1" dirty="0" err="1" smtClean="0">
                <a:solidFill>
                  <a:schemeClr val="accent2">
                    <a:lumMod val="75000"/>
                  </a:schemeClr>
                </a:solidFill>
                <a:latin typeface="Arial Unicode MS"/>
                <a:ea typeface="Arial Unicode MS"/>
                <a:cs typeface="Arial Unicode MS"/>
              </a:rPr>
              <a:t>call</a:t>
            </a:r>
            <a:r>
              <a:rPr lang="es-AR" sz="3200" b="1" dirty="0" smtClean="0">
                <a:solidFill>
                  <a:schemeClr val="accent2">
                    <a:lumMod val="75000"/>
                  </a:schemeClr>
                </a:solidFill>
                <a:latin typeface="Arial Unicode MS"/>
                <a:ea typeface="Arial Unicode MS"/>
                <a:cs typeface="Arial Unicode MS"/>
              </a:rPr>
              <a:t>)</a:t>
            </a:r>
            <a:endParaRPr lang="es-AR" sz="3200" b="1" dirty="0">
              <a:solidFill>
                <a:schemeClr val="accent2">
                  <a:lumMod val="75000"/>
                </a:schemeClr>
              </a:solidFill>
              <a:latin typeface="Arial Unicode MS"/>
              <a:ea typeface="Arial Unicode MS"/>
              <a:cs typeface="Arial Unicode MS"/>
            </a:endParaRPr>
          </a:p>
        </p:txBody>
      </p:sp>
      <p:sp>
        <p:nvSpPr>
          <p:cNvPr id="11" name="Rectangle 4"/>
          <p:cNvSpPr>
            <a:spLocks noChangeArrowheads="1"/>
          </p:cNvSpPr>
          <p:nvPr/>
        </p:nvSpPr>
        <p:spPr bwMode="auto">
          <a:xfrm>
            <a:off x="209550" y="4695825"/>
            <a:ext cx="8591550" cy="1885950"/>
          </a:xfrm>
          <a:prstGeom prst="rect">
            <a:avLst/>
          </a:prstGeom>
          <a:noFill/>
          <a:ln w="9525">
            <a:noFill/>
            <a:miter lim="800000"/>
            <a:headEnd/>
            <a:tailEnd/>
          </a:ln>
        </p:spPr>
        <p:txBody>
          <a:bodyPr/>
          <a:lstStyle/>
          <a:p>
            <a:pPr marL="342900" indent="-342900" algn="l">
              <a:spcBef>
                <a:spcPct val="20000"/>
              </a:spcBef>
              <a:buClr>
                <a:schemeClr val="accent2"/>
              </a:buClr>
            </a:pPr>
            <a:r>
              <a:rPr lang="es-ES" sz="1600" dirty="0" smtClean="0">
                <a:solidFill>
                  <a:schemeClr val="tx1"/>
                </a:solidFill>
                <a:latin typeface="Arial" pitchFamily="34" charset="0"/>
                <a:cs typeface="Arial" pitchFamily="34" charset="0"/>
              </a:rPr>
              <a:t>Referencias de llamadas al sistema de Linux (</a:t>
            </a:r>
            <a:r>
              <a:rPr lang="es-ES" sz="1600" b="1" dirty="0" smtClean="0">
                <a:solidFill>
                  <a:schemeClr val="tx1"/>
                </a:solidFill>
                <a:latin typeface="Arial" pitchFamily="34" charset="0"/>
                <a:cs typeface="Arial" pitchFamily="34" charset="0"/>
              </a:rPr>
              <a:t>POSIX) </a:t>
            </a:r>
            <a:r>
              <a:rPr lang="es-ES" sz="1600" b="1" dirty="0" smtClean="0">
                <a:solidFill>
                  <a:schemeClr val="tx1"/>
                </a:solidFill>
                <a:latin typeface="Arial" pitchFamily="34" charset="0"/>
                <a:cs typeface="Arial" pitchFamily="34" charset="0"/>
                <a:hlinkClick r:id="rId4"/>
              </a:rPr>
              <a:t> https://filippo.io/linux-syscall-table/</a:t>
            </a:r>
            <a:endParaRPr lang="es-ES" sz="1600" b="1" dirty="0" smtClean="0">
              <a:solidFill>
                <a:schemeClr val="tx1"/>
              </a:solidFill>
              <a:latin typeface="Arial" pitchFamily="34" charset="0"/>
              <a:cs typeface="Arial" pitchFamily="34" charset="0"/>
            </a:endParaRPr>
          </a:p>
          <a:p>
            <a:pPr marL="342900" indent="-342900" algn="l">
              <a:spcBef>
                <a:spcPct val="20000"/>
              </a:spcBef>
              <a:buClr>
                <a:schemeClr val="accent2"/>
              </a:buClr>
            </a:pPr>
            <a:r>
              <a:rPr lang="es-ES" sz="1600" dirty="0" smtClean="0">
                <a:solidFill>
                  <a:schemeClr val="tx1"/>
                </a:solidFill>
                <a:latin typeface="Arial" pitchFamily="34" charset="0"/>
                <a:cs typeface="Arial" pitchFamily="34" charset="0"/>
              </a:rPr>
              <a:t>Tabla </a:t>
            </a:r>
            <a:r>
              <a:rPr lang="es-ES" sz="1600" b="1" dirty="0" smtClean="0">
                <a:solidFill>
                  <a:schemeClr val="tx1"/>
                </a:solidFill>
                <a:latin typeface="Arial" pitchFamily="34" charset="0"/>
                <a:cs typeface="Arial" pitchFamily="34" charset="0"/>
              </a:rPr>
              <a:t>:</a:t>
            </a:r>
            <a:r>
              <a:rPr lang="es-ES" sz="1600" b="1" dirty="0" smtClean="0">
                <a:solidFill>
                  <a:schemeClr val="tx1"/>
                </a:solidFill>
                <a:latin typeface="Arial" pitchFamily="34" charset="0"/>
                <a:cs typeface="Arial" pitchFamily="34" charset="0"/>
                <a:hlinkClick r:id="rId5"/>
              </a:rPr>
              <a:t> https://cs.uns.edu.ar/~ldm/mypage/data/oc/info/linux_system_call_table.pdf</a:t>
            </a:r>
            <a:endParaRPr lang="es-AR" sz="1600" dirty="0" smtClean="0">
              <a:solidFill>
                <a:schemeClr val="tx1"/>
              </a:solidFill>
              <a:latin typeface="Arial" pitchFamily="34" charset="0"/>
              <a:cs typeface="Arial" pitchFamily="34" charset="0"/>
            </a:endParaRPr>
          </a:p>
          <a:p>
            <a:pPr marL="342900" indent="-342900" algn="l">
              <a:spcBef>
                <a:spcPct val="20000"/>
              </a:spcBef>
              <a:buClr>
                <a:schemeClr val="accent2"/>
              </a:buClr>
            </a:pPr>
            <a:endParaRPr lang="es-ES" sz="1600" dirty="0" smtClean="0">
              <a:solidFill>
                <a:schemeClr val="tx1"/>
              </a:solidFill>
              <a:latin typeface="Arial" pitchFamily="34" charset="0"/>
              <a:cs typeface="Arial" pitchFamily="34" charset="0"/>
            </a:endParaRPr>
          </a:p>
          <a:p>
            <a:pPr marL="342900" indent="-342900" algn="l">
              <a:spcBef>
                <a:spcPct val="20000"/>
              </a:spcBef>
              <a:buClr>
                <a:schemeClr val="accent2"/>
              </a:buClr>
            </a:pPr>
            <a:r>
              <a:rPr lang="es-ES" sz="1600" dirty="0" smtClean="0">
                <a:solidFill>
                  <a:schemeClr val="tx1"/>
                </a:solidFill>
                <a:latin typeface="Arial" pitchFamily="34" charset="0"/>
                <a:cs typeface="Arial" pitchFamily="34" charset="0"/>
              </a:rPr>
              <a:t>Interrupciones BIOS: </a:t>
            </a:r>
            <a:r>
              <a:rPr lang="es-ES" sz="1600" dirty="0" smtClean="0">
                <a:solidFill>
                  <a:schemeClr val="tx1"/>
                </a:solidFill>
                <a:latin typeface="Arial" pitchFamily="34" charset="0"/>
                <a:cs typeface="Arial" pitchFamily="34" charset="0"/>
                <a:hlinkClick r:id="rId6"/>
              </a:rPr>
              <a:t>LINK</a:t>
            </a:r>
            <a:endParaRPr lang="es-ES" sz="1600" dirty="0" smtClean="0">
              <a:solidFill>
                <a:schemeClr val="tx1"/>
              </a:solidFill>
              <a:latin typeface="Arial" pitchFamily="34" charset="0"/>
              <a:cs typeface="Arial" pitchFamily="34" charset="0"/>
            </a:endParaRPr>
          </a:p>
          <a:p>
            <a:pPr marL="342900" indent="-342900" algn="l">
              <a:spcBef>
                <a:spcPct val="20000"/>
              </a:spcBef>
              <a:buClr>
                <a:schemeClr val="accent2"/>
              </a:buClr>
            </a:pPr>
            <a:r>
              <a:rPr lang="es-ES" sz="1600" dirty="0" smtClean="0">
                <a:solidFill>
                  <a:schemeClr val="tx1"/>
                </a:solidFill>
                <a:latin typeface="Arial" pitchFamily="34" charset="0"/>
                <a:cs typeface="Arial" pitchFamily="34" charset="0"/>
              </a:rPr>
              <a:t>Interrupciones de DOS:   </a:t>
            </a:r>
            <a:r>
              <a:rPr lang="es-ES" sz="1600" dirty="0" smtClean="0">
                <a:solidFill>
                  <a:schemeClr val="tx1"/>
                </a:solidFill>
                <a:latin typeface="Arial" pitchFamily="34" charset="0"/>
                <a:cs typeface="Arial" pitchFamily="34" charset="0"/>
                <a:hlinkClick r:id="rId7"/>
              </a:rPr>
              <a:t>LINK</a:t>
            </a:r>
            <a:endParaRPr lang="es-ES" sz="1600" dirty="0" smtClean="0">
              <a:solidFill>
                <a:schemeClr val="tx1"/>
              </a:solidFill>
              <a:latin typeface="Arial" pitchFamily="34" charset="0"/>
              <a:cs typeface="Arial" pitchFamily="34" charset="0"/>
            </a:endParaRPr>
          </a:p>
          <a:p>
            <a:pPr marL="342900" indent="-342900" algn="l">
              <a:spcBef>
                <a:spcPct val="20000"/>
              </a:spcBef>
              <a:buClr>
                <a:schemeClr val="accent2"/>
              </a:buClr>
            </a:pPr>
            <a:endParaRPr lang="es-ES" sz="1600" dirty="0" smtClean="0">
              <a:solidFill>
                <a:schemeClr val="tx1"/>
              </a:solidFill>
              <a:latin typeface="Arial" pitchFamily="34" charset="0"/>
              <a:cs typeface="Arial" pitchFamily="34" charset="0"/>
            </a:endParaRPr>
          </a:p>
          <a:p>
            <a:pPr marL="342900" indent="-342900" algn="l">
              <a:spcBef>
                <a:spcPct val="20000"/>
              </a:spcBef>
              <a:buClr>
                <a:schemeClr val="accent2"/>
              </a:buClr>
            </a:pPr>
            <a:r>
              <a:rPr lang="es-ES" sz="1600" dirty="0" smtClean="0">
                <a:solidFill>
                  <a:schemeClr val="tx1"/>
                </a:solidFill>
                <a:latin typeface="Arial" pitchFamily="34" charset="0"/>
                <a:cs typeface="Arial" pitchFamily="34" charset="0"/>
              </a:rPr>
              <a:t>Son </a:t>
            </a:r>
            <a:r>
              <a:rPr lang="es-ES" sz="1600" dirty="0">
                <a:solidFill>
                  <a:schemeClr val="tx1"/>
                </a:solidFill>
                <a:latin typeface="Arial" pitchFamily="34" charset="0"/>
                <a:cs typeface="Arial" pitchFamily="34" charset="0"/>
              </a:rPr>
              <a:t>invocaciones de rutinas de biblioteca</a:t>
            </a:r>
            <a:endParaRPr lang="en-US" sz="1600" dirty="0">
              <a:solidFill>
                <a:schemeClr val="tx1"/>
              </a:solidFill>
              <a:latin typeface="Arial" pitchFamily="34" charset="0"/>
              <a:cs typeface="Arial" pitchFamily="34" charset="0"/>
            </a:endParaRPr>
          </a:p>
          <a:p>
            <a:pPr marL="742950" lvl="1" indent="-285750" algn="l">
              <a:spcBef>
                <a:spcPct val="20000"/>
              </a:spcBef>
              <a:buClr>
                <a:schemeClr val="accent2"/>
              </a:buClr>
            </a:pPr>
            <a:endParaRPr lang="en-US" sz="1600" dirty="0">
              <a:solidFill>
                <a:schemeClr val="tx1"/>
              </a:solidFill>
              <a:latin typeface="Arial" pitchFamily="34" charset="0"/>
              <a:cs typeface="Arial" pitchFamily="34" charset="0"/>
            </a:endParaRPr>
          </a:p>
        </p:txBody>
      </p:sp>
      <p:pic>
        <p:nvPicPr>
          <p:cNvPr id="2051" name="Picture 3"/>
          <p:cNvPicPr>
            <a:picLocks noChangeAspect="1" noChangeArrowheads="1"/>
          </p:cNvPicPr>
          <p:nvPr/>
        </p:nvPicPr>
        <p:blipFill>
          <a:blip r:embed="rId8" cstate="print"/>
          <a:srcRect/>
          <a:stretch>
            <a:fillRect/>
          </a:stretch>
        </p:blipFill>
        <p:spPr bwMode="auto">
          <a:xfrm>
            <a:off x="149225" y="3055932"/>
            <a:ext cx="8671840" cy="359251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p:cTn id="7" dur="500" fill="hold"/>
                                        <p:tgtEl>
                                          <p:spTgt spid="2051"/>
                                        </p:tgtEl>
                                        <p:attrNameLst>
                                          <p:attrName>ppt_w</p:attrName>
                                        </p:attrNameLst>
                                      </p:cBhvr>
                                      <p:tavLst>
                                        <p:tav tm="0">
                                          <p:val>
                                            <p:strVal val="#ppt_w*2.5"/>
                                          </p:val>
                                        </p:tav>
                                        <p:tav tm="100000">
                                          <p:val>
                                            <p:strVal val="#ppt_w"/>
                                          </p:val>
                                        </p:tav>
                                      </p:tavLst>
                                    </p:anim>
                                    <p:anim calcmode="lin" valueType="num">
                                      <p:cBhvr>
                                        <p:cTn id="8" dur="500" fill="hold"/>
                                        <p:tgtEl>
                                          <p:spTgt spid="2051"/>
                                        </p:tgtEl>
                                        <p:attrNameLst>
                                          <p:attrName>ppt_h</p:attrName>
                                        </p:attrNameLst>
                                      </p:cBhvr>
                                      <p:tavLst>
                                        <p:tav tm="0">
                                          <p:val>
                                            <p:strVal val="#ppt_h*0.01"/>
                                          </p:val>
                                        </p:tav>
                                        <p:tav tm="100000">
                                          <p:val>
                                            <p:strVal val="#ppt_h"/>
                                          </p:val>
                                        </p:tav>
                                      </p:tavLst>
                                    </p:anim>
                                    <p:anim calcmode="lin" valueType="num">
                                      <p:cBhvr>
                                        <p:cTn id="9" dur="500" fill="hold"/>
                                        <p:tgtEl>
                                          <p:spTgt spid="2051"/>
                                        </p:tgtEl>
                                        <p:attrNameLst>
                                          <p:attrName>ppt_x</p:attrName>
                                        </p:attrNameLst>
                                      </p:cBhvr>
                                      <p:tavLst>
                                        <p:tav tm="0">
                                          <p:val>
                                            <p:strVal val="#ppt_x"/>
                                          </p:val>
                                        </p:tav>
                                        <p:tav tm="100000">
                                          <p:val>
                                            <p:strVal val="#ppt_x"/>
                                          </p:val>
                                        </p:tav>
                                      </p:tavLst>
                                    </p:anim>
                                    <p:anim calcmode="lin" valueType="num">
                                      <p:cBhvr>
                                        <p:cTn id="10" dur="500" fill="hold"/>
                                        <p:tgtEl>
                                          <p:spTgt spid="2051"/>
                                        </p:tgtEl>
                                        <p:attrNameLst>
                                          <p:attrName>ppt_y</p:attrName>
                                        </p:attrNameLst>
                                      </p:cBhvr>
                                      <p:tavLst>
                                        <p:tav tm="0">
                                          <p:val>
                                            <p:strVal val="#ppt_h+1"/>
                                          </p:val>
                                        </p:tav>
                                        <p:tav tm="100000">
                                          <p:val>
                                            <p:strVal val="#ppt_y"/>
                                          </p:val>
                                        </p:tav>
                                      </p:tavLst>
                                    </p:anim>
                                    <p:animEffect transition="in" filter="fade">
                                      <p:cBhvr>
                                        <p:cTn id="11"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5 Marcador de número de diapositiva"/>
          <p:cNvSpPr>
            <a:spLocks noGrp="1"/>
          </p:cNvSpPr>
          <p:nvPr>
            <p:ph type="sldNum" sz="quarter" idx="12"/>
          </p:nvPr>
        </p:nvSpPr>
        <p:spPr>
          <a:noFill/>
        </p:spPr>
        <p:txBody>
          <a:bodyPr/>
          <a:lstStyle/>
          <a:p>
            <a:fld id="{CDB220D6-6362-4757-9F3F-D8C63A861AA2}" type="slidenum">
              <a:rPr lang="en-US"/>
              <a:pPr/>
              <a:t>29</a:t>
            </a:fld>
            <a:endParaRPr lang="en-US"/>
          </a:p>
        </p:txBody>
      </p:sp>
      <p:grpSp>
        <p:nvGrpSpPr>
          <p:cNvPr id="6" name="Group 84"/>
          <p:cNvGrpSpPr>
            <a:grpSpLocks/>
          </p:cNvGrpSpPr>
          <p:nvPr/>
        </p:nvGrpSpPr>
        <p:grpSpPr bwMode="auto">
          <a:xfrm>
            <a:off x="1143000" y="2603501"/>
            <a:ext cx="6192838" cy="3784600"/>
            <a:chOff x="375" y="715"/>
            <a:chExt cx="4381" cy="2669"/>
          </a:xfrm>
        </p:grpSpPr>
        <p:sp>
          <p:nvSpPr>
            <p:cNvPr id="7" name="Rectangle 9"/>
            <p:cNvSpPr>
              <a:spLocks noChangeArrowheads="1"/>
            </p:cNvSpPr>
            <p:nvPr/>
          </p:nvSpPr>
          <p:spPr bwMode="auto">
            <a:xfrm>
              <a:off x="2078" y="805"/>
              <a:ext cx="2678" cy="2570"/>
            </a:xfrm>
            <a:prstGeom prst="rect">
              <a:avLst/>
            </a:prstGeom>
            <a:noFill/>
            <a:ln w="9525" algn="ctr">
              <a:solidFill>
                <a:schemeClr val="tx1"/>
              </a:solidFill>
              <a:miter lim="800000"/>
              <a:headEnd/>
              <a:tailEnd/>
            </a:ln>
          </p:spPr>
          <p:txBody>
            <a:bodyPr anchor="ctr">
              <a:spAutoFit/>
            </a:bodyPr>
            <a:lstStyle/>
            <a:p>
              <a:endParaRPr lang="es-ES"/>
            </a:p>
          </p:txBody>
        </p:sp>
        <p:sp>
          <p:nvSpPr>
            <p:cNvPr id="9" name="Rectangle 13"/>
            <p:cNvSpPr>
              <a:spLocks noChangeArrowheads="1"/>
            </p:cNvSpPr>
            <p:nvPr/>
          </p:nvSpPr>
          <p:spPr bwMode="auto">
            <a:xfrm>
              <a:off x="2077" y="2744"/>
              <a:ext cx="2679" cy="631"/>
            </a:xfrm>
            <a:prstGeom prst="rect">
              <a:avLst/>
            </a:prstGeom>
            <a:solidFill>
              <a:schemeClr val="accent4">
                <a:lumMod val="40000"/>
                <a:lumOff val="60000"/>
              </a:schemeClr>
            </a:solidFill>
            <a:ln w="9525" algn="ctr">
              <a:solidFill>
                <a:schemeClr val="tx1"/>
              </a:solidFill>
              <a:miter lim="800000"/>
              <a:headEnd/>
              <a:tailEnd/>
            </a:ln>
          </p:spPr>
          <p:txBody>
            <a:bodyPr wrap="none" anchor="ctr">
              <a:spAutoFit/>
            </a:bodyPr>
            <a:lstStyle/>
            <a:p>
              <a:endParaRPr lang="es-ES"/>
            </a:p>
          </p:txBody>
        </p:sp>
        <p:sp>
          <p:nvSpPr>
            <p:cNvPr id="10" name="Rectangle 19"/>
            <p:cNvSpPr>
              <a:spLocks noChangeArrowheads="1"/>
            </p:cNvSpPr>
            <p:nvPr/>
          </p:nvSpPr>
          <p:spPr bwMode="auto">
            <a:xfrm>
              <a:off x="2160" y="2844"/>
              <a:ext cx="731" cy="448"/>
            </a:xfrm>
            <a:prstGeom prst="rect">
              <a:avLst/>
            </a:prstGeom>
            <a:noFill/>
            <a:ln w="9525" algn="ctr">
              <a:solidFill>
                <a:schemeClr val="tx1"/>
              </a:solidFill>
              <a:miter lim="800000"/>
              <a:headEnd/>
              <a:tailEnd/>
            </a:ln>
          </p:spPr>
          <p:txBody>
            <a:bodyPr anchor="ctr">
              <a:spAutoFit/>
            </a:bodyPr>
            <a:lstStyle/>
            <a:p>
              <a:endParaRPr lang="es-ES"/>
            </a:p>
          </p:txBody>
        </p:sp>
        <p:sp>
          <p:nvSpPr>
            <p:cNvPr id="11" name="Rectangle 20"/>
            <p:cNvSpPr>
              <a:spLocks noChangeArrowheads="1"/>
            </p:cNvSpPr>
            <p:nvPr/>
          </p:nvSpPr>
          <p:spPr bwMode="auto">
            <a:xfrm>
              <a:off x="3160" y="2845"/>
              <a:ext cx="456" cy="448"/>
            </a:xfrm>
            <a:prstGeom prst="rect">
              <a:avLst/>
            </a:prstGeom>
            <a:noFill/>
            <a:ln w="9525" algn="ctr">
              <a:solidFill>
                <a:schemeClr val="tx1"/>
              </a:solidFill>
              <a:miter lim="800000"/>
              <a:headEnd/>
              <a:tailEnd/>
            </a:ln>
          </p:spPr>
          <p:txBody>
            <a:bodyPr anchor="ctr">
              <a:spAutoFit/>
            </a:bodyPr>
            <a:lstStyle/>
            <a:p>
              <a:endParaRPr lang="es-ES"/>
            </a:p>
          </p:txBody>
        </p:sp>
        <p:sp>
          <p:nvSpPr>
            <p:cNvPr id="12" name="Rectangle 22"/>
            <p:cNvSpPr>
              <a:spLocks noChangeArrowheads="1"/>
            </p:cNvSpPr>
            <p:nvPr/>
          </p:nvSpPr>
          <p:spPr bwMode="auto">
            <a:xfrm>
              <a:off x="3905" y="2843"/>
              <a:ext cx="749" cy="448"/>
            </a:xfrm>
            <a:prstGeom prst="rect">
              <a:avLst/>
            </a:prstGeom>
            <a:noFill/>
            <a:ln w="9525" algn="ctr">
              <a:solidFill>
                <a:schemeClr val="tx1"/>
              </a:solidFill>
              <a:miter lim="800000"/>
              <a:headEnd/>
              <a:tailEnd/>
            </a:ln>
          </p:spPr>
          <p:txBody>
            <a:bodyPr anchor="ctr">
              <a:spAutoFit/>
            </a:bodyPr>
            <a:lstStyle/>
            <a:p>
              <a:endParaRPr lang="es-ES"/>
            </a:p>
          </p:txBody>
        </p:sp>
        <p:sp>
          <p:nvSpPr>
            <p:cNvPr id="13" name="Line 23"/>
            <p:cNvSpPr>
              <a:spLocks noChangeShapeType="1"/>
            </p:cNvSpPr>
            <p:nvPr/>
          </p:nvSpPr>
          <p:spPr bwMode="auto">
            <a:xfrm>
              <a:off x="2899" y="3055"/>
              <a:ext cx="257" cy="0"/>
            </a:xfrm>
            <a:prstGeom prst="line">
              <a:avLst/>
            </a:prstGeom>
            <a:noFill/>
            <a:ln w="12700">
              <a:solidFill>
                <a:schemeClr val="tx1"/>
              </a:solidFill>
              <a:round/>
              <a:headEnd/>
              <a:tailEnd type="triangle" w="med" len="lg"/>
            </a:ln>
          </p:spPr>
          <p:txBody>
            <a:bodyPr>
              <a:spAutoFit/>
            </a:bodyPr>
            <a:lstStyle/>
            <a:p>
              <a:endParaRPr lang="es-AR"/>
            </a:p>
          </p:txBody>
        </p:sp>
        <p:sp>
          <p:nvSpPr>
            <p:cNvPr id="14" name="Line 24"/>
            <p:cNvSpPr>
              <a:spLocks noChangeShapeType="1"/>
            </p:cNvSpPr>
            <p:nvPr/>
          </p:nvSpPr>
          <p:spPr bwMode="auto">
            <a:xfrm>
              <a:off x="3630" y="3054"/>
              <a:ext cx="275" cy="0"/>
            </a:xfrm>
            <a:prstGeom prst="line">
              <a:avLst/>
            </a:prstGeom>
            <a:noFill/>
            <a:ln w="12700">
              <a:solidFill>
                <a:schemeClr val="tx1"/>
              </a:solidFill>
              <a:round/>
              <a:headEnd/>
              <a:tailEnd type="triangle" w="med" len="lg"/>
            </a:ln>
          </p:spPr>
          <p:txBody>
            <a:bodyPr wrap="none">
              <a:spAutoFit/>
            </a:bodyPr>
            <a:lstStyle/>
            <a:p>
              <a:endParaRPr lang="es-AR"/>
            </a:p>
          </p:txBody>
        </p:sp>
        <p:sp>
          <p:nvSpPr>
            <p:cNvPr id="15" name="Line 25"/>
            <p:cNvSpPr>
              <a:spLocks noChangeShapeType="1"/>
            </p:cNvSpPr>
            <p:nvPr/>
          </p:nvSpPr>
          <p:spPr bwMode="auto">
            <a:xfrm>
              <a:off x="3166" y="2872"/>
              <a:ext cx="447" cy="0"/>
            </a:xfrm>
            <a:prstGeom prst="line">
              <a:avLst/>
            </a:prstGeom>
            <a:noFill/>
            <a:ln w="9525">
              <a:solidFill>
                <a:schemeClr val="tx1"/>
              </a:solidFill>
              <a:round/>
              <a:headEnd/>
              <a:tailEnd/>
            </a:ln>
          </p:spPr>
          <p:txBody>
            <a:bodyPr>
              <a:spAutoFit/>
            </a:bodyPr>
            <a:lstStyle/>
            <a:p>
              <a:endParaRPr lang="es-AR"/>
            </a:p>
          </p:txBody>
        </p:sp>
        <p:sp>
          <p:nvSpPr>
            <p:cNvPr id="16" name="Line 26"/>
            <p:cNvSpPr>
              <a:spLocks noChangeShapeType="1"/>
            </p:cNvSpPr>
            <p:nvPr/>
          </p:nvSpPr>
          <p:spPr bwMode="auto">
            <a:xfrm>
              <a:off x="3164" y="2907"/>
              <a:ext cx="457" cy="0"/>
            </a:xfrm>
            <a:prstGeom prst="line">
              <a:avLst/>
            </a:prstGeom>
            <a:noFill/>
            <a:ln w="9525">
              <a:solidFill>
                <a:schemeClr val="tx1"/>
              </a:solidFill>
              <a:round/>
              <a:headEnd/>
              <a:tailEnd/>
            </a:ln>
          </p:spPr>
          <p:txBody>
            <a:bodyPr>
              <a:spAutoFit/>
            </a:bodyPr>
            <a:lstStyle/>
            <a:p>
              <a:endParaRPr lang="es-AR"/>
            </a:p>
          </p:txBody>
        </p:sp>
        <p:sp>
          <p:nvSpPr>
            <p:cNvPr id="17" name="Line 27"/>
            <p:cNvSpPr>
              <a:spLocks noChangeShapeType="1"/>
            </p:cNvSpPr>
            <p:nvPr/>
          </p:nvSpPr>
          <p:spPr bwMode="auto">
            <a:xfrm>
              <a:off x="3163" y="2933"/>
              <a:ext cx="457" cy="0"/>
            </a:xfrm>
            <a:prstGeom prst="line">
              <a:avLst/>
            </a:prstGeom>
            <a:noFill/>
            <a:ln w="9525">
              <a:solidFill>
                <a:schemeClr val="tx1"/>
              </a:solidFill>
              <a:round/>
              <a:headEnd/>
              <a:tailEnd/>
            </a:ln>
          </p:spPr>
          <p:txBody>
            <a:bodyPr>
              <a:spAutoFit/>
            </a:bodyPr>
            <a:lstStyle/>
            <a:p>
              <a:endParaRPr lang="es-AR"/>
            </a:p>
          </p:txBody>
        </p:sp>
        <p:sp>
          <p:nvSpPr>
            <p:cNvPr id="18" name="Line 28"/>
            <p:cNvSpPr>
              <a:spLocks noChangeShapeType="1"/>
            </p:cNvSpPr>
            <p:nvPr/>
          </p:nvSpPr>
          <p:spPr bwMode="auto">
            <a:xfrm>
              <a:off x="3163" y="2960"/>
              <a:ext cx="457" cy="0"/>
            </a:xfrm>
            <a:prstGeom prst="line">
              <a:avLst/>
            </a:prstGeom>
            <a:noFill/>
            <a:ln w="9525">
              <a:solidFill>
                <a:schemeClr val="tx1"/>
              </a:solidFill>
              <a:round/>
              <a:headEnd/>
              <a:tailEnd/>
            </a:ln>
          </p:spPr>
          <p:txBody>
            <a:bodyPr>
              <a:spAutoFit/>
            </a:bodyPr>
            <a:lstStyle/>
            <a:p>
              <a:endParaRPr lang="es-AR"/>
            </a:p>
          </p:txBody>
        </p:sp>
        <p:sp>
          <p:nvSpPr>
            <p:cNvPr id="19" name="Line 29"/>
            <p:cNvSpPr>
              <a:spLocks noChangeShapeType="1"/>
            </p:cNvSpPr>
            <p:nvPr/>
          </p:nvSpPr>
          <p:spPr bwMode="auto">
            <a:xfrm>
              <a:off x="3164" y="2988"/>
              <a:ext cx="457" cy="0"/>
            </a:xfrm>
            <a:prstGeom prst="line">
              <a:avLst/>
            </a:prstGeom>
            <a:noFill/>
            <a:ln w="9525">
              <a:solidFill>
                <a:schemeClr val="tx1"/>
              </a:solidFill>
              <a:round/>
              <a:headEnd/>
              <a:tailEnd/>
            </a:ln>
          </p:spPr>
          <p:txBody>
            <a:bodyPr>
              <a:spAutoFit/>
            </a:bodyPr>
            <a:lstStyle/>
            <a:p>
              <a:endParaRPr lang="es-AR"/>
            </a:p>
          </p:txBody>
        </p:sp>
        <p:sp>
          <p:nvSpPr>
            <p:cNvPr id="20" name="Line 30"/>
            <p:cNvSpPr>
              <a:spLocks noChangeShapeType="1"/>
            </p:cNvSpPr>
            <p:nvPr/>
          </p:nvSpPr>
          <p:spPr bwMode="auto">
            <a:xfrm>
              <a:off x="3164" y="3015"/>
              <a:ext cx="457" cy="0"/>
            </a:xfrm>
            <a:prstGeom prst="line">
              <a:avLst/>
            </a:prstGeom>
            <a:noFill/>
            <a:ln w="9525">
              <a:solidFill>
                <a:schemeClr val="tx1"/>
              </a:solidFill>
              <a:round/>
              <a:headEnd/>
              <a:tailEnd/>
            </a:ln>
          </p:spPr>
          <p:txBody>
            <a:bodyPr>
              <a:spAutoFit/>
            </a:bodyPr>
            <a:lstStyle/>
            <a:p>
              <a:endParaRPr lang="es-AR"/>
            </a:p>
          </p:txBody>
        </p:sp>
        <p:sp>
          <p:nvSpPr>
            <p:cNvPr id="21" name="Line 31"/>
            <p:cNvSpPr>
              <a:spLocks noChangeShapeType="1"/>
            </p:cNvSpPr>
            <p:nvPr/>
          </p:nvSpPr>
          <p:spPr bwMode="auto">
            <a:xfrm>
              <a:off x="3171" y="3041"/>
              <a:ext cx="457" cy="0"/>
            </a:xfrm>
            <a:prstGeom prst="line">
              <a:avLst/>
            </a:prstGeom>
            <a:noFill/>
            <a:ln w="9525">
              <a:solidFill>
                <a:schemeClr val="tx1"/>
              </a:solidFill>
              <a:round/>
              <a:headEnd/>
              <a:tailEnd/>
            </a:ln>
          </p:spPr>
          <p:txBody>
            <a:bodyPr>
              <a:spAutoFit/>
            </a:bodyPr>
            <a:lstStyle/>
            <a:p>
              <a:endParaRPr lang="es-AR"/>
            </a:p>
          </p:txBody>
        </p:sp>
        <p:sp>
          <p:nvSpPr>
            <p:cNvPr id="22" name="Line 32"/>
            <p:cNvSpPr>
              <a:spLocks noChangeShapeType="1"/>
            </p:cNvSpPr>
            <p:nvPr/>
          </p:nvSpPr>
          <p:spPr bwMode="auto">
            <a:xfrm>
              <a:off x="3161" y="3067"/>
              <a:ext cx="457" cy="0"/>
            </a:xfrm>
            <a:prstGeom prst="line">
              <a:avLst/>
            </a:prstGeom>
            <a:noFill/>
            <a:ln w="9525">
              <a:solidFill>
                <a:schemeClr val="tx1"/>
              </a:solidFill>
              <a:round/>
              <a:headEnd/>
              <a:tailEnd/>
            </a:ln>
          </p:spPr>
          <p:txBody>
            <a:bodyPr>
              <a:spAutoFit/>
            </a:bodyPr>
            <a:lstStyle/>
            <a:p>
              <a:endParaRPr lang="es-AR"/>
            </a:p>
          </p:txBody>
        </p:sp>
        <p:sp>
          <p:nvSpPr>
            <p:cNvPr id="23" name="Line 33"/>
            <p:cNvSpPr>
              <a:spLocks noChangeShapeType="1"/>
            </p:cNvSpPr>
            <p:nvPr/>
          </p:nvSpPr>
          <p:spPr bwMode="auto">
            <a:xfrm>
              <a:off x="3161" y="3094"/>
              <a:ext cx="457" cy="0"/>
            </a:xfrm>
            <a:prstGeom prst="line">
              <a:avLst/>
            </a:prstGeom>
            <a:noFill/>
            <a:ln w="9525">
              <a:solidFill>
                <a:schemeClr val="tx1"/>
              </a:solidFill>
              <a:round/>
              <a:headEnd/>
              <a:tailEnd/>
            </a:ln>
          </p:spPr>
          <p:txBody>
            <a:bodyPr>
              <a:spAutoFit/>
            </a:bodyPr>
            <a:lstStyle/>
            <a:p>
              <a:endParaRPr lang="es-AR"/>
            </a:p>
          </p:txBody>
        </p:sp>
        <p:sp>
          <p:nvSpPr>
            <p:cNvPr id="24" name="Line 34"/>
            <p:cNvSpPr>
              <a:spLocks noChangeShapeType="1"/>
            </p:cNvSpPr>
            <p:nvPr/>
          </p:nvSpPr>
          <p:spPr bwMode="auto">
            <a:xfrm>
              <a:off x="3161" y="3122"/>
              <a:ext cx="457" cy="0"/>
            </a:xfrm>
            <a:prstGeom prst="line">
              <a:avLst/>
            </a:prstGeom>
            <a:noFill/>
            <a:ln w="9525">
              <a:solidFill>
                <a:schemeClr val="tx1"/>
              </a:solidFill>
              <a:round/>
              <a:headEnd/>
              <a:tailEnd/>
            </a:ln>
          </p:spPr>
          <p:txBody>
            <a:bodyPr>
              <a:spAutoFit/>
            </a:bodyPr>
            <a:lstStyle/>
            <a:p>
              <a:endParaRPr lang="es-AR"/>
            </a:p>
          </p:txBody>
        </p:sp>
        <p:sp>
          <p:nvSpPr>
            <p:cNvPr id="25" name="Line 35"/>
            <p:cNvSpPr>
              <a:spLocks noChangeShapeType="1"/>
            </p:cNvSpPr>
            <p:nvPr/>
          </p:nvSpPr>
          <p:spPr bwMode="auto">
            <a:xfrm>
              <a:off x="3161" y="3149"/>
              <a:ext cx="457" cy="0"/>
            </a:xfrm>
            <a:prstGeom prst="line">
              <a:avLst/>
            </a:prstGeom>
            <a:noFill/>
            <a:ln w="9525">
              <a:solidFill>
                <a:schemeClr val="tx1"/>
              </a:solidFill>
              <a:round/>
              <a:headEnd/>
              <a:tailEnd/>
            </a:ln>
          </p:spPr>
          <p:txBody>
            <a:bodyPr>
              <a:spAutoFit/>
            </a:bodyPr>
            <a:lstStyle/>
            <a:p>
              <a:endParaRPr lang="es-AR"/>
            </a:p>
          </p:txBody>
        </p:sp>
        <p:sp>
          <p:nvSpPr>
            <p:cNvPr id="26" name="Line 36"/>
            <p:cNvSpPr>
              <a:spLocks noChangeShapeType="1"/>
            </p:cNvSpPr>
            <p:nvPr/>
          </p:nvSpPr>
          <p:spPr bwMode="auto">
            <a:xfrm>
              <a:off x="3161" y="3187"/>
              <a:ext cx="457" cy="0"/>
            </a:xfrm>
            <a:prstGeom prst="line">
              <a:avLst/>
            </a:prstGeom>
            <a:noFill/>
            <a:ln w="9525">
              <a:solidFill>
                <a:schemeClr val="tx1"/>
              </a:solidFill>
              <a:round/>
              <a:headEnd/>
              <a:tailEnd/>
            </a:ln>
          </p:spPr>
          <p:txBody>
            <a:bodyPr>
              <a:spAutoFit/>
            </a:bodyPr>
            <a:lstStyle/>
            <a:p>
              <a:endParaRPr lang="es-AR"/>
            </a:p>
          </p:txBody>
        </p:sp>
        <p:sp>
          <p:nvSpPr>
            <p:cNvPr id="27" name="Line 37"/>
            <p:cNvSpPr>
              <a:spLocks noChangeShapeType="1"/>
            </p:cNvSpPr>
            <p:nvPr/>
          </p:nvSpPr>
          <p:spPr bwMode="auto">
            <a:xfrm>
              <a:off x="3161" y="3214"/>
              <a:ext cx="457" cy="0"/>
            </a:xfrm>
            <a:prstGeom prst="line">
              <a:avLst/>
            </a:prstGeom>
            <a:noFill/>
            <a:ln w="9525">
              <a:solidFill>
                <a:schemeClr val="tx1"/>
              </a:solidFill>
              <a:round/>
              <a:headEnd/>
              <a:tailEnd/>
            </a:ln>
          </p:spPr>
          <p:txBody>
            <a:bodyPr>
              <a:spAutoFit/>
            </a:bodyPr>
            <a:lstStyle/>
            <a:p>
              <a:endParaRPr lang="es-AR"/>
            </a:p>
          </p:txBody>
        </p:sp>
        <p:sp>
          <p:nvSpPr>
            <p:cNvPr id="28" name="Line 38"/>
            <p:cNvSpPr>
              <a:spLocks noChangeShapeType="1"/>
            </p:cNvSpPr>
            <p:nvPr/>
          </p:nvSpPr>
          <p:spPr bwMode="auto">
            <a:xfrm>
              <a:off x="3169" y="3240"/>
              <a:ext cx="457" cy="0"/>
            </a:xfrm>
            <a:prstGeom prst="line">
              <a:avLst/>
            </a:prstGeom>
            <a:noFill/>
            <a:ln w="9525">
              <a:solidFill>
                <a:schemeClr val="tx1"/>
              </a:solidFill>
              <a:round/>
              <a:headEnd/>
              <a:tailEnd/>
            </a:ln>
          </p:spPr>
          <p:txBody>
            <a:bodyPr>
              <a:spAutoFit/>
            </a:bodyPr>
            <a:lstStyle/>
            <a:p>
              <a:endParaRPr lang="es-AR"/>
            </a:p>
          </p:txBody>
        </p:sp>
        <p:sp>
          <p:nvSpPr>
            <p:cNvPr id="29" name="Line 39"/>
            <p:cNvSpPr>
              <a:spLocks noChangeShapeType="1"/>
            </p:cNvSpPr>
            <p:nvPr/>
          </p:nvSpPr>
          <p:spPr bwMode="auto">
            <a:xfrm>
              <a:off x="3169" y="3268"/>
              <a:ext cx="457" cy="0"/>
            </a:xfrm>
            <a:prstGeom prst="line">
              <a:avLst/>
            </a:prstGeom>
            <a:noFill/>
            <a:ln w="9525">
              <a:solidFill>
                <a:schemeClr val="tx1"/>
              </a:solidFill>
              <a:round/>
              <a:headEnd/>
              <a:tailEnd/>
            </a:ln>
          </p:spPr>
          <p:txBody>
            <a:bodyPr>
              <a:spAutoFit/>
            </a:bodyPr>
            <a:lstStyle/>
            <a:p>
              <a:endParaRPr lang="es-AR"/>
            </a:p>
          </p:txBody>
        </p:sp>
        <p:sp>
          <p:nvSpPr>
            <p:cNvPr id="30" name="Text Box 40"/>
            <p:cNvSpPr txBox="1">
              <a:spLocks noChangeArrowheads="1"/>
            </p:cNvSpPr>
            <p:nvPr/>
          </p:nvSpPr>
          <p:spPr bwMode="auto">
            <a:xfrm>
              <a:off x="3933" y="2836"/>
              <a:ext cx="713" cy="465"/>
            </a:xfrm>
            <a:prstGeom prst="rect">
              <a:avLst/>
            </a:prstGeom>
            <a:noFill/>
            <a:ln w="9525" algn="ctr">
              <a:noFill/>
              <a:miter lim="800000"/>
              <a:headEnd/>
              <a:tailEnd/>
            </a:ln>
          </p:spPr>
          <p:txBody>
            <a:bodyPr wrap="square">
              <a:spAutoFit/>
            </a:bodyPr>
            <a:lstStyle/>
            <a:p>
              <a:pPr>
                <a:spcBef>
                  <a:spcPct val="50000"/>
                </a:spcBef>
              </a:pPr>
              <a:r>
                <a:rPr lang="es-ES" sz="1200" dirty="0">
                  <a:solidFill>
                    <a:schemeClr val="tx1"/>
                  </a:solidFill>
                  <a:latin typeface="Arial" pitchFamily="34" charset="0"/>
                  <a:cs typeface="Arial" pitchFamily="34" charset="0"/>
                </a:rPr>
                <a:t>Manejador de llamada al sistema</a:t>
              </a:r>
            </a:p>
          </p:txBody>
        </p:sp>
        <p:sp>
          <p:nvSpPr>
            <p:cNvPr id="31" name="Text Box 41"/>
            <p:cNvSpPr txBox="1">
              <a:spLocks noChangeArrowheads="1"/>
            </p:cNvSpPr>
            <p:nvPr/>
          </p:nvSpPr>
          <p:spPr bwMode="auto">
            <a:xfrm>
              <a:off x="2187" y="2953"/>
              <a:ext cx="685" cy="212"/>
            </a:xfrm>
            <a:prstGeom prst="rect">
              <a:avLst/>
            </a:prstGeom>
            <a:noFill/>
            <a:ln w="9525" algn="ctr">
              <a:noFill/>
              <a:miter lim="800000"/>
              <a:headEnd/>
              <a:tailEnd/>
            </a:ln>
          </p:spPr>
          <p:txBody>
            <a:bodyPr>
              <a:spAutoFit/>
            </a:bodyPr>
            <a:lstStyle/>
            <a:p>
              <a:pPr>
                <a:spcBef>
                  <a:spcPct val="50000"/>
                </a:spcBef>
              </a:pPr>
              <a:r>
                <a:rPr lang="es-ES" sz="1600">
                  <a:solidFill>
                    <a:schemeClr val="tx1"/>
                  </a:solidFill>
                </a:rPr>
                <a:t>Dispatch</a:t>
              </a:r>
            </a:p>
          </p:txBody>
        </p:sp>
        <p:sp>
          <p:nvSpPr>
            <p:cNvPr id="32" name="Rectangle 46"/>
            <p:cNvSpPr>
              <a:spLocks noChangeArrowheads="1"/>
            </p:cNvSpPr>
            <p:nvPr/>
          </p:nvSpPr>
          <p:spPr bwMode="auto">
            <a:xfrm>
              <a:off x="2368" y="905"/>
              <a:ext cx="1975" cy="192"/>
            </a:xfrm>
            <a:prstGeom prst="rect">
              <a:avLst/>
            </a:prstGeom>
            <a:solidFill>
              <a:schemeClr val="bg1"/>
            </a:solidFill>
            <a:ln w="9525" algn="ctr">
              <a:solidFill>
                <a:schemeClr val="tx1"/>
              </a:solidFill>
              <a:miter lim="800000"/>
              <a:headEnd/>
              <a:tailEnd/>
            </a:ln>
          </p:spPr>
          <p:txBody>
            <a:bodyPr wrap="none" anchor="ctr">
              <a:spAutoFit/>
            </a:bodyPr>
            <a:lstStyle/>
            <a:p>
              <a:endParaRPr lang="es-ES"/>
            </a:p>
          </p:txBody>
        </p:sp>
        <p:sp>
          <p:nvSpPr>
            <p:cNvPr id="33" name="Rectangle 47"/>
            <p:cNvSpPr>
              <a:spLocks noChangeArrowheads="1"/>
            </p:cNvSpPr>
            <p:nvPr/>
          </p:nvSpPr>
          <p:spPr bwMode="auto">
            <a:xfrm>
              <a:off x="2368" y="1087"/>
              <a:ext cx="1975" cy="192"/>
            </a:xfrm>
            <a:prstGeom prst="rect">
              <a:avLst/>
            </a:prstGeom>
            <a:solidFill>
              <a:schemeClr val="bg1"/>
            </a:solidFill>
            <a:ln w="9525" algn="ctr">
              <a:solidFill>
                <a:schemeClr val="tx1"/>
              </a:solidFill>
              <a:miter lim="800000"/>
              <a:headEnd/>
              <a:tailEnd/>
            </a:ln>
          </p:spPr>
          <p:txBody>
            <a:bodyPr wrap="none" anchor="ctr">
              <a:spAutoFit/>
            </a:bodyPr>
            <a:lstStyle/>
            <a:p>
              <a:endParaRPr lang="es-ES"/>
            </a:p>
          </p:txBody>
        </p:sp>
        <p:sp>
          <p:nvSpPr>
            <p:cNvPr id="34" name="Rectangle 48"/>
            <p:cNvSpPr>
              <a:spLocks noChangeArrowheads="1"/>
            </p:cNvSpPr>
            <p:nvPr/>
          </p:nvSpPr>
          <p:spPr bwMode="auto">
            <a:xfrm>
              <a:off x="2367" y="1272"/>
              <a:ext cx="1975" cy="192"/>
            </a:xfrm>
            <a:prstGeom prst="rect">
              <a:avLst/>
            </a:prstGeom>
            <a:solidFill>
              <a:schemeClr val="bg1"/>
            </a:solidFill>
            <a:ln w="9525" algn="ctr">
              <a:solidFill>
                <a:schemeClr val="tx1"/>
              </a:solidFill>
              <a:miter lim="800000"/>
              <a:headEnd/>
              <a:tailEnd/>
            </a:ln>
          </p:spPr>
          <p:txBody>
            <a:bodyPr wrap="none" anchor="ctr">
              <a:spAutoFit/>
            </a:bodyPr>
            <a:lstStyle/>
            <a:p>
              <a:endParaRPr lang="es-ES"/>
            </a:p>
          </p:txBody>
        </p:sp>
        <p:sp>
          <p:nvSpPr>
            <p:cNvPr id="35" name="Rectangle 44"/>
            <p:cNvSpPr>
              <a:spLocks noChangeArrowheads="1"/>
            </p:cNvSpPr>
            <p:nvPr/>
          </p:nvSpPr>
          <p:spPr bwMode="auto">
            <a:xfrm>
              <a:off x="2396" y="2095"/>
              <a:ext cx="1975" cy="192"/>
            </a:xfrm>
            <a:prstGeom prst="rect">
              <a:avLst/>
            </a:prstGeom>
            <a:solidFill>
              <a:schemeClr val="bg1"/>
            </a:solidFill>
            <a:ln w="9525" algn="ctr">
              <a:solidFill>
                <a:schemeClr val="tx1"/>
              </a:solidFill>
              <a:miter lim="800000"/>
              <a:headEnd/>
              <a:tailEnd/>
            </a:ln>
          </p:spPr>
          <p:txBody>
            <a:bodyPr wrap="none" anchor="ctr">
              <a:spAutoFit/>
            </a:bodyPr>
            <a:lstStyle/>
            <a:p>
              <a:endParaRPr lang="es-ES"/>
            </a:p>
          </p:txBody>
        </p:sp>
        <p:sp>
          <p:nvSpPr>
            <p:cNvPr id="36" name="Text Box 57"/>
            <p:cNvSpPr txBox="1">
              <a:spLocks noChangeArrowheads="1"/>
            </p:cNvSpPr>
            <p:nvPr/>
          </p:nvSpPr>
          <p:spPr bwMode="auto">
            <a:xfrm>
              <a:off x="2444" y="878"/>
              <a:ext cx="1819" cy="212"/>
            </a:xfrm>
            <a:prstGeom prst="rect">
              <a:avLst/>
            </a:prstGeom>
            <a:noFill/>
            <a:ln w="9525" algn="ctr">
              <a:noFill/>
              <a:miter lim="800000"/>
              <a:headEnd/>
              <a:tailEnd/>
            </a:ln>
          </p:spPr>
          <p:txBody>
            <a:bodyPr>
              <a:spAutoFit/>
            </a:bodyPr>
            <a:lstStyle/>
            <a:p>
              <a:pPr>
                <a:spcBef>
                  <a:spcPct val="50000"/>
                </a:spcBef>
              </a:pPr>
              <a:r>
                <a:rPr lang="es-ES" sz="1600">
                  <a:solidFill>
                    <a:schemeClr val="tx1"/>
                  </a:solidFill>
                </a:rPr>
                <a:t>Retorno al llamador</a:t>
              </a:r>
            </a:p>
          </p:txBody>
        </p:sp>
        <p:sp>
          <p:nvSpPr>
            <p:cNvPr id="37" name="Text Box 58"/>
            <p:cNvSpPr txBox="1">
              <a:spLocks noChangeArrowheads="1"/>
            </p:cNvSpPr>
            <p:nvPr/>
          </p:nvSpPr>
          <p:spPr bwMode="auto">
            <a:xfrm>
              <a:off x="2369" y="1080"/>
              <a:ext cx="1966" cy="212"/>
            </a:xfrm>
            <a:prstGeom prst="rect">
              <a:avLst/>
            </a:prstGeom>
            <a:noFill/>
            <a:ln w="9525" algn="ctr">
              <a:noFill/>
              <a:miter lim="800000"/>
              <a:headEnd/>
              <a:tailEnd/>
            </a:ln>
          </p:spPr>
          <p:txBody>
            <a:bodyPr>
              <a:spAutoFit/>
            </a:bodyPr>
            <a:lstStyle/>
            <a:p>
              <a:pPr>
                <a:spcBef>
                  <a:spcPct val="50000"/>
                </a:spcBef>
              </a:pPr>
              <a:r>
                <a:rPr lang="es-ES" sz="1600" dirty="0" err="1">
                  <a:solidFill>
                    <a:schemeClr val="tx1"/>
                  </a:solidFill>
                </a:rPr>
                <a:t>Trap</a:t>
              </a:r>
              <a:r>
                <a:rPr lang="es-ES" sz="1600" dirty="0">
                  <a:solidFill>
                    <a:schemeClr val="tx1"/>
                  </a:solidFill>
                </a:rPr>
                <a:t> al </a:t>
              </a:r>
              <a:r>
                <a:rPr lang="es-ES" sz="1600" dirty="0" err="1">
                  <a:solidFill>
                    <a:schemeClr val="tx1"/>
                  </a:solidFill>
                </a:rPr>
                <a:t>kernel</a:t>
              </a:r>
              <a:endParaRPr lang="es-ES" sz="1600" dirty="0">
                <a:solidFill>
                  <a:schemeClr val="tx1"/>
                </a:solidFill>
              </a:endParaRPr>
            </a:p>
          </p:txBody>
        </p:sp>
        <p:sp>
          <p:nvSpPr>
            <p:cNvPr id="38" name="Text Box 59"/>
            <p:cNvSpPr txBox="1">
              <a:spLocks noChangeArrowheads="1"/>
            </p:cNvSpPr>
            <p:nvPr/>
          </p:nvSpPr>
          <p:spPr bwMode="auto">
            <a:xfrm>
              <a:off x="2477" y="1272"/>
              <a:ext cx="1902" cy="199"/>
            </a:xfrm>
            <a:prstGeom prst="rect">
              <a:avLst/>
            </a:prstGeom>
            <a:noFill/>
            <a:ln w="9525" algn="ctr">
              <a:noFill/>
              <a:miter lim="800000"/>
              <a:headEnd/>
              <a:tailEnd/>
            </a:ln>
          </p:spPr>
          <p:txBody>
            <a:bodyPr>
              <a:spAutoFit/>
            </a:bodyPr>
            <a:lstStyle/>
            <a:p>
              <a:pPr>
                <a:spcBef>
                  <a:spcPct val="50000"/>
                </a:spcBef>
              </a:pPr>
              <a:r>
                <a:rPr lang="es-ES" sz="1200" dirty="0">
                  <a:solidFill>
                    <a:schemeClr val="tx1"/>
                  </a:solidFill>
                  <a:latin typeface="Arial" pitchFamily="34" charset="0"/>
                  <a:cs typeface="Arial" pitchFamily="34" charset="0"/>
                </a:rPr>
                <a:t>Pone código de </a:t>
              </a:r>
              <a:r>
                <a:rPr lang="es-ES" sz="1200" dirty="0" err="1">
                  <a:solidFill>
                    <a:schemeClr val="tx1"/>
                  </a:solidFill>
                  <a:latin typeface="Arial" pitchFamily="34" charset="0"/>
                  <a:cs typeface="Arial" pitchFamily="34" charset="0"/>
                </a:rPr>
                <a:t>read</a:t>
              </a:r>
              <a:r>
                <a:rPr lang="es-ES" sz="1200" dirty="0">
                  <a:solidFill>
                    <a:schemeClr val="tx1"/>
                  </a:solidFill>
                  <a:latin typeface="Arial" pitchFamily="34" charset="0"/>
                  <a:cs typeface="Arial" pitchFamily="34" charset="0"/>
                </a:rPr>
                <a:t> en el registro</a:t>
              </a:r>
            </a:p>
          </p:txBody>
        </p:sp>
        <p:cxnSp>
          <p:nvCxnSpPr>
            <p:cNvPr id="39" name="AutoShape 63"/>
            <p:cNvCxnSpPr>
              <a:cxnSpLocks noChangeShapeType="1"/>
              <a:stCxn id="50" idx="1"/>
              <a:endCxn id="34" idx="1"/>
            </p:cNvCxnSpPr>
            <p:nvPr/>
          </p:nvCxnSpPr>
          <p:spPr bwMode="auto">
            <a:xfrm rot="10800000">
              <a:off x="2367" y="1368"/>
              <a:ext cx="28" cy="630"/>
            </a:xfrm>
            <a:prstGeom prst="curvedConnector3">
              <a:avLst>
                <a:gd name="adj1" fmla="val 687193"/>
              </a:avLst>
            </a:prstGeom>
            <a:noFill/>
            <a:ln w="9525">
              <a:solidFill>
                <a:schemeClr val="tx1"/>
              </a:solidFill>
              <a:round/>
              <a:headEnd/>
              <a:tailEnd type="triangle" w="med" len="lg"/>
            </a:ln>
          </p:spPr>
        </p:cxnSp>
        <p:cxnSp>
          <p:nvCxnSpPr>
            <p:cNvPr id="40" name="AutoShape 64"/>
            <p:cNvCxnSpPr>
              <a:cxnSpLocks noChangeShapeType="1"/>
              <a:stCxn id="37" idx="1"/>
              <a:endCxn id="10" idx="1"/>
            </p:cNvCxnSpPr>
            <p:nvPr/>
          </p:nvCxnSpPr>
          <p:spPr bwMode="auto">
            <a:xfrm rot="10800000" flipV="1">
              <a:off x="2160" y="1186"/>
              <a:ext cx="209" cy="1882"/>
            </a:xfrm>
            <a:prstGeom prst="curvedConnector3">
              <a:avLst>
                <a:gd name="adj1" fmla="val 115787"/>
              </a:avLst>
            </a:prstGeom>
            <a:noFill/>
            <a:ln w="9525">
              <a:solidFill>
                <a:schemeClr val="tx1"/>
              </a:solidFill>
              <a:round/>
              <a:headEnd/>
              <a:tailEnd type="triangle" w="med" len="lg"/>
            </a:ln>
          </p:spPr>
        </p:cxnSp>
        <p:cxnSp>
          <p:nvCxnSpPr>
            <p:cNvPr id="41" name="AutoShape 66"/>
            <p:cNvCxnSpPr>
              <a:cxnSpLocks noChangeShapeType="1"/>
              <a:stCxn id="32" idx="3"/>
              <a:endCxn id="49" idx="3"/>
            </p:cNvCxnSpPr>
            <p:nvPr/>
          </p:nvCxnSpPr>
          <p:spPr bwMode="auto">
            <a:xfrm>
              <a:off x="4343" y="1001"/>
              <a:ext cx="28" cy="806"/>
            </a:xfrm>
            <a:prstGeom prst="curvedConnector3">
              <a:avLst>
                <a:gd name="adj1" fmla="val 610713"/>
              </a:avLst>
            </a:prstGeom>
            <a:noFill/>
            <a:ln w="9525">
              <a:noFill/>
              <a:round/>
              <a:headEnd/>
              <a:tailEnd type="triangle" w="med" len="med"/>
            </a:ln>
          </p:spPr>
        </p:cxnSp>
        <p:cxnSp>
          <p:nvCxnSpPr>
            <p:cNvPr id="42" name="AutoShape 67"/>
            <p:cNvCxnSpPr>
              <a:cxnSpLocks noChangeShapeType="1"/>
              <a:stCxn id="36" idx="0"/>
              <a:endCxn id="49" idx="3"/>
            </p:cNvCxnSpPr>
            <p:nvPr/>
          </p:nvCxnSpPr>
          <p:spPr bwMode="auto">
            <a:xfrm rot="5400000" flipV="1">
              <a:off x="3398" y="834"/>
              <a:ext cx="929" cy="1017"/>
            </a:xfrm>
            <a:prstGeom prst="curvedConnector4">
              <a:avLst>
                <a:gd name="adj1" fmla="val -15500"/>
                <a:gd name="adj2" fmla="val 114060"/>
              </a:avLst>
            </a:prstGeom>
            <a:noFill/>
            <a:ln w="9525">
              <a:noFill/>
              <a:round/>
              <a:headEnd/>
              <a:tailEnd type="triangle" w="med" len="med"/>
            </a:ln>
          </p:spPr>
        </p:cxnSp>
        <p:cxnSp>
          <p:nvCxnSpPr>
            <p:cNvPr id="43" name="AutoShape 68"/>
            <p:cNvCxnSpPr>
              <a:cxnSpLocks noChangeShapeType="1"/>
              <a:stCxn id="32" idx="3"/>
              <a:endCxn id="49" idx="3"/>
            </p:cNvCxnSpPr>
            <p:nvPr/>
          </p:nvCxnSpPr>
          <p:spPr bwMode="auto">
            <a:xfrm>
              <a:off x="4343" y="1001"/>
              <a:ext cx="28" cy="806"/>
            </a:xfrm>
            <a:prstGeom prst="curvedConnector3">
              <a:avLst>
                <a:gd name="adj1" fmla="val 610713"/>
              </a:avLst>
            </a:prstGeom>
            <a:noFill/>
            <a:ln w="9525">
              <a:noFill/>
              <a:round/>
              <a:headEnd/>
              <a:tailEnd type="triangle" w="med" len="med"/>
            </a:ln>
          </p:spPr>
        </p:cxnSp>
        <p:cxnSp>
          <p:nvCxnSpPr>
            <p:cNvPr id="44" name="AutoShape 70"/>
            <p:cNvCxnSpPr>
              <a:cxnSpLocks noChangeShapeType="1"/>
              <a:stCxn id="32" idx="3"/>
              <a:endCxn id="49" idx="3"/>
            </p:cNvCxnSpPr>
            <p:nvPr/>
          </p:nvCxnSpPr>
          <p:spPr bwMode="auto">
            <a:xfrm>
              <a:off x="4343" y="1001"/>
              <a:ext cx="28" cy="806"/>
            </a:xfrm>
            <a:prstGeom prst="curvedConnector3">
              <a:avLst>
                <a:gd name="adj1" fmla="val 610713"/>
              </a:avLst>
            </a:prstGeom>
            <a:noFill/>
            <a:ln w="9525">
              <a:noFill/>
              <a:round/>
              <a:headEnd/>
              <a:tailEnd type="triangle" w="med" len="med"/>
            </a:ln>
          </p:spPr>
        </p:cxnSp>
        <p:cxnSp>
          <p:nvCxnSpPr>
            <p:cNvPr id="45" name="AutoShape 71"/>
            <p:cNvCxnSpPr>
              <a:cxnSpLocks noChangeShapeType="1"/>
              <a:stCxn id="32" idx="3"/>
              <a:endCxn id="49" idx="3"/>
            </p:cNvCxnSpPr>
            <p:nvPr/>
          </p:nvCxnSpPr>
          <p:spPr bwMode="auto">
            <a:xfrm>
              <a:off x="4343" y="1001"/>
              <a:ext cx="28" cy="806"/>
            </a:xfrm>
            <a:prstGeom prst="curvedConnector3">
              <a:avLst>
                <a:gd name="adj1" fmla="val 610713"/>
              </a:avLst>
            </a:prstGeom>
            <a:noFill/>
            <a:ln w="9525">
              <a:solidFill>
                <a:schemeClr val="tx1"/>
              </a:solidFill>
              <a:round/>
              <a:headEnd/>
              <a:tailEnd type="triangle" w="med" len="lg"/>
            </a:ln>
          </p:spPr>
        </p:cxnSp>
        <p:cxnSp>
          <p:nvCxnSpPr>
            <p:cNvPr id="46" name="AutoShape 72"/>
            <p:cNvCxnSpPr>
              <a:cxnSpLocks noChangeShapeType="1"/>
              <a:stCxn id="30" idx="3"/>
              <a:endCxn id="32" idx="3"/>
            </p:cNvCxnSpPr>
            <p:nvPr/>
          </p:nvCxnSpPr>
          <p:spPr bwMode="auto">
            <a:xfrm flipH="1" flipV="1">
              <a:off x="4343" y="1001"/>
              <a:ext cx="303" cy="2067"/>
            </a:xfrm>
            <a:prstGeom prst="curvedConnector3">
              <a:avLst>
                <a:gd name="adj1" fmla="val -54262"/>
              </a:avLst>
            </a:prstGeom>
            <a:noFill/>
            <a:ln w="9525">
              <a:solidFill>
                <a:schemeClr val="tx1"/>
              </a:solidFill>
              <a:round/>
              <a:headEnd/>
              <a:tailEnd type="triangle" w="med" len="lg"/>
            </a:ln>
          </p:spPr>
        </p:cxnSp>
        <p:sp>
          <p:nvSpPr>
            <p:cNvPr id="47" name="Text Box 73"/>
            <p:cNvSpPr txBox="1">
              <a:spLocks noChangeArrowheads="1"/>
            </p:cNvSpPr>
            <p:nvPr/>
          </p:nvSpPr>
          <p:spPr bwMode="auto">
            <a:xfrm>
              <a:off x="2196" y="1574"/>
              <a:ext cx="247" cy="212"/>
            </a:xfrm>
            <a:prstGeom prst="rect">
              <a:avLst/>
            </a:prstGeom>
            <a:noFill/>
            <a:ln w="9525" algn="ctr">
              <a:noFill/>
              <a:miter lim="800000"/>
              <a:headEnd/>
              <a:tailEnd/>
            </a:ln>
          </p:spPr>
          <p:txBody>
            <a:bodyPr>
              <a:spAutoFit/>
            </a:bodyPr>
            <a:lstStyle/>
            <a:p>
              <a:pPr>
                <a:spcBef>
                  <a:spcPct val="50000"/>
                </a:spcBef>
              </a:pPr>
              <a:r>
                <a:rPr lang="es-ES" sz="1600">
                  <a:solidFill>
                    <a:schemeClr val="tx1"/>
                  </a:solidFill>
                </a:rPr>
                <a:t>4</a:t>
              </a:r>
            </a:p>
          </p:txBody>
        </p:sp>
        <p:sp>
          <p:nvSpPr>
            <p:cNvPr id="48" name="Text Box 74"/>
            <p:cNvSpPr txBox="1">
              <a:spLocks noChangeArrowheads="1"/>
            </p:cNvSpPr>
            <p:nvPr/>
          </p:nvSpPr>
          <p:spPr bwMode="auto">
            <a:xfrm>
              <a:off x="2361" y="1273"/>
              <a:ext cx="128" cy="212"/>
            </a:xfrm>
            <a:prstGeom prst="rect">
              <a:avLst/>
            </a:prstGeom>
            <a:noFill/>
            <a:ln w="9525" algn="ctr">
              <a:noFill/>
              <a:miter lim="800000"/>
              <a:headEnd/>
              <a:tailEnd/>
            </a:ln>
          </p:spPr>
          <p:txBody>
            <a:bodyPr>
              <a:spAutoFit/>
            </a:bodyPr>
            <a:lstStyle/>
            <a:p>
              <a:pPr>
                <a:spcBef>
                  <a:spcPct val="50000"/>
                </a:spcBef>
              </a:pPr>
              <a:r>
                <a:rPr lang="es-ES" sz="1600">
                  <a:solidFill>
                    <a:schemeClr val="tx1"/>
                  </a:solidFill>
                </a:rPr>
                <a:t>5</a:t>
              </a:r>
            </a:p>
          </p:txBody>
        </p:sp>
        <p:sp>
          <p:nvSpPr>
            <p:cNvPr id="49" name="Rectangle 42"/>
            <p:cNvSpPr>
              <a:spLocks noChangeArrowheads="1"/>
            </p:cNvSpPr>
            <p:nvPr/>
          </p:nvSpPr>
          <p:spPr bwMode="auto">
            <a:xfrm>
              <a:off x="2396" y="1711"/>
              <a:ext cx="1975" cy="192"/>
            </a:xfrm>
            <a:prstGeom prst="rect">
              <a:avLst/>
            </a:prstGeom>
            <a:solidFill>
              <a:schemeClr val="bg1"/>
            </a:solidFill>
            <a:ln w="9525" algn="ctr">
              <a:solidFill>
                <a:schemeClr val="tx1"/>
              </a:solidFill>
              <a:miter lim="800000"/>
              <a:headEnd/>
              <a:tailEnd/>
            </a:ln>
          </p:spPr>
          <p:txBody>
            <a:bodyPr wrap="none" anchor="ctr">
              <a:spAutoFit/>
            </a:bodyPr>
            <a:lstStyle/>
            <a:p>
              <a:endParaRPr lang="es-ES"/>
            </a:p>
          </p:txBody>
        </p:sp>
        <p:sp>
          <p:nvSpPr>
            <p:cNvPr id="50" name="Rectangle 43"/>
            <p:cNvSpPr>
              <a:spLocks noChangeArrowheads="1"/>
            </p:cNvSpPr>
            <p:nvPr/>
          </p:nvSpPr>
          <p:spPr bwMode="auto">
            <a:xfrm>
              <a:off x="2395" y="1902"/>
              <a:ext cx="1975" cy="192"/>
            </a:xfrm>
            <a:prstGeom prst="rect">
              <a:avLst/>
            </a:prstGeom>
            <a:solidFill>
              <a:schemeClr val="bg1"/>
            </a:solidFill>
            <a:ln w="9525" algn="ctr">
              <a:solidFill>
                <a:schemeClr val="tx1"/>
              </a:solidFill>
              <a:miter lim="800000"/>
              <a:headEnd/>
              <a:tailEnd/>
            </a:ln>
          </p:spPr>
          <p:txBody>
            <a:bodyPr wrap="none" anchor="ctr">
              <a:spAutoFit/>
            </a:bodyPr>
            <a:lstStyle/>
            <a:p>
              <a:endParaRPr lang="es-ES"/>
            </a:p>
          </p:txBody>
        </p:sp>
        <p:sp>
          <p:nvSpPr>
            <p:cNvPr id="51" name="Rectangle 45"/>
            <p:cNvSpPr>
              <a:spLocks noChangeArrowheads="1"/>
            </p:cNvSpPr>
            <p:nvPr/>
          </p:nvSpPr>
          <p:spPr bwMode="auto">
            <a:xfrm>
              <a:off x="2394" y="2285"/>
              <a:ext cx="1975" cy="192"/>
            </a:xfrm>
            <a:prstGeom prst="rect">
              <a:avLst/>
            </a:prstGeom>
            <a:solidFill>
              <a:schemeClr val="bg1"/>
            </a:solidFill>
            <a:ln w="9525" algn="ctr">
              <a:solidFill>
                <a:schemeClr val="tx1"/>
              </a:solidFill>
              <a:miter lim="800000"/>
              <a:headEnd/>
              <a:tailEnd/>
            </a:ln>
          </p:spPr>
          <p:txBody>
            <a:bodyPr wrap="none" anchor="ctr">
              <a:spAutoFit/>
            </a:bodyPr>
            <a:lstStyle/>
            <a:p>
              <a:endParaRPr lang="es-ES"/>
            </a:p>
          </p:txBody>
        </p:sp>
        <p:sp>
          <p:nvSpPr>
            <p:cNvPr id="52" name="Text Box 49"/>
            <p:cNvSpPr txBox="1">
              <a:spLocks noChangeArrowheads="1"/>
            </p:cNvSpPr>
            <p:nvPr/>
          </p:nvSpPr>
          <p:spPr bwMode="auto">
            <a:xfrm>
              <a:off x="2789" y="1702"/>
              <a:ext cx="1134" cy="239"/>
            </a:xfrm>
            <a:prstGeom prst="rect">
              <a:avLst/>
            </a:prstGeom>
            <a:noFill/>
            <a:ln w="9525" algn="ctr">
              <a:noFill/>
              <a:miter lim="800000"/>
              <a:headEnd/>
              <a:tailEnd/>
            </a:ln>
          </p:spPr>
          <p:txBody>
            <a:bodyPr>
              <a:spAutoFit/>
            </a:bodyPr>
            <a:lstStyle/>
            <a:p>
              <a:pPr>
                <a:spcBef>
                  <a:spcPct val="50000"/>
                </a:spcBef>
              </a:pPr>
              <a:r>
                <a:rPr lang="es-ES" sz="1600" dirty="0">
                  <a:solidFill>
                    <a:schemeClr val="tx1"/>
                  </a:solidFill>
                </a:rPr>
                <a:t>Incrementa </a:t>
              </a:r>
              <a:r>
                <a:rPr lang="es-ES" sz="1600" dirty="0" smtClean="0">
                  <a:solidFill>
                    <a:schemeClr val="tx1"/>
                  </a:solidFill>
                </a:rPr>
                <a:t>SP</a:t>
              </a:r>
              <a:endParaRPr lang="es-ES" sz="1600" dirty="0">
                <a:solidFill>
                  <a:schemeClr val="tx1"/>
                </a:solidFill>
              </a:endParaRPr>
            </a:p>
          </p:txBody>
        </p:sp>
        <p:sp>
          <p:nvSpPr>
            <p:cNvPr id="53" name="Text Box 50"/>
            <p:cNvSpPr txBox="1">
              <a:spLocks noChangeArrowheads="1"/>
            </p:cNvSpPr>
            <p:nvPr/>
          </p:nvSpPr>
          <p:spPr bwMode="auto">
            <a:xfrm>
              <a:off x="2532" y="1893"/>
              <a:ext cx="1664" cy="212"/>
            </a:xfrm>
            <a:prstGeom prst="rect">
              <a:avLst/>
            </a:prstGeom>
            <a:noFill/>
            <a:ln w="9525" algn="ctr">
              <a:noFill/>
              <a:miter lim="800000"/>
              <a:headEnd/>
              <a:tailEnd/>
            </a:ln>
          </p:spPr>
          <p:txBody>
            <a:bodyPr>
              <a:spAutoFit/>
            </a:bodyPr>
            <a:lstStyle/>
            <a:p>
              <a:pPr>
                <a:spcBef>
                  <a:spcPct val="50000"/>
                </a:spcBef>
              </a:pPr>
              <a:r>
                <a:rPr lang="es-ES" sz="1600">
                  <a:solidFill>
                    <a:schemeClr val="tx1"/>
                  </a:solidFill>
                </a:rPr>
                <a:t>Llamada a read</a:t>
              </a:r>
            </a:p>
          </p:txBody>
        </p:sp>
        <p:sp>
          <p:nvSpPr>
            <p:cNvPr id="54" name="Text Box 51"/>
            <p:cNvSpPr txBox="1">
              <a:spLocks noChangeArrowheads="1"/>
            </p:cNvSpPr>
            <p:nvPr/>
          </p:nvSpPr>
          <p:spPr bwMode="auto">
            <a:xfrm>
              <a:off x="2506" y="2078"/>
              <a:ext cx="1756" cy="212"/>
            </a:xfrm>
            <a:prstGeom prst="rect">
              <a:avLst/>
            </a:prstGeom>
            <a:noFill/>
            <a:ln w="9525" algn="ctr">
              <a:noFill/>
              <a:miter lim="800000"/>
              <a:headEnd/>
              <a:tailEnd/>
            </a:ln>
          </p:spPr>
          <p:txBody>
            <a:bodyPr>
              <a:spAutoFit/>
            </a:bodyPr>
            <a:lstStyle/>
            <a:p>
              <a:pPr>
                <a:spcBef>
                  <a:spcPct val="50000"/>
                </a:spcBef>
              </a:pPr>
              <a:r>
                <a:rPr lang="es-ES" sz="1600" dirty="0" err="1">
                  <a:solidFill>
                    <a:schemeClr val="tx1"/>
                  </a:solidFill>
                </a:rPr>
                <a:t>Push</a:t>
              </a:r>
              <a:r>
                <a:rPr lang="es-ES" sz="1600" dirty="0">
                  <a:solidFill>
                    <a:schemeClr val="tx1"/>
                  </a:solidFill>
                </a:rPr>
                <a:t> </a:t>
              </a:r>
              <a:r>
                <a:rPr lang="es-ES" sz="1600" dirty="0" err="1">
                  <a:solidFill>
                    <a:schemeClr val="tx1"/>
                  </a:solidFill>
                </a:rPr>
                <a:t>fd</a:t>
              </a:r>
              <a:endParaRPr lang="es-ES" sz="1600" dirty="0">
                <a:solidFill>
                  <a:schemeClr val="tx1"/>
                </a:solidFill>
              </a:endParaRPr>
            </a:p>
          </p:txBody>
        </p:sp>
        <p:sp>
          <p:nvSpPr>
            <p:cNvPr id="55" name="Text Box 52"/>
            <p:cNvSpPr txBox="1">
              <a:spLocks noChangeArrowheads="1"/>
            </p:cNvSpPr>
            <p:nvPr/>
          </p:nvSpPr>
          <p:spPr bwMode="auto">
            <a:xfrm>
              <a:off x="2853" y="2269"/>
              <a:ext cx="1134" cy="212"/>
            </a:xfrm>
            <a:prstGeom prst="rect">
              <a:avLst/>
            </a:prstGeom>
            <a:noFill/>
            <a:ln w="9525" algn="ctr">
              <a:noFill/>
              <a:miter lim="800000"/>
              <a:headEnd/>
              <a:tailEnd/>
            </a:ln>
          </p:spPr>
          <p:txBody>
            <a:bodyPr>
              <a:spAutoFit/>
            </a:bodyPr>
            <a:lstStyle/>
            <a:p>
              <a:pPr>
                <a:spcBef>
                  <a:spcPct val="50000"/>
                </a:spcBef>
              </a:pPr>
              <a:r>
                <a:rPr lang="es-ES" sz="1600" dirty="0" err="1">
                  <a:solidFill>
                    <a:schemeClr val="tx1"/>
                  </a:solidFill>
                </a:rPr>
                <a:t>Push</a:t>
              </a:r>
              <a:r>
                <a:rPr lang="es-ES" sz="1600" dirty="0">
                  <a:solidFill>
                    <a:schemeClr val="tx1"/>
                  </a:solidFill>
                </a:rPr>
                <a:t> &amp;buffer</a:t>
              </a:r>
            </a:p>
          </p:txBody>
        </p:sp>
        <p:sp>
          <p:nvSpPr>
            <p:cNvPr id="56" name="Rectangle 55"/>
            <p:cNvSpPr>
              <a:spLocks noChangeArrowheads="1"/>
            </p:cNvSpPr>
            <p:nvPr/>
          </p:nvSpPr>
          <p:spPr bwMode="auto">
            <a:xfrm>
              <a:off x="2393" y="2476"/>
              <a:ext cx="1975" cy="192"/>
            </a:xfrm>
            <a:prstGeom prst="rect">
              <a:avLst/>
            </a:prstGeom>
            <a:solidFill>
              <a:schemeClr val="bg1"/>
            </a:solidFill>
            <a:ln w="9525" algn="ctr">
              <a:solidFill>
                <a:schemeClr val="tx1"/>
              </a:solidFill>
              <a:miter lim="800000"/>
              <a:headEnd/>
              <a:tailEnd/>
            </a:ln>
          </p:spPr>
          <p:txBody>
            <a:bodyPr wrap="none" anchor="ctr">
              <a:spAutoFit/>
            </a:bodyPr>
            <a:lstStyle/>
            <a:p>
              <a:endParaRPr lang="es-ES"/>
            </a:p>
          </p:txBody>
        </p:sp>
        <p:sp>
          <p:nvSpPr>
            <p:cNvPr id="57" name="Text Box 56"/>
            <p:cNvSpPr txBox="1">
              <a:spLocks noChangeArrowheads="1"/>
            </p:cNvSpPr>
            <p:nvPr/>
          </p:nvSpPr>
          <p:spPr bwMode="auto">
            <a:xfrm>
              <a:off x="2679" y="2469"/>
              <a:ext cx="1454" cy="212"/>
            </a:xfrm>
            <a:prstGeom prst="rect">
              <a:avLst/>
            </a:prstGeom>
            <a:noFill/>
            <a:ln w="9525" algn="ctr">
              <a:noFill/>
              <a:miter lim="800000"/>
              <a:headEnd/>
              <a:tailEnd/>
            </a:ln>
          </p:spPr>
          <p:txBody>
            <a:bodyPr>
              <a:spAutoFit/>
            </a:bodyPr>
            <a:lstStyle/>
            <a:p>
              <a:pPr>
                <a:spcBef>
                  <a:spcPct val="50000"/>
                </a:spcBef>
              </a:pPr>
              <a:r>
                <a:rPr lang="es-ES" sz="1600" dirty="0" err="1">
                  <a:solidFill>
                    <a:schemeClr val="tx1"/>
                  </a:solidFill>
                </a:rPr>
                <a:t>Push</a:t>
              </a:r>
              <a:r>
                <a:rPr lang="es-ES" sz="1600" dirty="0">
                  <a:solidFill>
                    <a:schemeClr val="tx1"/>
                  </a:solidFill>
                </a:rPr>
                <a:t> </a:t>
              </a:r>
              <a:r>
                <a:rPr lang="es-ES" sz="1600" dirty="0" err="1">
                  <a:solidFill>
                    <a:schemeClr val="tx1"/>
                  </a:solidFill>
                </a:rPr>
                <a:t>nbytes</a:t>
              </a:r>
              <a:endParaRPr lang="es-ES" sz="1600" dirty="0">
                <a:solidFill>
                  <a:schemeClr val="tx1"/>
                </a:solidFill>
              </a:endParaRPr>
            </a:p>
          </p:txBody>
        </p:sp>
        <p:sp>
          <p:nvSpPr>
            <p:cNvPr id="58" name="Text Box 60"/>
            <p:cNvSpPr txBox="1">
              <a:spLocks noChangeArrowheads="1"/>
            </p:cNvSpPr>
            <p:nvPr/>
          </p:nvSpPr>
          <p:spPr bwMode="auto">
            <a:xfrm>
              <a:off x="2266" y="2459"/>
              <a:ext cx="192" cy="212"/>
            </a:xfrm>
            <a:prstGeom prst="rect">
              <a:avLst/>
            </a:prstGeom>
            <a:noFill/>
            <a:ln w="9525" algn="ctr">
              <a:noFill/>
              <a:miter lim="800000"/>
              <a:headEnd/>
              <a:tailEnd/>
            </a:ln>
          </p:spPr>
          <p:txBody>
            <a:bodyPr>
              <a:spAutoFit/>
            </a:bodyPr>
            <a:lstStyle/>
            <a:p>
              <a:pPr>
                <a:spcBef>
                  <a:spcPct val="50000"/>
                </a:spcBef>
              </a:pPr>
              <a:r>
                <a:rPr lang="es-ES" sz="1600">
                  <a:solidFill>
                    <a:schemeClr val="tx1"/>
                  </a:solidFill>
                </a:rPr>
                <a:t>1</a:t>
              </a:r>
            </a:p>
          </p:txBody>
        </p:sp>
        <p:sp>
          <p:nvSpPr>
            <p:cNvPr id="59" name="Text Box 61"/>
            <p:cNvSpPr txBox="1">
              <a:spLocks noChangeArrowheads="1"/>
            </p:cNvSpPr>
            <p:nvPr/>
          </p:nvSpPr>
          <p:spPr bwMode="auto">
            <a:xfrm>
              <a:off x="2264" y="2275"/>
              <a:ext cx="192" cy="212"/>
            </a:xfrm>
            <a:prstGeom prst="rect">
              <a:avLst/>
            </a:prstGeom>
            <a:noFill/>
            <a:ln w="9525" algn="ctr">
              <a:noFill/>
              <a:miter lim="800000"/>
              <a:headEnd/>
              <a:tailEnd/>
            </a:ln>
          </p:spPr>
          <p:txBody>
            <a:bodyPr>
              <a:spAutoFit/>
            </a:bodyPr>
            <a:lstStyle/>
            <a:p>
              <a:pPr>
                <a:spcBef>
                  <a:spcPct val="50000"/>
                </a:spcBef>
              </a:pPr>
              <a:r>
                <a:rPr lang="es-ES" sz="1600">
                  <a:solidFill>
                    <a:schemeClr val="tx1"/>
                  </a:solidFill>
                </a:rPr>
                <a:t>2</a:t>
              </a:r>
            </a:p>
          </p:txBody>
        </p:sp>
        <p:sp>
          <p:nvSpPr>
            <p:cNvPr id="60" name="Text Box 62"/>
            <p:cNvSpPr txBox="1">
              <a:spLocks noChangeArrowheads="1"/>
            </p:cNvSpPr>
            <p:nvPr/>
          </p:nvSpPr>
          <p:spPr bwMode="auto">
            <a:xfrm>
              <a:off x="2248" y="2084"/>
              <a:ext cx="220" cy="212"/>
            </a:xfrm>
            <a:prstGeom prst="rect">
              <a:avLst/>
            </a:prstGeom>
            <a:noFill/>
            <a:ln w="9525" algn="ctr">
              <a:noFill/>
              <a:miter lim="800000"/>
              <a:headEnd/>
              <a:tailEnd/>
            </a:ln>
          </p:spPr>
          <p:txBody>
            <a:bodyPr>
              <a:spAutoFit/>
            </a:bodyPr>
            <a:lstStyle/>
            <a:p>
              <a:pPr>
                <a:spcBef>
                  <a:spcPct val="50000"/>
                </a:spcBef>
              </a:pPr>
              <a:r>
                <a:rPr lang="es-ES" sz="1600">
                  <a:solidFill>
                    <a:schemeClr val="tx1"/>
                  </a:solidFill>
                </a:rPr>
                <a:t>3</a:t>
              </a:r>
            </a:p>
          </p:txBody>
        </p:sp>
        <p:sp>
          <p:nvSpPr>
            <p:cNvPr id="61" name="Text Box 75"/>
            <p:cNvSpPr txBox="1">
              <a:spLocks noChangeArrowheads="1"/>
            </p:cNvSpPr>
            <p:nvPr/>
          </p:nvSpPr>
          <p:spPr bwMode="auto">
            <a:xfrm>
              <a:off x="3904" y="1701"/>
              <a:ext cx="393" cy="212"/>
            </a:xfrm>
            <a:prstGeom prst="rect">
              <a:avLst/>
            </a:prstGeom>
            <a:noFill/>
            <a:ln w="9525" algn="ctr">
              <a:noFill/>
              <a:miter lim="800000"/>
              <a:headEnd/>
              <a:tailEnd type="none" w="med" len="lg"/>
            </a:ln>
          </p:spPr>
          <p:txBody>
            <a:bodyPr>
              <a:spAutoFit/>
            </a:bodyPr>
            <a:lstStyle/>
            <a:p>
              <a:pPr>
                <a:spcBef>
                  <a:spcPct val="50000"/>
                </a:spcBef>
              </a:pPr>
              <a:r>
                <a:rPr lang="es-ES" sz="1600">
                  <a:solidFill>
                    <a:schemeClr val="tx1"/>
                  </a:solidFill>
                </a:rPr>
                <a:t>11</a:t>
              </a:r>
            </a:p>
          </p:txBody>
        </p:sp>
        <p:sp>
          <p:nvSpPr>
            <p:cNvPr id="62" name="Text Box 76"/>
            <p:cNvSpPr txBox="1">
              <a:spLocks noChangeArrowheads="1"/>
            </p:cNvSpPr>
            <p:nvPr/>
          </p:nvSpPr>
          <p:spPr bwMode="auto">
            <a:xfrm>
              <a:off x="4497" y="2031"/>
              <a:ext cx="226" cy="212"/>
            </a:xfrm>
            <a:prstGeom prst="rect">
              <a:avLst/>
            </a:prstGeom>
            <a:noFill/>
            <a:ln w="9525" algn="ctr">
              <a:noFill/>
              <a:miter lim="800000"/>
              <a:headEnd/>
              <a:tailEnd type="none" w="med" len="lg"/>
            </a:ln>
          </p:spPr>
          <p:txBody>
            <a:bodyPr>
              <a:spAutoFit/>
            </a:bodyPr>
            <a:lstStyle/>
            <a:p>
              <a:pPr>
                <a:spcBef>
                  <a:spcPct val="50000"/>
                </a:spcBef>
              </a:pPr>
              <a:r>
                <a:rPr lang="es-ES" sz="1600">
                  <a:solidFill>
                    <a:schemeClr val="tx1"/>
                  </a:solidFill>
                </a:rPr>
                <a:t>9</a:t>
              </a:r>
            </a:p>
          </p:txBody>
        </p:sp>
        <p:sp>
          <p:nvSpPr>
            <p:cNvPr id="63" name="Text Box 77"/>
            <p:cNvSpPr txBox="1">
              <a:spLocks noChangeArrowheads="1"/>
            </p:cNvSpPr>
            <p:nvPr/>
          </p:nvSpPr>
          <p:spPr bwMode="auto">
            <a:xfrm>
              <a:off x="4198" y="1455"/>
              <a:ext cx="312" cy="212"/>
            </a:xfrm>
            <a:prstGeom prst="rect">
              <a:avLst/>
            </a:prstGeom>
            <a:noFill/>
            <a:ln w="9525" algn="ctr">
              <a:noFill/>
              <a:miter lim="800000"/>
              <a:headEnd/>
              <a:tailEnd type="none" w="med" len="lg"/>
            </a:ln>
          </p:spPr>
          <p:txBody>
            <a:bodyPr>
              <a:spAutoFit/>
            </a:bodyPr>
            <a:lstStyle/>
            <a:p>
              <a:pPr>
                <a:spcBef>
                  <a:spcPct val="50000"/>
                </a:spcBef>
              </a:pPr>
              <a:r>
                <a:rPr lang="es-ES" sz="1600">
                  <a:solidFill>
                    <a:schemeClr val="tx1"/>
                  </a:solidFill>
                </a:rPr>
                <a:t>10</a:t>
              </a:r>
            </a:p>
          </p:txBody>
        </p:sp>
        <p:sp>
          <p:nvSpPr>
            <p:cNvPr id="64" name="Text Box 78"/>
            <p:cNvSpPr txBox="1">
              <a:spLocks noChangeArrowheads="1"/>
            </p:cNvSpPr>
            <p:nvPr/>
          </p:nvSpPr>
          <p:spPr bwMode="auto">
            <a:xfrm>
              <a:off x="2918" y="2826"/>
              <a:ext cx="201" cy="212"/>
            </a:xfrm>
            <a:prstGeom prst="rect">
              <a:avLst/>
            </a:prstGeom>
            <a:noFill/>
            <a:ln w="9525" algn="ctr">
              <a:noFill/>
              <a:miter lim="800000"/>
              <a:headEnd/>
              <a:tailEnd type="none" w="med" len="lg"/>
            </a:ln>
          </p:spPr>
          <p:txBody>
            <a:bodyPr>
              <a:spAutoFit/>
            </a:bodyPr>
            <a:lstStyle/>
            <a:p>
              <a:pPr>
                <a:spcBef>
                  <a:spcPct val="50000"/>
                </a:spcBef>
              </a:pPr>
              <a:r>
                <a:rPr lang="es-ES" sz="1600">
                  <a:solidFill>
                    <a:schemeClr val="tx1"/>
                  </a:solidFill>
                </a:rPr>
                <a:t>7</a:t>
              </a:r>
            </a:p>
          </p:txBody>
        </p:sp>
        <p:sp>
          <p:nvSpPr>
            <p:cNvPr id="65" name="Text Box 79"/>
            <p:cNvSpPr txBox="1">
              <a:spLocks noChangeArrowheads="1"/>
            </p:cNvSpPr>
            <p:nvPr/>
          </p:nvSpPr>
          <p:spPr bwMode="auto">
            <a:xfrm>
              <a:off x="3649" y="2808"/>
              <a:ext cx="247" cy="212"/>
            </a:xfrm>
            <a:prstGeom prst="rect">
              <a:avLst/>
            </a:prstGeom>
            <a:noFill/>
            <a:ln w="9525" algn="ctr">
              <a:noFill/>
              <a:miter lim="800000"/>
              <a:headEnd/>
              <a:tailEnd type="none" w="med" len="lg"/>
            </a:ln>
          </p:spPr>
          <p:txBody>
            <a:bodyPr>
              <a:spAutoFit/>
            </a:bodyPr>
            <a:lstStyle/>
            <a:p>
              <a:pPr>
                <a:spcBef>
                  <a:spcPct val="50000"/>
                </a:spcBef>
              </a:pPr>
              <a:r>
                <a:rPr lang="es-ES" sz="1600">
                  <a:solidFill>
                    <a:schemeClr val="tx1"/>
                  </a:solidFill>
                </a:rPr>
                <a:t>8</a:t>
              </a:r>
            </a:p>
          </p:txBody>
        </p:sp>
        <p:sp>
          <p:nvSpPr>
            <p:cNvPr id="66" name="Text Box 12"/>
            <p:cNvSpPr txBox="1">
              <a:spLocks noChangeArrowheads="1"/>
            </p:cNvSpPr>
            <p:nvPr/>
          </p:nvSpPr>
          <p:spPr bwMode="auto">
            <a:xfrm>
              <a:off x="960" y="715"/>
              <a:ext cx="1119" cy="243"/>
            </a:xfrm>
            <a:prstGeom prst="rect">
              <a:avLst/>
            </a:prstGeom>
            <a:noFill/>
            <a:ln w="9525" algn="ctr">
              <a:noFill/>
              <a:miter lim="800000"/>
              <a:headEnd/>
              <a:tailEnd/>
            </a:ln>
          </p:spPr>
          <p:txBody>
            <a:bodyPr wrap="square">
              <a:spAutoFit/>
            </a:bodyPr>
            <a:lstStyle/>
            <a:p>
              <a:pPr>
                <a:spcBef>
                  <a:spcPct val="50000"/>
                </a:spcBef>
              </a:pPr>
              <a:r>
                <a:rPr lang="es-ES" sz="1600" dirty="0">
                  <a:solidFill>
                    <a:schemeClr val="tx1"/>
                  </a:solidFill>
                  <a:latin typeface="Arial" pitchFamily="34" charset="0"/>
                  <a:cs typeface="Arial" pitchFamily="34" charset="0"/>
                </a:rPr>
                <a:t>0xFFFFFFFF</a:t>
              </a:r>
            </a:p>
          </p:txBody>
        </p:sp>
        <p:sp>
          <p:nvSpPr>
            <p:cNvPr id="67" name="AutoShape 14"/>
            <p:cNvSpPr>
              <a:spLocks/>
            </p:cNvSpPr>
            <p:nvPr/>
          </p:nvSpPr>
          <p:spPr bwMode="auto">
            <a:xfrm>
              <a:off x="1958" y="806"/>
              <a:ext cx="72" cy="1929"/>
            </a:xfrm>
            <a:prstGeom prst="leftBrace">
              <a:avLst>
                <a:gd name="adj1" fmla="val 223264"/>
                <a:gd name="adj2" fmla="val 50000"/>
              </a:avLst>
            </a:prstGeom>
            <a:noFill/>
            <a:ln w="9525">
              <a:solidFill>
                <a:schemeClr val="tx1"/>
              </a:solidFill>
              <a:round/>
              <a:headEnd/>
              <a:tailEnd/>
            </a:ln>
          </p:spPr>
          <p:txBody>
            <a:bodyPr anchor="ctr">
              <a:spAutoFit/>
            </a:bodyPr>
            <a:lstStyle/>
            <a:p>
              <a:endParaRPr lang="es-ES"/>
            </a:p>
          </p:txBody>
        </p:sp>
        <p:sp>
          <p:nvSpPr>
            <p:cNvPr id="68" name="AutoShape 15"/>
            <p:cNvSpPr>
              <a:spLocks/>
            </p:cNvSpPr>
            <p:nvPr/>
          </p:nvSpPr>
          <p:spPr bwMode="auto">
            <a:xfrm>
              <a:off x="1976" y="2753"/>
              <a:ext cx="56" cy="631"/>
            </a:xfrm>
            <a:prstGeom prst="leftBrace">
              <a:avLst>
                <a:gd name="adj1" fmla="val 93899"/>
                <a:gd name="adj2" fmla="val 50000"/>
              </a:avLst>
            </a:prstGeom>
            <a:noFill/>
            <a:ln w="9525">
              <a:solidFill>
                <a:schemeClr val="tx1"/>
              </a:solidFill>
              <a:round/>
              <a:headEnd/>
              <a:tailEnd/>
            </a:ln>
          </p:spPr>
          <p:txBody>
            <a:bodyPr wrap="none" anchor="ctr">
              <a:spAutoFit/>
            </a:bodyPr>
            <a:lstStyle/>
            <a:p>
              <a:endParaRPr lang="es-ES"/>
            </a:p>
          </p:txBody>
        </p:sp>
        <p:sp>
          <p:nvSpPr>
            <p:cNvPr id="69" name="Text Box 16"/>
            <p:cNvSpPr txBox="1">
              <a:spLocks noChangeArrowheads="1"/>
            </p:cNvSpPr>
            <p:nvPr/>
          </p:nvSpPr>
          <p:spPr bwMode="auto">
            <a:xfrm>
              <a:off x="929" y="1464"/>
              <a:ext cx="942" cy="421"/>
            </a:xfrm>
            <a:prstGeom prst="rect">
              <a:avLst/>
            </a:prstGeom>
            <a:noFill/>
            <a:ln w="9525" algn="ctr">
              <a:noFill/>
              <a:miter lim="800000"/>
              <a:headEnd/>
              <a:tailEnd/>
            </a:ln>
          </p:spPr>
          <p:txBody>
            <a:bodyPr>
              <a:spAutoFit/>
            </a:bodyPr>
            <a:lstStyle/>
            <a:p>
              <a:pPr>
                <a:spcBef>
                  <a:spcPct val="50000"/>
                </a:spcBef>
              </a:pPr>
              <a:r>
                <a:rPr lang="es-ES" sz="1600" dirty="0">
                  <a:solidFill>
                    <a:schemeClr val="tx1"/>
                  </a:solidFill>
                  <a:latin typeface="Arial" pitchFamily="34" charset="0"/>
                  <a:cs typeface="Arial" pitchFamily="34" charset="0"/>
                </a:rPr>
                <a:t>Espacio de Usuario</a:t>
              </a:r>
            </a:p>
          </p:txBody>
        </p:sp>
        <p:sp>
          <p:nvSpPr>
            <p:cNvPr id="70" name="Text Box 18"/>
            <p:cNvSpPr txBox="1">
              <a:spLocks noChangeArrowheads="1"/>
            </p:cNvSpPr>
            <p:nvPr/>
          </p:nvSpPr>
          <p:spPr bwMode="auto">
            <a:xfrm>
              <a:off x="375" y="2890"/>
              <a:ext cx="1573" cy="250"/>
            </a:xfrm>
            <a:prstGeom prst="rect">
              <a:avLst/>
            </a:prstGeom>
            <a:noFill/>
            <a:ln w="9525" algn="ctr">
              <a:noFill/>
              <a:miter lim="800000"/>
              <a:headEnd/>
              <a:tailEnd/>
            </a:ln>
          </p:spPr>
          <p:txBody>
            <a:bodyPr>
              <a:spAutoFit/>
            </a:bodyPr>
            <a:lstStyle/>
            <a:p>
              <a:pPr>
                <a:spcBef>
                  <a:spcPct val="50000"/>
                </a:spcBef>
              </a:pPr>
              <a:r>
                <a:rPr lang="es-ES" sz="1600" dirty="0">
                  <a:solidFill>
                    <a:schemeClr val="tx1"/>
                  </a:solidFill>
                  <a:latin typeface="Arial" pitchFamily="34" charset="0"/>
                  <a:cs typeface="Arial" pitchFamily="34" charset="0"/>
                </a:rPr>
                <a:t>(Sistema Operativo)</a:t>
              </a:r>
            </a:p>
          </p:txBody>
        </p:sp>
        <p:sp>
          <p:nvSpPr>
            <p:cNvPr id="71" name="Text Box 82"/>
            <p:cNvSpPr txBox="1">
              <a:spLocks noChangeArrowheads="1"/>
            </p:cNvSpPr>
            <p:nvPr/>
          </p:nvSpPr>
          <p:spPr bwMode="auto">
            <a:xfrm>
              <a:off x="2094" y="1956"/>
              <a:ext cx="173" cy="212"/>
            </a:xfrm>
            <a:prstGeom prst="rect">
              <a:avLst/>
            </a:prstGeom>
            <a:noFill/>
            <a:ln w="9525" algn="ctr">
              <a:noFill/>
              <a:miter lim="800000"/>
              <a:headEnd/>
              <a:tailEnd type="none" w="med" len="lg"/>
            </a:ln>
          </p:spPr>
          <p:txBody>
            <a:bodyPr>
              <a:spAutoFit/>
            </a:bodyPr>
            <a:lstStyle/>
            <a:p>
              <a:pPr>
                <a:spcBef>
                  <a:spcPct val="50000"/>
                </a:spcBef>
              </a:pPr>
              <a:r>
                <a:rPr lang="es-ES" sz="1600">
                  <a:solidFill>
                    <a:schemeClr val="tx1"/>
                  </a:solidFill>
                </a:rPr>
                <a:t>6</a:t>
              </a:r>
            </a:p>
          </p:txBody>
        </p:sp>
      </p:grpSp>
      <p:sp>
        <p:nvSpPr>
          <p:cNvPr id="72" name="Rectangle 3"/>
          <p:cNvSpPr txBox="1">
            <a:spLocks noChangeArrowheads="1"/>
          </p:cNvSpPr>
          <p:nvPr/>
        </p:nvSpPr>
        <p:spPr>
          <a:xfrm>
            <a:off x="923925" y="1606550"/>
            <a:ext cx="7772400" cy="51435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90000"/>
              </a:lnSpc>
              <a:spcBef>
                <a:spcPct val="20000"/>
              </a:spcBef>
              <a:spcAft>
                <a:spcPts val="0"/>
              </a:spcAft>
              <a:buClrTx/>
              <a:buSzTx/>
              <a:buFontTx/>
              <a:buNone/>
              <a:tabLst/>
              <a:defRPr/>
            </a:pPr>
            <a:r>
              <a:rPr kumimoji="0" lang="es-ES_tradnl" sz="1800" i="0" u="none" strike="noStrike" kern="1200" cap="none" spc="0" normalizeH="0" baseline="0" noProof="0" dirty="0" smtClean="0">
                <a:ln>
                  <a:noFill/>
                </a:ln>
                <a:solidFill>
                  <a:schemeClr val="tx1"/>
                </a:solidFill>
                <a:effectLst/>
                <a:uLnTx/>
                <a:uFillTx/>
                <a:latin typeface="+mn-lt"/>
                <a:ea typeface="+mn-ea"/>
                <a:cs typeface="+mn-cs"/>
              </a:rPr>
              <a:t>Ejemplo</a:t>
            </a:r>
            <a:r>
              <a:rPr kumimoji="0" lang="en-US" sz="1800" b="1" i="0" u="none" strike="noStrike" kern="1200" cap="none" spc="0" normalizeH="0" baseline="0" noProof="0" dirty="0" smtClean="0">
                <a:ln>
                  <a:noFill/>
                </a:ln>
                <a:solidFill>
                  <a:schemeClr val="tx1"/>
                </a:solidFill>
                <a:effectLst/>
                <a:uLnTx/>
                <a:uFillTx/>
                <a:latin typeface="+mn-lt"/>
                <a:ea typeface="+mn-ea"/>
                <a:cs typeface="+mn-cs"/>
              </a:rPr>
              <a:t>:</a:t>
            </a:r>
            <a:r>
              <a:rPr kumimoji="0" lang="en-US" sz="1800" b="0" i="0" u="none" strike="noStrike" kern="1200" cap="none" spc="0" normalizeH="0" baseline="0" noProof="0" dirty="0" smtClean="0">
                <a:ln>
                  <a:noFill/>
                </a:ln>
                <a:solidFill>
                  <a:schemeClr val="tx1"/>
                </a:solidFill>
                <a:effectLst/>
                <a:uLnTx/>
                <a:uFillTx/>
                <a:latin typeface="Tahoma" pitchFamily="34" charset="0"/>
                <a:ea typeface="+mn-ea"/>
                <a:cs typeface="+mn-cs"/>
              </a:rPr>
              <a:t>      cont = </a:t>
            </a:r>
            <a:r>
              <a:rPr kumimoji="0" lang="en-US" sz="1800" b="0" i="0" u="none" strike="noStrike" kern="1200" cap="none" spc="0" normalizeH="0" baseline="0" noProof="0" dirty="0" smtClean="0">
                <a:ln>
                  <a:noFill/>
                </a:ln>
                <a:solidFill>
                  <a:srgbClr val="FF0000"/>
                </a:solidFill>
                <a:effectLst/>
                <a:uLnTx/>
                <a:uFillTx/>
                <a:latin typeface="Tahoma" pitchFamily="34" charset="0"/>
                <a:ea typeface="+mn-ea"/>
                <a:cs typeface="+mn-cs"/>
              </a:rPr>
              <a:t>read (</a:t>
            </a:r>
            <a:r>
              <a:rPr kumimoji="0" lang="en-US" sz="1800" b="0" i="0" u="none" strike="noStrike" kern="1200" cap="none" spc="0" normalizeH="0" baseline="0" noProof="0" dirty="0" err="1" smtClean="0">
                <a:ln>
                  <a:noFill/>
                </a:ln>
                <a:solidFill>
                  <a:srgbClr val="FF0000"/>
                </a:solidFill>
                <a:effectLst/>
                <a:uLnTx/>
                <a:uFillTx/>
                <a:latin typeface="Tahoma" pitchFamily="34" charset="0"/>
                <a:ea typeface="+mn-ea"/>
                <a:cs typeface="+mn-cs"/>
              </a:rPr>
              <a:t>fd</a:t>
            </a:r>
            <a:r>
              <a:rPr kumimoji="0" lang="en-US" sz="1800" b="0" i="0" u="none" strike="noStrike" kern="1200" cap="none" spc="0" normalizeH="0" baseline="0" noProof="0" dirty="0" smtClean="0">
                <a:ln>
                  <a:noFill/>
                </a:ln>
                <a:solidFill>
                  <a:srgbClr val="FF0000"/>
                </a:solidFill>
                <a:effectLst/>
                <a:uLnTx/>
                <a:uFillTx/>
                <a:latin typeface="Tahoma" pitchFamily="34" charset="0"/>
                <a:ea typeface="+mn-ea"/>
                <a:cs typeface="+mn-cs"/>
              </a:rPr>
              <a:t>, buffer, </a:t>
            </a:r>
            <a:r>
              <a:rPr kumimoji="0" lang="en-US" sz="1800" b="0" i="0" u="none" strike="noStrike" kern="1200" cap="none" spc="0" normalizeH="0" baseline="0" noProof="0" dirty="0" err="1" smtClean="0">
                <a:ln>
                  <a:noFill/>
                </a:ln>
                <a:solidFill>
                  <a:srgbClr val="FF0000"/>
                </a:solidFill>
                <a:effectLst/>
                <a:uLnTx/>
                <a:uFillTx/>
                <a:latin typeface="Tahoma" pitchFamily="34" charset="0"/>
                <a:ea typeface="+mn-ea"/>
                <a:cs typeface="+mn-cs"/>
              </a:rPr>
              <a:t>nbytes</a:t>
            </a:r>
            <a:r>
              <a:rPr kumimoji="0" lang="en-US" sz="1800" b="0" i="0" u="none" strike="noStrike" kern="1200" cap="none" spc="0" normalizeH="0" baseline="0" noProof="0" dirty="0" smtClean="0">
                <a:ln>
                  <a:noFill/>
                </a:ln>
                <a:solidFill>
                  <a:srgbClr val="FF0000"/>
                </a:solidFill>
                <a:effectLst/>
                <a:uLnTx/>
                <a:uFillTx/>
                <a:latin typeface="Tahoma" pitchFamily="34" charset="0"/>
                <a:ea typeface="+mn-ea"/>
                <a:cs typeface="+mn-cs"/>
              </a:rPr>
              <a:t>)</a:t>
            </a:r>
          </a:p>
        </p:txBody>
      </p:sp>
      <p:sp>
        <p:nvSpPr>
          <p:cNvPr id="74" name="73 Rectángulo"/>
          <p:cNvSpPr/>
          <p:nvPr/>
        </p:nvSpPr>
        <p:spPr>
          <a:xfrm>
            <a:off x="9144000" y="673372"/>
            <a:ext cx="3124200" cy="5262979"/>
          </a:xfrm>
          <a:prstGeom prst="rect">
            <a:avLst/>
          </a:prstGeom>
        </p:spPr>
        <p:txBody>
          <a:bodyPr wrap="square">
            <a:spAutoFit/>
          </a:bodyPr>
          <a:lstStyle/>
          <a:p>
            <a:r>
              <a:rPr lang="es-AR" sz="1200" dirty="0" smtClean="0">
                <a:solidFill>
                  <a:schemeClr val="tx1"/>
                </a:solidFill>
                <a:latin typeface="Arial" pitchFamily="34" charset="0"/>
                <a:cs typeface="Arial" pitchFamily="34" charset="0"/>
              </a:rPr>
              <a:t>Cuando se realiza una llamada al sistema consiste en colocar una serie de parámetros en un lugar específico (como los registros del procesador), para después ejecutar una instrucción del lenguaje máquina del procesador denominada </a:t>
            </a:r>
            <a:r>
              <a:rPr lang="es-AR" sz="1200" i="1"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a:t>
            </a:r>
            <a:r>
              <a:rPr lang="es-AR" sz="1200" i="1" dirty="0" smtClean="0">
                <a:solidFill>
                  <a:schemeClr val="tx1"/>
                </a:solidFill>
                <a:latin typeface="Arial" pitchFamily="34" charset="0"/>
                <a:cs typeface="Arial" pitchFamily="34" charset="0"/>
              </a:rPr>
              <a:t>en castellano, trampa</a:t>
            </a:r>
            <a:r>
              <a:rPr lang="es-AR" sz="1200" dirty="0" smtClean="0">
                <a:solidFill>
                  <a:schemeClr val="tx1"/>
                </a:solidFill>
                <a:latin typeface="Arial" pitchFamily="34" charset="0"/>
                <a:cs typeface="Arial" pitchFamily="34" charset="0"/>
              </a:rPr>
              <a:t>). La ejecución de esta instrucción máquina hace que el </a:t>
            </a:r>
            <a:r>
              <a:rPr lang="es-AR" sz="1200" i="1" dirty="0" err="1" smtClean="0">
                <a:solidFill>
                  <a:schemeClr val="tx1"/>
                </a:solidFill>
                <a:latin typeface="Arial" pitchFamily="34" charset="0"/>
                <a:cs typeface="Arial" pitchFamily="34" charset="0"/>
              </a:rPr>
              <a:t>hardware</a:t>
            </a:r>
            <a:r>
              <a:rPr lang="es-AR" sz="1200" dirty="0" err="1" smtClean="0">
                <a:solidFill>
                  <a:schemeClr val="tx1"/>
                </a:solidFill>
                <a:latin typeface="Arial" pitchFamily="34" charset="0"/>
                <a:cs typeface="Arial" pitchFamily="34" charset="0"/>
              </a:rPr>
              <a:t>guarde</a:t>
            </a:r>
            <a:r>
              <a:rPr lang="es-AR" sz="1200" dirty="0" smtClean="0">
                <a:solidFill>
                  <a:schemeClr val="tx1"/>
                </a:solidFill>
                <a:latin typeface="Arial" pitchFamily="34" charset="0"/>
                <a:cs typeface="Arial" pitchFamily="34" charset="0"/>
              </a:rPr>
              <a:t> el contador de programa y la palabra de estado del procesador (</a:t>
            </a:r>
            <a:r>
              <a:rPr lang="es-AR" sz="1200" i="1" dirty="0" smtClean="0">
                <a:solidFill>
                  <a:schemeClr val="tx1"/>
                </a:solidFill>
                <a:latin typeface="Arial" pitchFamily="34" charset="0"/>
                <a:cs typeface="Arial" pitchFamily="34" charset="0"/>
              </a:rPr>
              <a:t>PSW, </a:t>
            </a:r>
            <a:r>
              <a:rPr lang="es-AR" sz="1200" i="1" dirty="0" err="1" smtClean="0">
                <a:solidFill>
                  <a:schemeClr val="tx1"/>
                </a:solidFill>
                <a:latin typeface="Arial" pitchFamily="34" charset="0"/>
                <a:cs typeface="Arial" pitchFamily="34" charset="0"/>
              </a:rPr>
              <a:t>Processor</a:t>
            </a:r>
            <a:r>
              <a:rPr lang="es-AR" sz="1200" i="1" dirty="0" smtClean="0">
                <a:solidFill>
                  <a:schemeClr val="tx1"/>
                </a:solidFill>
                <a:latin typeface="Arial" pitchFamily="34" charset="0"/>
                <a:cs typeface="Arial" pitchFamily="34" charset="0"/>
              </a:rPr>
              <a:t> Status Word</a:t>
            </a:r>
            <a:r>
              <a:rPr lang="es-AR" sz="1200" dirty="0" smtClean="0">
                <a:solidFill>
                  <a:schemeClr val="tx1"/>
                </a:solidFill>
                <a:latin typeface="Arial" pitchFamily="34" charset="0"/>
                <a:cs typeface="Arial" pitchFamily="34" charset="0"/>
              </a:rPr>
              <a:t>) en un lugar seguro de la memoria, cargándose un nuevo contador de programa y una nueva PSW. Este nuevo contador de programa contiene una dirección de memoria donde reside una parte (un programa) del sistema operativo, el cual se encarga de llevar a cabo el servicio solicitado. Cuando el sistema operativo finaliza el servicio, coloca un código de estado en un registro para indicar si hubo éxito o fracaso, y ejecuta una instrucción </a:t>
            </a:r>
            <a:r>
              <a:rPr lang="es-AR" sz="1200" i="1" dirty="0" err="1" smtClean="0">
                <a:solidFill>
                  <a:schemeClr val="tx1"/>
                </a:solidFill>
                <a:latin typeface="Arial" pitchFamily="34" charset="0"/>
                <a:cs typeface="Arial" pitchFamily="34" charset="0"/>
              </a:rPr>
              <a:t>return</a:t>
            </a:r>
            <a:r>
              <a:rPr lang="es-AR" sz="1200" i="1" dirty="0" smtClean="0">
                <a:solidFill>
                  <a:schemeClr val="tx1"/>
                </a:solidFill>
                <a:latin typeface="Arial" pitchFamily="34" charset="0"/>
                <a:cs typeface="Arial" pitchFamily="34" charset="0"/>
              </a:rPr>
              <a:t> </a:t>
            </a:r>
            <a:r>
              <a:rPr lang="es-AR" sz="1200" i="1" dirty="0" err="1" smtClean="0">
                <a:solidFill>
                  <a:schemeClr val="tx1"/>
                </a:solidFill>
                <a:latin typeface="Arial" pitchFamily="34" charset="0"/>
                <a:cs typeface="Arial" pitchFamily="34" charset="0"/>
              </a:rPr>
              <a:t>from</a:t>
            </a:r>
            <a:r>
              <a:rPr lang="es-AR" sz="1200" i="1" dirty="0" smtClean="0">
                <a:solidFill>
                  <a:schemeClr val="tx1"/>
                </a:solidFill>
                <a:latin typeface="Arial" pitchFamily="34" charset="0"/>
                <a:cs typeface="Arial" pitchFamily="34" charset="0"/>
              </a:rPr>
              <a:t> </a:t>
            </a:r>
            <a:r>
              <a:rPr lang="es-AR" sz="1200" i="1"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esta instrucción provoca que el </a:t>
            </a:r>
            <a:r>
              <a:rPr lang="es-AR" sz="1200" i="1" dirty="0" smtClean="0">
                <a:solidFill>
                  <a:schemeClr val="tx1"/>
                </a:solidFill>
                <a:latin typeface="Arial" pitchFamily="34" charset="0"/>
                <a:cs typeface="Arial" pitchFamily="34" charset="0"/>
              </a:rPr>
              <a:t>hardware</a:t>
            </a:r>
            <a:r>
              <a:rPr lang="es-AR" sz="1200" dirty="0" smtClean="0">
                <a:solidFill>
                  <a:schemeClr val="tx1"/>
                </a:solidFill>
                <a:latin typeface="Arial" pitchFamily="34" charset="0"/>
                <a:cs typeface="Arial" pitchFamily="34" charset="0"/>
              </a:rPr>
              <a:t> restituya el contador de programa y la PSW del programa que realizó la llamada al sistema, prosiguiéndose así su ejecución</a:t>
            </a:r>
            <a:endParaRPr lang="es-AR" sz="1200" dirty="0">
              <a:solidFill>
                <a:schemeClr val="tx1"/>
              </a:solidFill>
              <a:latin typeface="Arial" pitchFamily="34" charset="0"/>
              <a:cs typeface="Arial" pitchFamily="34" charset="0"/>
            </a:endParaRPr>
          </a:p>
        </p:txBody>
      </p:sp>
      <p:sp>
        <p:nvSpPr>
          <p:cNvPr id="73" name="72 Rectángulo"/>
          <p:cNvSpPr/>
          <p:nvPr/>
        </p:nvSpPr>
        <p:spPr>
          <a:xfrm>
            <a:off x="-3213100" y="0"/>
            <a:ext cx="2997200" cy="25206900"/>
          </a:xfrm>
          <a:prstGeom prst="rect">
            <a:avLst/>
          </a:prstGeom>
        </p:spPr>
        <p:txBody>
          <a:bodyPr wrap="square">
            <a:spAutoFit/>
          </a:bodyPr>
          <a:lstStyle/>
          <a:p>
            <a:pPr algn="just"/>
            <a:r>
              <a:rPr lang="es-AR" sz="1200" cap="all" dirty="0" smtClean="0">
                <a:solidFill>
                  <a:schemeClr val="tx1"/>
                </a:solidFill>
                <a:latin typeface="Arial" pitchFamily="34" charset="0"/>
                <a:cs typeface="Arial" pitchFamily="34" charset="0"/>
              </a:rPr>
              <a:t>SISTEMAS OPERATIVOS – LLAMADAS AL SISTEMA</a:t>
            </a:r>
          </a:p>
          <a:p>
            <a:pPr algn="just"/>
            <a:r>
              <a:rPr lang="es-AR" sz="1200" dirty="0" smtClean="0">
                <a:solidFill>
                  <a:schemeClr val="tx1"/>
                </a:solidFill>
                <a:latin typeface="Arial" pitchFamily="34" charset="0"/>
                <a:cs typeface="Arial" pitchFamily="34" charset="0"/>
              </a:rPr>
              <a:t>Los sistemas operativos tienen dos funciones principales: Proveer de abstracciones a los programas de usuario mediante la máquina virtual multinivel y administrar los recursos de la computadora. La interacción entre los programas de usuario y el sistema operativo se relaciona con la primera función a través de llamadas al sistema. Las llamadas al sistema disponibles entre los programas de usuario y el sistema operativo varían de un sistema operativo a otro. En el caso de UNIX, programado en C, encontramos muchas de esas llamadas al sistema en la librería estándar de C llamada </a:t>
            </a:r>
            <a:r>
              <a:rPr lang="es-AR" sz="1200" i="1" dirty="0" err="1" smtClean="0">
                <a:solidFill>
                  <a:schemeClr val="tx1"/>
                </a:solidFill>
                <a:latin typeface="Arial" pitchFamily="34" charset="0"/>
                <a:cs typeface="Arial" pitchFamily="34" charset="0"/>
              </a:rPr>
              <a:t>glibc</a:t>
            </a:r>
            <a:r>
              <a:rPr lang="es-AR" sz="1200" dirty="0" smtClean="0">
                <a:solidFill>
                  <a:schemeClr val="tx1"/>
                </a:solidFill>
                <a:latin typeface="Arial" pitchFamily="34" charset="0"/>
                <a:cs typeface="Arial" pitchFamily="34" charset="0"/>
              </a:rPr>
              <a:t>. Esta librería nos proporciona llamadas directamente podemos usar desde un programa escrito en C. Muchas de las llamadas al sistema son complejas de utilizar incluso por un programador, por lo que </a:t>
            </a:r>
            <a:r>
              <a:rPr lang="es-AR" sz="1200" i="1" dirty="0" err="1" smtClean="0">
                <a:solidFill>
                  <a:schemeClr val="tx1"/>
                </a:solidFill>
                <a:latin typeface="Arial" pitchFamily="34" charset="0"/>
                <a:cs typeface="Arial" pitchFamily="34" charset="0"/>
              </a:rPr>
              <a:t>glibc</a:t>
            </a:r>
            <a:r>
              <a:rPr lang="es-AR" sz="1200" dirty="0" smtClean="0">
                <a:solidFill>
                  <a:schemeClr val="tx1"/>
                </a:solidFill>
                <a:latin typeface="Arial" pitchFamily="34" charset="0"/>
                <a:cs typeface="Arial" pitchFamily="34" charset="0"/>
              </a:rPr>
              <a:t> también hace abstracciones a nivel superior de las propias llamadas al sistema incluso de conjuntos de ellas para podamos utilizarlas al programar y así realizar una determinada acción de manera relativamente sencilla. Es el sistema operativo el que en última instancia lleva a cabo las llamadas al sistema.</a:t>
            </a:r>
          </a:p>
          <a:p>
            <a:pPr algn="just"/>
            <a:r>
              <a:rPr lang="es-AR" sz="1200" dirty="0" smtClean="0">
                <a:solidFill>
                  <a:schemeClr val="tx1"/>
                </a:solidFill>
                <a:latin typeface="Arial" pitchFamily="34" charset="0"/>
                <a:cs typeface="Arial" pitchFamily="34" charset="0"/>
              </a:rPr>
              <a:t>Las llamadas al sistema son necesarias ya que un usuario no puede acceder o no tiene privilegios directos sobre los recursos que gestiona el sistema operativo y se pueden utilizar para solicitar al núcleo del sistema el uso de los mismos. Lo que ocurre cuando se invoca a una llamada del sistema desde un </a:t>
            </a:r>
            <a:r>
              <a:rPr lang="es-AR" sz="1200" b="1" dirty="0" smtClean="0">
                <a:solidFill>
                  <a:schemeClr val="tx1"/>
                </a:solidFill>
                <a:latin typeface="Arial" pitchFamily="34" charset="0"/>
                <a:cs typeface="Arial" pitchFamily="34" charset="0"/>
              </a:rPr>
              <a:t>proceso en ejecución</a:t>
            </a:r>
            <a:r>
              <a:rPr lang="es-AR" sz="1200" dirty="0" smtClean="0">
                <a:solidFill>
                  <a:schemeClr val="tx1"/>
                </a:solidFill>
                <a:latin typeface="Arial" pitchFamily="34" charset="0"/>
                <a:cs typeface="Arial" pitchFamily="34" charset="0"/>
              </a:rPr>
              <a:t> o </a:t>
            </a:r>
            <a:r>
              <a:rPr lang="es-AR" sz="1200" b="1" dirty="0" smtClean="0">
                <a:solidFill>
                  <a:schemeClr val="tx1"/>
                </a:solidFill>
                <a:latin typeface="Arial" pitchFamily="34" charset="0"/>
                <a:cs typeface="Arial" pitchFamily="34" charset="0"/>
              </a:rPr>
              <a:t>desde una rutina de interrupción de E/S</a:t>
            </a:r>
            <a:r>
              <a:rPr lang="es-AR" sz="1200" dirty="0" smtClean="0">
                <a:solidFill>
                  <a:schemeClr val="tx1"/>
                </a:solidFill>
                <a:latin typeface="Arial" pitchFamily="34" charset="0"/>
                <a:cs typeface="Arial" pitchFamily="34" charset="0"/>
              </a:rPr>
              <a:t> es lo siguiente:</a:t>
            </a:r>
          </a:p>
          <a:p>
            <a:pPr algn="just"/>
            <a:endParaRPr lang="es-AR" sz="1200" dirty="0" smtClean="0">
              <a:solidFill>
                <a:schemeClr val="tx1"/>
              </a:solidFill>
              <a:latin typeface="Arial" pitchFamily="34" charset="0"/>
              <a:cs typeface="Arial" pitchFamily="34" charset="0"/>
            </a:endParaRPr>
          </a:p>
          <a:p>
            <a:pPr algn="just"/>
            <a:r>
              <a:rPr lang="es-AR" sz="1200" dirty="0" smtClean="0">
                <a:solidFill>
                  <a:schemeClr val="tx1"/>
                </a:solidFill>
                <a:latin typeface="Arial" pitchFamily="34" charset="0"/>
                <a:cs typeface="Arial" pitchFamily="34" charset="0"/>
              </a:rPr>
              <a:t>- El programador o usuario realiza la llamada al sistema de forma normal. La llamada junto con los parámetros asociados a la misma se cargarían en la pila.</a:t>
            </a:r>
          </a:p>
          <a:p>
            <a:pPr algn="just"/>
            <a:r>
              <a:rPr lang="es-AR" sz="1200" dirty="0" smtClean="0">
                <a:solidFill>
                  <a:schemeClr val="tx1"/>
                </a:solidFill>
                <a:latin typeface="Arial" pitchFamily="34" charset="0"/>
                <a:cs typeface="Arial" pitchFamily="34" charset="0"/>
              </a:rPr>
              <a:t>- La llamada al sistema invocada ejecuta una instrucción de interrupción especial del sistema operativo que se llama </a:t>
            </a:r>
            <a:r>
              <a:rPr lang="es-AR" sz="1200" b="1"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implementada a nivel de lenguaje ensamblador dentro de la propia llamada, y que conlleva un cambio de modo. Al ejecutarse la instrucción </a:t>
            </a:r>
            <a:r>
              <a:rPr lang="es-AR" sz="1200"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se carga un programa que pasa el sistema operativo de modo usuario a modo núcleo y se busca el lugar del núcleo donde está cargada la rutina a ejecutar (normalmente será un conjunto de instrucciones de máquina cargadas en memoria principal que el procesador tiene que ejecutar y que al usuario se le prohíbe utilizar directamente por seguridad. La ejecución de una instrucción </a:t>
            </a:r>
            <a:r>
              <a:rPr lang="es-AR" sz="1200"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lleva consigo la necesidad de salvar el contexto del proceso que realizó la llamada, pero esto no conlleva un salvado y cambio de contexto completo como ocurre con las interrupciones. Un cambio de modo puede ocurrir sin que se cambie el estado del proceso actualmente en estado «ejecutando». Si el proceso que está en ejecución se va a mover a cualquier otro estado (listo, bloqueado, </a:t>
            </a:r>
            <a:r>
              <a:rPr lang="es-AR" sz="1200" dirty="0" err="1" smtClean="0">
                <a:solidFill>
                  <a:schemeClr val="tx1"/>
                </a:solidFill>
                <a:latin typeface="Arial" pitchFamily="34" charset="0"/>
                <a:cs typeface="Arial" pitchFamily="34" charset="0"/>
              </a:rPr>
              <a:t>etc</a:t>
            </a:r>
            <a:r>
              <a:rPr lang="es-AR" sz="1200" dirty="0" smtClean="0">
                <a:solidFill>
                  <a:schemeClr val="tx1"/>
                </a:solidFill>
                <a:latin typeface="Arial" pitchFamily="34" charset="0"/>
                <a:cs typeface="Arial" pitchFamily="34" charset="0"/>
              </a:rPr>
              <a:t>), el sistema operativo debe hacer cambios sustanciales en su entorno y se lleva a cabo un cambio de contexto completo, al igual que ocurre con las interrupciones.</a:t>
            </a:r>
          </a:p>
          <a:p>
            <a:pPr algn="just"/>
            <a:r>
              <a:rPr lang="es-AR" sz="1200" dirty="0" smtClean="0">
                <a:solidFill>
                  <a:schemeClr val="tx1"/>
                </a:solidFill>
                <a:latin typeface="Arial" pitchFamily="34" charset="0"/>
                <a:cs typeface="Arial" pitchFamily="34" charset="0"/>
              </a:rPr>
              <a:t>Supongamos que </a:t>
            </a:r>
            <a:r>
              <a:rPr lang="es-AR" sz="1200" u="sng" dirty="0" smtClean="0">
                <a:solidFill>
                  <a:schemeClr val="tx1"/>
                </a:solidFill>
                <a:latin typeface="Arial" pitchFamily="34" charset="0"/>
                <a:cs typeface="Arial" pitchFamily="34" charset="0"/>
              </a:rPr>
              <a:t>no</a:t>
            </a:r>
            <a:r>
              <a:rPr lang="es-AR" sz="1200" dirty="0" smtClean="0">
                <a:solidFill>
                  <a:schemeClr val="tx1"/>
                </a:solidFill>
                <a:latin typeface="Arial" pitchFamily="34" charset="0"/>
                <a:cs typeface="Arial" pitchFamily="34" charset="0"/>
              </a:rPr>
              <a:t> es necesario cambiar el estado del proceso actual. El programa cargado a partir de la instrucción </a:t>
            </a:r>
            <a:r>
              <a:rPr lang="es-AR" sz="1200"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tras identificar que existe una rutina para la llamada realizada y que los parámetros son correctos, procede a ejecutarla.</a:t>
            </a:r>
          </a:p>
          <a:p>
            <a:pPr algn="just"/>
            <a:r>
              <a:rPr lang="es-AR" sz="1200" dirty="0" smtClean="0">
                <a:solidFill>
                  <a:schemeClr val="tx1"/>
                </a:solidFill>
                <a:latin typeface="Arial" pitchFamily="34" charset="0"/>
                <a:cs typeface="Arial" pitchFamily="34" charset="0"/>
              </a:rPr>
              <a:t>Posteriormente el programa </a:t>
            </a:r>
            <a:r>
              <a:rPr lang="es-AR" sz="1200"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solicita un código de estado almacenado en un registro, este registro señala si la llamada tuvo éxito o no y ejecuta una instrucción de tipo RETURN FROM TRAP (a nivel de núcleo) para regresar el control a la rutina de la biblioteca (modo usuario), devolviendo un determinado resultado en el caso de que se tenga que devolver algo, y el éxito o fracaso de la llamada al sistema.- </a:t>
            </a:r>
          </a:p>
          <a:p>
            <a:pPr algn="just"/>
            <a:r>
              <a:rPr lang="es-AR" sz="1200" dirty="0" smtClean="0">
                <a:solidFill>
                  <a:schemeClr val="tx1"/>
                </a:solidFill>
                <a:latin typeface="Arial" pitchFamily="34" charset="0"/>
                <a:cs typeface="Arial" pitchFamily="34" charset="0"/>
              </a:rPr>
              <a:t>Cuando finalizan esas acciones, la rutina de biblioteca a nivel de usuario descarga la pila y comprueba el resultado de la ejecución de la petición al sistema, se lo devuelve al usuario y se continua por la siguiente línea de código del programa.</a:t>
            </a:r>
          </a:p>
          <a:p>
            <a:pPr algn="just"/>
            <a:r>
              <a:rPr lang="es-AR" sz="1200" dirty="0" smtClean="0">
                <a:solidFill>
                  <a:schemeClr val="tx1"/>
                </a:solidFill>
                <a:latin typeface="Arial" pitchFamily="34" charset="0"/>
                <a:cs typeface="Arial" pitchFamily="34" charset="0"/>
              </a:rPr>
              <a:t>No debemos confundir una interrupción de E/S con una interrupción </a:t>
            </a:r>
            <a:r>
              <a:rPr lang="es-AR" sz="1200"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La interrupción </a:t>
            </a:r>
            <a:r>
              <a:rPr lang="es-AR" sz="1200"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ocurre siempre que se realiza una llamada al sistema, es decir, cuando necesita ejecutar una rutina propia del sistema operativo. La ejecución de </a:t>
            </a:r>
            <a:r>
              <a:rPr lang="es-AR" sz="1200"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puede dar lugar a continuar con el mismo proceso o que se cambie a otro diferente. Cuando ocurre una interrupción </a:t>
            </a:r>
            <a:r>
              <a:rPr lang="es-AR" sz="1200"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en una llamada al sistema, el procesador se pone en modo núcleo y el control se pasa al sistema operativo. Cuando el sistema operativo está manejando en un momento determinado </a:t>
            </a:r>
            <a:r>
              <a:rPr lang="es-AR" sz="1200" i="1" dirty="0" smtClean="0">
                <a:solidFill>
                  <a:schemeClr val="tx1"/>
                </a:solidFill>
                <a:latin typeface="Arial" pitchFamily="34" charset="0"/>
                <a:cs typeface="Arial" pitchFamily="34" charset="0"/>
              </a:rPr>
              <a:t>n</a:t>
            </a:r>
            <a:r>
              <a:rPr lang="es-AR" sz="1200" dirty="0" smtClean="0">
                <a:solidFill>
                  <a:schemeClr val="tx1"/>
                </a:solidFill>
                <a:latin typeface="Arial" pitchFamily="34" charset="0"/>
                <a:cs typeface="Arial" pitchFamily="34" charset="0"/>
              </a:rPr>
              <a:t> imágenes de procesos, cada imagen no sólo incluye el programa, datos, pila y BCP, sino que además incluye o hace referencia a áreas de programa, datos y pila para los programas del núcleo. Se usa una pila de núcleo separada de los procesos de usuario para manejar llamadas/retornos cuando un proceso está en modo núcleo (</a:t>
            </a:r>
            <a:r>
              <a:rPr lang="es-AR" sz="1200" dirty="0" err="1" smtClean="0">
                <a:solidFill>
                  <a:schemeClr val="tx1"/>
                </a:solidFill>
                <a:latin typeface="Arial" pitchFamily="34" charset="0"/>
                <a:cs typeface="Arial" pitchFamily="34" charset="0"/>
              </a:rPr>
              <a:t>trap</a:t>
            </a:r>
            <a:r>
              <a:rPr lang="es-AR" sz="1200" dirty="0" smtClean="0">
                <a:solidFill>
                  <a:schemeClr val="tx1"/>
                </a:solidFill>
                <a:latin typeface="Arial" pitchFamily="34" charset="0"/>
                <a:cs typeface="Arial" pitchFamily="34" charset="0"/>
              </a:rPr>
              <a:t>). El código del sistema operativo y sus datos están en el espacio de direcciones compartidas y se comparten entre todos los procesos, es decir, cualquier proceso de usuario puede hacer referencia o llamar a rutinas en modo núcleo.</a:t>
            </a:r>
          </a:p>
          <a:p>
            <a:pPr algn="just"/>
            <a:endParaRPr lang="es-AR" dirty="0"/>
          </a:p>
        </p:txBody>
      </p:sp>
      <p:sp>
        <p:nvSpPr>
          <p:cNvPr id="75"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200" b="1" dirty="0" smtClean="0">
                <a:solidFill>
                  <a:schemeClr val="accent2">
                    <a:lumMod val="75000"/>
                  </a:schemeClr>
                </a:solidFill>
                <a:latin typeface="Arial Unicode MS"/>
                <a:ea typeface="Arial Unicode MS"/>
                <a:cs typeface="Arial Unicode MS"/>
              </a:rPr>
              <a:t>Llamadas al Sistema (</a:t>
            </a:r>
            <a:r>
              <a:rPr lang="es-AR" sz="3200" b="1" dirty="0" err="1" smtClean="0">
                <a:solidFill>
                  <a:schemeClr val="accent2">
                    <a:lumMod val="75000"/>
                  </a:schemeClr>
                </a:solidFill>
                <a:latin typeface="Arial Unicode MS"/>
                <a:ea typeface="Arial Unicode MS"/>
                <a:cs typeface="Arial Unicode MS"/>
              </a:rPr>
              <a:t>System</a:t>
            </a:r>
            <a:r>
              <a:rPr lang="es-AR" sz="3200" b="1" dirty="0" smtClean="0">
                <a:solidFill>
                  <a:schemeClr val="accent2">
                    <a:lumMod val="75000"/>
                  </a:schemeClr>
                </a:solidFill>
                <a:latin typeface="Arial Unicode MS"/>
                <a:ea typeface="Arial Unicode MS"/>
                <a:cs typeface="Arial Unicode MS"/>
              </a:rPr>
              <a:t> </a:t>
            </a:r>
            <a:r>
              <a:rPr lang="es-AR" sz="3200" b="1" dirty="0" err="1" smtClean="0">
                <a:solidFill>
                  <a:schemeClr val="accent2">
                    <a:lumMod val="75000"/>
                  </a:schemeClr>
                </a:solidFill>
                <a:latin typeface="Arial Unicode MS"/>
                <a:ea typeface="Arial Unicode MS"/>
                <a:cs typeface="Arial Unicode MS"/>
              </a:rPr>
              <a:t>call</a:t>
            </a:r>
            <a:r>
              <a:rPr lang="es-AR" sz="3200" b="1" dirty="0" smtClean="0">
                <a:solidFill>
                  <a:schemeClr val="accent2">
                    <a:lumMod val="75000"/>
                  </a:schemeClr>
                </a:solidFill>
                <a:latin typeface="Arial Unicode MS"/>
                <a:ea typeface="Arial Unicode MS"/>
                <a:cs typeface="Arial Unicode MS"/>
              </a:rPr>
              <a:t>)</a:t>
            </a:r>
            <a:endParaRPr lang="es-AR" sz="3200" b="1" dirty="0">
              <a:solidFill>
                <a:schemeClr val="accent2">
                  <a:lumMod val="75000"/>
                </a:schemeClr>
              </a:solidFill>
              <a:latin typeface="Arial Unicode MS"/>
              <a:ea typeface="Arial Unicode MS"/>
              <a:cs typeface="Arial Unicode M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5 Marcador de número de diapositiva"/>
          <p:cNvSpPr>
            <a:spLocks noGrp="1"/>
          </p:cNvSpPr>
          <p:nvPr>
            <p:ph type="sldNum" sz="quarter" idx="12"/>
          </p:nvPr>
        </p:nvSpPr>
        <p:spPr>
          <a:noFill/>
        </p:spPr>
        <p:txBody>
          <a:bodyPr/>
          <a:lstStyle/>
          <a:p>
            <a:fld id="{D130B08E-5C64-4D11-B2AE-71424DE345B1}" type="slidenum">
              <a:rPr lang="en-US"/>
              <a:pPr/>
              <a:t>30</a:t>
            </a:fld>
            <a:endParaRPr lang="en-US"/>
          </a:p>
        </p:txBody>
      </p:sp>
      <p:sp>
        <p:nvSpPr>
          <p:cNvPr id="76" name="75 CuadroTexto"/>
          <p:cNvSpPr txBox="1"/>
          <p:nvPr/>
        </p:nvSpPr>
        <p:spPr>
          <a:xfrm>
            <a:off x="45121" y="457200"/>
            <a:ext cx="3704860" cy="400110"/>
          </a:xfrm>
          <a:prstGeom prst="rect">
            <a:avLst/>
          </a:prstGeom>
          <a:noFill/>
        </p:spPr>
        <p:txBody>
          <a:bodyPr wrap="none" rtlCol="0">
            <a:spAutoFit/>
          </a:bodyPr>
          <a:lstStyle/>
          <a:p>
            <a:pPr algn="l"/>
            <a:r>
              <a:rPr lang="es-AR" sz="2000" dirty="0" smtClean="0">
                <a:solidFill>
                  <a:schemeClr val="tx1"/>
                </a:solidFill>
                <a:latin typeface="Arial" pitchFamily="34" charset="0"/>
                <a:cs typeface="Arial" pitchFamily="34" charset="0"/>
              </a:rPr>
              <a:t>Ejemplo:   Escribir Hola Mundo</a:t>
            </a:r>
            <a:endParaRPr lang="es-AR" sz="2000" dirty="0">
              <a:solidFill>
                <a:schemeClr val="tx1"/>
              </a:solidFill>
              <a:latin typeface="Arial" pitchFamily="34" charset="0"/>
              <a:cs typeface="Arial" pitchFamily="34" charset="0"/>
            </a:endParaRPr>
          </a:p>
        </p:txBody>
      </p:sp>
      <p:sp>
        <p:nvSpPr>
          <p:cNvPr id="77" name="76 CuadroTexto"/>
          <p:cNvSpPr txBox="1"/>
          <p:nvPr/>
        </p:nvSpPr>
        <p:spPr>
          <a:xfrm>
            <a:off x="464221" y="1358900"/>
            <a:ext cx="2262158" cy="369332"/>
          </a:xfrm>
          <a:prstGeom prst="rect">
            <a:avLst/>
          </a:prstGeom>
          <a:noFill/>
        </p:spPr>
        <p:txBody>
          <a:bodyPr wrap="none" rtlCol="0">
            <a:spAutoFit/>
          </a:bodyPr>
          <a:lstStyle/>
          <a:p>
            <a:pPr algn="l"/>
            <a:r>
              <a:rPr lang="es-AR" sz="1800" dirty="0" smtClean="0">
                <a:solidFill>
                  <a:schemeClr val="tx1"/>
                </a:solidFill>
                <a:latin typeface="Arial" pitchFamily="34" charset="0"/>
                <a:cs typeface="Arial" pitchFamily="34" charset="0"/>
              </a:rPr>
              <a:t>Implementado en C:</a:t>
            </a:r>
            <a:endParaRPr lang="es-AR" sz="1800" dirty="0">
              <a:solidFill>
                <a:schemeClr val="tx1"/>
              </a:solidFill>
              <a:latin typeface="Arial" pitchFamily="34" charset="0"/>
              <a:cs typeface="Arial" pitchFamily="34" charset="0"/>
            </a:endParaRPr>
          </a:p>
        </p:txBody>
      </p:sp>
      <p:pic>
        <p:nvPicPr>
          <p:cNvPr id="60418" name="Picture 2"/>
          <p:cNvPicPr>
            <a:picLocks noChangeAspect="1" noChangeArrowheads="1"/>
          </p:cNvPicPr>
          <p:nvPr/>
        </p:nvPicPr>
        <p:blipFill>
          <a:blip r:embed="rId3" cstate="print"/>
          <a:srcRect/>
          <a:stretch>
            <a:fillRect/>
          </a:stretch>
        </p:blipFill>
        <p:spPr bwMode="auto">
          <a:xfrm>
            <a:off x="3108325" y="1060450"/>
            <a:ext cx="3943350" cy="1028700"/>
          </a:xfrm>
          <a:prstGeom prst="rect">
            <a:avLst/>
          </a:prstGeom>
          <a:noFill/>
          <a:ln w="9525">
            <a:noFill/>
            <a:miter lim="800000"/>
            <a:headEnd/>
            <a:tailEnd/>
          </a:ln>
        </p:spPr>
      </p:pic>
      <p:sp>
        <p:nvSpPr>
          <p:cNvPr id="79" name="78 CuadroTexto"/>
          <p:cNvSpPr txBox="1"/>
          <p:nvPr/>
        </p:nvSpPr>
        <p:spPr>
          <a:xfrm>
            <a:off x="7275442" y="939800"/>
            <a:ext cx="1868558" cy="1200329"/>
          </a:xfrm>
          <a:prstGeom prst="rect">
            <a:avLst/>
          </a:prstGeom>
          <a:noFill/>
        </p:spPr>
        <p:txBody>
          <a:bodyPr wrap="square" rtlCol="0">
            <a:spAutoFit/>
          </a:bodyPr>
          <a:lstStyle/>
          <a:p>
            <a:pPr algn="l"/>
            <a:r>
              <a:rPr lang="es-AR" sz="1800" dirty="0" smtClean="0">
                <a:solidFill>
                  <a:schemeClr val="tx1"/>
                </a:solidFill>
                <a:latin typeface="Arial" pitchFamily="34" charset="0"/>
                <a:cs typeface="Arial" pitchFamily="34" charset="0"/>
              </a:rPr>
              <a:t>Usa la función </a:t>
            </a:r>
            <a:r>
              <a:rPr lang="es-AR" sz="1800" dirty="0" err="1" smtClean="0">
                <a:solidFill>
                  <a:schemeClr val="tx2">
                    <a:lumMod val="60000"/>
                    <a:lumOff val="40000"/>
                  </a:schemeClr>
                </a:solidFill>
                <a:latin typeface="Arial" pitchFamily="34" charset="0"/>
                <a:cs typeface="Arial" pitchFamily="34" charset="0"/>
              </a:rPr>
              <a:t>printf</a:t>
            </a:r>
            <a:r>
              <a:rPr lang="es-AR" sz="1800" dirty="0" smtClean="0">
                <a:solidFill>
                  <a:schemeClr val="tx1"/>
                </a:solidFill>
                <a:latin typeface="Arial" pitchFamily="34" charset="0"/>
                <a:cs typeface="Arial" pitchFamily="34" charset="0"/>
              </a:rPr>
              <a:t> que se encuentra en </a:t>
            </a:r>
            <a:r>
              <a:rPr lang="es-AR" sz="1800" dirty="0" err="1" smtClean="0">
                <a:solidFill>
                  <a:schemeClr val="tx1"/>
                </a:solidFill>
                <a:latin typeface="Arial" pitchFamily="34" charset="0"/>
                <a:cs typeface="Arial" pitchFamily="34" charset="0"/>
              </a:rPr>
              <a:t>stdio.h</a:t>
            </a:r>
            <a:endParaRPr lang="es-AR" sz="1800" dirty="0">
              <a:solidFill>
                <a:schemeClr val="tx1"/>
              </a:solidFill>
              <a:latin typeface="Arial" pitchFamily="34" charset="0"/>
              <a:cs typeface="Arial" pitchFamily="34" charset="0"/>
            </a:endParaRPr>
          </a:p>
        </p:txBody>
      </p:sp>
      <p:sp>
        <p:nvSpPr>
          <p:cNvPr id="80" name="79 CuadroTexto"/>
          <p:cNvSpPr txBox="1"/>
          <p:nvPr/>
        </p:nvSpPr>
        <p:spPr>
          <a:xfrm>
            <a:off x="384707" y="2246796"/>
            <a:ext cx="8282215" cy="923330"/>
          </a:xfrm>
          <a:prstGeom prst="rect">
            <a:avLst/>
          </a:prstGeom>
          <a:noFill/>
        </p:spPr>
        <p:txBody>
          <a:bodyPr wrap="square" rtlCol="0">
            <a:spAutoFit/>
          </a:bodyPr>
          <a:lstStyle/>
          <a:p>
            <a:pPr algn="l"/>
            <a:r>
              <a:rPr lang="es-AR" sz="1800" dirty="0" smtClean="0">
                <a:solidFill>
                  <a:schemeClr val="tx1"/>
                </a:solidFill>
                <a:latin typeface="Arial" pitchFamily="34" charset="0"/>
                <a:cs typeface="Arial" pitchFamily="34" charset="0"/>
              </a:rPr>
              <a:t>Descendiendo de nivel, las funciones de </a:t>
            </a:r>
            <a:r>
              <a:rPr lang="es-AR" sz="1800" dirty="0" err="1" smtClean="0">
                <a:solidFill>
                  <a:schemeClr val="tx1"/>
                </a:solidFill>
                <a:latin typeface="Arial" pitchFamily="34" charset="0"/>
                <a:cs typeface="Arial" pitchFamily="34" charset="0"/>
              </a:rPr>
              <a:t>stdio.h</a:t>
            </a:r>
            <a:r>
              <a:rPr lang="es-AR" sz="1800" dirty="0" smtClean="0">
                <a:solidFill>
                  <a:schemeClr val="tx1"/>
                </a:solidFill>
                <a:latin typeface="Arial" pitchFamily="34" charset="0"/>
                <a:cs typeface="Arial" pitchFamily="34" charset="0"/>
              </a:rPr>
              <a:t> utilizan otras de más bajo nivel, llamadas </a:t>
            </a:r>
            <a:r>
              <a:rPr lang="es-AR" sz="1800" i="1" dirty="0" err="1" smtClean="0">
                <a:solidFill>
                  <a:schemeClr val="tx1"/>
                </a:solidFill>
                <a:latin typeface="Arial" pitchFamily="34" charset="0"/>
                <a:cs typeface="Arial" pitchFamily="34" charset="0"/>
              </a:rPr>
              <a:t>system</a:t>
            </a:r>
            <a:r>
              <a:rPr lang="es-AR" sz="1800" i="1" dirty="0" smtClean="0">
                <a:solidFill>
                  <a:schemeClr val="tx1"/>
                </a:solidFill>
                <a:latin typeface="Arial" pitchFamily="34" charset="0"/>
                <a:cs typeface="Arial" pitchFamily="34" charset="0"/>
              </a:rPr>
              <a:t> </a:t>
            </a:r>
            <a:r>
              <a:rPr lang="es-AR" sz="1800" i="1" dirty="0" err="1" smtClean="0">
                <a:solidFill>
                  <a:schemeClr val="tx1"/>
                </a:solidFill>
                <a:latin typeface="Arial" pitchFamily="34" charset="0"/>
                <a:cs typeface="Arial" pitchFamily="34" charset="0"/>
              </a:rPr>
              <a:t>call</a:t>
            </a:r>
            <a:r>
              <a:rPr lang="es-AR" sz="1800" i="1" dirty="0" smtClean="0">
                <a:solidFill>
                  <a:schemeClr val="tx1"/>
                </a:solidFill>
                <a:latin typeface="Arial" pitchFamily="34" charset="0"/>
                <a:cs typeface="Arial" pitchFamily="34" charset="0"/>
              </a:rPr>
              <a:t> </a:t>
            </a:r>
            <a:r>
              <a:rPr lang="es-AR" sz="1800" i="1" dirty="0" err="1" smtClean="0">
                <a:solidFill>
                  <a:schemeClr val="tx1"/>
                </a:solidFill>
                <a:latin typeface="Arial" pitchFamily="34" charset="0"/>
                <a:cs typeface="Arial" pitchFamily="34" charset="0"/>
              </a:rPr>
              <a:t>wrappers</a:t>
            </a:r>
            <a:r>
              <a:rPr lang="es-AR" sz="1800" i="1" dirty="0" smtClean="0">
                <a:solidFill>
                  <a:schemeClr val="tx1"/>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que hacen la llamada al </a:t>
            </a:r>
            <a:r>
              <a:rPr lang="es-AR" sz="1800" i="1" dirty="0" err="1" smtClean="0">
                <a:solidFill>
                  <a:schemeClr val="tx1"/>
                </a:solidFill>
                <a:latin typeface="Arial" pitchFamily="34" charset="0"/>
                <a:cs typeface="Arial" pitchFamily="34" charset="0"/>
              </a:rPr>
              <a:t>system</a:t>
            </a:r>
            <a:r>
              <a:rPr lang="es-AR" sz="1800" i="1" dirty="0" smtClean="0">
                <a:solidFill>
                  <a:schemeClr val="tx1"/>
                </a:solidFill>
                <a:latin typeface="Arial" pitchFamily="34" charset="0"/>
                <a:cs typeface="Arial" pitchFamily="34" charset="0"/>
              </a:rPr>
              <a:t> </a:t>
            </a:r>
            <a:r>
              <a:rPr lang="es-AR" sz="1800" i="1" dirty="0" err="1" smtClean="0">
                <a:solidFill>
                  <a:schemeClr val="tx1"/>
                </a:solidFill>
                <a:latin typeface="Arial" pitchFamily="34" charset="0"/>
                <a:cs typeface="Arial" pitchFamily="34" charset="0"/>
              </a:rPr>
              <a:t>call</a:t>
            </a:r>
            <a:r>
              <a:rPr lang="es-AR" sz="1800" i="1" dirty="0" smtClean="0">
                <a:solidFill>
                  <a:schemeClr val="tx1"/>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real.</a:t>
            </a:r>
          </a:p>
          <a:p>
            <a:pPr algn="l"/>
            <a:endParaRPr lang="es-AR" sz="1800" dirty="0">
              <a:solidFill>
                <a:schemeClr val="tx1"/>
              </a:solidFill>
              <a:latin typeface="Arial" pitchFamily="34" charset="0"/>
              <a:cs typeface="Arial" pitchFamily="34" charset="0"/>
            </a:endParaRPr>
          </a:p>
        </p:txBody>
      </p:sp>
      <p:sp>
        <p:nvSpPr>
          <p:cNvPr id="81" name="80 CuadroTexto"/>
          <p:cNvSpPr txBox="1"/>
          <p:nvPr/>
        </p:nvSpPr>
        <p:spPr>
          <a:xfrm>
            <a:off x="358204" y="5639352"/>
            <a:ext cx="8785796" cy="646331"/>
          </a:xfrm>
          <a:prstGeom prst="rect">
            <a:avLst/>
          </a:prstGeom>
          <a:noFill/>
        </p:spPr>
        <p:txBody>
          <a:bodyPr wrap="square" rtlCol="0">
            <a:spAutoFit/>
          </a:bodyPr>
          <a:lstStyle/>
          <a:p>
            <a:pPr algn="l"/>
            <a:r>
              <a:rPr lang="es-AR" sz="1800" dirty="0" smtClean="0">
                <a:solidFill>
                  <a:schemeClr val="tx1"/>
                </a:solidFill>
                <a:latin typeface="Arial" pitchFamily="34" charset="0"/>
                <a:cs typeface="Arial" pitchFamily="34" charset="0"/>
              </a:rPr>
              <a:t>Se puede llamar utilizar directamente una llamada al sistema en el </a:t>
            </a:r>
            <a:r>
              <a:rPr lang="es-AR" sz="1800" dirty="0" err="1" smtClean="0">
                <a:solidFill>
                  <a:schemeClr val="tx1"/>
                </a:solidFill>
                <a:latin typeface="Arial" pitchFamily="34" charset="0"/>
                <a:cs typeface="Arial" pitchFamily="34" charset="0"/>
              </a:rPr>
              <a:t>kernel</a:t>
            </a:r>
            <a:r>
              <a:rPr lang="es-AR" sz="1800" dirty="0" smtClean="0">
                <a:solidFill>
                  <a:schemeClr val="tx1"/>
                </a:solidFill>
                <a:latin typeface="Arial" pitchFamily="34" charset="0"/>
                <a:cs typeface="Arial" pitchFamily="34" charset="0"/>
              </a:rPr>
              <a:t> utilizando lenguaje ensamblador:</a:t>
            </a:r>
            <a:endParaRPr lang="es-AR" sz="1800" dirty="0">
              <a:solidFill>
                <a:schemeClr val="tx1"/>
              </a:solidFill>
              <a:latin typeface="Arial" pitchFamily="34" charset="0"/>
              <a:cs typeface="Arial" pitchFamily="34" charset="0"/>
            </a:endParaRPr>
          </a:p>
        </p:txBody>
      </p:sp>
      <p:pic>
        <p:nvPicPr>
          <p:cNvPr id="60419" name="Picture 3"/>
          <p:cNvPicPr>
            <a:picLocks noChangeAspect="1" noChangeArrowheads="1"/>
          </p:cNvPicPr>
          <p:nvPr/>
        </p:nvPicPr>
        <p:blipFill>
          <a:blip r:embed="rId4" cstate="print"/>
          <a:srcRect/>
          <a:stretch>
            <a:fillRect/>
          </a:stretch>
        </p:blipFill>
        <p:spPr bwMode="auto">
          <a:xfrm>
            <a:off x="1874768" y="3705433"/>
            <a:ext cx="5314950" cy="1514475"/>
          </a:xfrm>
          <a:prstGeom prst="rect">
            <a:avLst/>
          </a:prstGeom>
          <a:noFill/>
          <a:ln w="9525">
            <a:noFill/>
            <a:miter lim="800000"/>
            <a:headEnd/>
            <a:tailEnd/>
          </a:ln>
        </p:spPr>
      </p:pic>
      <p:sp>
        <p:nvSpPr>
          <p:cNvPr id="83" name="82 CuadroTexto"/>
          <p:cNvSpPr txBox="1"/>
          <p:nvPr/>
        </p:nvSpPr>
        <p:spPr>
          <a:xfrm>
            <a:off x="450970" y="3187700"/>
            <a:ext cx="6276077" cy="369332"/>
          </a:xfrm>
          <a:prstGeom prst="rect">
            <a:avLst/>
          </a:prstGeom>
          <a:noFill/>
        </p:spPr>
        <p:txBody>
          <a:bodyPr wrap="none" rtlCol="0">
            <a:spAutoFit/>
          </a:bodyPr>
          <a:lstStyle/>
          <a:p>
            <a:pPr algn="l"/>
            <a:r>
              <a:rPr lang="es-AR" sz="1800" dirty="0" smtClean="0">
                <a:solidFill>
                  <a:schemeClr val="tx1"/>
                </a:solidFill>
                <a:latin typeface="Arial" pitchFamily="34" charset="0"/>
                <a:cs typeface="Arial" pitchFamily="34" charset="0"/>
              </a:rPr>
              <a:t>Utilizando el </a:t>
            </a:r>
            <a:r>
              <a:rPr lang="es-AR" sz="1800" dirty="0" err="1" smtClean="0">
                <a:solidFill>
                  <a:schemeClr val="tx2">
                    <a:lumMod val="60000"/>
                    <a:lumOff val="40000"/>
                  </a:schemeClr>
                </a:solidFill>
                <a:latin typeface="Arial" pitchFamily="34" charset="0"/>
                <a:cs typeface="Arial" pitchFamily="34" charset="0"/>
              </a:rPr>
              <a:t>write</a:t>
            </a:r>
            <a:r>
              <a:rPr lang="es-AR" sz="1800" dirty="0" smtClean="0">
                <a:solidFill>
                  <a:schemeClr val="tx1"/>
                </a:solidFill>
                <a:latin typeface="Arial" pitchFamily="34" charset="0"/>
                <a:cs typeface="Arial" pitchFamily="34" charset="0"/>
              </a:rPr>
              <a:t> del POSIX definido en la librería </a:t>
            </a:r>
            <a:r>
              <a:rPr lang="es-AR" sz="1800" dirty="0" err="1" smtClean="0">
                <a:solidFill>
                  <a:schemeClr val="tx1"/>
                </a:solidFill>
                <a:latin typeface="Arial" pitchFamily="34" charset="0"/>
                <a:cs typeface="Arial" pitchFamily="34" charset="0"/>
              </a:rPr>
              <a:t>unistd.h</a:t>
            </a:r>
            <a:r>
              <a:rPr lang="es-AR" sz="1800" dirty="0" smtClean="0">
                <a:solidFill>
                  <a:schemeClr val="tx1"/>
                </a:solidFill>
                <a:latin typeface="Arial" pitchFamily="34" charset="0"/>
                <a:cs typeface="Arial" pitchFamily="34" charset="0"/>
              </a:rPr>
              <a:t>:</a:t>
            </a:r>
            <a:endParaRPr lang="es-AR" sz="1800" dirty="0">
              <a:solidFill>
                <a:schemeClr val="tx1"/>
              </a:solidFill>
              <a:latin typeface="Arial" pitchFamily="34" charset="0"/>
              <a:cs typeface="Arial" pitchFamily="34" charset="0"/>
            </a:endParaRPr>
          </a:p>
        </p:txBody>
      </p:sp>
      <p:grpSp>
        <p:nvGrpSpPr>
          <p:cNvPr id="86" name="85 Grupo"/>
          <p:cNvGrpSpPr/>
          <p:nvPr/>
        </p:nvGrpSpPr>
        <p:grpSpPr>
          <a:xfrm>
            <a:off x="289271" y="198782"/>
            <a:ext cx="8854729" cy="6659218"/>
            <a:chOff x="223011" y="106018"/>
            <a:chExt cx="8854729" cy="6659218"/>
          </a:xfrm>
        </p:grpSpPr>
        <p:pic>
          <p:nvPicPr>
            <p:cNvPr id="60420" name="Picture 4"/>
            <p:cNvPicPr>
              <a:picLocks noChangeAspect="1" noChangeArrowheads="1"/>
            </p:cNvPicPr>
            <p:nvPr/>
          </p:nvPicPr>
          <p:blipFill>
            <a:blip r:embed="rId5" cstate="print"/>
            <a:srcRect/>
            <a:stretch>
              <a:fillRect/>
            </a:stretch>
          </p:blipFill>
          <p:spPr bwMode="auto">
            <a:xfrm>
              <a:off x="251792" y="5091096"/>
              <a:ext cx="8825948" cy="1674140"/>
            </a:xfrm>
            <a:prstGeom prst="rect">
              <a:avLst/>
            </a:prstGeom>
            <a:ln>
              <a:noFill/>
            </a:ln>
            <a:effectLst>
              <a:outerShdw blurRad="292100" dist="139700" dir="2700000" algn="tl" rotWithShape="0">
                <a:srgbClr val="333333">
                  <a:alpha val="65000"/>
                </a:srgbClr>
              </a:outerShdw>
            </a:effectLst>
          </p:spPr>
        </p:pic>
        <p:pic>
          <p:nvPicPr>
            <p:cNvPr id="60421" name="Picture 5"/>
            <p:cNvPicPr>
              <a:picLocks noChangeAspect="1" noChangeArrowheads="1"/>
            </p:cNvPicPr>
            <p:nvPr/>
          </p:nvPicPr>
          <p:blipFill>
            <a:blip r:embed="rId6" cstate="print"/>
            <a:srcRect/>
            <a:stretch>
              <a:fillRect/>
            </a:stretch>
          </p:blipFill>
          <p:spPr bwMode="auto">
            <a:xfrm>
              <a:off x="223011" y="106018"/>
              <a:ext cx="8678975" cy="4903304"/>
            </a:xfrm>
            <a:prstGeom prst="rect">
              <a:avLst/>
            </a:prstGeom>
            <a:ln>
              <a:noFill/>
            </a:ln>
            <a:effectLst>
              <a:outerShdw blurRad="292100" dist="139700" dir="2700000" algn="tl" rotWithShape="0">
                <a:srgbClr val="333333">
                  <a:alpha val="65000"/>
                </a:srgbClr>
              </a:outerShdw>
            </a:effectLst>
          </p:spPr>
        </p:pic>
      </p:grpSp>
      <p:sp>
        <p:nvSpPr>
          <p:cNvPr id="87" name="86 CuadroTexto"/>
          <p:cNvSpPr txBox="1"/>
          <p:nvPr/>
        </p:nvSpPr>
        <p:spPr>
          <a:xfrm>
            <a:off x="9899373" y="1999974"/>
            <a:ext cx="1378226" cy="1938992"/>
          </a:xfrm>
          <a:prstGeom prst="rect">
            <a:avLst/>
          </a:prstGeom>
          <a:noFill/>
        </p:spPr>
        <p:txBody>
          <a:bodyPr wrap="square" rtlCol="0">
            <a:spAutoFit/>
          </a:bodyPr>
          <a:lstStyle/>
          <a:p>
            <a:r>
              <a:rPr lang="es-AR" sz="1200" dirty="0" smtClean="0">
                <a:solidFill>
                  <a:schemeClr val="tx1"/>
                </a:solidFill>
                <a:latin typeface="Arial" pitchFamily="34" charset="0"/>
                <a:cs typeface="Arial" pitchFamily="34" charset="0"/>
              </a:rPr>
              <a:t>En Windows la interrupción del </a:t>
            </a:r>
            <a:r>
              <a:rPr lang="es-AR" sz="1200" dirty="0" err="1" smtClean="0">
                <a:solidFill>
                  <a:schemeClr val="tx1"/>
                </a:solidFill>
                <a:latin typeface="Arial" pitchFamily="34" charset="0"/>
                <a:cs typeface="Arial" pitchFamily="34" charset="0"/>
              </a:rPr>
              <a:t>systemcall</a:t>
            </a:r>
            <a:r>
              <a:rPr lang="es-AR" sz="1200" dirty="0" smtClean="0">
                <a:solidFill>
                  <a:schemeClr val="tx1"/>
                </a:solidFill>
                <a:latin typeface="Arial" pitchFamily="34" charset="0"/>
                <a:cs typeface="Arial" pitchFamily="34" charset="0"/>
              </a:rPr>
              <a:t> es 2eh</a:t>
            </a:r>
          </a:p>
          <a:p>
            <a:endParaRPr lang="es-AR" sz="1200" dirty="0" smtClean="0">
              <a:solidFill>
                <a:schemeClr val="tx1"/>
              </a:solidFill>
              <a:latin typeface="Arial" pitchFamily="34" charset="0"/>
              <a:cs typeface="Arial" pitchFamily="34" charset="0"/>
            </a:endParaRPr>
          </a:p>
          <a:p>
            <a:r>
              <a:rPr lang="es-AR" sz="1200" dirty="0" err="1" smtClean="0">
                <a:solidFill>
                  <a:schemeClr val="tx1"/>
                </a:solidFill>
                <a:latin typeface="Arial" pitchFamily="34" charset="0"/>
                <a:cs typeface="Arial" pitchFamily="34" charset="0"/>
              </a:rPr>
              <a:t>Referncia</a:t>
            </a:r>
            <a:r>
              <a:rPr lang="es-AR" sz="1200" dirty="0" smtClean="0">
                <a:solidFill>
                  <a:schemeClr val="tx1"/>
                </a:solidFill>
                <a:latin typeface="Arial" pitchFamily="34" charset="0"/>
                <a:cs typeface="Arial" pitchFamily="34" charset="0"/>
              </a:rPr>
              <a:t> de </a:t>
            </a:r>
            <a:r>
              <a:rPr lang="es-AR" sz="1200" dirty="0" err="1" smtClean="0">
                <a:solidFill>
                  <a:schemeClr val="tx1"/>
                </a:solidFill>
                <a:latin typeface="Arial" pitchFamily="34" charset="0"/>
                <a:cs typeface="Arial" pitchFamily="34" charset="0"/>
              </a:rPr>
              <a:t>syscall</a:t>
            </a:r>
            <a:r>
              <a:rPr lang="es-AR" sz="1200" dirty="0" smtClean="0">
                <a:solidFill>
                  <a:schemeClr val="tx1"/>
                </a:solidFill>
                <a:latin typeface="Arial" pitchFamily="34" charset="0"/>
                <a:cs typeface="Arial" pitchFamily="34" charset="0"/>
              </a:rPr>
              <a:t> de </a:t>
            </a:r>
            <a:r>
              <a:rPr lang="es-AR" sz="1200" dirty="0" err="1" smtClean="0">
                <a:solidFill>
                  <a:schemeClr val="tx1"/>
                </a:solidFill>
                <a:latin typeface="Arial" pitchFamily="34" charset="0"/>
                <a:cs typeface="Arial" pitchFamily="34" charset="0"/>
              </a:rPr>
              <a:t>linux</a:t>
            </a:r>
            <a:endParaRPr lang="es-AR" sz="1200" dirty="0" smtClean="0">
              <a:solidFill>
                <a:schemeClr val="tx1"/>
              </a:solidFill>
              <a:latin typeface="Arial" pitchFamily="34" charset="0"/>
              <a:cs typeface="Arial" pitchFamily="34" charset="0"/>
            </a:endParaRPr>
          </a:p>
          <a:p>
            <a:r>
              <a:rPr lang="es-AR" sz="1200" dirty="0" smtClean="0">
                <a:solidFill>
                  <a:schemeClr val="tx1"/>
                </a:solidFill>
                <a:latin typeface="Arial" pitchFamily="34" charset="0"/>
                <a:cs typeface="Arial" pitchFamily="34" charset="0"/>
                <a:hlinkClick r:id="rId7"/>
              </a:rPr>
              <a:t>https://syscalls.kernelgrok.com/</a:t>
            </a:r>
            <a:endParaRPr lang="es-AR" sz="1200" dirty="0" smtClean="0">
              <a:solidFill>
                <a:schemeClr val="tx1"/>
              </a:solidFill>
              <a:latin typeface="Arial" pitchFamily="34" charset="0"/>
              <a:cs typeface="Arial" pitchFamily="34" charset="0"/>
            </a:endParaRPr>
          </a:p>
          <a:p>
            <a:endParaRPr lang="es-AR" sz="12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p:cTn id="7" dur="500" fill="hold"/>
                                        <p:tgtEl>
                                          <p:spTgt spid="86"/>
                                        </p:tgtEl>
                                        <p:attrNameLst>
                                          <p:attrName>ppt_w</p:attrName>
                                        </p:attrNameLst>
                                      </p:cBhvr>
                                      <p:tavLst>
                                        <p:tav tm="0">
                                          <p:val>
                                            <p:strVal val="#ppt_w*2.5"/>
                                          </p:val>
                                        </p:tav>
                                        <p:tav tm="100000">
                                          <p:val>
                                            <p:strVal val="#ppt_w"/>
                                          </p:val>
                                        </p:tav>
                                      </p:tavLst>
                                    </p:anim>
                                    <p:anim calcmode="lin" valueType="num">
                                      <p:cBhvr>
                                        <p:cTn id="8" dur="500" fill="hold"/>
                                        <p:tgtEl>
                                          <p:spTgt spid="86"/>
                                        </p:tgtEl>
                                        <p:attrNameLst>
                                          <p:attrName>ppt_h</p:attrName>
                                        </p:attrNameLst>
                                      </p:cBhvr>
                                      <p:tavLst>
                                        <p:tav tm="0">
                                          <p:val>
                                            <p:strVal val="#ppt_h*0.01"/>
                                          </p:val>
                                        </p:tav>
                                        <p:tav tm="100000">
                                          <p:val>
                                            <p:strVal val="#ppt_h"/>
                                          </p:val>
                                        </p:tav>
                                      </p:tavLst>
                                    </p:anim>
                                    <p:anim calcmode="lin" valueType="num">
                                      <p:cBhvr>
                                        <p:cTn id="9" dur="500" fill="hold"/>
                                        <p:tgtEl>
                                          <p:spTgt spid="86"/>
                                        </p:tgtEl>
                                        <p:attrNameLst>
                                          <p:attrName>ppt_x</p:attrName>
                                        </p:attrNameLst>
                                      </p:cBhvr>
                                      <p:tavLst>
                                        <p:tav tm="0">
                                          <p:val>
                                            <p:strVal val="#ppt_x"/>
                                          </p:val>
                                        </p:tav>
                                        <p:tav tm="100000">
                                          <p:val>
                                            <p:strVal val="#ppt_x"/>
                                          </p:val>
                                        </p:tav>
                                      </p:tavLst>
                                    </p:anim>
                                    <p:anim calcmode="lin" valueType="num">
                                      <p:cBhvr>
                                        <p:cTn id="10" dur="500" fill="hold"/>
                                        <p:tgtEl>
                                          <p:spTgt spid="86"/>
                                        </p:tgtEl>
                                        <p:attrNameLst>
                                          <p:attrName>ppt_y</p:attrName>
                                        </p:attrNameLst>
                                      </p:cBhvr>
                                      <p:tavLst>
                                        <p:tav tm="0">
                                          <p:val>
                                            <p:strVal val="#ppt_h+1"/>
                                          </p:val>
                                        </p:tav>
                                        <p:tav tm="100000">
                                          <p:val>
                                            <p:strVal val="#ppt_y"/>
                                          </p:val>
                                        </p:tav>
                                      </p:tavLst>
                                    </p:anim>
                                    <p:animEffect transition="in" filter="fade">
                                      <p:cBhvr>
                                        <p:cTn id="11"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11450</TotalTime>
  <Words>4466</Words>
  <Application>Microsoft Office PowerPoint</Application>
  <PresentationFormat>Presentación en pantalla (4:3)</PresentationFormat>
  <Paragraphs>459</Paragraphs>
  <Slides>30</Slides>
  <Notes>29</Notes>
  <HiddenSlides>0</HiddenSlides>
  <MMClips>0</MMClips>
  <ScaleCrop>false</ScaleCrop>
  <HeadingPairs>
    <vt:vector size="4" baseType="variant">
      <vt:variant>
        <vt:lpstr>Tema</vt:lpstr>
      </vt:variant>
      <vt:variant>
        <vt:i4>1</vt:i4>
      </vt:variant>
      <vt:variant>
        <vt:lpstr>Títulos de diapositiva</vt:lpstr>
      </vt:variant>
      <vt:variant>
        <vt:i4>30</vt:i4>
      </vt:variant>
    </vt:vector>
  </HeadingPairs>
  <TitlesOfParts>
    <vt:vector size="31" baseType="lpstr">
      <vt:lpstr>Tema de Office</vt:lpstr>
      <vt:lpstr>Introducción</vt:lpstr>
      <vt:lpstr>Introducción</vt:lpstr>
      <vt:lpstr>Introducción</vt:lpstr>
      <vt:lpstr>Introducción: Funciones del SO</vt:lpstr>
      <vt:lpstr>Diapositiva 5</vt:lpstr>
      <vt:lpstr>Diapositiva 6</vt:lpstr>
      <vt:lpstr>Diapositiva 7</vt:lpstr>
      <vt:lpstr>Evolución de los SO</vt:lpstr>
      <vt:lpstr>Evolución de los SO</vt:lpstr>
      <vt:lpstr>Evolución de los SO</vt:lpstr>
      <vt:lpstr>Evolución de los SO</vt:lpstr>
      <vt:lpstr>Evolución de los SO</vt:lpstr>
      <vt:lpstr>Evolución de los SO</vt:lpstr>
      <vt:lpstr>Diapositiva 14</vt:lpstr>
      <vt:lpstr>Para leer en la casa…..</vt:lpstr>
      <vt:lpstr>Arquitectura de los SO</vt:lpstr>
      <vt:lpstr>Diapositiva 17</vt:lpstr>
      <vt:lpstr>Arquitectura de los SO</vt:lpstr>
      <vt:lpstr>Arquitectura de los SO</vt:lpstr>
      <vt:lpstr>Arquitectura de los SO</vt:lpstr>
      <vt:lpstr>Descripción de capas (anillos)</vt:lpstr>
      <vt:lpstr>Arquitectura de los SO</vt:lpstr>
      <vt:lpstr>Diapositiva 23</vt:lpstr>
      <vt:lpstr>Diapositiva 24</vt:lpstr>
      <vt:lpstr>Diapositiva 25</vt:lpstr>
      <vt:lpstr>Diapositiva 26</vt:lpstr>
      <vt:lpstr>Diapositiva 27</vt:lpstr>
      <vt:lpstr>Diapositiva 28</vt:lpstr>
      <vt:lpstr>Diapositiva 29</vt:lpstr>
      <vt:lpstr>Diapositiva 30</vt:lpstr>
    </vt:vector>
  </TitlesOfParts>
  <Company>East Texas Data Service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Steve  Armstrong</dc:creator>
  <cp:lastModifiedBy>Ryzen</cp:lastModifiedBy>
  <cp:revision>541</cp:revision>
  <cp:lastPrinted>2001-01-13T18:08:51Z</cp:lastPrinted>
  <dcterms:created xsi:type="dcterms:W3CDTF">2000-11-18T17:50:49Z</dcterms:created>
  <dcterms:modified xsi:type="dcterms:W3CDTF">2026-03-17T13:21:11Z</dcterms:modified>
</cp:coreProperties>
</file>